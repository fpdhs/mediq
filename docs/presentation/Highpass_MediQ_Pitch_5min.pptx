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00:00 ~ 00:30 | 도입 및 정체성 소개]</a:t>
            </a:r>
          </a:p>
          <a:p>
            <a:r>
              <a:t>"안녕하십니까. 환자 동의 기반 클라우드 의료영상 교류 및 비임상 AI 건강도우미 플랫폼, '하이패스 MediQ'의 발표를 맡은 [발표자 이름]입니다.</a:t>
            </a:r>
          </a:p>
          <a:p>
            <a:r>
              <a:t>저희 프로젝트는 기존 병원 간 의료영상 이동 방식인 'CD 발급과 재촬영'의 고질적인 비효율과 방사선 피폭 문제를 해결하기 위해 기획되었습니다.</a:t>
            </a:r>
          </a:p>
          <a:p>
            <a:r>
              <a:t>클라우드에 원본 영상을 저장하지 않는 'Zero Cloud Storage' 원칙과 11단계 ABAC 인가, 그리고 700장 복부 CT 무지연 스트리밍을 실제로 구현하고 검증한 성과를 지금부터 5분간 핵심 위주로 발표해 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00:30 ~ 01:00 | 청중 공감 및 문제 정의]</a:t>
            </a:r>
          </a:p>
          <a:p>
            <a:r>
              <a:t>"여러분, 대학병원에서 CT나 MRI를 찍고 다른 병원으로 진료를 보러 갈 때, 여전히 환자가 직접 CD를 가방에 넣고 들고 다녀야 한다는 사실을 알고 계십니까?</a:t>
            </a:r>
          </a:p>
          <a:p>
            <a:r>
              <a:t>이 구시대적 방식 때문에 환자는 불필요한 발급 수수료와 번호표 대기 시간을 겪습니다. 더 심각한 것은 타 병원에 갔을 때 CD 포맷이 안 맞거나 손상되어 어쩔 수 없이 CT/MRI를 다시 촬영하게 되면서 불필요한 방사선 피폭에 노출된다는 점입니다.</a:t>
            </a:r>
          </a:p>
          <a:p>
            <a:r>
              <a:t>또한, 내 소중한 의료 정보임에도 어디로 흘러가는지, 누구에게 보여줄지 환자 스스로 제어하거나 회수할 권리가 완전히 배제되어 있었습니다."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01:00 ~ 01:30 | 솔루션 패러다임 전환]</a:t>
            </a:r>
          </a:p>
          <a:p>
            <a:r>
              <a:t>"하이패스 MediQ는 이 불편한 매체 전달 방식을 완전히 디지털 혁신합니다.</a:t>
            </a:r>
          </a:p>
          <a:p>
            <a:r>
              <a:t>환자가 스마트폰 웹에서 B대학병원, 진료 목적, 유효기간, 그리고 허용할 CT 검사만을 콕 집어 명시적 동의를 생성합니다.</a:t>
            </a:r>
          </a:p>
          <a:p>
            <a:r>
              <a:t>수신 병원 의사가 접근을 요청하면, 서버가 즉시 11단계 보안 조건을 검증한 뒤 5분 유효 단기 토큰을 서명 발급합니다.</a:t>
            </a:r>
          </a:p>
          <a:p>
            <a:r>
              <a:t>이 토큰을 통해 원본 병원 PACS로부터 필요한 DICOM 영상만을 웹 뷰어로 실시간 스트리밍합니다.</a:t>
            </a:r>
          </a:p>
          <a:p>
            <a:r>
              <a:t>CD를 들고 다닐 필요도 없고, 불필요한 재촬영도 막으며, 언제든 동의를 철회할 수 있는 진정한 환자 중심 서비스입니다."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01:30 ~ 02:00 | 시스템 아키텍처 및 보안 불변식]</a:t>
            </a:r>
          </a:p>
          <a:p>
            <a:r>
              <a:t>"저희 아키텍처의 절대 원칙은 'Zero Cloud Storage'입니다.</a:t>
            </a:r>
          </a:p>
          <a:p>
            <a:r>
              <a:t>민감한 환자 의료영상이 클라우드 중앙에 영구 보관되면 대규모 해킹이나 유출의 표적이 됩니다.</a:t>
            </a:r>
          </a:p>
          <a:p>
            <a:r>
              <a:t>따라서 원본 영상은 각 병원 로컬 온프레미스 PACS에 그대로 머무르고, 클라우드 Control Plane은 오직 동의와 권한, 감사로그만 관리합니다.</a:t>
            </a:r>
          </a:p>
          <a:p>
            <a:r>
              <a:t>의사가 영상을 볼 때만 단기 토큰으로 병원 게이트웨이와 직접 통신하여 프레임 단위로 Lazy Loading 스트리밍합니다. 의료법과 개인정보보호법 가이드라인을 완벽하게 만족하는 구조입니다."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02:00 ~ 02:30 | 보안 인가 엔진 및 AI 안전성]</a:t>
            </a:r>
          </a:p>
          <a:p>
            <a:r>
              <a:t>"보안은 단 하나의 구멍도 허용하지 않습니다.</a:t>
            </a:r>
          </a:p>
          <a:p>
            <a:r>
              <a:t>저희 ABAC 게이트는 환자 동의, 시간, 의사 소속, 검사 UID 등 11개 조건을 교집합으로 검증하며, 하나라도 어긋나면 접근을 차단하고 감사로그를 남깁니다.</a:t>
            </a:r>
          </a:p>
          <a:p>
            <a:r>
              <a:t>또한 함께 탑재된 AI 건강도우미는 미국 MedlinePlus 공인 코퍼스 기반으로 구동되며, 2-Layer 형태소 및 의도 분류기를 통해 진단이나 처방성 질문을 완벽히 차단하고, 환자가 검사 결과를 쉽게 이해하고 의사에게 무엇을 물어볼지 준비하는 안전한 비임상 보조 도구로 엄격히 제한됩니다."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02:30 ~ 03:00 | 라이브 UI 환자 동의 지갑]</a:t>
            </a:r>
          </a:p>
          <a:p>
            <a:r>
              <a:t>"실제 클라우드에 배포된 화면입니다.</a:t>
            </a:r>
          </a:p>
          <a:p>
            <a:r>
              <a:t>좌측은 환자가 접속하는 '의료 공유 지갑' 화면입니다. 환자는 수신할 B대학병원과 진료 목적, 유효기간을 설정하고, 본인이 공유하고 싶은 복부 CT 검사를 직접 선택합니다.</a:t>
            </a:r>
          </a:p>
          <a:p>
            <a:r>
              <a:t>전체 진료기록을 무차별 공유하는 것이 아니라 필요한 검사만 선별 공유하며, 환자가 원하면 언제든 1초 만에 권한을 파기하는 '동의 철회'가 가능합니다."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03:00 ~ 03:30 | 라이브 UI AI 건강도우미]</a:t>
            </a:r>
          </a:p>
          <a:p>
            <a:r>
              <a:t>"환자가 검사 결과지에 적힌 어려운 의학 용어를 마주했을 때의 불안을 해소하는 'AI 건강도우미' 화면입니다.</a:t>
            </a:r>
          </a:p>
          <a:p>
            <a:r>
              <a:t>혈청 알파태아단백(AFP)이나 간경화 같은 질환에 대해 질문하면, 정상 수치와 검사 목적을 환자 눈높이로 설명합니다.</a:t>
            </a:r>
          </a:p>
          <a:p>
            <a:r>
              <a:t>특히 우측 하단의 '의사 상담 리허설 박스'는 진료실에서 의사에게 무엇을 물어봐야 할지 핵심 질문을 미리 정리해 주어 진료의 질을 크게 높여줍니다."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03:30 ~ 04:00 | 라이브 UI 700장 복부 CT 뷰어]</a:t>
            </a:r>
          </a:p>
          <a:p>
            <a:r>
              <a:t>"의료진이 마주하는 실제 데스크톱 PACS 뷰어 화면입니다.</a:t>
            </a:r>
          </a:p>
          <a:p>
            <a:r>
              <a:t>B병원 의사가 조회를 요청하면 5분 유효 단기 토큰이 발급되며, 700장에 달하는 초고해상도 복부 CT 슬라이스를 지연 없이 넘겨보며 간 병변 부위를 정밀하게 확인할 수 있습니다.</a:t>
            </a:r>
          </a:p>
          <a:p>
            <a:r>
              <a:t>로컬 PC로의 무단 다운로드는 완벽히 차단되며, 5분이 지나면 토큰이 자동 만료되어 유출 위험이 없습니다."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04:00 ~ 04:30 | 라이브 UI 보안 관제 및 감사로그]</a:t>
            </a:r>
          </a:p>
          <a:p>
            <a:r>
              <a:t>"의료 시스템에서 가장 중요한 '감사 가능성(Auditability)'을 입증하는 보안 관제 화면입니다.</a:t>
            </a:r>
          </a:p>
          <a:p>
            <a:r>
              <a:t>누가, 언제, 어떤 동의를 근거로 영상을 조회했는지 모든 행위가 1초 단위로 불변 기록됩니다.</a:t>
            </a:r>
          </a:p>
          <a:p>
            <a:r>
              <a:t>또한 허용되지 않은 병원이나 만료된 토큰으로 접근하려는 비정상 행위를 실시간으로 감지하고 차단합니다. 관리자조차 임의로 로그를 지울 수 없어 강력한 법적 증거력을 지닙니다."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 04:30 ~ 05:00 | 마무리 및 결론]</a:t>
            </a:r>
          </a:p>
          <a:p>
            <a:r>
              <a:t>"정리하겠습니다.</a:t>
            </a:r>
          </a:p>
          <a:p>
            <a:r>
              <a:t>하이패스 MediQ는 환자에게는 CD 발급 비용과 방사선 피폭 위험을 없애주고, 의료진에게는 지체 없는 진료 연속성을 제공하며, 병원과 사회에는 의료 재정 절감과 완벽한 데이터 보안을 약속하는 실증 플랫폼입니다.</a:t>
            </a:r>
          </a:p>
          <a:p>
            <a:r>
              <a:t>'환자 동의로 열고, 증거와 감사로 닫는다'는 확고한 원칙을 지키며 대한민국 의료 영상 교류의 새로운 지평을 열겠습니다.</a:t>
            </a:r>
          </a:p>
          <a:p>
            <a:r>
              <a:t>경청해 주셔서 대단히 감사합니다."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1333500"/>
            <a:ext cx="10477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53657B"/>
                </a:solidFill>
                <a:latin typeface="프리텐다드"/>
              </a:defRPr>
            </a:pPr>
            <a:r>
              <a:t>CAPSTONE MVP  ·  SECURITY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905000"/>
            <a:ext cx="7620000" cy="104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750" b="1">
                <a:solidFill>
                  <a:srgbClr val="2F68B5"/>
                </a:solidFill>
                <a:latin typeface="프리텐다드"/>
              </a:defRPr>
            </a:pPr>
            <a:r>
              <a:t>mediQ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143250"/>
            <a:ext cx="1047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50" b="1">
                <a:solidFill>
                  <a:srgbClr val="17263A"/>
                </a:solidFill>
                <a:latin typeface="프리텐다드"/>
              </a:defRPr>
            </a:pPr>
            <a:r>
              <a:t>환자 동의 기반</a:t>
            </a:r>
            <a:br/>
            <a:r>
              <a:t>영상 교류 및 AI 도우미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5476875"/>
            <a:ext cx="10477500" cy="552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25">
                <a:solidFill>
                  <a:srgbClr val="53657B"/>
                </a:solidFill>
                <a:latin typeface="프리텐다드"/>
              </a:defRPr>
            </a:pPr>
            <a:r>
              <a:t>Zero Cloud Storage · ABAC 11단계 인가 · 700 Slices CT 스트리밍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8500" y="1905000"/>
            <a:ext cx="6400800" cy="1524000"/>
          </a:xfrm>
          <a:prstGeom prst="roundRect">
            <a:avLst/>
          </a:prstGeom>
          <a:solidFill>
            <a:srgbClr val="0B2342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096625" y="2143125"/>
            <a:ext cx="61912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0" y="2095499"/>
            <a:ext cx="5143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프리텐다드"/>
              </a:defRPr>
            </a:pPr>
            <a:r>
              <a:t>Zero Cloud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0" y="2571750"/>
            <a:ext cx="5143500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D8E7F8"/>
                </a:solidFill>
                <a:latin typeface="프리텐다드"/>
              </a:defRPr>
            </a:pPr>
            <a:r>
              <a:t>의료영상 원본은 병원 PACS 분산 보관</a:t>
            </a:r>
            <a:br/>
            <a:r>
              <a:t>클라우드 중앙 DB에 DICOM 원본 비보관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58500" y="3667125"/>
            <a:ext cx="6400800" cy="1524000"/>
          </a:xfrm>
          <a:prstGeom prst="roundRect">
            <a:avLst/>
          </a:prstGeom>
          <a:solidFill>
            <a:srgbClr val="0B2342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96625" y="3905249"/>
            <a:ext cx="61912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0" y="3857625"/>
            <a:ext cx="5143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프리텐다드"/>
              </a:defRPr>
            </a:pPr>
            <a:r>
              <a:t>ABAC 11단계 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0" y="4333875"/>
            <a:ext cx="5143500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D8E7F8"/>
                </a:solidFill>
                <a:latin typeface="프리텐다드"/>
              </a:defRPr>
            </a:pPr>
            <a:r>
              <a:t>Fail-Closed 조건 교집합 전수 검증</a:t>
            </a:r>
            <a:br/>
            <a:r>
              <a:t>5~10분 유효 단기 HMAC 서명 토큰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58500" y="5429250"/>
            <a:ext cx="6400800" cy="1524000"/>
          </a:xfrm>
          <a:prstGeom prst="roundRect">
            <a:avLst/>
          </a:prstGeom>
          <a:solidFill>
            <a:srgbClr val="0B2342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96625" y="5667375"/>
            <a:ext cx="61912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5619750"/>
            <a:ext cx="5143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프리텐다드"/>
              </a:defRPr>
            </a:pPr>
            <a:r>
              <a:t>700 Slices CT 스트리밍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0" y="6096000"/>
            <a:ext cx="5143500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D8E7F8"/>
                </a:solidFill>
                <a:latin typeface="프리텐다드"/>
              </a:defRPr>
            </a:pPr>
            <a:r>
              <a:t>WADO-RS 표준 기반 무지연 Lazy Loading</a:t>
            </a:r>
            <a:br/>
            <a:r>
              <a:t>의료진 PC 로컬 무단 다운로드 원천 차단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8700" y="7810499"/>
            <a:ext cx="1238250" cy="4191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시연 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6500" y="7848600"/>
            <a:ext cx="14287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프리텐다드"/>
              </a:defRPr>
            </a:pPr>
            <a:r>
              <a:t>https://highpass-demo.japaneast.cloudapp.azure.com/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8477250"/>
            <a:ext cx="1238250" cy="4191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발표자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6500" y="8515350"/>
            <a:ext cx="14287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프리텐다드"/>
              </a:defRPr>
            </a:pPr>
            <a:r>
              <a:t>하이패스 프로젝트팀 (이재석, 김범희)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" y="9144000"/>
            <a:ext cx="1238250" cy="4191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0" y="9182100"/>
            <a:ext cx="14287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프리텐다드"/>
              </a:defRPr>
            </a:pPr>
            <a:r>
              <a:t>합성 데이터 기반 기술 PoC · 비임상 시연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01.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영상보다 전달 과정에서 맥락이 끊긴다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대표적인 CD 이동 흐름의 3대 한계 · 행정 비용, 불필요한 재촬영, 환자 통제권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02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49530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14450" y="3619500"/>
            <a:ext cx="71437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3571875"/>
            <a:ext cx="35242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53657B"/>
                </a:solidFill>
                <a:latin typeface="프리텐다드"/>
              </a:defRPr>
            </a:pPr>
            <a:r>
              <a:t>CD 발급과 대기 시간의 굴레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4190999"/>
            <a:ext cx="4381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50" b="1">
                <a:solidFill>
                  <a:srgbClr val="17263A"/>
                </a:solidFill>
                <a:latin typeface="프리텐다드"/>
              </a:defRPr>
            </a:pPr>
            <a:r>
              <a:t>행정 및 비용 낭비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4450" y="4905375"/>
            <a:ext cx="43815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5095875"/>
            <a:ext cx="4381500" cy="3619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환자가 직접 수수료를 내고 CD 발급 대기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물리적 CD를 들고 타 병원으로 이동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타 병원 등록실에서 재등록 대기 소요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연간 수백만 건의 불필요한 행정 비용 발생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0" y="3333750"/>
            <a:ext cx="49530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53250" y="3619500"/>
            <a:ext cx="71437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499" y="3571875"/>
            <a:ext cx="35242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53657B"/>
                </a:solidFill>
                <a:latin typeface="프리텐다드"/>
              </a:defRPr>
            </a:pPr>
            <a:r>
              <a:t>CD 판독 불가 및 재촬영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0" y="4190999"/>
            <a:ext cx="4381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50" b="1">
                <a:solidFill>
                  <a:srgbClr val="17263A"/>
                </a:solidFill>
                <a:latin typeface="프리텐다드"/>
              </a:defRPr>
            </a:pPr>
            <a:r>
              <a:t>불필요한 중복 피폭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3250" y="4905375"/>
            <a:ext cx="43815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5095875"/>
            <a:ext cx="4381500" cy="3619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CD 손상, 포맷 불일치, 뷰어 미호환 빈번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이전 병원 영상 확인 실패로 CT/MRI 재촬영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환자에게 불필요한 방사선 피폭 누적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진료 연속성 단절 및 치료 결정 지연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06300" y="3333750"/>
            <a:ext cx="49530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592050" y="3619500"/>
            <a:ext cx="714375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9300" y="3571875"/>
            <a:ext cx="35242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53657B"/>
                </a:solidFill>
                <a:latin typeface="프리텐다드"/>
              </a:defRPr>
            </a:pPr>
            <a:r>
              <a:t>의료 데이터 통제권의 부재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92050" y="4190999"/>
            <a:ext cx="4381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50" b="1">
                <a:solidFill>
                  <a:srgbClr val="17263A"/>
                </a:solidFill>
                <a:latin typeface="프리텐다드"/>
              </a:defRPr>
            </a:pPr>
            <a:r>
              <a:t>환자 주권 부재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592050" y="4905375"/>
            <a:ext cx="43815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92050" y="5095875"/>
            <a:ext cx="4381500" cy="3619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내 영상이 누구에게 전달되는지 추적 불가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열람 기간이나 목적을 환자가 제한할 수 없음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발급 후에는 권한 회수나 철회가 불가능</a:t>
            </a:r>
          </a:p>
          <a:p>
            <a:pPr>
              <a:spcAft>
                <a:spcPts val="12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진료 전 검사 의미를 알지 못해 환자 불안 가중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02. SOLUTION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환자가 중심이 되는 다이렉트 의료영상 공유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기존 매체 운반 방식에서 환자 동의 기반 클라우드 스트리밍으로의 패러다임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03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16230600" cy="247650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DCA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14450" y="3571875"/>
            <a:ext cx="1619250" cy="400050"/>
          </a:xfrm>
          <a:prstGeom prst="roundRect">
            <a:avLst/>
          </a:prstGeom>
          <a:solidFill>
            <a:srgbClr val="DCA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기존 방식 (CD)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3571875"/>
            <a:ext cx="137160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A16207"/>
                </a:solidFill>
                <a:latin typeface="프리텐다드"/>
              </a:defRPr>
            </a:pPr>
            <a:r>
              <a:t>Traditional Flow : 매체 중심의 물리적 운반 절차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4450" y="4238625"/>
            <a:ext cx="2857500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" y="4429125"/>
            <a:ext cx="2857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DCA83D"/>
                </a:solidFill>
                <a:latin typeface="프리텐다드"/>
              </a:defRPr>
            </a:pPr>
            <a:r>
              <a:t>01</a:t>
            </a:r>
          </a:p>
          <a:p>
            <a:pPr algn="ctr">
              <a:defRPr sz="1650" b="1">
                <a:solidFill>
                  <a:srgbClr val="17263A"/>
                </a:solidFill>
                <a:latin typeface="프리텐다드"/>
              </a:defRPr>
            </a:pPr>
            <a:r>
              <a:t>A병원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4325" y="4524375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DCA83D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3900" y="4238625"/>
            <a:ext cx="2857500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900" y="4429125"/>
            <a:ext cx="2857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DCA83D"/>
                </a:solidFill>
                <a:latin typeface="프리텐다드"/>
              </a:defRPr>
            </a:pPr>
            <a:r>
              <a:t>02</a:t>
            </a:r>
          </a:p>
          <a:p>
            <a:pPr algn="ctr">
              <a:defRPr sz="1650" b="1">
                <a:solidFill>
                  <a:srgbClr val="17263A"/>
                </a:solidFill>
                <a:latin typeface="프리텐다드"/>
              </a:defRPr>
            </a:pPr>
            <a:r>
              <a:t>CD 발급비·대기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3775" y="4524375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DCA83D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3349" y="4238625"/>
            <a:ext cx="2857500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3349" y="4429125"/>
            <a:ext cx="2857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DCA83D"/>
                </a:solidFill>
                <a:latin typeface="프리텐다드"/>
              </a:defRPr>
            </a:pPr>
            <a:r>
              <a:t>03</a:t>
            </a:r>
          </a:p>
          <a:p>
            <a:pPr algn="ctr">
              <a:defRPr sz="1650" b="1">
                <a:solidFill>
                  <a:srgbClr val="17263A"/>
                </a:solidFill>
                <a:latin typeface="프리텐다드"/>
              </a:defRPr>
            </a:pPr>
            <a:r>
              <a:t>환자 직접 운반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3225" y="4524375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DCA83D"/>
                </a:solidFill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0" y="4238625"/>
            <a:ext cx="2857500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4429125"/>
            <a:ext cx="2857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DCA83D"/>
                </a:solidFill>
                <a:latin typeface="프리텐다드"/>
              </a:defRPr>
            </a:pPr>
            <a:r>
              <a:t>04</a:t>
            </a:r>
          </a:p>
          <a:p>
            <a:pPr algn="ctr">
              <a:defRPr sz="1650" b="1">
                <a:solidFill>
                  <a:srgbClr val="17263A"/>
                </a:solidFill>
                <a:latin typeface="프리텐다드"/>
              </a:defRPr>
            </a:pPr>
            <a:r>
              <a:t>B병원 등록 대기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82675" y="4524375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DCA83D"/>
                </a:solidFill>
              </a:defRPr>
            </a:pPr>
            <a:r>
              <a:t>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92250" y="4238625"/>
            <a:ext cx="2857500" cy="1190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92250" y="4429125"/>
            <a:ext cx="28575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DCA83D"/>
                </a:solidFill>
                <a:latin typeface="프리텐다드"/>
              </a:defRPr>
            </a:pPr>
            <a:r>
              <a:t>05</a:t>
            </a:r>
          </a:p>
          <a:p>
            <a:pPr algn="ctr">
              <a:defRPr sz="1650" b="1">
                <a:solidFill>
                  <a:srgbClr val="17263A"/>
                </a:solidFill>
                <a:latin typeface="프리텐다드"/>
              </a:defRPr>
            </a:pPr>
            <a:r>
              <a:t>포맷 오류 재촬영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" y="6096000"/>
            <a:ext cx="16230600" cy="3048000"/>
          </a:xfrm>
          <a:prstGeom prst="roundRect">
            <a:avLst/>
          </a:prstGeom>
          <a:solidFill>
            <a:srgbClr val="E7F4F1"/>
          </a:solidFill>
          <a:ln w="2540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14450" y="6334125"/>
            <a:ext cx="1905000" cy="40005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하이패스 (MediQ)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6334125"/>
            <a:ext cx="134302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68B82"/>
                </a:solidFill>
                <a:latin typeface="프리텐다드"/>
              </a:defRPr>
            </a:pPr>
            <a:r>
              <a:t>Hi-Pass Flow : 환자 동의 기반 클라우드 다이렉트 스트리밍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450" y="7000875"/>
            <a:ext cx="3619500" cy="1190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50" y="7143750"/>
            <a:ext cx="3619500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75" b="1">
                <a:solidFill>
                  <a:srgbClr val="168B82"/>
                </a:solidFill>
                <a:latin typeface="프리텐다드"/>
              </a:defRPr>
            </a:pPr>
            <a:r>
              <a:t>환자 스마트폰</a:t>
            </a:r>
          </a:p>
          <a:p>
            <a:pPr algn="ctr">
              <a:defRPr sz="1800" b="1">
                <a:solidFill>
                  <a:srgbClr val="17263A"/>
                </a:solidFill>
                <a:latin typeface="프리텐다드"/>
              </a:defRPr>
            </a:pPr>
            <a:r>
              <a:t>동의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6325" y="7334250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68B82"/>
                </a:solidFill>
              </a:defRPr>
            </a:pPr>
            <a:r>
              <a:t>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14950" y="7000875"/>
            <a:ext cx="3619500" cy="1190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4950" y="7143750"/>
            <a:ext cx="3619500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75" b="1">
                <a:solidFill>
                  <a:srgbClr val="168B82"/>
                </a:solidFill>
                <a:latin typeface="프리텐다드"/>
              </a:defRPr>
            </a:pPr>
            <a:r>
              <a:t>Control 서버</a:t>
            </a:r>
          </a:p>
          <a:p>
            <a:pPr algn="ctr">
              <a:defRPr sz="1800" b="1">
                <a:solidFill>
                  <a:srgbClr val="17263A"/>
                </a:solidFill>
                <a:latin typeface="프리텐다드"/>
              </a:defRPr>
            </a:pPr>
            <a:r>
              <a:t>ABAC 11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6825" y="7334250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68B82"/>
                </a:solidFill>
              </a:defRPr>
            </a:pPr>
            <a:r>
              <a:t>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5450" y="7000875"/>
            <a:ext cx="3619500" cy="1190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5450" y="7143750"/>
            <a:ext cx="3619500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75" b="1">
                <a:solidFill>
                  <a:srgbClr val="168B82"/>
                </a:solidFill>
                <a:latin typeface="프리텐다드"/>
              </a:defRPr>
            </a:pPr>
            <a:r>
              <a:t>단기 토큰 서명</a:t>
            </a:r>
          </a:p>
          <a:p>
            <a:pPr algn="ctr">
              <a:defRPr sz="1800" b="1">
                <a:solidFill>
                  <a:srgbClr val="17263A"/>
                </a:solidFill>
                <a:latin typeface="프리텐다드"/>
              </a:defRPr>
            </a:pPr>
            <a:r>
              <a:t>5분 유효 토큰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87325" y="7334250"/>
            <a:ext cx="428625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68B82"/>
                </a:solidFill>
              </a:defRPr>
            </a:pPr>
            <a:r>
              <a:t>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315950" y="7000875"/>
            <a:ext cx="3619500" cy="1190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315950" y="7143750"/>
            <a:ext cx="3619500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75" b="1">
                <a:solidFill>
                  <a:srgbClr val="168B82"/>
                </a:solidFill>
                <a:latin typeface="프리텐다드"/>
              </a:defRPr>
            </a:pPr>
            <a:r>
              <a:t>A병원 PACS</a:t>
            </a:r>
          </a:p>
          <a:p>
            <a:pPr algn="ctr">
              <a:defRPr sz="1800" b="1">
                <a:solidFill>
                  <a:srgbClr val="17263A"/>
                </a:solidFill>
                <a:latin typeface="프리텐다드"/>
              </a:defRPr>
            </a:pPr>
            <a:r>
              <a:t>B병원 직통 스트리밍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4450" y="8477250"/>
            <a:ext cx="15620999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7263A"/>
                </a:solidFill>
                <a:latin typeface="프리텐다드"/>
              </a:defRPr>
            </a:pPr>
            <a:r>
              <a:t>✔ CD 발급비 0원  |  ✔ 불필요한 방사선 피폭 원천 차단  |  ✔ 언제든 권한 철회  |  ✔ AI 건강도우미 검사 안내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03.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Control Plane과 Data Plane의 완전한 물리적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의료영상 원본을 클라우드 DB에 영구 보관하지 않는 Zero Cloud Storage 원칙 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04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9144000" cy="5810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ighpass_architectu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24250"/>
            <a:ext cx="8763000" cy="49291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477500" y="3333750"/>
            <a:ext cx="6781800" cy="18097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63250" y="3571875"/>
            <a:ext cx="571500" cy="3429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프리텐다드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0" y="3543300"/>
            <a:ext cx="5524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8B5"/>
                </a:solidFill>
                <a:latin typeface="프리텐다드"/>
              </a:defRPr>
            </a:pPr>
            <a:r>
              <a:t>Zero Cloud Storage (불변 원칙)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0" y="4048124"/>
            <a:ext cx="619125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의료영상 원본은 각 병원 PACS(Orthanc)에만 분산 보관하며, 중앙 클라우드 DB에는 DICOM 원본을 절대 지속 저장하지 않습니다.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0" y="5286375"/>
            <a:ext cx="6781800" cy="18097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63250" y="5524500"/>
            <a:ext cx="571500" cy="3429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프리텐다드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0" y="5495925"/>
            <a:ext cx="5524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8B5"/>
                </a:solidFill>
                <a:latin typeface="프리텐다드"/>
              </a:defRPr>
            </a:pPr>
            <a:r>
              <a:t>Control vs Data Plane 물리적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0" y="6000750"/>
            <a:ext cx="619125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Azure Control Plane은 환자 동의, ABAC 인가, 단기 토큰 발급, 감사로그만을 담당하며, 영상 픽셀 데이터는 경유하지 않습니다.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500" y="7239000"/>
            <a:ext cx="6781800" cy="18097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63250" y="7477125"/>
            <a:ext cx="571500" cy="34290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350" b="1">
                <a:solidFill>
                  <a:srgbClr val="FFFFFF"/>
                </a:solidFill>
                <a:latin typeface="프리텐다드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5250" y="7448550"/>
            <a:ext cx="5524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8B5"/>
                </a:solidFill>
                <a:latin typeface="프리텐다드"/>
              </a:defRPr>
            </a:pPr>
            <a:r>
              <a:t>필요 최소 전송 (Lazy Loading)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0" y="7953374"/>
            <a:ext cx="619125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전체 Study를 무차별 다운로드하지 않고, WADO-RS 표준 기반으로 Study ➔ Series ➔ Instance 프레임 단위로 필요한 만큼만 직접 전송합니다.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04. SECURITY &amp;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11단계 교집합 정책 검증과 비임상 AI 안전 가드레일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단 하나의 조건이라도 불충족 시 즉시 차단(Fail-Closed) 및 공인 코퍼스 기반 비임상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05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7924799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14450" y="3619500"/>
            <a:ext cx="1905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접근통제 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600450"/>
            <a:ext cx="52387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7263A"/>
                </a:solidFill>
                <a:latin typeface="프리텐다드"/>
              </a:defRPr>
            </a:pPr>
            <a:r>
              <a:t>11-Factor Fail-Closed ABAC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4190999"/>
            <a:ext cx="733425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1. consentId 고유 식별자 유효성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2. 동의 상태 ACTIVE 여부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3. 현재 시각이 validFrom/Until 내인가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4. 요청 병원 == 동의된 수신 병원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5. 요청 의사 소속 병원 일치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6. 요청 Study UID 허용 범위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7. 요청 Series UID 허용 범위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8. 요청 목적 == 동의 목적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9. VIEW_ONLY vs DOWNLOAD 권한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10. 단기 토큰 유효시간 (5~10분)</a:t>
            </a:r>
          </a:p>
          <a:p>
            <a:pPr>
              <a:spcAft>
                <a:spcPts val="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11. 토큰 범위 및 HMAC 무결성 서명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500" y="3333750"/>
            <a:ext cx="7924799" cy="5810250"/>
          </a:xfrm>
          <a:prstGeom prst="roundRect">
            <a:avLst/>
          </a:prstGeom>
          <a:solidFill>
            <a:srgbClr val="E7F4F1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20250" y="3619500"/>
            <a:ext cx="1905000" cy="40005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AI 가드레일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0" y="3600450"/>
            <a:ext cx="52387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7263A"/>
                </a:solidFill>
                <a:latin typeface="프리텐다드"/>
              </a:defRPr>
            </a:pPr>
            <a:r>
              <a:t>2-Layer Non-Clinical AI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4190999"/>
            <a:ext cx="733425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공인 코퍼스: MedlinePlus 및 간학회 1,019개 검사 토픽 연계</a:t>
            </a:r>
          </a:p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한국어 자모 분해 전처리: 조사(은/는/이/가/이란) 정밀 분리</a:t>
            </a:r>
          </a:p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2-Layer 분류: 1차 토픽 감지 ➔ 2차 질문 의도(개념/원인/주의) 매핑</a:t>
            </a:r>
          </a:p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표제어 단독 입력 시 안전한 기본값(DEFINITION) 자동 반환</a:t>
            </a:r>
          </a:p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의료 진단/처방 차단: 약물 용량, 확진 판단 질의 안전 안내 전환</a:t>
            </a:r>
          </a:p>
          <a:p>
            <a:pPr>
              <a:spcAft>
                <a:spcPts val="1400"/>
              </a:spcAft>
              <a:defRPr sz="1500">
                <a:solidFill>
                  <a:srgbClr val="17263A"/>
                </a:solidFill>
                <a:latin typeface="프리텐다드"/>
              </a:defRPr>
            </a:pPr>
            <a:r>
              <a:t>•  의사 상담 리허설: 진료실에서 주치의에게 물어볼 질문 자동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05. LIVE SERVICE · PATIENT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직관적인 4대 역할 게이트와 환자 맞춤형 동의 지갑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환자가 직접 수신 병원, 진료 목적, 유효기간, 허용할 복부 CT 검사 범위를 지정하고 언제든 철회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06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9144000" cy="5810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patient_consent_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24250"/>
            <a:ext cx="8763000" cy="48626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477500" y="3333750"/>
            <a:ext cx="67818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63250" y="3619500"/>
            <a:ext cx="2095499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환자 동의 지갑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9250" y="3600450"/>
            <a:ext cx="40005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7263A"/>
                </a:solidFill>
                <a:latin typeface="프리텐다드"/>
              </a:defRPr>
            </a:pPr>
            <a:r>
              <a:t>환자 중심의 공유 통제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0" y="4238625"/>
            <a:ext cx="619125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4대 역할 게이트 분리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환자, 의료진, 병원 관리자, 보안 운영자 전용 로그인 화면 제공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수신 병원 선택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A대학병원에서 B대학병원으로 공유 대상 병원 명확히 지정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열람 목적 및 기간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진료 목적으로 한정, 1일~30일 사이 유효기간 설정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검사 단위 선택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전체 진료기록이 아닌, 필요한 특정 복부 CT Study/Series만 선택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원클릭 동의 철회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언제든 환자가 원할 때 즉시 권한을 파기하는 Revoke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06. LIVE SERVICE · HEALTH 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어려운 검사 결과를 눈높이 설명으로: AI 건강도우미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혈청 알파태아단백(AFP) 검사 결과 연동, 쉬운 개념 해설 및 진료실 의사 상담 리허설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07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7143750" cy="5810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health_helper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76625"/>
            <a:ext cx="6762750" cy="69740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77250" y="3333750"/>
            <a:ext cx="8782050" cy="5810250"/>
          </a:xfrm>
          <a:prstGeom prst="roundRect">
            <a:avLst/>
          </a:prstGeom>
          <a:solidFill>
            <a:srgbClr val="E7F4F1"/>
          </a:solidFill>
          <a:ln w="19050">
            <a:solidFill>
              <a:srgbClr val="16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0" y="3619500"/>
            <a:ext cx="2095499" cy="400050"/>
          </a:xfrm>
          <a:prstGeom prst="roundRect">
            <a:avLst/>
          </a:prstGeom>
          <a:solidFill>
            <a:srgbClr val="16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AI 건강도우미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3600450"/>
            <a:ext cx="600075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17263A"/>
                </a:solidFill>
                <a:latin typeface="프리텐다드"/>
              </a:defRPr>
            </a:pPr>
            <a:r>
              <a:t>혈청 알파태아단백(AFP) 검사 질의응답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4238625"/>
            <a:ext cx="819150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75" b="1">
                <a:solidFill>
                  <a:srgbClr val="168B82"/>
                </a:solidFill>
                <a:latin typeface="프리텐다드"/>
              </a:defRPr>
            </a:pPr>
            <a:r>
              <a:t>✔  쉬운 의학 개념 해설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AFP 정상 수치와 간암/간경화 선별검사 목적을 비임상 환자 언어로 해설</a:t>
            </a:r>
          </a:p>
          <a:p>
            <a:pPr>
              <a:defRPr sz="1575" b="1">
                <a:solidFill>
                  <a:srgbClr val="168B82"/>
                </a:solidFill>
                <a:latin typeface="프리텐다드"/>
              </a:defRPr>
            </a:pPr>
            <a:r>
              <a:t>✔  추천 질문 스튜디오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'AFP 검사가 뭔가요?', '초음파와 차이점', '주의사항' 등 원클릭 퀵 질의</a:t>
            </a:r>
          </a:p>
          <a:p>
            <a:pPr>
              <a:defRPr sz="1575" b="1">
                <a:solidFill>
                  <a:srgbClr val="168B82"/>
                </a:solidFill>
                <a:latin typeface="프리텐다드"/>
              </a:defRPr>
            </a:pPr>
            <a:r>
              <a:t>✔  의사 상담 리허설 박스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진료실에서 주치의에게 물어봐야 할 맞춤 질문 3가지를 자동 정리</a:t>
            </a:r>
          </a:p>
          <a:p>
            <a:pPr>
              <a:defRPr sz="1575" b="1">
                <a:solidFill>
                  <a:srgbClr val="168B82"/>
                </a:solidFill>
                <a:latin typeface="프리텐다드"/>
              </a:defRPr>
            </a:pPr>
            <a:r>
              <a:t>✔  공인 학술 출처 투명 표기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MedlinePlus 및 간학회 가이드라인 출처 링크를 명확히 제시하여 신뢰 확보</a:t>
            </a:r>
          </a:p>
          <a:p>
            <a:pPr>
              <a:defRPr sz="1575" b="1">
                <a:solidFill>
                  <a:srgbClr val="168B82"/>
                </a:solidFill>
                <a:latin typeface="프리텐다드"/>
              </a:defRPr>
            </a:pPr>
            <a:r>
              <a:t>✔  한국어 형태소 전처리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체언과 조사를 분리하여 'AFP란', '초음파에 대해서' 등 구어체 질문 완벽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07. LIVE SERVICE · CLINICIAN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5분 단기 토큰 기반 700 Slices 복부 CT 뷰어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로컬 PC 무단 다운로드 차단, 5분 유효 단기 토큰 기반 WADO-RS 프레임 지연 스트리밍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08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9906000" cy="5810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clinician_dicom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24250"/>
            <a:ext cx="9525000" cy="677912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239500" y="3333750"/>
            <a:ext cx="60198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525250" y="3619500"/>
            <a:ext cx="1905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의료진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0750" y="3600450"/>
            <a:ext cx="3429000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17263A"/>
                </a:solidFill>
                <a:latin typeface="프리텐다드"/>
              </a:defRPr>
            </a:pPr>
            <a:r>
              <a:t>700 Slices 무지연 렌더링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0" y="4238625"/>
            <a:ext cx="542925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WADO-RS 스트리밍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700장 대용량 CT를 다운로드 없이 프레임 단위 초고속 렌더링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정밀 판독 도구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간 병변 십자선, 다중 단면 연속 스크롤, 윈도우 레벨링, 시리즈 썸네일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5분 단기 서명 토큰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시간 경과 시 세션 자동 만료로 장기 토큰 탈취 위험 원천 차단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로컬 다운로드 금지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의료진 PC에 원본 DICOM 파일 무단 저장을 엄격히 차단</a:t>
            </a:r>
          </a:p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✔  DICOMweb 표준 준수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QIDO-RS / WADO-RS 표준으로 기존 병원 PACS와 완벽 호환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45745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723900"/>
            <a:ext cx="76200" cy="125730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590550"/>
            <a:ext cx="1524000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75" b="1">
                <a:solidFill>
                  <a:srgbClr val="2F68B5"/>
                </a:solidFill>
                <a:latin typeface="프리텐다드"/>
              </a:defRPr>
            </a:pPr>
            <a:r>
              <a:t>08. LIVE SERVICE · SECURITY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962024"/>
            <a:ext cx="15716250" cy="1314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900" b="1">
                <a:solidFill>
                  <a:srgbClr val="17263A"/>
                </a:solidFill>
                <a:latin typeface="프리텐다드"/>
              </a:defRPr>
            </a:pPr>
            <a:r>
              <a:t>모든 접근을 불변 추적하는 통합 보안 관제 콘솔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8605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75">
                <a:solidFill>
                  <a:srgbClr val="53657B"/>
                </a:solidFill>
                <a:latin typeface="프리텐다드"/>
              </a:defRPr>
            </a:pPr>
            <a:r>
              <a:t>토큰 발급, WAF 규칙 이벤트, Key Vault 서명, 비정상 접근 시도 실시간 모니터링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D8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9658350"/>
            <a:ext cx="114300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5분 핵심 피칭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9658350"/>
            <a:ext cx="201930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75" b="1">
                <a:solidFill>
                  <a:srgbClr val="7B8A9B"/>
                </a:solidFill>
                <a:latin typeface="프리텐다드"/>
              </a:defRPr>
            </a:pPr>
            <a:r>
              <a:t>09  /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3333750"/>
            <a:ext cx="9144000" cy="5810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security_audit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24250"/>
            <a:ext cx="8763000" cy="133834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477500" y="3333750"/>
            <a:ext cx="6781800" cy="581025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8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63250" y="3619500"/>
            <a:ext cx="1905000" cy="400050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25" b="1">
                <a:solidFill>
                  <a:srgbClr val="FFFFFF"/>
                </a:solidFill>
                <a:latin typeface="프리텐다드"/>
              </a:defRPr>
            </a:pPr>
            <a:r>
              <a:t>보안 관제실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750" y="3600450"/>
            <a:ext cx="4190999" cy="428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17263A"/>
                </a:solidFill>
                <a:latin typeface="프리텐다드"/>
              </a:defRPr>
            </a:pPr>
            <a:r>
              <a:t>불변 감사로그와 이상행위 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0" y="4238625"/>
            <a:ext cx="619125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75" b="1">
                <a:solidFill>
                  <a:srgbClr val="C64A4A"/>
                </a:solidFill>
                <a:latin typeface="프리텐다드"/>
              </a:defRPr>
            </a:pPr>
            <a:r>
              <a:t>✔  15대 주요 행위 전수 로깅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로그인, 동의 생성, 토큰 발급, 프레임 조회, 접근 거부 등 실시간 기록</a:t>
            </a:r>
          </a:p>
          <a:p>
            <a:pPr>
              <a:defRPr sz="1575" b="1">
                <a:solidFill>
                  <a:srgbClr val="C64A4A"/>
                </a:solidFill>
                <a:latin typeface="프리텐다드"/>
              </a:defRPr>
            </a:pPr>
            <a:r>
              <a:t>✔  사유 코드 기반 거부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DOCTOR_HOSPITAL_MISMATCH 등 명확한 원인 추적</a:t>
            </a:r>
          </a:p>
          <a:p>
            <a:pPr>
              <a:defRPr sz="1575" b="1">
                <a:solidFill>
                  <a:srgbClr val="C64A4A"/>
                </a:solidFill>
                <a:latin typeface="프리텐다드"/>
              </a:defRPr>
            </a:pPr>
            <a:r>
              <a:t>✔  감사 세션 체인 상관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하나의 감사 세션 ID로 토큰 발급부터 PACS 조회까지 종단 추적</a:t>
            </a:r>
          </a:p>
          <a:p>
            <a:pPr>
              <a:defRPr sz="1575" b="1">
                <a:solidFill>
                  <a:srgbClr val="C64A4A"/>
                </a:solidFill>
                <a:latin typeface="프리텐다드"/>
              </a:defRPr>
            </a:pPr>
            <a:r>
              <a:t>✔  실시간 이상행위 탐지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단시간 대량 조회, 만료 토큰 반복 사용, 비진료 부서 접근 실시간 경보</a:t>
            </a:r>
          </a:p>
          <a:p>
            <a:pPr>
              <a:defRPr sz="1575" b="1">
                <a:solidFill>
                  <a:srgbClr val="C64A4A"/>
                </a:solidFill>
                <a:latin typeface="프리텐다드"/>
              </a:defRPr>
            </a:pPr>
            <a:r>
              <a:t>✔  관리자 임의 삭제 금지</a:t>
            </a:r>
          </a:p>
          <a:p>
            <a:pPr>
              <a:spcAft>
                <a:spcPts val="1000"/>
              </a:spcAft>
              <a:defRPr sz="1350">
                <a:solidFill>
                  <a:srgbClr val="17263A"/>
                </a:solidFill>
                <a:latin typeface="프리텐다드"/>
              </a:defRPr>
            </a:pPr>
            <a:r>
              <a:t>     감사로그 자체의 무결성을 보장하여 법적 증거력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1143000"/>
            <a:ext cx="16230600" cy="1238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프리텐다드"/>
              </a:defRPr>
            </a:pPr>
            <a:r>
              <a:t>환자 동의로 열고, 증거와 감사로 닫는다</a:t>
            </a:r>
          </a:p>
          <a:p>
            <a:pPr>
              <a:defRPr sz="2100">
                <a:solidFill>
                  <a:srgbClr val="55C2D8"/>
                </a:solidFill>
                <a:latin typeface="프리텐다드"/>
              </a:defRPr>
            </a:pPr>
            <a:r>
              <a:t>하이패스 MediQ가 만들어갈 안전하고 끊김 없는 차세대 의료 영상 생태계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048000"/>
            <a:ext cx="3771900" cy="5810250"/>
          </a:xfrm>
          <a:prstGeom prst="roundRect">
            <a:avLst/>
          </a:prstGeom>
          <a:solidFill>
            <a:srgbClr val="17263A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6825" y="3333750"/>
            <a:ext cx="1524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환자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6825" y="3952875"/>
            <a:ext cx="329565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프리텐다드"/>
              </a:defRPr>
            </a:pPr>
            <a:r>
              <a:t>환자 (Patient)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6825" y="4572000"/>
            <a:ext cx="3295650" cy="1905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825" y="4810125"/>
            <a:ext cx="329565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CD 발급·운반 비용 0원화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중복 CT/MRI 피폭 예방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진료 대기시간 획기적 단축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내 의료 데이터 주권 통제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600" y="3048000"/>
            <a:ext cx="3771900" cy="5810250"/>
          </a:xfrm>
          <a:prstGeom prst="roundRect">
            <a:avLst/>
          </a:prstGeom>
          <a:solidFill>
            <a:srgbClr val="17263A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9725" y="3333750"/>
            <a:ext cx="1524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의료진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9725" y="3952875"/>
            <a:ext cx="329565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프리텐다드"/>
              </a:defRPr>
            </a:pPr>
            <a:r>
              <a:t>의료진 (Clinician)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9725" y="4572000"/>
            <a:ext cx="3295650" cy="1905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9725" y="4810125"/>
            <a:ext cx="329565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타 병원 검사 즉시 스트리밍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진료 연속성 및 정확도 향상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CD 등록 대기 없는 즉시 진료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환자 상담 리허설로 효율화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3048000"/>
            <a:ext cx="3771900" cy="5810250"/>
          </a:xfrm>
          <a:prstGeom prst="roundRect">
            <a:avLst/>
          </a:prstGeom>
          <a:solidFill>
            <a:srgbClr val="17263A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72625" y="3333750"/>
            <a:ext cx="1524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병원·보안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625" y="3952875"/>
            <a:ext cx="329565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프리텐다드"/>
              </a:defRPr>
            </a:pPr>
            <a:r>
              <a:t>병원·보안 (Hospital)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72625" y="4572000"/>
            <a:ext cx="3295650" cy="1905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2625" y="4810125"/>
            <a:ext cx="329565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Zero Cloud Storage 유출 0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ABAC 11단계 인가·단기토큰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불변 감사로그 완벽한 증거력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기존 PACS 인프라 유지 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87400" y="3048000"/>
            <a:ext cx="3771900" cy="5810250"/>
          </a:xfrm>
          <a:prstGeom prst="roundRect">
            <a:avLst/>
          </a:prstGeom>
          <a:solidFill>
            <a:srgbClr val="17263A"/>
          </a:solidFill>
          <a:ln w="25400">
            <a:solidFill>
              <a:srgbClr val="2F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25525" y="3333750"/>
            <a:ext cx="1524000" cy="400050"/>
          </a:xfrm>
          <a:prstGeom prst="round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프리텐다드"/>
              </a:defRPr>
            </a:pPr>
            <a:r>
              <a:t>사회·비전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25525" y="3952875"/>
            <a:ext cx="329565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프리텐다드"/>
              </a:defRPr>
            </a:pPr>
            <a:r>
              <a:t>사회·비전 (Society)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25525" y="4572000"/>
            <a:ext cx="3295650" cy="1905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25525" y="4810125"/>
            <a:ext cx="329565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건강보험 재정 낭비 절감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국가 의료정보 교류망 모델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DICOMweb / FHIR 표준 선도</a:t>
            </a:r>
          </a:p>
          <a:p>
            <a:pPr>
              <a:spcAft>
                <a:spcPts val="1400"/>
              </a:spcAft>
              <a:defRPr sz="1425">
                <a:solidFill>
                  <a:srgbClr val="DCEBFC"/>
                </a:solidFill>
                <a:latin typeface="프리텐다드"/>
              </a:defRPr>
            </a:pPr>
            <a:r>
              <a:t>•  환자 중심 디지털 헬스케어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" y="9582150"/>
            <a:ext cx="16230600" cy="19050"/>
          </a:xfrm>
          <a:prstGeom prst="rect">
            <a:avLst/>
          </a:prstGeom>
          <a:solidFill>
            <a:srgbClr val="2F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" y="9658350"/>
            <a:ext cx="16230600" cy="295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75">
                <a:solidFill>
                  <a:srgbClr val="7B8A9B"/>
                </a:solidFill>
                <a:latin typeface="프리텐다드"/>
              </a:defRPr>
            </a:pPr>
            <a:r>
              <a:t>Medi Q  /  합성 데이터 · 비임상 기술 PoC  ·  10  /  10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