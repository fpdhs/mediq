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00:00 ~ 00:30 | 도입 및 정체성 소개]</a:t>
            </a:r>
          </a:p>
          <a:p>
            <a:r>
              <a:t>"안녕하십니까. 환자 동의 기반 클라우드 의료영상 교류 및 비임상 AI 건강도우미 플랫폼, '하이패스 MediQ'의 발표를 맡은 [발표자 이름]입니다.</a:t>
            </a:r>
          </a:p>
          <a:p>
            <a:r>
              <a:t>저희 프로젝트는 물리적 CD 발급과 재촬영의 비효율 및 방사선 피폭 문제를 해결하기 위해, Zero Cloud Storage 원칙과 엄격한 11단계 인가, 그리고 700장 복부 CT 무지연 스트리밍을 구현했습니다.</a:t>
            </a:r>
          </a:p>
          <a:p>
            <a:r>
              <a:t>지금부터 핵심 문제와 솔루션, 그리고 8단계 시스템 아키텍처 워크스루를 생생하게 보여드리겠습니다."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00:30 ~ 01:00 | 문제 정의]</a:t>
            </a:r>
          </a:p>
          <a:p>
            <a:r>
              <a:t>"대학병원에서 CT나 MRI를 찍고 다른 병원으로 진료를 보러 갈 때, 여전히 환자가 직접 CD를 가방에 넣고 들고 다녀야 합니다.</a:t>
            </a:r>
          </a:p>
          <a:p>
            <a:r>
              <a:t>이로 인해 발급비와 대기 시간이 발생하고, CD 포맷 불일치나 손상으로 인한 불필요한 재촬영으로 방사선 피폭 위험에 노출됩니다. 또한 내 의료 정보임에도 환자가 열람 권한을 직접 제어하거나 철회할 권리가 없었습니다."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01:00 ~ 01:30 | 솔루션 제안]</a:t>
            </a:r>
          </a:p>
          <a:p>
            <a:r>
              <a:t>"하이패스 MediQ는 환자가 스마트폰으로 수신 병원과 검사를 지정해 동의 티켓을 발행하면, 서버가 11단계 인가를 거쳐 5분 단기 토큰을 발행하고 원본 병원 PACS로부터 필요한 영상만 웹 뷰어로 실시간 스트리밍합니다."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01:30 ~ 01:50 | 전체 아키텍처 조망]</a:t>
            </a:r>
          </a:p>
          <a:p>
            <a:r>
              <a:t>"지금 보시는 구성도는 하이패스 MediQ의 전체 아키텍처입니다.</a:t>
            </a:r>
          </a:p>
          <a:p>
            <a:r>
              <a:t>좌측의 인터넷 사용자부터 Microsoft Entra ID, Azure Control Plane, 그리고 가상 병원 A와 B의 PACS까지 연결되는 8단계 흐름을 한 단계씩 살펴보겠습니다."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01 / 08 발표 대본]</a:t>
            </a:r>
          </a:p>
          <a:p>
            <a:r>
              <a:t>"1단계는 신원 인증입니다. 환자와 의료진은 Microsoft Entra ID를 통해 신원을 확인합니다. 그러나 로그인에 성공했다고 영상이 열리는 것이 아니라, 권한 검증이라는 별도의 문을 통과해야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02 / 08 발표 대본]</a:t>
            </a:r>
          </a:p>
          <a:p>
            <a:r>
              <a:t>"2단계에서 환자는 스마트폰을 통해 자신의 의료 지갑에서 공유할 병원과 유효기간, 그리고 필요한 복부 CT 검사만을 콕 집어 명시적 동의 범위를 설정합니다."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03 / 08 발표 대본]</a:t>
            </a:r>
          </a:p>
          <a:p>
            <a:r>
              <a:t>"3단계에서 서버는 환자의 동의 조건을 암호화하여 저장하고 QR 공유 티켓을 발행합니다. 이때 클라우드 중앙 서버에는 대용량 영상 파일이 전혀 저장되지 않습니다."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04 / 08 발표 대본]</a:t>
            </a:r>
          </a:p>
          <a:p>
            <a:r>
              <a:t>"4단계로, B병원 진료실 의사가 환자의 QR 티켓을 접수합니다. 이 요청은 안전한 TLS 터널링을 통해 Control 서버로 전달되어 의사의 소속과 권한 검증에 들어갑니다."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05 &amp; 06 / 08 발표 대본]</a:t>
            </a:r>
          </a:p>
          <a:p>
            <a:r>
              <a:t>"5단계와 6단계는 핵심 보안 관문입니다. 서버가 11가지 인가 조건을 전수 검증하여, 모두 통과했을 때만 5분간 유효한 단기 서명 토큰을 발급합니다."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07 / 08 발표 대본]</a:t>
            </a:r>
          </a:p>
          <a:p>
            <a:r>
              <a:t>"7단계로, B병원 게이트웨이가 수신된 단기 토큰의 서명과 유효기간을 다시 한번 철저히 검증하여 안전성을 확증합니다."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[STEP 08 / 08 발표 대본]</a:t>
            </a:r>
          </a:p>
          <a:p>
            <a:r>
              <a:t>"마지막 8단계입니다. A병원 PACS에 안전하게 보관되어 있던 700장의 복부 CT 영상이 WireGuard 사설망을 타고 B병원 진료실 뷰어로 무지연 스트리밍되어 의사가 즉시 정밀 판독을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[환자 포털 대본]</a:t>
            </a:r>
          </a:p>
          <a:p>
            <a:r>
              <a:t>"실제 클라우드에 배포된 환자의 의료 공유 지갑 화면입니다. 환자가 직접 수신할 B대학병원과 유효기간, 복부 CT를 선택하며 언제든 1초 만에 권한을 철회할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 건강도우미 대본]</a:t>
            </a:r>
          </a:p>
          <a:p>
            <a:r>
              <a:t>"환자가 결과지에 적힌 어려운 용어에 불안해하지 않도록, AI가 알파태아단백(AFP)을 알기 쉽게 설명하고 진료실에서 물어볼 질문 카드를 만들어줍니다."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[의료진 뷰어 대본]</a:t>
            </a:r>
          </a:p>
          <a:p>
            <a:r>
              <a:t>"B병원 의사가 5분 단기 토큰으로 700장에 달하는 복부 CT 슬라이스를 초고속으로 스크롤하며 간 병변을 정밀 판독하는 실제 데스크톱 PACS 뷰어 화면입니다."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[보안 관제 대본]</a:t>
            </a:r>
          </a:p>
          <a:p>
            <a:r>
              <a:t>"모든 열람 행위와 접근 거부 사유가 1초 단위로 불변 감사로그에 기록되며 관리자조차 삭제할 수 없어 완전한 법적 증거력을 지닙니다."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[마무리 및 Q&amp;A 대본]</a:t>
            </a:r>
          </a:p>
          <a:p>
            <a:r>
              <a:t>"정리하겠습니다. 하이패스 MediQ는 환자에게는 CD 발급 비용과 방사선 피폭 위험을 없애주고, 의료진에게는 진료 연속성을, 병원에는 유출 위험 없는 보안을 보장합니다. 경청해 주셔서 대단히 감사합니다. 질의응답을 받겠습니다."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8700" y="1333500"/>
            <a:ext cx="104775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53657B"/>
                </a:solidFill>
                <a:latin typeface="프리텐다드"/>
              </a:defRPr>
            </a:pPr>
            <a:r>
              <a:t>CAPSTONE MVP  ·  SECURITY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1905000"/>
            <a:ext cx="7620000" cy="1047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750" b="1">
                <a:solidFill>
                  <a:srgbClr val="2F68B5"/>
                </a:solidFill>
                <a:latin typeface="프리텐다드"/>
              </a:defRPr>
            </a:pPr>
            <a:r>
              <a:t>mediQ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3143250"/>
            <a:ext cx="10477500" cy="2095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50" b="1">
                <a:solidFill>
                  <a:srgbClr val="17263A"/>
                </a:solidFill>
                <a:latin typeface="프리텐다드"/>
              </a:defRPr>
            </a:pPr>
            <a:r>
              <a:t>환자 동의 기반</a:t>
            </a:r>
            <a:br/>
            <a:r>
              <a:t>영상 교류 및 AI 도우미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" y="5476875"/>
            <a:ext cx="10477500" cy="552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>
                <a:solidFill>
                  <a:srgbClr val="53657B"/>
                </a:solidFill>
                <a:latin typeface="프리텐다드"/>
              </a:defRPr>
            </a:pPr>
            <a:r>
              <a:t>Zero Cloud Storage · ABAC 11단계 인가 · 700 Slices CT 스트리밍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58500" y="1905000"/>
            <a:ext cx="6400800" cy="1524000"/>
          </a:xfrm>
          <a:prstGeom prst="roundRect">
            <a:avLst/>
          </a:prstGeom>
          <a:solidFill>
            <a:srgbClr val="0B2342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096625" y="2143125"/>
            <a:ext cx="61912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06250" y="2095499"/>
            <a:ext cx="51435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  <a:latin typeface="프리텐다드"/>
              </a:defRPr>
            </a:pPr>
            <a:r>
              <a:t>Zero Cloud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06250" y="2571750"/>
            <a:ext cx="5143500" cy="666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D8E7F8"/>
                </a:solidFill>
                <a:latin typeface="프리텐다드"/>
              </a:defRPr>
            </a:pPr>
            <a:r>
              <a:t>의료영상 원본은 병원 PACS 분산 보관</a:t>
            </a:r>
            <a:br/>
            <a:r>
              <a:t>클라우드 중앙 DB에 DICOM 원본 비보관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8500" y="3667125"/>
            <a:ext cx="6400800" cy="1524000"/>
          </a:xfrm>
          <a:prstGeom prst="roundRect">
            <a:avLst/>
          </a:prstGeom>
          <a:solidFill>
            <a:srgbClr val="0B2342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096625" y="3905249"/>
            <a:ext cx="61912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06250" y="3857625"/>
            <a:ext cx="51435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  <a:latin typeface="프리텐다드"/>
              </a:defRPr>
            </a:pPr>
            <a:r>
              <a:t>ABAC 11단계 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06250" y="4333875"/>
            <a:ext cx="5143500" cy="666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D8E7F8"/>
                </a:solidFill>
                <a:latin typeface="프리텐다드"/>
              </a:defRPr>
            </a:pPr>
            <a:r>
              <a:t>Fail-Closed 조건 교집합 전수 검증</a:t>
            </a:r>
            <a:br/>
            <a:r>
              <a:t>5~10분 유효 단기 HMAC 서명 토큰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58500" y="5429250"/>
            <a:ext cx="6400800" cy="1524000"/>
          </a:xfrm>
          <a:prstGeom prst="roundRect">
            <a:avLst/>
          </a:prstGeom>
          <a:solidFill>
            <a:srgbClr val="0B2342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096625" y="5667375"/>
            <a:ext cx="61912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06250" y="5619750"/>
            <a:ext cx="51435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  <a:latin typeface="프리텐다드"/>
              </a:defRPr>
            </a:pPr>
            <a:r>
              <a:t>700 Slices CT 스트리밍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06250" y="6096000"/>
            <a:ext cx="5143500" cy="666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D8E7F8"/>
                </a:solidFill>
                <a:latin typeface="프리텐다드"/>
              </a:defRPr>
            </a:pPr>
            <a:r>
              <a:t>WADO-RS 표준 기반 무지연 Lazy Loading</a:t>
            </a:r>
            <a:br/>
            <a:r>
              <a:t>의료진 PC 로컬 무단 다운로드 원천 차단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7429500"/>
            <a:ext cx="18288000" cy="2857500"/>
          </a:xfrm>
          <a:prstGeom prst="rect">
            <a:avLst/>
          </a:prstGeom>
          <a:solidFill>
            <a:srgbClr val="17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8700" y="7810499"/>
            <a:ext cx="1238250" cy="41910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시연 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76500" y="7848600"/>
            <a:ext cx="142875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프리텐다드"/>
              </a:defRPr>
            </a:pPr>
            <a:r>
              <a:t>https://highpass-demo.japaneast.cloudapp.azure.com/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" y="8477250"/>
            <a:ext cx="1238250" cy="41910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발표자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76500" y="8515350"/>
            <a:ext cx="142875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프리텐다드"/>
              </a:defRPr>
            </a:pPr>
            <a:r>
              <a:t>하이패스 프로젝트팀 (이재석, 김범희)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8700" y="9144000"/>
            <a:ext cx="1238250" cy="41910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데이터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6500" y="9182100"/>
            <a:ext cx="142875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프리텐다드"/>
              </a:defRPr>
            </a:pPr>
            <a:r>
              <a:t>합성 데이터 기반 기술 PoC · 비임상 시연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01.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영상보다 전달 과정에서 맥락이 끊긴다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대표적인 CD 이동 흐름의 3대 한계 · 행정 비용, 불필요한 재촬영, 환자 통제권 부재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02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49530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14450" y="3619500"/>
            <a:ext cx="71437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1700" y="3571875"/>
            <a:ext cx="352425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53657B"/>
                </a:solidFill>
                <a:latin typeface="프리텐다드"/>
              </a:defRPr>
            </a:pPr>
            <a:r>
              <a:t>CD 발급과 대기 시간의 굴레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4450" y="4190999"/>
            <a:ext cx="4381500" cy="571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50" b="1">
                <a:solidFill>
                  <a:srgbClr val="17263A"/>
                </a:solidFill>
                <a:latin typeface="프리텐다드"/>
              </a:defRPr>
            </a:pPr>
            <a:r>
              <a:t>행정 및 비용 낭비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4450" y="4905375"/>
            <a:ext cx="43815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5095875"/>
            <a:ext cx="4381500" cy="3619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환자가 직접 수수료를 내고 CD 발급 대기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물리적 CD를 들고 타 병원으로 이동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타 병원 등록실에서 재등록 대기 소요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연간 수백만 건의 불필요한 행정 비용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3750"/>
            <a:ext cx="49530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53250" y="3619500"/>
            <a:ext cx="71437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499" y="3571875"/>
            <a:ext cx="352425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53657B"/>
                </a:solidFill>
                <a:latin typeface="프리텐다드"/>
              </a:defRPr>
            </a:pPr>
            <a:r>
              <a:t>CD 판독 불가 및 재촬영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250" y="4190999"/>
            <a:ext cx="4381500" cy="571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50" b="1">
                <a:solidFill>
                  <a:srgbClr val="17263A"/>
                </a:solidFill>
                <a:latin typeface="프리텐다드"/>
              </a:defRPr>
            </a:pPr>
            <a:r>
              <a:t>불필요한 중복 피폭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3250" y="4905375"/>
            <a:ext cx="43815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5095875"/>
            <a:ext cx="4381500" cy="3619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CD 손상, 포맷 불일치, 뷰어 미호환 빈번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이전 병원 영상 확인 실패로 CT/MRI 재촬영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환자에게 불필요한 방사선 피폭 누적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진료 연속성 단절 및 치료 결정 지연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306300" y="3333750"/>
            <a:ext cx="49530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592050" y="3619500"/>
            <a:ext cx="714375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9300" y="3571875"/>
            <a:ext cx="352425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53657B"/>
                </a:solidFill>
                <a:latin typeface="프리텐다드"/>
              </a:defRPr>
            </a:pPr>
            <a:r>
              <a:t>의료 데이터 통제권의 부재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92050" y="4190999"/>
            <a:ext cx="4381500" cy="571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50" b="1">
                <a:solidFill>
                  <a:srgbClr val="17263A"/>
                </a:solidFill>
                <a:latin typeface="프리텐다드"/>
              </a:defRPr>
            </a:pPr>
            <a:r>
              <a:t>환자 주권 부재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592050" y="4905375"/>
            <a:ext cx="43815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92050" y="5095875"/>
            <a:ext cx="4381500" cy="3619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내 영상이 누구에게 전달되는지 추적 불가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열람 기간이나 목적을 환자가 제한할 수 없음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발급 후에는 권한 회수나 철회가 불가능</a:t>
            </a:r>
          </a:p>
          <a:p>
            <a:pPr>
              <a:spcAft>
                <a:spcPts val="1200"/>
              </a:spcAft>
              <a:defRPr sz="1500">
                <a:solidFill>
                  <a:srgbClr val="17263A"/>
                </a:solidFill>
                <a:latin typeface="프리텐다드"/>
              </a:defRPr>
            </a:pPr>
            <a:r>
              <a:t>•  진료 전 검사 의미를 알지 못해 환자 불안 가중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02. SOLUTION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환자가 중심이 되는 다이렉트 의료영상 공유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기존 매체 운반 방식에서 환자 동의 기반 클라우드 스트리밍으로의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03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6230600" cy="2476500"/>
          </a:xfrm>
          <a:prstGeom prst="roundRect">
            <a:avLst/>
          </a:prstGeom>
          <a:solidFill>
            <a:srgbClr val="FBF4E5"/>
          </a:solidFill>
          <a:ln w="19050">
            <a:solidFill>
              <a:srgbClr val="DCA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14450" y="3571875"/>
            <a:ext cx="1619250" cy="400050"/>
          </a:xfrm>
          <a:prstGeom prst="roundRect">
            <a:avLst/>
          </a:prstGeom>
          <a:solidFill>
            <a:srgbClr val="DCA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기존 방식 (CD)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571875"/>
            <a:ext cx="137160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A16207"/>
                </a:solidFill>
                <a:latin typeface="프리텐다드"/>
              </a:defRPr>
            </a:pPr>
            <a:r>
              <a:t>Traditional Flow : 매체 중심의 물리적 운반 절차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14450" y="4238625"/>
            <a:ext cx="2857500" cy="11906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" y="4429125"/>
            <a:ext cx="28575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01</a:t>
            </a:r>
          </a:p>
          <a:p>
            <a:pPr algn="ctr">
              <a:defRPr sz="1650" b="1">
                <a:solidFill>
                  <a:srgbClr val="17263A"/>
                </a:solidFill>
                <a:latin typeface="프리텐다드"/>
              </a:defRPr>
            </a:pPr>
            <a:r>
              <a:t>A병원 검사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33900" y="4238625"/>
            <a:ext cx="2857500" cy="11906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3900" y="4429125"/>
            <a:ext cx="28575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02</a:t>
            </a:r>
          </a:p>
          <a:p>
            <a:pPr algn="ctr">
              <a:defRPr sz="1650" b="1">
                <a:solidFill>
                  <a:srgbClr val="17263A"/>
                </a:solidFill>
                <a:latin typeface="프리텐다드"/>
              </a:defRPr>
            </a:pPr>
            <a:r>
              <a:t>CD 발급비·대기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53349" y="4238625"/>
            <a:ext cx="2857500" cy="11906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3349" y="4429125"/>
            <a:ext cx="28575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03</a:t>
            </a:r>
          </a:p>
          <a:p>
            <a:pPr algn="ctr">
              <a:defRPr sz="1650" b="1">
                <a:solidFill>
                  <a:srgbClr val="17263A"/>
                </a:solidFill>
                <a:latin typeface="프리텐다드"/>
              </a:defRPr>
            </a:pPr>
            <a:r>
              <a:t>환자 직접 운반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0" y="4238625"/>
            <a:ext cx="2857500" cy="11906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0" y="4429125"/>
            <a:ext cx="28575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04</a:t>
            </a:r>
          </a:p>
          <a:p>
            <a:pPr algn="ctr">
              <a:defRPr sz="1650" b="1">
                <a:solidFill>
                  <a:srgbClr val="17263A"/>
                </a:solidFill>
                <a:latin typeface="프리텐다드"/>
              </a:defRPr>
            </a:pPr>
            <a:r>
              <a:t>B병원 등록 대기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92250" y="4238625"/>
            <a:ext cx="2857500" cy="11906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92250" y="4429125"/>
            <a:ext cx="28575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05</a:t>
            </a:r>
          </a:p>
          <a:p>
            <a:pPr algn="ctr">
              <a:defRPr sz="1650" b="1">
                <a:solidFill>
                  <a:srgbClr val="17263A"/>
                </a:solidFill>
                <a:latin typeface="프리텐다드"/>
              </a:defRPr>
            </a:pPr>
            <a:r>
              <a:t>포맷 오류 재촬영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8700" y="6096000"/>
            <a:ext cx="16230600" cy="3048000"/>
          </a:xfrm>
          <a:prstGeom prst="roundRect">
            <a:avLst/>
          </a:prstGeom>
          <a:solidFill>
            <a:srgbClr val="E7F4F1"/>
          </a:solidFill>
          <a:ln w="2540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14450" y="6334125"/>
            <a:ext cx="1905000" cy="400050"/>
          </a:xfrm>
          <a:prstGeom prst="roundRect">
            <a:avLst/>
          </a:prstGeom>
          <a:solidFill>
            <a:srgbClr val="16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하이패스 (MediQ)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6334125"/>
            <a:ext cx="1343025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168B82"/>
                </a:solidFill>
                <a:latin typeface="프리텐다드"/>
              </a:defRPr>
            </a:pPr>
            <a:r>
              <a:t>Hi-Pass Flow : 환자 동의 기반 클라우드 다이렉트 스트리밍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14450" y="7000875"/>
            <a:ext cx="3619500" cy="11906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4450" y="7143750"/>
            <a:ext cx="3619500" cy="857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75" b="1">
                <a:solidFill>
                  <a:srgbClr val="168B82"/>
                </a:solidFill>
                <a:latin typeface="프리텐다드"/>
              </a:defRPr>
            </a:pPr>
            <a:r>
              <a:t>환자 스마트폰</a:t>
            </a:r>
          </a:p>
          <a:p>
            <a:pPr algn="ctr">
              <a:defRPr sz="1800" b="1">
                <a:solidFill>
                  <a:srgbClr val="17263A"/>
                </a:solidFill>
                <a:latin typeface="프리텐다드"/>
              </a:defRPr>
            </a:pPr>
            <a:r>
              <a:t>동의 생성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14950" y="7000875"/>
            <a:ext cx="3619500" cy="11906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4950" y="7143750"/>
            <a:ext cx="3619500" cy="857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75" b="1">
                <a:solidFill>
                  <a:srgbClr val="168B82"/>
                </a:solidFill>
                <a:latin typeface="프리텐다드"/>
              </a:defRPr>
            </a:pPr>
            <a:r>
              <a:t>Control 서버</a:t>
            </a:r>
          </a:p>
          <a:p>
            <a:pPr algn="ctr">
              <a:defRPr sz="1800" b="1">
                <a:solidFill>
                  <a:srgbClr val="17263A"/>
                </a:solidFill>
                <a:latin typeface="프리텐다드"/>
              </a:defRPr>
            </a:pPr>
            <a:r>
              <a:t>ABAC 11 검증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15450" y="7000875"/>
            <a:ext cx="3619500" cy="11906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15450" y="7143750"/>
            <a:ext cx="3619500" cy="857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75" b="1">
                <a:solidFill>
                  <a:srgbClr val="168B82"/>
                </a:solidFill>
                <a:latin typeface="프리텐다드"/>
              </a:defRPr>
            </a:pPr>
            <a:r>
              <a:t>단기 토큰 서명</a:t>
            </a:r>
          </a:p>
          <a:p>
            <a:pPr algn="ctr">
              <a:defRPr sz="1800" b="1">
                <a:solidFill>
                  <a:srgbClr val="17263A"/>
                </a:solidFill>
                <a:latin typeface="프리텐다드"/>
              </a:defRPr>
            </a:pPr>
            <a:r>
              <a:t>5분 유효 토큰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315950" y="7000875"/>
            <a:ext cx="3619500" cy="11906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315950" y="7143750"/>
            <a:ext cx="3619500" cy="857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75" b="1">
                <a:solidFill>
                  <a:srgbClr val="168B82"/>
                </a:solidFill>
                <a:latin typeface="프리텐다드"/>
              </a:defRPr>
            </a:pPr>
            <a:r>
              <a:t>A병원 PACS</a:t>
            </a:r>
          </a:p>
          <a:p>
            <a:pPr algn="ctr">
              <a:defRPr sz="1800" b="1">
                <a:solidFill>
                  <a:srgbClr val="17263A"/>
                </a:solidFill>
                <a:latin typeface="프리텐다드"/>
              </a:defRPr>
            </a:pPr>
            <a:r>
              <a:t>B병원 직통 스트리밍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4450" y="8477250"/>
            <a:ext cx="15620999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7263A"/>
                </a:solidFill>
                <a:latin typeface="프리텐다드"/>
              </a:defRPr>
            </a:pPr>
            <a:r>
              <a:t>✔ CD 발급비 0원  |  ✔ 불필요한 방사선 피폭 원천 차단  |  ✔ 언제든 권한 철회  |  ✔ AI 건강도우미 검사 안내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03.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Control Plane과 Data Plane의 완전한 물리적 분리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Azure Control Plane (신원·동의·인가·감사) + 병원 분산 Data Plane (원본 보관·스트리밍)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04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096750" y="3619500"/>
            <a:ext cx="1905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아키텍처 조망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263A"/>
                </a:solidFill>
                <a:latin typeface="프리텐다드"/>
              </a:defRPr>
            </a:pPr>
            <a:r>
              <a:t>8단계 종단 워크플로우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810125"/>
            <a:ext cx="4876800" cy="419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Zero Cloud Storage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클라우드 중앙 DB에 DICOM 원본 영구 비보관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인증과 인가의 분리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Entra ID 로그인과 의료영상 접근권한은 별도 단계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Fail-Closed ABAC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11단계 교집합 전수 검증 통과 시 단기 토큰 발급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병원 간 직통 스트리밍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WireGuard 사설망 기반 700 Slices CT Lazy Loading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불변 감사로그 체인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모든 열람 및 거부 이력 1초 단위 감사 세션 기록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❶ 환자·의료진 Microsoft 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❶ 환자·의료진 Microsoft 로그인 : 신원 인증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Microsoft Entra ID 기반의 신원 확인과 접근 권한의 물리적 분리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05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246566" y="3951963"/>
            <a:ext cx="4522096" cy="738301"/>
          </a:xfrm>
          <a:prstGeom prst="rect">
            <a:avLst/>
          </a:prstGeom>
          <a:noFill/>
          <a:ln w="444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01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Microsoft Entra ID (IdP)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환자 및 의료진의 디지털 신원(Identity)을 검증하고 사내 연합 계정으로 안전하게 매핑합니다.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2F68B5"/>
                </a:solidFill>
                <a:latin typeface="프리텐다드"/>
              </a:defRPr>
            </a:pPr>
            <a:r>
              <a:t>[보안 원칙] 인증 ≠ 인가 분리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'누구인가?(로그인 인증)'와 '무엇을 볼 수 있는가?(접근 권한)'를 엄격히 분리하여 계정이 탈취되더라도 영상이 무단 노출되지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Microsoft 계정 연동 및 사내 연합형 계정 매핑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로그인 성공 시에도 의료영상 접근 권한은 자동 부여되지 않음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환자 동의와 진료 목적 검증은 완전히 별개 단계로 격리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❷ 환자 공유 범위·병원·기간·검사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❷ 환자 공유 범위·병원·기간·검사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환자 웹·모바일 PWA에서 필요한 검사 단위만 좁혀서 명시적 동의 생성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06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831055" y="5520854"/>
            <a:ext cx="1599653" cy="1045927"/>
          </a:xfrm>
          <a:prstGeom prst="rect">
            <a:avLst/>
          </a:prstGeom>
          <a:noFill/>
          <a:ln w="444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02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환자 PWA &amp; HTTPS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환자가 스마트폰 의료지갑에서 수신 병원(B병원), 진료 목적, 유효기간, 복부 CT 검사를 직접 선택합니다.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2F68B5"/>
                </a:solidFill>
                <a:latin typeface="프리텐다드"/>
              </a:defRPr>
            </a:pPr>
            <a:r>
              <a:t>[보안 통제] 포괄적 동의 금지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전체 진료기록을 무차별 개방하지 않고, 이번 진료에 필요한 특정 Study 및 Series UID 단위로만 공유 범위를 한정합니다.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A대학병원에서 B대학병원으로 수신 기관 명확히 지정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진료 목적으로 한정, 1일~30일 사이 유효기간 설정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NSG 443 포트만 개방 및 OWASP CRS Caddy/Coraza WAF 보호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❸ 동의 저장 및 QR 티켓 발급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❸ 동의 저장 및 QR 티켓 발급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동의 조건을 암호화 저장하고 영상 원본은 보관하지 않는 Zero Cloud Storage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07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84781" y="5582379"/>
            <a:ext cx="3383881" cy="2707105"/>
          </a:xfrm>
          <a:prstGeom prst="rect">
            <a:avLst/>
          </a:prstGeom>
          <a:noFill/>
          <a:ln w="444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16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03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Control Plane &amp; Key Vault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환자의 동의 조건(Study/Series 범위, 기간)을 PostgreSQL에 기록하고 Azure Key Vault로 암호화 티켓을 생성합니다.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168B82"/>
                </a:solidFill>
                <a:latin typeface="프리텐다드"/>
              </a:defRPr>
            </a:pPr>
            <a:r>
              <a:t>[아키텍처 불변식] Zero Storage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'별도 DICOM 지속 저장 없음!' 원본 영상 파일은 클라우드로 올라오지 않으며 오직 동의 메타데이터와 감사로그만 보관됩니다.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PostgreSQL에 최소 메타데이터(동의 상태, Study UID)만 기록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Azure Key Vault의 wrap/unwrap 키 보호로 데이터 무결성 보장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환자에게 접수용 고유 QR 공유 티켓 발급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❹ 의료진 QR 접수 및 요청 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❹ 의료진 QR 접수 및 요청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의료진 전용 웹에서 환자 QR 접수 후 안전한 L4 중계 터널링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08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07831" y="6628306"/>
            <a:ext cx="1599653" cy="615251"/>
          </a:xfrm>
          <a:prstGeom prst="rect">
            <a:avLst/>
          </a:prstGeom>
          <a:noFill/>
          <a:ln w="44450">
            <a:solidFill>
              <a:srgbClr val="DCA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DCA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04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의료진 웹 &amp; TCP L4 중계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B병원 진료실 의사가 환자의 QR 티켓을 스캔하여 영상 조회 요청을 시작하며, L4 중계로 안전하게 전송됩니다.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A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[보안 원칙] QR은 단순 접수 수단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QR 코드 자체에 영상이나 무제한 권한이 포함되어 있지 않으며, 반드시 백엔드 인가 엔진의 재검증을 거쳐야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의료진 업무망과 외부 인터넷 간 L4 중계 및 TLS 터널링 보호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Control Plane API 권한 위임 없이 접수 요청만 안전 전달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의사 면허 및 소속 병원 일치 여부 1차 확인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❺ ❻ 동의 조회 &amp; ABAC 11단계 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❺ ❻ 동의 조회 &amp; ABAC 11단계 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11개 조건 교집합 전수 검증 통과 시 5분 유효 단기 HMAC 서명 토큰 발급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09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045959" y="5520854"/>
            <a:ext cx="1045927" cy="1168977"/>
          </a:xfrm>
          <a:prstGeom prst="rect">
            <a:avLst/>
          </a:prstGeom>
          <a:noFill/>
          <a:ln w="44450">
            <a:solidFill>
              <a:srgbClr val="DCA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DCA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05 &amp; 06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Control Plane API (ABAC 인가)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환자 동의 상태, 유효기간, 의사 소속병원, 요청 Study/Series UID 등 11개 조건을 교집합 전수 검증합니다.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A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DCA83D"/>
                </a:solidFill>
                <a:latin typeface="프리텐다드"/>
              </a:defRPr>
            </a:pPr>
            <a:r>
              <a:t>[보안 원칙] Fail-Closed 인가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11개 조건 중 단 하나라도 불일치하면 즉시 접근을 차단하고 상세 사유를 기록하며, 통과 시에만 5분 단기 토큰을 서명 발행합니다.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ACTIVE 상태, 유효기간, 요청병원, 의사소속, UID 전수 일치 확인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영구 고정 URL 금지 ➔ 5~10분 유효 단기 HMAC-SHA256 토큰 발급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모든 거부 사유(DOCTOR_MISMATCH 등) 실시간 감사로그 기록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❼ Gateway L2 · DPoP · 환자 동의 재검증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❼ Gateway L2 · DPoP · 환자 동의 재검증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가상 병원 B 게이트웨이 경계에서 토큰 서명 및 DPoP 바인딩 키 최종 확인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10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06617" y="6443730"/>
            <a:ext cx="1168977" cy="522963"/>
          </a:xfrm>
          <a:prstGeom prst="rect">
            <a:avLst/>
          </a:prstGeom>
          <a:noFill/>
          <a:ln w="444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07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가상 병원 B (Portal / Gateway)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수신 병원 내부망 진입 전, 발급된 단기 토큰과 DPoP 암호화 증명, 환자 동의 범위를 게이트웨이가 최종 재확인합니다.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2F68B5"/>
                </a:solidFill>
                <a:latin typeface="프리텐다드"/>
              </a:defRPr>
            </a:pPr>
            <a:r>
              <a:t>[심층 방어] 게이트웨이 독립 검증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클라우드 신뢰에만 의존하지 않고 병원 데이터 진입 게이트웨이에서 다중 보안 검증을 수행하여 위조를 원천 차단합니다.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B 전용 HTTPS TLS 터널링 및 복호화 검증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DPoP-bound 단기 토큰과 요청 스코프 일치 확인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승인된 영상에 한해서만 수신 및 휘발성 열람 허용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❽ 승인된 영상만 WireGuard 직통 스트리밍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❽ 승인된 영상만 WireGuard 직통 스트리밍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A병원 Orthanc PACS에서 B병원으로 700장 복부 CT 무지연 스트리밍 &amp; LUKS2 암호화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11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10477500" cy="59055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diq_architectur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50" y="3429000"/>
            <a:ext cx="10287000" cy="57895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83914" y="3951963"/>
            <a:ext cx="2953205" cy="4245233"/>
          </a:xfrm>
          <a:prstGeom prst="rect">
            <a:avLst/>
          </a:prstGeom>
          <a:noFill/>
          <a:ln w="44450">
            <a:solidFill>
              <a:srgbClr val="C6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11000" y="3333750"/>
            <a:ext cx="5448300" cy="590550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096750" y="3619500"/>
            <a:ext cx="1714500" cy="400050"/>
          </a:xfrm>
          <a:prstGeom prst="roundRect">
            <a:avLst/>
          </a:prstGeom>
          <a:solidFill>
            <a:srgbClr val="C6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STEP 08 / 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96750" y="4190999"/>
            <a:ext cx="487680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25" b="1">
                <a:solidFill>
                  <a:srgbClr val="17263A"/>
                </a:solidFill>
                <a:latin typeface="프리텐다드"/>
              </a:defRPr>
            </a:pPr>
            <a:r>
              <a:t>A/B 병원 PACS &amp; WireGuard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96750" y="4714875"/>
            <a:ext cx="4876800" cy="714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25">
                <a:solidFill>
                  <a:srgbClr val="53657B"/>
                </a:solidFill>
                <a:latin typeface="프리텐다드"/>
              </a:defRPr>
            </a:pPr>
            <a:r>
              <a:t>A병원 Orthanc PACS에서 B병원 수신 PACS로 700장 대용량 CT 영상이 암호화 사설망을 통해 직접 스트리밍됩니다.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96750" y="5524500"/>
            <a:ext cx="487680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2400" tIns="152400"/>
          <a:lstStyle/>
          <a:p>
            <a:pPr algn="ctr">
              <a:defRPr sz="1350" b="1">
                <a:solidFill>
                  <a:srgbClr val="C64A4A"/>
                </a:solidFill>
                <a:latin typeface="프리텐다드"/>
              </a:defRPr>
            </a:pPr>
            <a:r>
              <a:t>[Lazy Loading &amp; LUKS2 암호화]</a:t>
            </a:r>
          </a:p>
          <a:p>
            <a:pPr>
              <a:defRPr sz="1200">
                <a:solidFill>
                  <a:srgbClr val="17263A"/>
                </a:solidFill>
                <a:latin typeface="프리텐다드"/>
              </a:defRPr>
            </a:pPr>
            <a:r>
              <a:t>Study 전체 무차별 다운로드가 아닌 프레임 단위 필요 최소 전송이며, B병원 8GiB LUKS2 암호화 볼륨에 안전하게 임시 보관됩니다.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96750" y="6810375"/>
            <a:ext cx="4876800" cy="2190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WireGuard 사설 Overlay 터널링으로 병원 간 통신 보호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WADO-RS 프레임 단위 스트리밍으로 700 Slices CT 무지연 판독</a:t>
            </a:r>
          </a:p>
          <a:p>
            <a:pPr>
              <a:spcAft>
                <a:spcPts val="800"/>
              </a:spcAft>
              <a:defRPr sz="1387">
                <a:solidFill>
                  <a:srgbClr val="17263A"/>
                </a:solidFill>
                <a:latin typeface="프리텐다드"/>
              </a:defRPr>
            </a:pPr>
            <a:r>
              <a:t>•  의료진 PC 로컬 다운로드 차단 및 진료 완료 후 안전한 파기</a:t>
            </a:r>
          </a:p>
        </p:txBody>
      </p:sp>
    </p:spTree>
  </p:cSld>
  <p:clrMapOvr>
    <a:masterClrMapping/>
  </p:clrMapOvr>
  <p:transition xmlns:p15="http://schemas.microsoft.com/office/powerpoint/2012/main">
    <p:extLst>
      <p:ext uri="{EFA19261-F742-4948-AE17-10779776E6A2}">
        <p15:morph option="byObject"/>
      </p:ext>
    </p:extLst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04. LIVE SERVICE · PATIENT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직관적인 4대 역할 게이트와 환자 맞춤형 동의 지갑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환자가 직접 수신 병원, 진료 목적, 유효기간, 허용할 복부 CT 검사 범위를 지정하고 언제든 철회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12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9144000" cy="5810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6_patient_consent_wa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524250"/>
            <a:ext cx="8763000" cy="48626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477500" y="3333750"/>
            <a:ext cx="67818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63250" y="3619500"/>
            <a:ext cx="2095499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환자 동의 지갑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49250" y="3600450"/>
            <a:ext cx="40005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17263A"/>
                </a:solidFill>
                <a:latin typeface="프리텐다드"/>
              </a:defRPr>
            </a:pPr>
            <a:r>
              <a:t>환자 중심의 공유 통제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0" y="4238625"/>
            <a:ext cx="6191250" cy="476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4대 역할 게이트 분리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환자, 의료진, 병원 관리자, 보안 운영자 전용 로그인 분리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수신 병원 선택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A대학병원에서 B대학병원으로 공유 대상 병원 명확히 지정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열람 목적 및 기간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진료 목적으로 한정, 1일~30일 사이 유효기간 설정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검사 단위 선택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전체 진료기록이 아닌, 필요한 특정 복부 CT Study/Series만 선택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원클릭 동의 철회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언제든 환자가 원할 때 즉시 권한을 파기하는 Revoke 지원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05. LIVE SERVICE · HEALTH HELPER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어려운 검사 결과를 눈높이 설명으로: AI 건강도우미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혈청 알파태아단백(AFP) 검사 결과 연동, 쉬운 개념 해설 및 진료실 의사 상담 리허설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13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7143750" cy="5810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_health_helper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476625"/>
            <a:ext cx="6762750" cy="69740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77250" y="3333750"/>
            <a:ext cx="8782050" cy="5810250"/>
          </a:xfrm>
          <a:prstGeom prst="roundRect">
            <a:avLst/>
          </a:prstGeom>
          <a:solidFill>
            <a:srgbClr val="E7F4F1"/>
          </a:solidFill>
          <a:ln w="1905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0" y="3619500"/>
            <a:ext cx="2095499" cy="400050"/>
          </a:xfrm>
          <a:prstGeom prst="roundRect">
            <a:avLst/>
          </a:prstGeom>
          <a:solidFill>
            <a:srgbClr val="16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AI 건강도우미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9000" y="3600450"/>
            <a:ext cx="600075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17263A"/>
                </a:solidFill>
                <a:latin typeface="프리텐다드"/>
              </a:defRPr>
            </a:pPr>
            <a:r>
              <a:t>혈청 알파태아단백(AFP) 검사 질의응답 연동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4238625"/>
            <a:ext cx="8191500" cy="476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75" b="1">
                <a:solidFill>
                  <a:srgbClr val="168B82"/>
                </a:solidFill>
                <a:latin typeface="프리텐다드"/>
              </a:defRPr>
            </a:pPr>
            <a:r>
              <a:t>✔  쉬운 의학 개념 해설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AFP 정상 수치와 간암/간경화 선별검사 목적을 비임상 환자 언어로 해설</a:t>
            </a:r>
          </a:p>
          <a:p>
            <a:pPr>
              <a:defRPr sz="1575" b="1">
                <a:solidFill>
                  <a:srgbClr val="168B82"/>
                </a:solidFill>
                <a:latin typeface="프리텐다드"/>
              </a:defRPr>
            </a:pPr>
            <a:r>
              <a:t>✔  추천 질문 스튜디오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'AFP 검사가 뭔가요?', '초음파와 차이점', '주의사항' 등 원클릭 퀵 질의</a:t>
            </a:r>
          </a:p>
          <a:p>
            <a:pPr>
              <a:defRPr sz="1575" b="1">
                <a:solidFill>
                  <a:srgbClr val="168B82"/>
                </a:solidFill>
                <a:latin typeface="프리텐다드"/>
              </a:defRPr>
            </a:pPr>
            <a:r>
              <a:t>✔  의사 상담 리허설 박스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진료실에서 주치의에게 물어봐야 할 맞춤 질문 3가지를 자동 정리</a:t>
            </a:r>
          </a:p>
          <a:p>
            <a:pPr>
              <a:defRPr sz="1575" b="1">
                <a:solidFill>
                  <a:srgbClr val="168B82"/>
                </a:solidFill>
                <a:latin typeface="프리텐다드"/>
              </a:defRPr>
            </a:pPr>
            <a:r>
              <a:t>✔  공인 학술 출처 투명 표기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MedlinePlus 및 간학회 가이드라인 출처 링크를 명확히 제시하여 신뢰 확보</a:t>
            </a:r>
          </a:p>
          <a:p>
            <a:pPr>
              <a:defRPr sz="1575" b="1">
                <a:solidFill>
                  <a:srgbClr val="168B82"/>
                </a:solidFill>
                <a:latin typeface="프리텐다드"/>
              </a:defRPr>
            </a:pPr>
            <a:r>
              <a:t>✔  한국어 형태소 전처리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체언과 조사를 분리하여 'AFP란', '초음파에 대해서' 등 구어체 질문 완벽 처리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06. LIVE SERVICE · CLINICIAN 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5분 단기 토큰 기반 700 Slices 복부 CT 뷰어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로컬 PC 무단 다운로드 차단, 5분 유효 단기 토큰 기반 WADO-RS 프레임 지연 스트리밍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14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9906000" cy="5810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7_clinician_dicom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524250"/>
            <a:ext cx="9525000" cy="677912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39500" y="3333750"/>
            <a:ext cx="60198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525250" y="3619500"/>
            <a:ext cx="1905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의료진 뷰어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0750" y="3600450"/>
            <a:ext cx="3429000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17263A"/>
                </a:solidFill>
                <a:latin typeface="프리텐다드"/>
              </a:defRPr>
            </a:pPr>
            <a:r>
              <a:t>700 Slices 대용량 무지연 렌더링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5250" y="4238625"/>
            <a:ext cx="5429250" cy="476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WADO-RS 스트리밍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700장 대용량 CT를 다운로드 없이 프레임 단위 초고속 렌더링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정밀 판독 도구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간 병변 십자선, 다중 단면 연속 스크롤, 윈도우 레벨링, 시리즈 썸네일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5분 단기 서명 토큰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시간 경과 시 세션 자동 만료로 장기 토큰 탈취 위험 원천 차단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로컬 다운로드 금지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의료진 PC에 원본 DICOM 파일 무단 저장을 엄격히 차단</a:t>
            </a:r>
          </a:p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✔  DICOMweb 표준 준수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QIDO-RS / WADO-RS 표준으로 기존 병원 PACS와 완벽 호환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245745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723900"/>
            <a:ext cx="76200" cy="125730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28750" y="590550"/>
            <a:ext cx="152400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75" b="1">
                <a:solidFill>
                  <a:srgbClr val="2F68B5"/>
                </a:solidFill>
                <a:latin typeface="프리텐다드"/>
              </a:defRPr>
            </a:pPr>
            <a:r>
              <a:t>07. LIVE SERVICE · SECURITY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962024"/>
            <a:ext cx="157162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50" b="1">
                <a:solidFill>
                  <a:srgbClr val="17263A"/>
                </a:solidFill>
                <a:latin typeface="프리텐다드"/>
              </a:defRPr>
            </a:pPr>
            <a:r>
              <a:t>모든 접근을 불변 추적하는 통합 보안 관제 콘솔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2686050"/>
            <a:ext cx="1623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75">
                <a:solidFill>
                  <a:srgbClr val="53657B"/>
                </a:solidFill>
                <a:latin typeface="프리텐다드"/>
              </a:defRPr>
            </a:pPr>
            <a:r>
              <a:t>토큰 발급, WAF 규칙 이벤트, Key Vault 서명, 비정상 접근 시도 실시간 모니터링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D8E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9658350"/>
            <a:ext cx="114300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아키텍처 모션 워크스루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9658350"/>
            <a:ext cx="20193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75" b="1">
                <a:solidFill>
                  <a:srgbClr val="7B8A9B"/>
                </a:solidFill>
                <a:latin typeface="프리텐다드"/>
              </a:defRPr>
            </a:pPr>
            <a:r>
              <a:t>15  /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333750"/>
            <a:ext cx="9144000" cy="58102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_security_audit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524250"/>
            <a:ext cx="8763000" cy="1338349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477500" y="3333750"/>
            <a:ext cx="6781800" cy="581025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D8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63250" y="3619500"/>
            <a:ext cx="1905000" cy="400050"/>
          </a:xfrm>
          <a:prstGeom prst="roundRect">
            <a:avLst/>
          </a:prstGeom>
          <a:solidFill>
            <a:srgbClr val="C6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25" b="1">
                <a:solidFill>
                  <a:srgbClr val="FFFFFF"/>
                </a:solidFill>
                <a:latin typeface="프리텐다드"/>
              </a:defRPr>
            </a:pPr>
            <a:r>
              <a:t>보안 관제실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58750" y="3600450"/>
            <a:ext cx="4190999" cy="4286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17263A"/>
                </a:solidFill>
                <a:latin typeface="프리텐다드"/>
              </a:defRPr>
            </a:pPr>
            <a:r>
              <a:t>불변 감사로그와 이상행위 탐지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0" y="4238625"/>
            <a:ext cx="6191250" cy="476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75" b="1">
                <a:solidFill>
                  <a:srgbClr val="C64A4A"/>
                </a:solidFill>
                <a:latin typeface="프리텐다드"/>
              </a:defRPr>
            </a:pPr>
            <a:r>
              <a:t>✔  15대 주요 행위 전수 로깅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로그인, 동의 생성, 토큰 발급, 프레임 조회, 접근 거부 등 실시간 기록</a:t>
            </a:r>
          </a:p>
          <a:p>
            <a:pPr>
              <a:defRPr sz="1575" b="1">
                <a:solidFill>
                  <a:srgbClr val="C64A4A"/>
                </a:solidFill>
                <a:latin typeface="프리텐다드"/>
              </a:defRPr>
            </a:pPr>
            <a:r>
              <a:t>✔  사유 코드 기반 거부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DOCTOR_HOSPITAL_MISMATCH 등 명확한 원인 추적</a:t>
            </a:r>
          </a:p>
          <a:p>
            <a:pPr>
              <a:defRPr sz="1575" b="1">
                <a:solidFill>
                  <a:srgbClr val="C64A4A"/>
                </a:solidFill>
                <a:latin typeface="프리텐다드"/>
              </a:defRPr>
            </a:pPr>
            <a:r>
              <a:t>✔  감사 세션 체인 상관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하나의 감사 세션 ID로 토큰 발급부터 PACS 조회까지 종단 추적</a:t>
            </a:r>
          </a:p>
          <a:p>
            <a:pPr>
              <a:defRPr sz="1575" b="1">
                <a:solidFill>
                  <a:srgbClr val="C64A4A"/>
                </a:solidFill>
                <a:latin typeface="프리텐다드"/>
              </a:defRPr>
            </a:pPr>
            <a:r>
              <a:t>✔  실시간 이상행위 탐지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단시간 대량 조회, 만료 토큰 반복 사용, 비진료 부서 접근 실시간 경보</a:t>
            </a:r>
          </a:p>
          <a:p>
            <a:pPr>
              <a:defRPr sz="1575" b="1">
                <a:solidFill>
                  <a:srgbClr val="C64A4A"/>
                </a:solidFill>
                <a:latin typeface="프리텐다드"/>
              </a:defRPr>
            </a:pPr>
            <a:r>
              <a:t>✔  관리자 임의 삭제 금지</a:t>
            </a:r>
          </a:p>
          <a:p>
            <a:pPr>
              <a:spcAft>
                <a:spcPts val="1000"/>
              </a:spcAft>
              <a:defRPr sz="1350">
                <a:solidFill>
                  <a:srgbClr val="17263A"/>
                </a:solidFill>
                <a:latin typeface="프리텐다드"/>
              </a:defRPr>
            </a:pPr>
            <a:r>
              <a:t>     감사로그 자체의 무결성을 보장하여 법적 증거력 확보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8700" y="1143000"/>
            <a:ext cx="16230600" cy="1238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프리텐다드"/>
              </a:defRPr>
            </a:pPr>
            <a:r>
              <a:t>환자 동의로 열고, 증거와 감사로 닫는다</a:t>
            </a:r>
          </a:p>
          <a:p>
            <a:pPr>
              <a:defRPr sz="2100">
                <a:solidFill>
                  <a:srgbClr val="55C2D8"/>
                </a:solidFill>
                <a:latin typeface="프리텐다드"/>
              </a:defRPr>
            </a:pPr>
            <a:r>
              <a:t>하이패스 MediQ가 만들어갈 안전하고 끊김 없는 차세대 의료 영상 생태계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048000"/>
            <a:ext cx="3771900" cy="5810250"/>
          </a:xfrm>
          <a:prstGeom prst="roundRect">
            <a:avLst/>
          </a:prstGeom>
          <a:solidFill>
            <a:srgbClr val="17263A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6825" y="3333750"/>
            <a:ext cx="1524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환자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6825" y="3952875"/>
            <a:ext cx="329565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FFFFFF"/>
                </a:solidFill>
                <a:latin typeface="프리텐다드"/>
              </a:defRPr>
            </a:pPr>
            <a:r>
              <a:t>환자 (Patient)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6825" y="4572000"/>
            <a:ext cx="3295650" cy="1905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6825" y="4810125"/>
            <a:ext cx="329565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CD 발급·운반 비용 0원화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중복 CT/MRI 피폭 예방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진료 대기시간 획기적 단축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내 의료 데이터 주권 통제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1600" y="3048000"/>
            <a:ext cx="3771900" cy="5810250"/>
          </a:xfrm>
          <a:prstGeom prst="roundRect">
            <a:avLst/>
          </a:prstGeom>
          <a:solidFill>
            <a:srgbClr val="17263A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9725" y="3333750"/>
            <a:ext cx="1524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의료진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9725" y="3952875"/>
            <a:ext cx="329565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FFFFFF"/>
                </a:solidFill>
                <a:latin typeface="프리텐다드"/>
              </a:defRPr>
            </a:pPr>
            <a:r>
              <a:t>의료진 (Clinician)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9725" y="4572000"/>
            <a:ext cx="3295650" cy="1905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9725" y="4810125"/>
            <a:ext cx="329565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타 병원 검사 즉시 스트리밍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진료 연속성 및 정확도 향상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CD 등록 대기 없는 즉시 진료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환자 상담 리허설로 효율화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3048000"/>
            <a:ext cx="3771900" cy="5810250"/>
          </a:xfrm>
          <a:prstGeom prst="roundRect">
            <a:avLst/>
          </a:prstGeom>
          <a:solidFill>
            <a:srgbClr val="17263A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72625" y="3333750"/>
            <a:ext cx="1524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병원·보안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625" y="3952875"/>
            <a:ext cx="329565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FFFFFF"/>
                </a:solidFill>
                <a:latin typeface="프리텐다드"/>
              </a:defRPr>
            </a:pPr>
            <a:r>
              <a:t>병원·보안 (Hospital)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72625" y="4572000"/>
            <a:ext cx="3295650" cy="1905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72625" y="4810125"/>
            <a:ext cx="329565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Zero Cloud Storage 유출 0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ABAC 11단계 인가·단기토큰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불변 감사로그 완벽한 증거력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기존 PACS 인프라 유지 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487400" y="3048000"/>
            <a:ext cx="3771900" cy="5810250"/>
          </a:xfrm>
          <a:prstGeom prst="roundRect">
            <a:avLst/>
          </a:prstGeom>
          <a:solidFill>
            <a:srgbClr val="17263A"/>
          </a:solidFill>
          <a:ln w="25400">
            <a:solidFill>
              <a:srgbClr val="2F6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725525" y="3333750"/>
            <a:ext cx="1524000" cy="400050"/>
          </a:xfrm>
          <a:prstGeom prst="round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프리텐다드"/>
              </a:defRPr>
            </a:pPr>
            <a:r>
              <a:t>사회·비전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25525" y="3952875"/>
            <a:ext cx="3295650" cy="476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75" b="1">
                <a:solidFill>
                  <a:srgbClr val="FFFFFF"/>
                </a:solidFill>
                <a:latin typeface="프리텐다드"/>
              </a:defRPr>
            </a:pPr>
            <a:r>
              <a:t>사회·비전 (Society)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25525" y="4572000"/>
            <a:ext cx="3295650" cy="1905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25525" y="4810125"/>
            <a:ext cx="329565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건강보험 재정 낭비 절감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국가 의료정보 교류망 모델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DICOMweb / FHIR 표준 선도</a:t>
            </a:r>
          </a:p>
          <a:p>
            <a:pPr>
              <a:spcAft>
                <a:spcPts val="1400"/>
              </a:spcAft>
              <a:defRPr sz="1425">
                <a:solidFill>
                  <a:srgbClr val="DCEBFC"/>
                </a:solidFill>
                <a:latin typeface="프리텐다드"/>
              </a:defRPr>
            </a:pPr>
            <a:r>
              <a:t>•  환자 중심 디지털 헬스케어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8700" y="9582150"/>
            <a:ext cx="16230600" cy="19050"/>
          </a:xfrm>
          <a:prstGeom prst="rect">
            <a:avLst/>
          </a:prstGeom>
          <a:solidFill>
            <a:srgbClr val="2F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" y="9658350"/>
            <a:ext cx="16230600" cy="2952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75">
                <a:solidFill>
                  <a:srgbClr val="7B8A9B"/>
                </a:solidFill>
                <a:latin typeface="프리텐다드"/>
              </a:defRPr>
            </a:pPr>
            <a:r>
              <a:t>Medi Q  /  합성 데이터 · 비임상 기술 PoC  ·  16  /  16  · 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