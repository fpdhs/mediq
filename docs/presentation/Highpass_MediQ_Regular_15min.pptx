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fonts/font.dat" ContentType="application/x-fontdata"/>
  <Override PartName="/ppt/fonts/font2.dat" ContentType="application/x-fontdata"/>
  <Override PartName="/ppt/fonts/font3.dat" ContentType="application/x-fontdata"/>
  <Override PartName="/ppt/fonts/font4.dat" ContentType="application/x-fontdata"/>
  <Override PartName="/ppt/fonts/font5.dat" ContentType="application/x-fontdata"/>
  <Override PartName="/ppt/fonts/font6.dat" ContentType="application/x-fontdata"/>
  <Override PartName="/ppt/fonts/font7.dat" ContentType="application/x-fontdata"/>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8049005ae59f4bb6" Type="http://schemas.openxmlformats.org/officeDocument/2006/relationships/officeDocument" Target="ppt/presentation.xml"/><Relationship Id="R92799db54a66474d" Type="http://schemas.openxmlformats.org/officeDocument/2006/relationships/extended-properties" Target="docProps/app.xml"/><Relationship Id="Rb2a0ffa87f224124" Type="http://schemas.openxmlformats.org/package/2006/relationships/metadata/core-properties" Target="docProps/core.xml"/></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f68bfbffbfdd4f05"/>
  </p:sldMasterIdLst>
  <p:notesMasterIdLst>
    <p:notesMasterId xmlns:r="http://schemas.openxmlformats.org/officeDocument/2006/relationships" r:id="R502375cc81c242b0"/>
  </p:notesMasterIdLst>
  <p:sldIdLst>
    <p:sldId xmlns:r="http://schemas.openxmlformats.org/officeDocument/2006/relationships" id="256" r:id="Reb8dafc697854ac1"/>
    <p:sldId xmlns:r="http://schemas.openxmlformats.org/officeDocument/2006/relationships" id="257" r:id="Rc1faac47ec454b75"/>
    <p:sldId xmlns:r="http://schemas.openxmlformats.org/officeDocument/2006/relationships" id="258" r:id="Rc0ce92e431eb445e"/>
    <p:sldId xmlns:r="http://schemas.openxmlformats.org/officeDocument/2006/relationships" id="259" r:id="Rf8d838ada4a54870"/>
    <p:sldId xmlns:r="http://schemas.openxmlformats.org/officeDocument/2006/relationships" id="260" r:id="R07342249969c4bf9"/>
    <p:sldId xmlns:r="http://schemas.openxmlformats.org/officeDocument/2006/relationships" id="261" r:id="R684e9122bfc44f9b"/>
    <p:sldId xmlns:r="http://schemas.openxmlformats.org/officeDocument/2006/relationships" id="262" r:id="R43a9cafe93da471a"/>
    <p:sldId xmlns:r="http://schemas.openxmlformats.org/officeDocument/2006/relationships" id="263" r:id="Ref7f93e8dc45443c"/>
    <p:sldId xmlns:r="http://schemas.openxmlformats.org/officeDocument/2006/relationships" id="264" r:id="R343cf36bdf6e464c"/>
    <p:sldId xmlns:r="http://schemas.openxmlformats.org/officeDocument/2006/relationships" id="265" r:id="R0911b4cd1fd84b6c"/>
    <p:sldId xmlns:r="http://schemas.openxmlformats.org/officeDocument/2006/relationships" id="266" r:id="R796affa97491443a"/>
    <p:sldId xmlns:r="http://schemas.openxmlformats.org/officeDocument/2006/relationships" id="267" r:id="Rd5273d80b9104d1b"/>
    <p:sldId xmlns:r="http://schemas.openxmlformats.org/officeDocument/2006/relationships" id="268" r:id="R4b6b6ef3b7254bdf"/>
    <p:sldId xmlns:r="http://schemas.openxmlformats.org/officeDocument/2006/relationships" id="269" r:id="R08379d6d57594113"/>
    <p:sldId xmlns:r="http://schemas.openxmlformats.org/officeDocument/2006/relationships" id="270" r:id="Rf5620b074c5441d1"/>
    <p:sldId xmlns:r="http://schemas.openxmlformats.org/officeDocument/2006/relationships" id="271" r:id="R1b530ce60deb41ed"/>
    <p:sldId xmlns:r="http://schemas.openxmlformats.org/officeDocument/2006/relationships" id="272" r:id="R596bfc13a2674f29"/>
    <p:sldId xmlns:r="http://schemas.openxmlformats.org/officeDocument/2006/relationships" id="273" r:id="R13fb14a21cb04e9b"/>
    <p:sldId xmlns:r="http://schemas.openxmlformats.org/officeDocument/2006/relationships" id="274" r:id="R587325b2d3d54838"/>
    <p:sldId xmlns:r="http://schemas.openxmlformats.org/officeDocument/2006/relationships" id="275" r:id="Red39dc053e524ad1"/>
    <p:sldId xmlns:r="http://schemas.openxmlformats.org/officeDocument/2006/relationships" id="276" r:id="Rc19036baba024c09"/>
    <p:sldId xmlns:r="http://schemas.openxmlformats.org/officeDocument/2006/relationships" id="277" r:id="Rd024e4a931824189"/>
  </p:sldIdLst>
  <p:sldSz cx="18288000" cy="10287000"/>
  <p:notesSz cx="6858000" cy="9144000"/>
  <p:embeddedFontLst>
    <p:embeddedFont>
      <p:font typeface="프리텐다드"/>
      <p:regular xmlns:r="http://schemas.openxmlformats.org/officeDocument/2006/relationships" r:id="R06f2cb2ac94d4ea4"/>
    </p:embeddedFont>
    <p:embeddedFont>
      <p:font typeface="프리텐다드 Bold"/>
      <p:regular xmlns:r="http://schemas.openxmlformats.org/officeDocument/2006/relationships" r:id="Rf2eb3755866e4df3"/>
    </p:embeddedFont>
    <p:embeddedFont>
      <p:font typeface="프리텐다드 Light"/>
      <p:regular xmlns:r="http://schemas.openxmlformats.org/officeDocument/2006/relationships" r:id="Rd877839d28be420d"/>
    </p:embeddedFont>
    <p:embeddedFont>
      <p:font typeface="프리텐다드 Medium"/>
      <p:regular xmlns:r="http://schemas.openxmlformats.org/officeDocument/2006/relationships" r:id="R7cb4f0034fc84647"/>
    </p:embeddedFont>
    <p:embeddedFont>
      <p:font typeface="프리텐다드 Semi-Bold"/>
      <p:regular xmlns:r="http://schemas.openxmlformats.org/officeDocument/2006/relationships" r:id="Ra8954d306c62419e"/>
    </p:embeddedFont>
    <p:embeddedFont>
      <p:font typeface="맑은 고딕"/>
      <p:regular xmlns:r="http://schemas.openxmlformats.org/officeDocument/2006/relationships" r:id="R06f46f1fee6f4fc3"/>
      <p:bold xmlns:r="http://schemas.openxmlformats.org/officeDocument/2006/relationships" r:id="Rc6e5ec65c6634a09"/>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gridSpacing cx="76200" cy="76200"/>
</p:viewPr>
</file>

<file path=ppt/_rels/presentation.xml.rels><?xml version='1.0' encoding='UTF-8' standalone='yes'?>
<Relationships xmlns="http://schemas.openxmlformats.org/package/2006/relationships"><Relationship Id="R06f2cb2ac94d4ea4" Type="http://schemas.openxmlformats.org/officeDocument/2006/relationships/font" Target="fonts/font.dat"/><Relationship Id="R06f46f1fee6f4fc3" Type="http://schemas.openxmlformats.org/officeDocument/2006/relationships/font" Target="fonts/font6.dat"/><Relationship Id="R07342249969c4bf9" Type="http://schemas.openxmlformats.org/officeDocument/2006/relationships/slide" Target="slides/slide5.xml"/><Relationship Id="R08379d6d57594113" Type="http://schemas.openxmlformats.org/officeDocument/2006/relationships/slide" Target="slides/slide14.xml"/><Relationship Id="R0911b4cd1fd84b6c" Type="http://schemas.openxmlformats.org/officeDocument/2006/relationships/slide" Target="slides/slide10.xml"/><Relationship Id="R13fb14a21cb04e9b" Type="http://schemas.openxmlformats.org/officeDocument/2006/relationships/slide" Target="slides/slide18.xml"/><Relationship Id="R1b530ce60deb41ed" Type="http://schemas.openxmlformats.org/officeDocument/2006/relationships/slide" Target="slides/slide16.xml"/><Relationship Id="R1b93ae39055d4482" Type="http://schemas.openxmlformats.org/officeDocument/2006/relationships/viewProps" Target="viewProps.xml"/><Relationship Id="R3029806124e64375" Type="http://schemas.openxmlformats.org/officeDocument/2006/relationships/presProps" Target="presProps.xml"/><Relationship Id="R343cf36bdf6e464c" Type="http://schemas.openxmlformats.org/officeDocument/2006/relationships/slide" Target="slides/slide9.xml"/><Relationship Id="R43a9cafe93da471a" Type="http://schemas.openxmlformats.org/officeDocument/2006/relationships/slide" Target="slides/slide7.xml"/><Relationship Id="R4b6b6ef3b7254bdf" Type="http://schemas.openxmlformats.org/officeDocument/2006/relationships/slide" Target="slides/slide13.xml"/><Relationship Id="R502375cc81c242b0" Type="http://schemas.openxmlformats.org/officeDocument/2006/relationships/notesMaster" Target="notesMasters/notesMaster1.xml"/><Relationship Id="R5403ce91d6de4e7f" Type="http://schemas.openxmlformats.org/officeDocument/2006/relationships/tableStyles" Target="tableStyles.xml"/><Relationship Id="R587325b2d3d54838" Type="http://schemas.openxmlformats.org/officeDocument/2006/relationships/slide" Target="slides/slide19.xml"/><Relationship Id="R596bfc13a2674f29" Type="http://schemas.openxmlformats.org/officeDocument/2006/relationships/slide" Target="slides/slide17.xml"/><Relationship Id="R684e9122bfc44f9b" Type="http://schemas.openxmlformats.org/officeDocument/2006/relationships/slide" Target="slides/slide6.xml"/><Relationship Id="R796affa97491443a" Type="http://schemas.openxmlformats.org/officeDocument/2006/relationships/slide" Target="slides/slide11.xml"/><Relationship Id="R7cb4f0034fc84647" Type="http://schemas.openxmlformats.org/officeDocument/2006/relationships/font" Target="fonts/font4.dat"/><Relationship Id="Ra8954d306c62419e" Type="http://schemas.openxmlformats.org/officeDocument/2006/relationships/font" Target="fonts/font5.dat"/><Relationship Id="Rc0ce92e431eb445e" Type="http://schemas.openxmlformats.org/officeDocument/2006/relationships/slide" Target="slides/slide3.xml"/><Relationship Id="Rc19036baba024c09" Type="http://schemas.openxmlformats.org/officeDocument/2006/relationships/slide" Target="slides/slide21.xml"/><Relationship Id="Rc1faac47ec454b75" Type="http://schemas.openxmlformats.org/officeDocument/2006/relationships/slide" Target="slides/slide2.xml"/><Relationship Id="Rc6e5ec65c6634a09" Type="http://schemas.openxmlformats.org/officeDocument/2006/relationships/font" Target="fonts/font7.dat"/><Relationship Id="Rcf84477b707c487c" Type="http://schemas.openxmlformats.org/officeDocument/2006/relationships/theme" Target="theme/theme1.xml"/><Relationship Id="Rd024e4a931824189" Type="http://schemas.openxmlformats.org/officeDocument/2006/relationships/slide" Target="slides/slide22.xml"/><Relationship Id="Rd5273d80b9104d1b" Type="http://schemas.openxmlformats.org/officeDocument/2006/relationships/slide" Target="slides/slide12.xml"/><Relationship Id="Rd877839d28be420d" Type="http://schemas.openxmlformats.org/officeDocument/2006/relationships/font" Target="fonts/font3.dat"/><Relationship Id="Reb8dafc697854ac1" Type="http://schemas.openxmlformats.org/officeDocument/2006/relationships/slide" Target="slides/slide1.xml"/><Relationship Id="Red39dc053e524ad1" Type="http://schemas.openxmlformats.org/officeDocument/2006/relationships/slide" Target="slides/slide20.xml"/><Relationship Id="Ref7f93e8dc45443c" Type="http://schemas.openxmlformats.org/officeDocument/2006/relationships/slide" Target="slides/slide8.xml"/><Relationship Id="Rf2eb3755866e4df3" Type="http://schemas.openxmlformats.org/officeDocument/2006/relationships/font" Target="fonts/font2.dat"/><Relationship Id="Rf5620b074c5441d1" Type="http://schemas.openxmlformats.org/officeDocument/2006/relationships/slide" Target="slides/slide15.xml"/><Relationship Id="Rf68bfbffbfdd4f05" Type="http://schemas.openxmlformats.org/officeDocument/2006/relationships/slideMaster" Target="slideMasters/slideMaster1.xml"/><Relationship Id="Rf8d838ada4a54870"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f6fdc53555d84f80"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xml version='1.0' encoding='UTF-8' standalone='yes'?>
<Relationships xmlns="http://schemas.openxmlformats.org/package/2006/relationships"><Relationship Id="Ra22b96929b7c414c" Type="http://schemas.openxmlformats.org/officeDocument/2006/relationships/notesMaster" Target="../notesMasters/notesMaster1.xml"/><Relationship Id="Rcc02dace82a94f49"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0e6750386b3c4b42" Type="http://schemas.openxmlformats.org/officeDocument/2006/relationships/notesMaster" Target="../notesMasters/notesMaster1.xml"/><Relationship Id="R185033834217414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8d77ac4df06b4b38" Type="http://schemas.openxmlformats.org/officeDocument/2006/relationships/slide" Target="../slides/slide3.xml"/><Relationship Id="Rac4e405eb6c445ac"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52393239cc946a9" Type="http://schemas.openxmlformats.org/officeDocument/2006/relationships/notesMaster" Target="../notesMasters/notesMaster1.xml"/><Relationship Id="R60cf13b982a1464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1e3bd80345e54251" Type="http://schemas.openxmlformats.org/officeDocument/2006/relationships/notesMaster" Target="../notesMasters/notesMaster1.xml"/><Relationship Id="Rb600ed1e658a492c"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1622d8141be64462" Type="http://schemas.openxmlformats.org/officeDocument/2006/relationships/notesMaster" Target="../notesMasters/notesMaster1.xml"/><Relationship Id="R9166d20732bd4d33"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1ce3ec76fcd74c4f" Type="http://schemas.openxmlformats.org/officeDocument/2006/relationships/notesMaster" Target="../notesMasters/notesMaster1.xml"/><Relationship Id="R4108a9f1dac64748"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9b6726f31fd453d" Type="http://schemas.openxmlformats.org/officeDocument/2006/relationships/notesMaster" Target="../notesMasters/notesMaster1.xml"/><Relationship Id="Rbf8952eb5e954219"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5153381005af4f0d" Type="http://schemas.openxmlformats.org/officeDocument/2006/relationships/slide" Target="../slides/slide9.xml"/><Relationship Id="R58b4efa5ded648d8"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91c13ec9947441e" Type="http://schemas.openxmlformats.org/officeDocument/2006/relationships/notesMaster" Target="../notesMasters/notesMaster1.xml"/><Relationship Id="R9c6aa91c98fd4ae5"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1ef1eb869ed14f2b" Type="http://schemas.openxmlformats.org/officeDocument/2006/relationships/slide" Target="../slides/slide11.xml"/><Relationship Id="R82db2119d5564ddf"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5e73c3b5a5684ca8" Type="http://schemas.openxmlformats.org/officeDocument/2006/relationships/slide" Target="../slides/slide12.xml"/><Relationship Id="Rb990ed1a9895488d"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0471ef0b3bd749e6" Type="http://schemas.openxmlformats.org/officeDocument/2006/relationships/slide" Target="../slides/slide13.xml"/><Relationship Id="R632b1c7787d64855"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0bc37326970e42c3" Type="http://schemas.openxmlformats.org/officeDocument/2006/relationships/slide" Target="../slides/slide14.xml"/><Relationship Id="R6ab25568a5ab4e7c"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44f6ecf4c48d44b9" Type="http://schemas.openxmlformats.org/officeDocument/2006/relationships/slide" Target="../slides/slide15.xml"/><Relationship Id="Rcf84d61b1948450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1b5c3ef302ef480d" Type="http://schemas.openxmlformats.org/officeDocument/2006/relationships/slide" Target="../slides/slide16.xml"/><Relationship Id="Ra3b3d618db6d4836"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4cb58b06259143d6" Type="http://schemas.openxmlformats.org/officeDocument/2006/relationships/notesMaster" Target="../notesMasters/notesMaster1.xml"/><Relationship Id="R5baf6827f6d8449e"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38cc083620c9404c" Type="http://schemas.openxmlformats.org/officeDocument/2006/relationships/slide" Target="../slides/slide18.xml"/><Relationship Id="R41f4cc99ecd143b0"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90cfc345c8004713" Type="http://schemas.openxmlformats.org/officeDocument/2006/relationships/notesMaster" Target="../notesMasters/notesMaster1.xml"/><Relationship Id="Rbbee740f7d214aaf"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45763904a6854522" Type="http://schemas.openxmlformats.org/officeDocument/2006/relationships/notesMaster" Target="../notesMasters/notesMaster1.xml"/><Relationship Id="Ra8676c6e3ef54c94"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a7d11a1f0a354c07" Type="http://schemas.openxmlformats.org/officeDocument/2006/relationships/notesMaster" Target="../notesMasters/notesMaster1.xml"/><Relationship Id="Rc7a0d5ddc098455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720c566103f34d29" Type="http://schemas.openxmlformats.org/officeDocument/2006/relationships/slide" Target="../slides/slide22.xml"/><Relationship Id="Rab1d474980434b8d"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00:00 ~ 00:45 | 표지 및 프로젝트 정체성]</a:t>
            </a:r>
          </a:p>
          <a:p xmlns:a="http://schemas.openxmlformats.org/drawingml/2006/main">
            <a:r>
              <a:t>"안녕하십니까. 환자 동의 기반 클라우드 의료영상 교류 및 비임상 AI 건강도우미 플랫폼, '하이패스 MediQ'의 기술 검증 중간 발표를 시작하겠습니다.</a:t>
            </a:r>
          </a:p>
          <a:p xmlns:a="http://schemas.openxmlformats.org/drawingml/2006/main">
            <a:r>
              <a:t>저희 프로젝트는 기존 병원 간 의료영상 공유의 주된 방식이었던 물리적 CD 발급과 환자 직접 운반 방식의 비효율을 개선하고, 불필요한 중복 CT/MRI 촬영에 따른 방사선 피폭을 방지하기 위해 출발했습니다.</a:t>
            </a:r>
          </a:p>
          <a:p xmlns:a="http://schemas.openxmlformats.org/drawingml/2006/main">
            <a:r>
              <a:t>특히 본 발표는 단순한 프로토타입 화면 시연을 넘어, 클라우드에 원본 영상을 저장하지 않는 'Zero Cloud Storage' 아키텍처와 11단계 ABAC 인가, 그리고 단기 토큰을 통한 실제 영상 교류의 기술적 타당성을 정직하게 검증한 결과를 보고드리고자 합니다."</a:t>
            </a:r>
          </a:p>
          <a:p xmlns:a="http://schemas.openxmlformats.org/drawingml/2006/main">
            <a:r>
              <a:t>[핵심 방어 팁: 본 프로젝트는 합성 데이터 기반 기술 PoC이며 실제 환자 정보나 운영 병원망 연동은 제외되었음을 명확히 밝힙니다.]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00:45 ~ 01:15 | 목차 및 발표 여정]</a:t>
            </a:r>
          </a:p>
          <a:p xmlns:a="http://schemas.openxmlformats.org/drawingml/2006/main">
            <a:r>
              <a:t>"오늘 발표는 총 6개 파트로 진행됩니다.</a:t>
            </a:r>
          </a:p>
          <a:p xmlns:a="http://schemas.openxmlformats.org/drawingml/2006/main">
            <a:r>
              <a:t>첫째, 의료영상 전달 과정에서 발생하는 세 가지 단절과 문제점을 정의합니다.</a:t>
            </a:r>
          </a:p>
          <a:p xmlns:a="http://schemas.openxmlformats.org/drawingml/2006/main">
            <a:r>
              <a:t>둘째, 환자가 직접 권한과 범위를 결정하는 '동의 티켓' 개념을 설명합니다.</a:t>
            </a:r>
          </a:p>
          <a:p xmlns:a="http://schemas.openxmlformats.org/drawingml/2006/main">
            <a:r>
              <a:t>셋째, 제어 경로(Control)와 병원 영상 경로(Data)를 물리적으로 분리한 현재 런타임 구조를 제시합니다.</a:t>
            </a:r>
          </a:p>
          <a:p xmlns:a="http://schemas.openxmlformats.org/drawingml/2006/main">
            <a:r>
              <a:t>넷째, 11단계 접근 조건 검증과 키 관리, 감사 로그의 보안 경계를 설명합니다.</a:t>
            </a:r>
          </a:p>
          <a:p xmlns:a="http://schemas.openxmlformats.org/drawingml/2006/main">
            <a:r>
              <a:t>다섯째, 실제 클라우드 환경에서 합성 CT 영상 한 건이 A병원에서 B병원으로 정상 반입된 라이브 증적을 공개합니다.</a:t>
            </a:r>
          </a:p>
          <a:p xmlns:a="http://schemas.openxmlformats.org/drawingml/2006/main">
            <a:r>
              <a:t>마지막으로, 700장 대용량 전송과 향후 병원 연계까지 남아 있는 검증 관문을 투명하게 공유드리겠습니다."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01:15 ~ 01:50 | 문제 상황: 대표적 CD 이동 흐름]</a:t>
            </a:r>
          </a:p>
          <a:p xmlns:a="http://schemas.openxmlformats.org/drawingml/2006/main">
            <a:r>
              <a:t>"현재 우리나라의 대표적인 의료영상 전달 흐름을 보면, A병원에서 정밀 검사를 받은 환자가 타 병원 진료를 위해 직접 CD를 발급받고 가방에 넣어 B병원으로 이동합니다.</a:t>
            </a:r>
          </a:p>
          <a:p xmlns:a="http://schemas.openxmlformats.org/drawingml/2006/main">
            <a:r>
              <a:t>B병원에 도착하면 등록 창구에서 포맷 호환성을 확인하고 재등록 절차를 거치게 됩니다.</a:t>
            </a:r>
          </a:p>
          <a:p xmlns:a="http://schemas.openxmlformats.org/drawingml/2006/main">
            <a:r>
              <a:t>여기서 가장 큰 문제는 '영상이 존재하는가?'라는 단순한 질문에 그치지 않습니다.</a:t>
            </a:r>
          </a:p>
          <a:p xmlns:a="http://schemas.openxmlformats.org/drawingml/2006/main">
            <a:r>
              <a:t>'누가, 어떤 목적으로, 어느 검사 범위까지 열람을 허용했는가?'라는 맥락과 권한 정보가 물리적 CD에는 담기지 않아, 결국 영상 확인이 지연되거나 불필요한 재촬영으로 이어지게 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01:50 ~ 02:30 | 핵심 아키텍처: 원본 분산 보관 &amp; 권한 티켓]</a:t>
            </a:r>
          </a:p>
          <a:p xmlns:a="http://schemas.openxmlformats.org/drawingml/2006/main">
            <a:r>
              <a:t>"MediQ의 핵심 설계 사상은 '영상 원본은 병원 PACS에 두고, 권한만 티켓으로 이동한다'는 것입니다.</a:t>
            </a:r>
          </a:p>
          <a:p xmlns:a="http://schemas.openxmlformats.org/drawingml/2006/main">
            <a:r>
              <a:t>무제한의 대용량 영상 파일을 클라우드 중앙 서버로 끌어오는 것이 아닙니다.</a:t>
            </a:r>
          </a:p>
          <a:p xmlns:a="http://schemas.openxmlformats.org/drawingml/2006/main">
            <a:r>
              <a:t>환자가 스마트폰으로 수신 병원(B병원), 진료 목적, 유효 기간, 그리고 허용할 검사(Study/Series)를 좁혀서 '동의 티켓'을 발행합니다.</a:t>
            </a:r>
          </a:p>
          <a:p xmlns:a="http://schemas.openxmlformats.org/drawingml/2006/main">
            <a:r>
              <a:t>Control Plane은 오직 정책 검증과 감사로그만을 담당하고, 실제 영상 데이터는 양 병원의 온프레미스 게이트웨이를 통해 승인된 영상만 안전하게 직통 스트리밍됩니다."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02:30 ~ 03:00 | 증거 경계: 솔직한 검증 태도]</a:t>
            </a:r>
          </a:p>
          <a:p xmlns:a="http://schemas.openxmlformats.org/drawingml/2006/main">
            <a:r>
              <a:t>"저희는 기술 PoC로서 확인된 사실과 확인되지 않은 사실을 엄격히 구분합니다.</a:t>
            </a:r>
          </a:p>
          <a:p xmlns:a="http://schemas.openxmlformats.org/drawingml/2006/main">
            <a:r>
              <a:t>일부 발표에서 주장하는 '재촬영률 몇 % 감소'나 '수백억 원의 비용 절감'과 같은 수치는 아직 실제 병원 운영 표본과 비교 대조군이 수집되지 않았으므로 오늘 수치로 단정하여 주장하지 않습니다.</a:t>
            </a:r>
          </a:p>
          <a:p xmlns:a="http://schemas.openxmlformats.org/drawingml/2006/main">
            <a:r>
              <a:t>이번 PoC에서 저희가 확실하게 증명한 것은 '환자의 동의 조건에 따라, 클라우드 원본 저장 없이, 단기 토큰으로 안전한 영상 조회가 종단 간(End-to-End)으로 완벽히 동작하는가'라는 기술적 무결성입니다."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03:00 ~ 03:30 | 문제의 세 가지 연결 공백]</a:t>
            </a:r>
          </a:p>
          <a:p xmlns:a="http://schemas.openxmlformats.org/drawingml/2006/main">
            <a:r>
              <a:t>"저희가 진단한 기존 시스템의 한계는 세 가지 공백입니다.</a:t>
            </a:r>
          </a:p>
          <a:p xmlns:a="http://schemas.openxmlformats.org/drawingml/2006/main">
            <a:r>
              <a:t>첫째, '맥락의 공백'입니다. 영상의 출처와 이전 진료 맥락이 다음 병원으로 온전히 이어지지 못합니다.</a:t>
            </a:r>
          </a:p>
          <a:p xmlns:a="http://schemas.openxmlformats.org/drawingml/2006/main">
            <a:r>
              <a:t>둘째, '권한의 공백'입니다. 전체 영상을 무차별 복사해 주거나 아예 안 주거나 둘 중 하나일 뿐, 특정 검사만 기간을 정해 열람시키는 세분화된 통제가 불가능했습니다.</a:t>
            </a:r>
          </a:p>
          <a:p xmlns:a="http://schemas.openxmlformats.org/drawingml/2006/main">
            <a:r>
              <a:t>셋째, '증거의 공백'입니다. 누가 내 영상을 열어봤는지, 언제 접근이 거부되었는지를 사후에 추적할 불변의 감사 로그가 없었습니다. MediQ는 이 세 가지 공백을 메우기 위해 설계되었습니다."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03:30 ~ 04:00 | 솔루션: 세 가지 질문에 대한 기술적 응답]</a:t>
            </a:r>
          </a:p>
          <a:p xmlns:a="http://schemas.openxmlformats.org/drawingml/2006/main">
            <a:r>
              <a:t>"MediQ는 세 가지 질문에 명확한 시스템 아키텍처로 응답합니다.</a:t>
            </a:r>
          </a:p>
          <a:p xmlns:a="http://schemas.openxmlformats.org/drawingml/2006/main">
            <a:r>
              <a:t>'누가 열 수 있는가?' ➔ 서버가 환자와 의사의 역할 및 소속 기관을 검증합니다.</a:t>
            </a:r>
          </a:p>
          <a:p xmlns:a="http://schemas.openxmlformats.org/drawingml/2006/main">
            <a:r>
              <a:t>'무엇을 열 수 있는가?' ➔ 환자의 명시적 동의에 기록된 목적, 기간, Study 및 Series UID 단위로만 접근을 엄격히 한정합니다.</a:t>
            </a:r>
          </a:p>
          <a:p xmlns:a="http://schemas.openxmlformats.org/drawingml/2006/main">
            <a:r>
              <a:t>'무엇을 증명할 수 있는가?' ➔ 게이트웨이의 영상 전송 결과와 보안 감사 이벤트를 하나의 세션 ID로 상관 결합하여 법적 증거력을 제공합니다.</a:t>
            </a:r>
          </a:p>
          <a:p xmlns:a="http://schemas.openxmlformats.org/drawingml/2006/main">
            <a:r>
              <a:t>우리는 과장된 AI 진단이 아니라, 합법적이고 안전한 영상 접근의 통제권을 다룹니다."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04:00 ~ 04:35 | 제품 구조: Control Plane과 Data Plane의 분리]</a:t>
            </a:r>
          </a:p>
          <a:p xmlns:a="http://schemas.openxmlformats.org/drawingml/2006/main">
            <a:r>
              <a:t>"저희 플랫폼의 런타임 분리 구조입니다.</a:t>
            </a:r>
          </a:p>
          <a:p xmlns:a="http://schemas.openxmlformats.org/drawingml/2006/main">
            <a:r>
              <a:t>좌측의 'Cloud Control Plane'은 환자 동의, 인가 정책, 최소 메타데이터, 감사로그만을 담당하며, 원본 DICOM 영상 파일은 단 1바이트도 영구 저장하지 않습니다.</a:t>
            </a:r>
          </a:p>
          <a:p xmlns:a="http://schemas.openxmlformats.org/drawingml/2006/main">
            <a:r>
              <a:t>우측의 'Hospital Data Plane'은 A병원과 B병원의 Orthanc PACS와 게이트웨이로 구성되어 실제 DICOMweb 통신을 처리합니다.</a:t>
            </a:r>
          </a:p>
          <a:p xmlns:a="http://schemas.openxmlformats.org/drawingml/2006/main">
            <a:r>
              <a:t>의료진 뷰어는 단기 서명 토큰을 받아 필요한 프레임만 지연 로딩(Lazy Loading) 방식으로 안전하게 열람합니다."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04:35 ~ 05:20 | 업무 절차: 8단계 종단 워크플로우]</a:t>
            </a:r>
          </a:p>
          <a:p xmlns:a="http://schemas.openxmlformats.org/drawingml/2006/main">
            <a:r>
              <a:t>"실제 사용자가 경험하는 8단계 절차입니다.</a:t>
            </a:r>
          </a:p>
          <a:p xmlns:a="http://schemas.openxmlformats.org/drawingml/2006/main">
            <a:r>
              <a:t>1단계, 환자와 의료진이 로그인하여 신원을 확인합니다.</a:t>
            </a:r>
          </a:p>
          <a:p xmlns:a="http://schemas.openxmlformats.org/drawingml/2006/main">
            <a:r>
              <a:t>2단계, 환자가 수신 병원과 목적, 기간, 검사 범위를 선택합니다.</a:t>
            </a:r>
          </a:p>
          <a:p xmlns:a="http://schemas.openxmlformats.org/drawingml/2006/main">
            <a:r>
              <a:t>3단계, 환자 동의가 저장되고 고유 동의 티켓이 생성됩니다.</a:t>
            </a:r>
          </a:p>
          <a:p xmlns:a="http://schemas.openxmlformats.org/drawingml/2006/main">
            <a:r>
              <a:t>4단계, B병원 의료진이 환자 접수를 진행합니다.</a:t>
            </a:r>
          </a:p>
          <a:p xmlns:a="http://schemas.openxmlformats.org/drawingml/2006/main">
            <a:r>
              <a:t>5단계, Control 서버가 동의 상태와 유효기간을 전수 검증합니다.</a:t>
            </a:r>
          </a:p>
          <a:p xmlns:a="http://schemas.openxmlformats.org/drawingml/2006/main">
            <a:r>
              <a:t>6단계, 모든 조건이 충족되면 5분 유효 단기 HMAC 토큰을 발행합니다.</a:t>
            </a:r>
          </a:p>
          <a:p xmlns:a="http://schemas.openxmlformats.org/drawingml/2006/main">
            <a:r>
              <a:t>7단계, 병원 게이트웨이가 토큰과 전송 무결성을 최종 확인합니다.</a:t>
            </a:r>
          </a:p>
          <a:p xmlns:a="http://schemas.openxmlformats.org/drawingml/2006/main">
            <a:r>
              <a:t>8단계, 승인된 영상이 뷰어로 스트리밍되고 모든 과정이 감사로그에 불변 기록됩니다."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05:20 ~ 06:05 | 역할별 화면: 4대 사용자 게이트웨이]</a:t>
            </a:r>
          </a:p>
          <a:p xmlns:a="http://schemas.openxmlformats.org/drawingml/2006/main">
            <a:r>
              <a:t>"화면에 보시는 것처럼, 저희는 권한에 따라 독립된 사용자 인터페이스를 제공합니다.</a:t>
            </a:r>
          </a:p>
          <a:p xmlns:a="http://schemas.openxmlformats.org/drawingml/2006/main">
            <a:r>
              <a:t>좌측은 '환자 포털'로, 자신의 공유 지갑을 통해 동의를 생성하고 AI 건강도우미를 이용할 수 있습니다.</a:t>
            </a:r>
          </a:p>
          <a:p xmlns:a="http://schemas.openxmlformats.org/drawingml/2006/main">
            <a:r>
              <a:t>가운데는 '의료진 포털'로, 승인된 환자 목록을 조회하고 700장 복부 CT 뷰어를 호출하는 화면입니다.</a:t>
            </a:r>
          </a:p>
          <a:p xmlns:a="http://schemas.openxmlformats.org/drawingml/2006/main">
            <a:r>
              <a:t>우측은 '보안 관제 콘솔'로, 토큰 발급 이력과 WAF 차단 이벤트, 비정상 접근 시도를 실시간 모니터링합니다.</a:t>
            </a:r>
          </a:p>
          <a:p xmlns:a="http://schemas.openxmlformats.org/drawingml/2006/main">
            <a:r>
              <a:t>각 화면은 단순한 UI가 아니라 백엔드 서버의 RBAC 및 ABAC 정책과 엄격히 결합되어 있습니다."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06:05 ~ 06:40 | 대표 워크플로우 비교: 매체 vs 스트리밍]</a:t>
            </a:r>
          </a:p>
          <a:p xmlns:a="http://schemas.openxmlformats.org/drawingml/2006/main">
            <a:r>
              <a:t>"기존의 '매체 중심' 흐름과 MediQ의 '스트리밍 중심' 흐름을 비교해 보십시오.</a:t>
            </a:r>
          </a:p>
          <a:p xmlns:a="http://schemas.openxmlformats.org/drawingml/2006/main">
            <a:r>
              <a:t>기존에는 '검사 ➔ CD발급 ➔ 이동 ➔ 병원등록 ➔ 판독확인'이라는 5단계의 물리적 병목이 발생했습니다.</a:t>
            </a:r>
          </a:p>
          <a:p xmlns:a="http://schemas.openxmlformats.org/drawingml/2006/main">
            <a:r>
              <a:t>반면 MediQ는 '동의 ➔ 정책검증 ➔ 단기토큰 ➔ 게이트웨이 ➔ 감사'로 이어지는 5단계 디지털 자동화를 실현했습니다.</a:t>
            </a:r>
          </a:p>
          <a:p xmlns:a="http://schemas.openxmlformats.org/drawingml/2006/main">
            <a:r>
              <a:t>환자가 이동하기 전 이미 B병원 진료실에서 이전 병원의 고해상도 영상을 검토할 수 있어, 진료 연속성이 극대화됩니다."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06:40 ~ 07:25 | 시스템 구성도: Azure 클라우드와 온프레미스 PACS]</a:t>
            </a:r>
          </a:p>
          <a:p xmlns:a="http://schemas.openxmlformats.org/drawingml/2006/main">
            <a:r>
              <a:t>"저희 통합 시스템 구성도입니다.</a:t>
            </a:r>
          </a:p>
          <a:p xmlns:a="http://schemas.openxmlformats.org/drawingml/2006/main">
            <a:r>
              <a:t>상단의 Azure 제어 영역에는 Caddy 리버스 프록시와 Coraza WAF를 Edge에 배치하여 외부 침입을 1차 차단하고, Control API와 PostgreSQL이 메타데이터를 암호화 보관합니다.</a:t>
            </a:r>
          </a:p>
          <a:p xmlns:a="http://schemas.openxmlformats.org/drawingml/2006/main">
            <a:r>
              <a:t>하단의 병원 데이터 영역에는 A병원과 B병원의 Orthanc PACS가 위치하여 원본 의료영상을 분산 격리 보관합니다.</a:t>
            </a:r>
          </a:p>
          <a:p xmlns:a="http://schemas.openxmlformats.org/drawingml/2006/main">
            <a:r>
              <a:t>영상 전송이 필요할 때만 단기 토큰을 기반으로 게이트웨이 간 암호화 채널이 수립되므로, 클라우드 침해 사고가 발생하더라도 대규모 의료영상 유출은 구조적으로 불가능합니다."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07:25 ~ 08:00 | 구현 범위와 단계적 검증 현황]</a:t>
            </a:r>
          </a:p>
          <a:p xmlns:a="http://schemas.openxmlformats.org/drawingml/2006/main">
            <a:r>
              <a:t>"저희가 구축한 기반과 검증된 사실, 향후 과제를 투명하게 정리했습니다.</a:t>
            </a:r>
          </a:p>
          <a:p xmlns:a="http://schemas.openxmlformats.org/drawingml/2006/main">
            <a:r>
              <a:t>현재 Azure HTTPS Edge, WAF, Control API, A/B 테스트 병원 게이트웨이는 정상 배포되어 있습니다.</a:t>
            </a:r>
          </a:p>
          <a:p xmlns:a="http://schemas.openxmlformats.org/drawingml/2006/main">
            <a:r>
              <a:t>실제 라이브 검증을 통해 기존 환자 동의 기반의 합성 CT 단건 전송, B병원 독립 재조회, SHA-256 해시 일치, 감사 세션 상관까지 전 과정을 성공적으로 PASS시켰습니다.</a:t>
            </a:r>
          </a:p>
          <a:p xmlns:a="http://schemas.openxmlformats.org/drawingml/2006/main">
            <a:r>
              <a:t>전체 700장 일괄 백그라운드 전송 및 운영 병원 HIS 연동은 향후 과제로 명확히 설정했습니다."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08:00 ~ 08:45 | 실제 라이브 증적: 합성 CT 단건 A➔B 전송]</a:t>
            </a:r>
          </a:p>
          <a:p xmlns:a="http://schemas.openxmlformats.org/drawingml/2006/main">
            <a:r>
              <a:t>"2026년 10월 14일 오전 08시 38분, 실제 배포 환경에서 수행된 단건 반입 라이브 증적입니다.</a:t>
            </a:r>
          </a:p>
          <a:p xmlns:a="http://schemas.openxmlformats.org/drawingml/2006/main">
            <a:r>
              <a:t>DOWNLOAD_ALLOWED 동의와 B병원 의료진의 정식 인증 토큰을 사용하여 합성 SOP Instance 1건을 A병원에서 B병원 Orthanc으로 전송했습니다.</a:t>
            </a:r>
          </a:p>
          <a:p xmlns:a="http://schemas.openxmlformats.org/drawingml/2006/main">
            <a:r>
              <a:t>전송 후 B병원 서버에서 독립적으로 DICOM을 재조회한 결과, Study/Series UID는 물론 3,146,808 바이트의 파일 크기와 원본 SHA-256 해시값이 1비트의 오차도 없이 100% 완벽히 일치함을 확인했습니다.</a:t>
            </a:r>
          </a:p>
          <a:p xmlns:a="http://schemas.openxmlformats.org/drawingml/2006/main">
            <a:r>
              <a:t>또한 토큰 발급부터 PACS 검증까지 6개 감사 이벤트가 하나의 세션 ID로 정확히 체이닝되었습니다."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08:45 ~ 09:25 | 실제 배포 화면: B병원 보관함 및 영수증 증적]</a:t>
            </a:r>
          </a:p>
          <a:p xmlns:a="http://schemas.openxmlformats.org/drawingml/2006/main">
            <a:r>
              <a:t>"실제 Azure 클라우드에 배포된 B병원 영상 보관함 화면입니다.</a:t>
            </a:r>
          </a:p>
          <a:p xmlns:a="http://schemas.openxmlformats.org/drawingml/2006/main">
            <a:r>
              <a:t>우측 스크린샷에서 보시듯 '완료 1건, 실패 0건, 미완료 0건'과 함께 B PACS의 수신 영수증이 선명하게 확인됩니다.</a:t>
            </a:r>
          </a:p>
          <a:p xmlns:a="http://schemas.openxmlformats.org/drawingml/2006/main">
            <a:r>
              <a:t>특히 보안성을 위해 의료진 PC 로컬로의 직접 DICOM 원본 다운로드는 완벽히 차단하였으며, 오직 인가된 PACS 간 전송 및 인앱 뷰어 열람만을 허용했습니다.</a:t>
            </a:r>
          </a:p>
          <a:p xmlns:a="http://schemas.openxmlformats.org/drawingml/2006/main">
            <a:r>
              <a:t>이로써 원본성 훼손 없는 안전한 병원 간 의료영상 전달이 실증되었습니다."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09:25 ~ 10:05 | 보안 게이트: 11단계 조건의 교집합 (Fail-Closed)]</a:t>
            </a:r>
          </a:p>
          <a:p xmlns:a="http://schemas.openxmlformats.org/drawingml/2006/main">
            <a:r>
              <a:t>"저희 보안 통제의 핵심은 'Fail-Closed' 원칙입니다.</a:t>
            </a:r>
          </a:p>
          <a:p xmlns:a="http://schemas.openxmlformats.org/drawingml/2006/main">
            <a:r>
              <a:t>단순히 의사 면허가 있다고 열리지 않습니다.</a:t>
            </a:r>
          </a:p>
          <a:p xmlns:a="http://schemas.openxmlformats.org/drawingml/2006/main">
            <a:r>
              <a:t>요청 주체(WHO), 진료 목적(WHY), 유효 기간(WHEN), 허용된 검사 범위(WHAT) 등 11개 조건이 모두 참(True)이어야만 문이 열립니다.</a:t>
            </a:r>
          </a:p>
          <a:p xmlns:a="http://schemas.openxmlformats.org/drawingml/2006/main">
            <a:r>
              <a:t>유효기간이 단 1초라도 지났거나, 동의된 검사 이외의 다른 Series를 조회하려 하면 즉시 거부되고 `CONSENT_EXPIRED` 또는 `SCOPE_MISMATCH`라는 정밀한 감사 코드가 기록됩니다.</a:t>
            </a:r>
          </a:p>
          <a:p xmlns:a="http://schemas.openxmlformats.org/drawingml/2006/main">
            <a:r>
              <a:t>프론트엔드 버튼 숨김에 의존하지 않고 모든 권한을 백엔드에서 전수 검증합니다."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10:05 ~ 10:40 | 캡스톤 프로젝트의 엄격한 경계 준수]</a:t>
            </a:r>
          </a:p>
          <a:p xmlns:a="http://schemas.openxmlformats.org/drawingml/2006/main">
            <a:r>
              <a:t>"발표에 앞서 저희 프로젝트의 규범적 경계를 다시 한번 명확히 밝힙니다.</a:t>
            </a:r>
          </a:p>
          <a:p xmlns:a="http://schemas.openxmlformats.org/drawingml/2006/main">
            <a:r>
              <a:t>본 프로젝트는 가상 환자, 가상 병원, 합성 DICOM을 활용한 기술 아키텍처 실증 PoC입니다.</a:t>
            </a:r>
          </a:p>
          <a:p xmlns:a="http://schemas.openxmlformats.org/drawingml/2006/main">
            <a:r>
              <a:t>실제 환자의 개인정보나 실제 병원 운영 PACS망에는 접속하지 않았으며, 의학적 진단이나 치료 권고와 같은 의료 행위는 일절 포함하지 않습니다.</a:t>
            </a:r>
          </a:p>
          <a:p xmlns:a="http://schemas.openxmlformats.org/drawingml/2006/main">
            <a:r>
              <a:t>기술적 보안 모델을 검증하는 연구로서, 향후 의료기기 승인이나 ISMS-P 인증과 같은 제도적 인증을 거쳐 발전해 나갈 토대를 마련했습니다."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10:40 ~ 11:20 | 보안 기능별 통제 수준 및 증거의 깊이]</a:t>
            </a:r>
          </a:p>
          <a:p xmlns:a="http://schemas.openxmlformats.org/drawingml/2006/main">
            <a:r>
              <a:t>"저희는 기능이 '코드에 존재함'과 '클라우드에서 실증됨'을 정직하게 구분하여 보고합니다.</a:t>
            </a:r>
          </a:p>
          <a:p xmlns:a="http://schemas.openxmlformats.org/drawingml/2006/main">
            <a:r>
              <a:t>환자 동의, ABAC 정책, 단기 토큰 발급은 실제 단건 반입 시험에서 전수 검증되어 PASS 판정을 받았습니다.</a:t>
            </a:r>
          </a:p>
          <a:p xmlns:a="http://schemas.openxmlformats.org/drawingml/2006/main">
            <a:r>
              <a:t>전송 무결성 역시 B PACS 독립 재조회와 SHA-256 해시 검증을 통해 PASS되었습니다.</a:t>
            </a:r>
          </a:p>
          <a:p xmlns:a="http://schemas.openxmlformats.org/drawingml/2006/main">
            <a:r>
              <a:t>저장구간 암호화(LUKS2)와 키 관리 작업은 부분 PASS를 획득하였으며, 향후 병원 재부팅 및 DR 복구 시험을 통해 완성도를 높여갈 계획입니다."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11:20 ~ 12:00 | 보안 관제 스냅샷: 실시간 감사 추적]</a:t>
            </a:r>
          </a:p>
          <a:p xmlns:a="http://schemas.openxmlformats.org/drawingml/2006/main">
            <a:r>
              <a:t>"실제 Azure 보안 관제실의 24시간 조회 스냅샷입니다.</a:t>
            </a:r>
          </a:p>
          <a:p xmlns:a="http://schemas.openxmlformats.org/drawingml/2006/main">
            <a:r>
              <a:t>Azure Key Vault에서는 68건의 키 암호화 및 서명 작업이 안전하게 수행되었고, Caddy 및 Coraza WAF에서는 298건의 보안 규칙 매칭 이벤트가 수집되어 비정상 요청을 실시간 차단했습니다.</a:t>
            </a:r>
          </a:p>
          <a:p xmlns:a="http://schemas.openxmlformats.org/drawingml/2006/main">
            <a:r>
              <a:t>저희 감사로그는 사후 분쟁 시 누구도 조작할 수 없도록 불변 세션 ID와 상관되어 관리자조차 임의 삭제가 불가능하도록 통제됩니다."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12:00 ~ 12:45 | 종합 실증 결과: 700장 CT 뷰어 &amp; AI 건강도우미]</a:t>
            </a:r>
          </a:p>
          <a:p xmlns:a="http://schemas.openxmlformats.org/drawingml/2006/main">
            <a:r>
              <a:t>"저희가 이번 릴리즈에서 달성한 종합 실증 결과입니다.</a:t>
            </a:r>
          </a:p>
          <a:p xmlns:a="http://schemas.openxmlformats.org/drawingml/2006/main">
            <a:r>
              <a:t>첫째, 단건 라이브 A➔B 전송과 자동화 검증 테스트 55개, 증거 검증 테스트 13개를 100% PASS했습니다.</a:t>
            </a:r>
          </a:p>
          <a:p xmlns:a="http://schemas.openxmlformats.org/drawingml/2006/main">
            <a:r>
              <a:t>둘째, 화면 우측에서 보시듯 WADO-RS 기반으로 700장에 달하는 복부 CT 전체 슬라이스를 로딩하고, 병변 십자선과 윈도우 레벨링을 제공하는 정밀 웹 뷰어 검증을 완료했습니다.</a:t>
            </a:r>
          </a:p>
          <a:p xmlns:a="http://schemas.openxmlformats.org/drawingml/2006/main">
            <a:r>
              <a:t>셋째, 1,019개 의학 코퍼스와 2-Layer 형태소 분석을 적용한 AI 건강도우미를 통해 혈청 AFP 검사 개념 해설과 진료 질문 리허설 기능을 성공적으로 가동시켰습니다."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12:45 ~ 13:20 | 향후 로드맵: 다음 4대 관문]</a:t>
            </a:r>
          </a:p>
          <a:p xmlns:a="http://schemas.openxmlformats.org/drawingml/2006/main">
            <a:r>
              <a:t>"저희는 여기서 멈추지 않고 다음 4대 기술 관문을 향해 나아갑니다.</a:t>
            </a:r>
          </a:p>
          <a:p xmlns:a="http://schemas.openxmlformats.org/drawingml/2006/main">
            <a:r>
              <a:t>게이트 1은 700장 대용량 배치의 무중단 전송과 네트워크 단절 시 이어받기(Resume)의 멱등성 검증입니다.</a:t>
            </a:r>
          </a:p>
          <a:p xmlns:a="http://schemas.openxmlformats.org/drawingml/2006/main">
            <a:r>
              <a:t>게이트 2는 암호화 스토리지와 PACS 간의 자동 마운트 결합 및 재부팅 복구 고도화입니다.</a:t>
            </a:r>
          </a:p>
          <a:p xmlns:a="http://schemas.openxmlformats.org/drawingml/2006/main">
            <a:r>
              <a:t>게이트 3은 통합 모니터링 및 실시간 이상행위 탐지 룰의 고도화입니다.</a:t>
            </a:r>
          </a:p>
          <a:p xmlns:a="http://schemas.openxmlformats.org/drawingml/2006/main">
            <a:r>
              <a:t>게이트 4는 실제 병원 PACS와의 HL7 FHIR 연동 및 법률·보안 적합성 평가입니다.</a:t>
            </a:r>
          </a:p>
          <a:p xmlns:a="http://schemas.openxmlformats.org/drawingml/2006/main">
            <a:r>
              <a:t>근거 없는 과장 대신 한 단계씩 증거를 축적해 가겠습니다."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13:20 ~ 14:00 | 결론 및 Q&amp;A: 환자 동의로 열고 감사로 닫는다]</a:t>
            </a:r>
          </a:p>
          <a:p xmlns:a="http://schemas.openxmlformats.org/drawingml/2006/main">
            <a:r>
              <a:t>"결론을 맺겠습니다.</a:t>
            </a:r>
          </a:p>
          <a:p xmlns:a="http://schemas.openxmlformats.org/drawingml/2006/main">
            <a:r>
              <a:t>하이패스 MediQ는 환자에게는 CD 발급의 번거로움과 중복 방사선 피폭을 없애주고, 의료진에게는 진료 연속성을 보장하며, 병원에는 데이터 유출 위험 없는 안전한 상호운용성을 제공합니다.</a:t>
            </a:r>
          </a:p>
          <a:p xmlns:a="http://schemas.openxmlformats.org/drawingml/2006/main">
            <a:r>
              <a:t>'환자 동의로 열고, 증거와 감사로 닫는다'는 확고한 철학을 바탕으로, 디지털 의료영상 교류의 새로운 지평을 열어가겠습니다.</a:t>
            </a:r>
          </a:p>
          <a:p xmlns:a="http://schemas.openxmlformats.org/drawingml/2006/main">
            <a:r>
              <a:t>경청해 주셔서 대단히 감사합니다. 질의응답을 받겠습니다."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6fc8d991e0cd461e"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1c17bd956afa489e"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a6f9503e360640f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720647c6a76e4be7"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a5bd73cd594f4e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49524f251aff4fbd"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9de2b18d83b148f0"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cf8b9273d1da4e88"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452e61230bd94235"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6c6623244cf4429c"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97f7018d82df4deb" Type="http://schemas.openxmlformats.org/officeDocument/2006/relationships/slideMaster" Target="../slideMasters/slideMaster1.xml"/></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4CA3F28-163F-495C-9250-8103283AE0CC}"/>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3CEADCA-CDCA-447A-B259-826FCD30277B}"/>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4FD6337F-6FE3-45D2-96EB-6F15A6D597C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5" name="Footer Placeholder 4">
            <a:extLst xmlns:a="http://schemas.openxmlformats.org/drawingml/2006/main">
              <a:ext uri="{FF2B5EF4-FFF2-40B4-BE49-F238E27FC236}">
                <a16:creationId xmlns:a16="http://schemas.microsoft.com/office/drawing/2014/main" id="{4A546663-FAA1-4FF5-9869-0DDFBB4D3BE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3798C77B-AF77-4E6B-95A0-BDD5FFCB7A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9FF94BA5-B6ED-4B6A-B30B-7A1E14CC1C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5BE50DD6-EB23-4D7D-B82B-448DCEDD1DA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16240FF2-4DE7-4A9F-ACD9-24618635E6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5" name="Footer Placeholder 4">
            <a:extLst xmlns:a="http://schemas.openxmlformats.org/drawingml/2006/main">
              <a:ext uri="{FF2B5EF4-FFF2-40B4-BE49-F238E27FC236}">
                <a16:creationId xmlns:a16="http://schemas.microsoft.com/office/drawing/2014/main" id="{25277A26-233E-4C0F-B317-ED90276F5C8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5F4F1218-434A-4590-865C-65E227EFB46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A3BC2A7-4647-4D25-AC4D-6297850590F0}"/>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CDF8965-06A0-407E-B5D1-1F0E444F2846}"/>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0008CBA1-B23E-40EE-8212-8D1EEB0BEE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5" name="Footer Placeholder 4">
            <a:extLst xmlns:a="http://schemas.openxmlformats.org/drawingml/2006/main">
              <a:ext uri="{FF2B5EF4-FFF2-40B4-BE49-F238E27FC236}">
                <a16:creationId xmlns:a16="http://schemas.microsoft.com/office/drawing/2014/main" id="{B049596C-DBEE-438D-A2E4-CE9B5036DF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89E8AF6-1AE3-4BC6-B761-D0AC2859A6F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A46FBC-CB74-4607-9481-385AAC9E373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787F29A-6742-43EE-84E7-4D46085D8A2E}"/>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20935D0C-54E8-41EB-92C9-9883CA8A4B1C}"/>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9E1BA45C-88D9-457C-AAF5-4226B7DD76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6" name="Footer Placeholder 5">
            <a:extLst xmlns:a="http://schemas.openxmlformats.org/drawingml/2006/main">
              <a:ext uri="{FF2B5EF4-FFF2-40B4-BE49-F238E27FC236}">
                <a16:creationId xmlns:a16="http://schemas.microsoft.com/office/drawing/2014/main" id="{63140CCC-48E7-4D02-9F51-730CFA5A55F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EC12D8E2-3A74-4505-AD1D-775668C152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1D321AF-2C7F-4CF6-8257-3F1DB3420ED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235C59-C193-4DD1-95FA-1A561AACD832}"/>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2C125FA9-E366-4E79-AAA3-C747735CDCC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8D5CAE0E-9815-4F1E-B7C4-2F31317D8A8E}"/>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A427DC80-19D8-4F20-BED4-7FDD69953A46}"/>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C5F23FF7-526F-4A19-B816-3807983D63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8" name="Footer Placeholder 7">
            <a:extLst xmlns:a="http://schemas.openxmlformats.org/drawingml/2006/main">
              <a:ext uri="{FF2B5EF4-FFF2-40B4-BE49-F238E27FC236}">
                <a16:creationId xmlns:a16="http://schemas.microsoft.com/office/drawing/2014/main" id="{3A79B33E-6EF2-44D4-BE0C-6B64DD979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9EC0B684-2DC6-4D14-A443-A99BDD6154E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09B199E-2150-43E8-8037-5C5AF93FE63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1CE55F5F-4FCA-478F-A130-74E8407483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4" name="Footer Placeholder 3">
            <a:extLst xmlns:a="http://schemas.openxmlformats.org/drawingml/2006/main">
              <a:ext uri="{FF2B5EF4-FFF2-40B4-BE49-F238E27FC236}">
                <a16:creationId xmlns:a16="http://schemas.microsoft.com/office/drawing/2014/main" id="{C63F6D73-0180-4967-9086-8538A93A955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CE209ABA-D497-4387-BEA4-1FA56E97004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D231EAB0-7175-4559-8E50-36116B18E1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3" name="Footer Placeholder 2">
            <a:extLst xmlns:a="http://schemas.openxmlformats.org/drawingml/2006/main">
              <a:ext uri="{FF2B5EF4-FFF2-40B4-BE49-F238E27FC236}">
                <a16:creationId xmlns:a16="http://schemas.microsoft.com/office/drawing/2014/main" id="{E91F167A-6425-44D4-9D54-6D684343DC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CDF7408E-CAC7-404F-8C20-510F9974E50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4619C7-CCAC-40DE-B48C-332FD18D1E2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4454611-A861-42FD-A26B-21E202EF234A}"/>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D622D9E1-0F79-4A2A-B548-DA1776FC5C62}"/>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17EF355-4481-4E1B-9B31-28CB6696449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6" name="Footer Placeholder 5">
            <a:extLst xmlns:a="http://schemas.openxmlformats.org/drawingml/2006/main">
              <a:ext uri="{FF2B5EF4-FFF2-40B4-BE49-F238E27FC236}">
                <a16:creationId xmlns:a16="http://schemas.microsoft.com/office/drawing/2014/main" id="{86D4ABCF-1C4D-444D-A1B7-5C95265DBCD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1ED29794-76B1-4E53-812C-FC011E52256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ED5F1B4-0D5A-4B16-BDE1-B6D01640D4C4}"/>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62572BF2-00FA-4F8A-8B0D-0E637E0EDB4A}"/>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6FBA892B-5821-43D7-99ED-BF38D159C38A}"/>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0E7E8FF-E9B1-4434-AF72-CB1B70C9E6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6" name="Footer Placeholder 5">
            <a:extLst xmlns:a="http://schemas.openxmlformats.org/drawingml/2006/main">
              <a:ext uri="{FF2B5EF4-FFF2-40B4-BE49-F238E27FC236}">
                <a16:creationId xmlns:a16="http://schemas.microsoft.com/office/drawing/2014/main" id="{D2365752-F907-4638-998B-D2A736D58CD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BDFF36FC-EF41-4E6C-8B18-206B2C85B73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55DB485-2D53-45A6-9142-566E87950B5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A301A219-385F-44A9-BE95-61D9CF1A907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42B1BC8E-03EE-429A-935D-43635DE359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5" name="Footer Placeholder 4">
            <a:extLst xmlns:a="http://schemas.openxmlformats.org/drawingml/2006/main">
              <a:ext uri="{FF2B5EF4-FFF2-40B4-BE49-F238E27FC236}">
                <a16:creationId xmlns:a16="http://schemas.microsoft.com/office/drawing/2014/main" id="{DA067B06-002D-4545-BA99-45BB3D4DEB3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647C18B3-D4D1-4D16-A056-4E6C2309246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1BE3C90-89B5-459C-B1C6-3D5C8DA506D5}"/>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655D9B8-60E4-46E5-8849-4563BBE13E9C}"/>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AA1CDF3-BE11-48DF-BB1D-5887E5838F2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D8BD707-D9CF-40AE-B4C6-C98DA3205C09}" type="datetimeFigureOut">
              <a:t>10/14/2026</a:t>
            </a:fld>
            <a:endParaRPr/>
          </a:p>
        </p:txBody>
      </p:sp>
      <p:sp>
        <p:nvSpPr>
          <p:cNvPr id="5" name="Footer Placeholder 4">
            <a:extLst xmlns:a="http://schemas.openxmlformats.org/drawingml/2006/main">
              <a:ext uri="{FF2B5EF4-FFF2-40B4-BE49-F238E27FC236}">
                <a16:creationId xmlns:a16="http://schemas.microsoft.com/office/drawing/2014/main" id="{03F06BA7-88C9-43B1-B321-5147CF29E1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D2C04E1-B50F-4449-80B5-735BF57D86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B6F15528-21DE-4FAA-801E-634DDDAF4B2B}" type="slidenum">
              <a:t>‹#›</a:t>
            </a:fld>
            <a:endParaRPr/>
          </a:p>
        </p:txBody>
      </p:sp>
    </p:spTree>
  </p:cSld>
</p:sldLayout>
</file>

<file path=ppt/slideMasters/_rels/slideMaster1.xml.rels><?xml version='1.0' encoding='UTF-8' standalone='yes'?>
<Relationships xmlns="http://schemas.openxmlformats.org/package/2006/relationships"><Relationship Id="R08f950804c8a4fe2" Type="http://schemas.openxmlformats.org/officeDocument/2006/relationships/slideLayout" Target="../slideLayouts/slideLayout2.xml"/><Relationship Id="R0ceb4028a4704cdb" Type="http://schemas.openxmlformats.org/officeDocument/2006/relationships/slideLayout" Target="../slideLayouts/slideLayout1.xml"/><Relationship Id="R0d69e92a8e304f45" Type="http://schemas.openxmlformats.org/officeDocument/2006/relationships/theme" Target="theme/theme2.xml"/><Relationship Id="R238d3acacb274097" Type="http://schemas.openxmlformats.org/officeDocument/2006/relationships/slideLayout" Target="../slideLayouts/slideLayout6.xml"/><Relationship Id="R2f24eae2074f4915" Type="http://schemas.openxmlformats.org/officeDocument/2006/relationships/slideLayout" Target="../slideLayouts/slideLayout3.xml"/><Relationship Id="R41fb70c2bdec4241" Type="http://schemas.openxmlformats.org/officeDocument/2006/relationships/slideLayout" Target="../slideLayouts/slideLayout5.xml"/><Relationship Id="R45742eeabedb4fdd" Type="http://schemas.openxmlformats.org/officeDocument/2006/relationships/slideLayout" Target="../slideLayouts/slideLayout11.xml"/><Relationship Id="R82149e24da0140c6" Type="http://schemas.openxmlformats.org/officeDocument/2006/relationships/slideLayout" Target="../slideLayouts/slideLayout10.xml"/><Relationship Id="R8be9390b61c84bf5" Type="http://schemas.openxmlformats.org/officeDocument/2006/relationships/slideLayout" Target="../slideLayouts/slideLayout8.xml"/><Relationship Id="Raffe0ed4e7f34755" Type="http://schemas.openxmlformats.org/officeDocument/2006/relationships/slideLayout" Target="../slideLayouts/slideLayout9.xml"/><Relationship Id="Rba1e11a49b524c76" Type="http://schemas.openxmlformats.org/officeDocument/2006/relationships/slideLayout" Target="../slideLayouts/slideLayout4.xml"/><Relationship Id="Re4a3d93bfaa74179" Type="http://schemas.openxmlformats.org/officeDocument/2006/relationships/slideLayout" Target="../slideLayouts/slideLayout7.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A737BD2D-E7F1-435C-8CE9-99CA24AA153F}"/>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CAF53B98-F9A2-4684-872E-4DA4BD878C66}"/>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F37A3A1-DDA9-46CC-B0AC-F50F10878110}"/>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1D8BD707-D9CF-40AE-B4C6-C98DA3205C09}" type="datetimeFigureOut">
              <a:t>10/14/2026</a:t>
            </a:fld>
            <a:endParaRPr/>
          </a:p>
        </p:txBody>
      </p:sp>
      <p:sp>
        <p:nvSpPr>
          <p:cNvPr id="5" name="Footer Placeholder 4">
            <a:extLst xmlns:a="http://schemas.openxmlformats.org/drawingml/2006/main">
              <a:ext uri="{FF2B5EF4-FFF2-40B4-BE49-F238E27FC236}">
                <a16:creationId xmlns:a16="http://schemas.microsoft.com/office/drawing/2014/main" id="{BC7D75F8-74B3-4659-B6E4-A7833F45DAB8}"/>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BD4AF75-74CA-45DC-97D9-36E91E7E756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eb4028a4704cdb"/>
    <p:sldLayoutId xmlns:r="http://schemas.openxmlformats.org/officeDocument/2006/relationships" id="2147483650" r:id="R08f950804c8a4fe2"/>
    <p:sldLayoutId xmlns:r="http://schemas.openxmlformats.org/officeDocument/2006/relationships" id="2147483651" r:id="R2f24eae2074f4915"/>
    <p:sldLayoutId xmlns:r="http://schemas.openxmlformats.org/officeDocument/2006/relationships" id="2147483652" r:id="Rba1e11a49b524c76"/>
    <p:sldLayoutId xmlns:r="http://schemas.openxmlformats.org/officeDocument/2006/relationships" id="2147483653" r:id="R41fb70c2bdec4241"/>
    <p:sldLayoutId xmlns:r="http://schemas.openxmlformats.org/officeDocument/2006/relationships" id="2147483654" r:id="R238d3acacb274097"/>
    <p:sldLayoutId xmlns:r="http://schemas.openxmlformats.org/officeDocument/2006/relationships" id="2147483655" r:id="Re4a3d93bfaa74179"/>
    <p:sldLayoutId xmlns:r="http://schemas.openxmlformats.org/officeDocument/2006/relationships" id="2147483656" r:id="R8be9390b61c84bf5"/>
    <p:sldLayoutId xmlns:r="http://schemas.openxmlformats.org/officeDocument/2006/relationships" id="2147483657" r:id="Raffe0ed4e7f34755"/>
    <p:sldLayoutId xmlns:r="http://schemas.openxmlformats.org/officeDocument/2006/relationships" id="2147483658" r:id="R82149e24da0140c6"/>
    <p:sldLayoutId xmlns:r="http://schemas.openxmlformats.org/officeDocument/2006/relationships" id="2147483659" r:id="R45742eeabedb4fdd"/>
  </p:sldLayoutIdLst>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xml version='1.0' encoding='UTF-8' standalone='yes'?>
<Relationships xmlns="http://schemas.openxmlformats.org/package/2006/relationships"><Relationship Id="R1b37dac00d4d491c" Type="http://schemas.openxmlformats.org/officeDocument/2006/relationships/slideLayout" Target="../slideLayouts/slideLayout7.xml"/><Relationship Id="R91af53be85b948b0" Type="http://schemas.openxmlformats.org/officeDocument/2006/relationships/image" Target="../media/image.png"/><Relationship Id="Rc974eaf40055447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121ef04bf6424a71" Type="http://schemas.openxmlformats.org/officeDocument/2006/relationships/slideLayout" Target="../slideLayouts/slideLayout7.xml"/><Relationship Id="Rda04ab5ee7c844de"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8435008c16e545c5" Type="http://schemas.openxmlformats.org/officeDocument/2006/relationships/notesSlide" Target="../notesSlides/notesSlide3.xml"/><Relationship Id="R9f481d20607449eb"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8dad6621fd464a47" Type="http://schemas.openxmlformats.org/officeDocument/2006/relationships/slideLayout" Target="../slideLayouts/slideLayout7.xml"/><Relationship Id="Rc845977ac47f4b9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12a58fbe4f164a87" Type="http://schemas.openxmlformats.org/officeDocument/2006/relationships/slideLayout" Target="../slideLayouts/slideLayout7.xml"/><Relationship Id="R5b3a447c3cfd4f61"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477e74801abb415d" Type="http://schemas.openxmlformats.org/officeDocument/2006/relationships/notesSlide" Target="../notesSlides/notesSlide6.xml"/><Relationship Id="R4c5541dc59eb4d83"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30e05d9e40ad4ddd" Type="http://schemas.openxmlformats.org/officeDocument/2006/relationships/notesSlide" Target="../notesSlides/notesSlide7.xml"/><Relationship Id="Ra1b7490b53264e4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3a5ab2bd8eeb4dbc" Type="http://schemas.openxmlformats.org/officeDocument/2006/relationships/slideLayout" Target="../slideLayouts/slideLayout7.xml"/><Relationship Id="Rabcea13e6410413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67c745fc5d1b4cff" Type="http://schemas.openxmlformats.org/officeDocument/2006/relationships/slideLayout" Target="../slideLayouts/slideLayout7.xml"/><Relationship Id="R8b648ec41b9e461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36b7ed73611443b9" Type="http://schemas.openxmlformats.org/officeDocument/2006/relationships/notesSlide" Target="../notesSlides/notesSlide10.xml"/><Relationship Id="R4f4de8f8030d41a2" Type="http://schemas.openxmlformats.org/officeDocument/2006/relationships/slideLayout" Target="../slideLayouts/slideLayout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11.xml.rels><?xml version='1.0' encoding='UTF-8' standalone='yes'?>
<Relationships xmlns="http://schemas.openxmlformats.org/package/2006/relationships"><Relationship Id="Ra140222184cc4ac9" Type="http://schemas.openxmlformats.org/officeDocument/2006/relationships/notesSlide" Target="../notesSlides/notesSlide11.xml"/><Relationship Id="Ra85e0b3671dc4939"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02a11d7fd5354f99" Type="http://schemas.openxmlformats.org/officeDocument/2006/relationships/slideLayout" Target="../slideLayouts/slideLayout7.xml"/><Relationship Id="Rbfa0019a7eff41ad"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43e5c8e4db2e437d" Type="http://schemas.openxmlformats.org/officeDocument/2006/relationships/slideLayout" Target="../slideLayouts/slideLayout7.xml"/><Relationship Id="R995adb346a41490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1949a5dd0df840d1" Type="http://schemas.openxmlformats.org/officeDocument/2006/relationships/notesSlide" Target="../notesSlides/notesSlide14.xml"/><Relationship Id="R45d6c576d23b4d28"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440c1ba8e3b148e4" Type="http://schemas.openxmlformats.org/officeDocument/2006/relationships/image" Target="../media/image.jpeg"/><Relationship Id="R7c6f260139144d81" Type="http://schemas.openxmlformats.org/officeDocument/2006/relationships/slideLayout" Target="../slideLayouts/slideLayout7.xml"/><Relationship Id="Red3d75bf87f94d6f"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41c84b8852d44bdf" Type="http://schemas.openxmlformats.org/officeDocument/2006/relationships/notesSlide" Target="../notesSlides/notesSlide16.xml"/><Relationship Id="Rb58bf7178580421f"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4110291ef8494efc" Type="http://schemas.openxmlformats.org/officeDocument/2006/relationships/slideLayout" Target="../slideLayouts/slideLayout7.xml"/><Relationship Id="R74f6ae132e204eff"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69690340b6b54b65" Type="http://schemas.openxmlformats.org/officeDocument/2006/relationships/notesSlide" Target="../notesSlides/notesSlide18.xml"/><Relationship Id="Rc7b06303b27b44c7"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49fa8473b2d2497c" Type="http://schemas.openxmlformats.org/officeDocument/2006/relationships/slideLayout" Target="../slideLayouts/slideLayout7.xml"/><Relationship Id="R5ca82084d2354b87"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76ecf4228cc94a15" Type="http://schemas.openxmlformats.org/officeDocument/2006/relationships/notesSlide" Target="../notesSlides/notesSlide20.xml"/><Relationship Id="Rfb3262c4efa140db" Type="http://schemas.openxmlformats.org/officeDocument/2006/relationships/slideLayout" Target="../slideLayouts/slideLayout7.xml"/><Relationship Id="rId3" Type="http://schemas.openxmlformats.org/officeDocument/2006/relationships/image" Target="../media/image5.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0c30fedad74a4877" Type="http://schemas.openxmlformats.org/officeDocument/2006/relationships/slideLayout" Target="../slideLayouts/slideLayout7.xml"/><Relationship Id="R83ad6a72578944b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01e0d601e4024878" Type="http://schemas.openxmlformats.org/officeDocument/2006/relationships/notesSlide" Target="../notesSlides/notesSlide22.xml"/><Relationship Id="R145c01ff56ba461d" Type="http://schemas.openxmlformats.org/officeDocument/2006/relationships/slideLayout" Target="../slideLayouts/slideLayout7.xml"/><Relationship Id="R57c6980ce5b74029" Type="http://schemas.openxmlformats.org/officeDocument/2006/relationships/image" Target="../media/image.png"/></Relationships>
</file>

<file path=ppt/slides/slide1.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52C8E34E-1831-4590-BDD6-29FC6D2D9E6E}"/>
              </a:ext>
            </a:extLst>
          </p:cNvPr>
          <p:cNvSpPr>
            <a:spLocks xmlns:a="http://schemas.openxmlformats.org/drawingml/2006/main" noGrp="1"/>
          </p:cNvSpPr>
          <p:nvPr/>
        </p:nvSpPr>
        <p:spPr>
          <a:xfrm xmlns:a="http://schemas.openxmlformats.org/drawingml/2006/main" rot="0" flipH="0" flipV="0">
            <a:off x="15307008" y="-189268"/>
            <a:ext cx="3268199" cy="7739024"/>
          </a:xfrm>
          <a:custGeom xmlns:a="http://schemas.openxmlformats.org/drawingml/2006/main">
            <a:rect l="l" t="t" r="r" b="b"/>
            <a:pathLst>
              <a:path w="860760" h="2038262">
                <a:moveTo>
                  <a:pt x="0" y="0"/>
                </a:moveTo>
                <a:lnTo>
                  <a:pt x="860760" y="0"/>
                </a:lnTo>
                <a:lnTo>
                  <a:pt x="860760" y="2038262"/>
                </a:lnTo>
                <a:lnTo>
                  <a:pt x="0" y="2038262"/>
                </a:lnTo>
                <a:close/>
              </a:path>
            </a:pathLst>
          </a:custGeom>
          <a:solidFill xmlns:a="http://schemas.openxmlformats.org/drawingml/2006/main">
            <a:srgbClr val="E9E9E9"/>
          </a:solidFill>
          <a:ln xmlns:a="http://schemas.openxmlformats.org/drawingml/2006/main">
            <a:noFill/>
            <a:prstDash val="solid"/>
          </a:ln>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75B5A197-2D3B-4C5E-805D-89AAD934474D}"/>
              </a:ext>
            </a:extLst>
          </p:cNvPr>
          <p:cNvSpPr>
            <a:spLocks xmlns:a="http://schemas.openxmlformats.org/drawingml/2006/main" noGrp="1"/>
          </p:cNvSpPr>
          <p:nvPr/>
        </p:nvSpPr>
        <p:spPr>
          <a:xfrm xmlns:a="http://schemas.openxmlformats.org/drawingml/2006/main" rot="0" flipH="0" flipV="0">
            <a:off x="15307008" y="-370094"/>
            <a:ext cx="3268199" cy="791985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56"/>
              </a:lnSpc>
              <a:buNone/>
            </a:pPr>
            <a:endParaRPr/>
          </a:p>
        </p:txBody>
      </p:sp>
      <p:sp>
        <p:nvSpPr>
          <p:cNvPr id="8" name="AutoShape 8">
            <a:extLst xmlns:a="http://schemas.openxmlformats.org/drawingml/2006/main">
              <a:ext uri="{FF2B5EF4-FFF2-40B4-BE49-F238E27FC236}">
                <a16:creationId xmlns:a16="http://schemas.microsoft.com/office/drawing/2014/main" id="{D6A88B79-2AEC-4EA6-89EB-C47D285FC4D1}"/>
              </a:ext>
            </a:extLst>
          </p:cNvPr>
          <p:cNvSpPr>
            <a:spLocks xmlns:a="http://schemas.openxmlformats.org/drawingml/2006/main" noGrp="1"/>
          </p:cNvSpPr>
          <p:nvPr/>
        </p:nvSpPr>
        <p:spPr>
          <a:xfrm xmlns:a="http://schemas.openxmlformats.org/drawingml/2006/main">
            <a:off x="1033463" y="7907272"/>
            <a:ext cx="0" cy="1351028"/>
          </a:xfrm>
          <a:prstGeom xmlns:a="http://schemas.openxmlformats.org/drawingml/2006/main" prst="line">
            <a:avLst/>
          </a:prstGeom>
          <a:ln xmlns:a="http://schemas.openxmlformats.org/drawingml/2006/main" w="9525">
            <a:solidFill>
              <a:srgbClr val="F6F6F6"/>
            </a:solidFill>
            <a:prstDash val="solid"/>
            <a:headEnd type="none" w="sm" len="sm"/>
            <a:tailEnd type="none" w="sm" len="sm"/>
          </a:ln>
        </p:spPr>
        <p:txBody>
          <a:bodyPr xmlns:a="http://schemas.openxmlformats.org/drawingml/2006/main"/>
          <a:lstStyle xmlns:a="http://schemas.openxmlformats.org/drawingml/2006/main"/>
          <a:p xmlns:a="http://schemas.openxmlformats.org/drawingml/2006/main">
            <a:endParaRPr/>
          </a:p>
        </p:txBody>
      </p:sp>
      <p:sp>
        <p:nvSpPr>
          <p:cNvPr id="9" name="Freeform 9">
            <a:extLst xmlns:a="http://schemas.openxmlformats.org/drawingml/2006/main">
              <a:ext uri="{FF2B5EF4-FFF2-40B4-BE49-F238E27FC236}">
                <a16:creationId xmlns:a16="http://schemas.microsoft.com/office/drawing/2014/main" id="{274F861B-2B12-4A59-919C-03618FBFECB0}"/>
              </a:ext>
            </a:extLst>
          </p:cNvPr>
          <p:cNvSpPr>
            <a:spLocks xmlns:a="http://schemas.openxmlformats.org/drawingml/2006/main" noGrp="1"/>
          </p:cNvSpPr>
          <p:nvPr/>
        </p:nvSpPr>
        <p:spPr>
          <a:xfrm xmlns:a="http://schemas.openxmlformats.org/drawingml/2006/main">
            <a:off x="0" y="7075598"/>
            <a:ext cx="18288000" cy="5818426"/>
          </a:xfrm>
          <a:custGeom xmlns:a="http://schemas.openxmlformats.org/drawingml/2006/main">
            <a:rect l="l" t="t" r="r" b="b"/>
            <a:pathLst>
              <a:path w="18288000" h="5818426">
                <a:moveTo>
                  <a:pt x="0" y="0"/>
                </a:moveTo>
                <a:lnTo>
                  <a:pt x="18288000" y="0"/>
                </a:lnTo>
                <a:lnTo>
                  <a:pt x="18288000" y="5818426"/>
                </a:lnTo>
                <a:lnTo>
                  <a:pt x="0" y="5818426"/>
                </a:lnTo>
                <a:lnTo>
                  <a:pt x="0" y="0"/>
                </a:lnTo>
                <a:close/>
              </a:path>
            </a:pathLst>
          </a:custGeom>
          <a:blipFill xmlns:a="http://schemas.openxmlformats.org/drawingml/2006/main">
            <a:blip xmlns:r="http://schemas.openxmlformats.org/officeDocument/2006/relationships" r:embed="R91af53be85b948b0"/>
            <a:stretch>
              <a:fillRect l="0" t="0" r="0" b="-4705"/>
            </a:stretch>
          </a:blipFill>
        </p:spPr>
        <p:txBody>
          <a:bodyPr xmlns:a="http://schemas.openxmlformats.org/drawingml/2006/main"/>
          <a:lstStyle xmlns:a="http://schemas.openxmlformats.org/drawingml/2006/main"/>
          <a:p xmlns:a="http://schemas.openxmlformats.org/drawingml/2006/main">
            <a:endParaRPr/>
          </a:p>
        </p:txBody>
      </p:sp>
      <p:sp>
        <p:nvSpPr>
          <p:cNvPr id="10" name="">
            <a:extLst xmlns:a="http://schemas.openxmlformats.org/drawingml/2006/main">
              <a:ext uri="{FF2B5EF4-FFF2-40B4-BE49-F238E27FC236}">
                <a16:creationId xmlns:a16="http://schemas.microsoft.com/office/drawing/2014/main" id="{BE6AE846-D7C3-4110-9EC4-6A3F7C93EA95}"/>
              </a:ext>
            </a:extLst>
          </p:cNvPr>
          <p:cNvSpPr>
            <a:spLocks xmlns:a="http://schemas.openxmlformats.org/drawingml/2006/main" noGrp="1"/>
          </p:cNvSpPr>
          <p:nvPr/>
        </p:nvSpPr>
        <p:spPr>
          <a:xfrm xmlns:a="http://schemas.openxmlformats.org/drawingml/2006/main">
            <a:off x="1028700" y="156210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950" b="0">
                <a:solidFill>
                  <a:srgbClr val="53657B"/>
                </a:solidFill>
                <a:latin typeface="프리텐다드"/>
                <a:ea typeface="프리텐다드"/>
                <a:cs typeface="프리텐다드"/>
              </a:defRPr>
            </a:pPr>
            <a:r>
              <a:rPr sz="1950" b="0">
                <a:solidFill>
                  <a:srgbClr val="53657B"/>
                </a:solidFill>
                <a:latin typeface="프리텐다드"/>
                <a:ea typeface="프리텐다드"/>
                <a:cs typeface="프리텐다드"/>
              </a:rPr>
              <a:t>CAPSTONE MVP  ·  TECHNICAL REVIEW</a:t>
            </a:r>
          </a:p>
        </p:txBody>
      </p:sp>
      <p:sp>
        <p:nvSpPr>
          <p:cNvPr id="11" name="">
            <a:extLst xmlns:a="http://schemas.openxmlformats.org/drawingml/2006/main">
              <a:ext uri="{FF2B5EF4-FFF2-40B4-BE49-F238E27FC236}">
                <a16:creationId xmlns:a16="http://schemas.microsoft.com/office/drawing/2014/main" id="{8F1EDA39-F932-4928-935A-FA03FB644847}"/>
              </a:ext>
            </a:extLst>
          </p:cNvPr>
          <p:cNvSpPr>
            <a:spLocks xmlns:a="http://schemas.openxmlformats.org/drawingml/2006/main" noGrp="1"/>
          </p:cNvSpPr>
          <p:nvPr/>
        </p:nvSpPr>
        <p:spPr>
          <a:xfrm xmlns:a="http://schemas.openxmlformats.org/drawingml/2006/main">
            <a:off x="1028700" y="2114550"/>
            <a:ext cx="7620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0909"/>
          </a:bodyPr>
          <a:lstStyle xmlns:a="http://schemas.openxmlformats.org/drawingml/2006/main"/>
          <a:p xmlns:a="http://schemas.openxmlformats.org/drawingml/2006/main">
            <a:pPr algn="l">
              <a:defRPr sz="6600" b="1">
                <a:solidFill>
                  <a:srgbClr val="2F68B5"/>
                </a:solidFill>
                <a:latin typeface="프리텐다드"/>
                <a:ea typeface="프리텐다드"/>
                <a:cs typeface="프리텐다드"/>
              </a:defRPr>
            </a:pPr>
            <a:r>
              <a:rPr sz="6600" b="1">
                <a:solidFill>
                  <a:srgbClr val="2F68B5"/>
                </a:solidFill>
                <a:latin typeface="프리텐다드"/>
                <a:ea typeface="프리텐다드"/>
                <a:cs typeface="프리텐다드"/>
              </a:rPr>
              <a:t>mediQ</a:t>
            </a:r>
          </a:p>
        </p:txBody>
      </p:sp>
      <p:sp>
        <p:nvSpPr>
          <p:cNvPr id="12" name="">
            <a:extLst xmlns:a="http://schemas.openxmlformats.org/drawingml/2006/main">
              <a:ext uri="{FF2B5EF4-FFF2-40B4-BE49-F238E27FC236}">
                <a16:creationId xmlns:a16="http://schemas.microsoft.com/office/drawing/2014/main" id="{AE8F352F-8F9C-4D85-A14F-FC7340890F1F}"/>
              </a:ext>
            </a:extLst>
          </p:cNvPr>
          <p:cNvSpPr>
            <a:spLocks xmlns:a="http://schemas.openxmlformats.org/drawingml/2006/main" noGrp="1"/>
          </p:cNvSpPr>
          <p:nvPr/>
        </p:nvSpPr>
        <p:spPr>
          <a:xfrm xmlns:a="http://schemas.openxmlformats.org/drawingml/2006/main">
            <a:off x="1028700" y="3314700"/>
            <a:ext cx="11906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6150" b="1">
                <a:solidFill>
                  <a:srgbClr val="17263A"/>
                </a:solidFill>
                <a:latin typeface="프리텐다드"/>
                <a:ea typeface="프리텐다드"/>
                <a:cs typeface="프리텐다드"/>
              </a:defRPr>
            </a:pPr>
            <a:r>
              <a:rPr sz="6150" b="1">
                <a:solidFill>
                  <a:srgbClr val="17263A"/>
                </a:solidFill>
                <a:latin typeface="프리텐다드"/>
                <a:ea typeface="프리텐다드"/>
                <a:cs typeface="프리텐다드"/>
              </a:rPr>
              <a:t>환자 동의 기반</a:t>
            </a:r>
          </a:p>
          <a:p xmlns:a="http://schemas.openxmlformats.org/drawingml/2006/main">
            <a:pPr algn="l">
              <a:defRPr sz="6150" b="1">
                <a:solidFill>
                  <a:srgbClr val="17263A"/>
                </a:solidFill>
                <a:latin typeface="프리텐다드"/>
                <a:ea typeface="프리텐다드"/>
                <a:cs typeface="프리텐다드"/>
              </a:defRPr>
            </a:pPr>
            <a:r>
              <a:rPr sz="6150" b="1">
                <a:solidFill>
                  <a:srgbClr val="17263A"/>
                </a:solidFill>
                <a:latin typeface="프리텐다드"/>
                <a:ea typeface="프리텐다드"/>
                <a:cs typeface="프리텐다드"/>
              </a:rPr>
              <a:t>영상 교류</a:t>
            </a:r>
          </a:p>
        </p:txBody>
      </p:sp>
      <p:sp>
        <p:nvSpPr>
          <p:cNvPr id="13" name="">
            <a:extLst xmlns:a="http://schemas.openxmlformats.org/drawingml/2006/main">
              <a:ext uri="{FF2B5EF4-FFF2-40B4-BE49-F238E27FC236}">
                <a16:creationId xmlns:a16="http://schemas.microsoft.com/office/drawing/2014/main" id="{FBE12640-2A3D-426A-8AEB-E13DBF2AFB8E}"/>
              </a:ext>
            </a:extLst>
          </p:cNvPr>
          <p:cNvSpPr>
            <a:spLocks xmlns:a="http://schemas.openxmlformats.org/drawingml/2006/main" noGrp="1"/>
          </p:cNvSpPr>
          <p:nvPr/>
        </p:nvSpPr>
        <p:spPr>
          <a:xfrm xmlns:a="http://schemas.openxmlformats.org/drawingml/2006/main">
            <a:off x="1028700" y="5657850"/>
            <a:ext cx="1190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2100" b="0">
                <a:solidFill>
                  <a:srgbClr val="53657B"/>
                </a:solidFill>
                <a:latin typeface="프리텐다드"/>
                <a:ea typeface="프리텐다드"/>
                <a:cs typeface="프리텐다드"/>
              </a:defRPr>
            </a:pPr>
            <a:r>
              <a:rPr sz="2100" b="0">
                <a:solidFill>
                  <a:srgbClr val="53657B"/>
                </a:solidFill>
                <a:latin typeface="프리텐다드"/>
                <a:ea typeface="프리텐다드"/>
                <a:cs typeface="프리텐다드"/>
              </a:rPr>
              <a:t>합성 데이터 기반 기술 PoC  ·  2026.10.14 중간 발표</a:t>
            </a:r>
          </a:p>
        </p:txBody>
      </p:sp>
      <p:sp>
        <p:nvSpPr>
          <p:cNvPr id="14" name="">
            <a:extLst xmlns:a="http://schemas.openxmlformats.org/drawingml/2006/main">
              <a:ext uri="{FF2B5EF4-FFF2-40B4-BE49-F238E27FC236}">
                <a16:creationId xmlns:a16="http://schemas.microsoft.com/office/drawing/2014/main" id="{AEA240E2-A687-4D07-A47B-36B13D37CB4A}"/>
              </a:ext>
            </a:extLst>
          </p:cNvPr>
          <p:cNvSpPr>
            <a:spLocks xmlns:a="http://schemas.openxmlformats.org/drawingml/2006/main" noGrp="1"/>
          </p:cNvSpPr>
          <p:nvPr/>
        </p:nvSpPr>
        <p:spPr>
          <a:xfrm xmlns:a="http://schemas.openxmlformats.org/drawingml/2006/main">
            <a:off x="1485900" y="771525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00" b="0">
                <a:solidFill>
                  <a:srgbClr val="FFFFFF"/>
                </a:solidFill>
                <a:latin typeface="프리텐다드"/>
                <a:ea typeface="프리텐다드"/>
                <a:cs typeface="프리텐다드"/>
              </a:defRPr>
            </a:pPr>
            <a:r>
              <a:rPr sz="1500" b="0">
                <a:solidFill>
                  <a:srgbClr val="FFFFFF"/>
                </a:solidFill>
                <a:latin typeface="프리텐다드"/>
                <a:ea typeface="프리텐다드"/>
                <a:cs typeface="프리텐다드"/>
              </a:rPr>
              <a:t>시연 웹</a:t>
            </a:r>
          </a:p>
        </p:txBody>
      </p:sp>
      <p:sp>
        <p:nvSpPr>
          <p:cNvPr id="15" name="">
            <a:extLst xmlns:a="http://schemas.openxmlformats.org/drawingml/2006/main">
              <a:ext uri="{FF2B5EF4-FFF2-40B4-BE49-F238E27FC236}">
                <a16:creationId xmlns:a16="http://schemas.microsoft.com/office/drawing/2014/main" id="{56A2DF66-0772-4595-8C6B-FBD601553F60}"/>
              </a:ext>
            </a:extLst>
          </p:cNvPr>
          <p:cNvSpPr>
            <a:spLocks xmlns:a="http://schemas.openxmlformats.org/drawingml/2006/main" noGrp="1"/>
          </p:cNvSpPr>
          <p:nvPr/>
        </p:nvSpPr>
        <p:spPr>
          <a:xfrm xmlns:a="http://schemas.openxmlformats.org/drawingml/2006/main">
            <a:off x="2524125" y="7715250"/>
            <a:ext cx="1190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00" b="0">
                <a:solidFill>
                  <a:srgbClr val="FFFFFF"/>
                </a:solidFill>
                <a:latin typeface="프리텐다드"/>
                <a:ea typeface="프리텐다드"/>
                <a:cs typeface="프리텐다드"/>
              </a:defRPr>
            </a:pPr>
            <a:r>
              <a:rPr sz="1500" b="0">
                <a:solidFill>
                  <a:srgbClr val="FFFFFF"/>
                </a:solidFill>
                <a:latin typeface="프리텐다드"/>
                <a:ea typeface="프리텐다드"/>
                <a:cs typeface="프리텐다드"/>
              </a:rPr>
              <a:t>https://highpass-demo.japaneast.cloudapp.azure.com/</a:t>
            </a:r>
          </a:p>
        </p:txBody>
      </p:sp>
      <p:sp>
        <p:nvSpPr>
          <p:cNvPr id="16" name="">
            <a:extLst xmlns:a="http://schemas.openxmlformats.org/drawingml/2006/main">
              <a:ext uri="{FF2B5EF4-FFF2-40B4-BE49-F238E27FC236}">
                <a16:creationId xmlns:a16="http://schemas.microsoft.com/office/drawing/2014/main" id="{DFF1E8B0-F7B9-45D5-8263-4193E1C4C859}"/>
              </a:ext>
            </a:extLst>
          </p:cNvPr>
          <p:cNvSpPr>
            <a:spLocks xmlns:a="http://schemas.openxmlformats.org/drawingml/2006/main" noGrp="1"/>
          </p:cNvSpPr>
          <p:nvPr/>
        </p:nvSpPr>
        <p:spPr>
          <a:xfrm xmlns:a="http://schemas.openxmlformats.org/drawingml/2006/main">
            <a:off x="1485900" y="824865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00" b="0">
                <a:solidFill>
                  <a:srgbClr val="FFFFFF"/>
                </a:solidFill>
                <a:latin typeface="프리텐다드"/>
                <a:ea typeface="프리텐다드"/>
                <a:cs typeface="프리텐다드"/>
              </a:defRPr>
            </a:pPr>
            <a:r>
              <a:rPr sz="1500" b="0">
                <a:solidFill>
                  <a:srgbClr val="FFFFFF"/>
                </a:solidFill>
                <a:latin typeface="프리텐다드"/>
                <a:ea typeface="프리텐다드"/>
                <a:cs typeface="프리텐다드"/>
              </a:rPr>
              <a:t>발표자</a:t>
            </a:r>
          </a:p>
        </p:txBody>
      </p:sp>
      <p:sp>
        <p:nvSpPr>
          <p:cNvPr id="17" name="">
            <a:extLst xmlns:a="http://schemas.openxmlformats.org/drawingml/2006/main">
              <a:ext uri="{FF2B5EF4-FFF2-40B4-BE49-F238E27FC236}">
                <a16:creationId xmlns:a16="http://schemas.microsoft.com/office/drawing/2014/main" id="{069402F1-A31A-4F4F-A9B3-EFD01098962A}"/>
              </a:ext>
            </a:extLst>
          </p:cNvPr>
          <p:cNvSpPr>
            <a:spLocks xmlns:a="http://schemas.openxmlformats.org/drawingml/2006/main" noGrp="1"/>
          </p:cNvSpPr>
          <p:nvPr/>
        </p:nvSpPr>
        <p:spPr>
          <a:xfrm xmlns:a="http://schemas.openxmlformats.org/drawingml/2006/main">
            <a:off x="2524125" y="824865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00" b="0">
                <a:solidFill>
                  <a:srgbClr val="FFFFFF"/>
                </a:solidFill>
                <a:latin typeface="프리텐다드"/>
                <a:ea typeface="프리텐다드"/>
                <a:cs typeface="프리텐다드"/>
              </a:defRPr>
            </a:pPr>
            <a:r>
              <a:rPr sz="1500" b="0">
                <a:solidFill>
                  <a:srgbClr val="FFFFFF"/>
                </a:solidFill>
                <a:latin typeface="프리텐다드"/>
                <a:ea typeface="프리텐다드"/>
                <a:cs typeface="프리텐다드"/>
              </a:rPr>
              <a:t>하이패스 프로젝트팀</a:t>
            </a:r>
          </a:p>
        </p:txBody>
      </p:sp>
      <p:sp>
        <p:nvSpPr>
          <p:cNvPr id="18" name="">
            <a:extLst xmlns:a="http://schemas.openxmlformats.org/drawingml/2006/main">
              <a:ext uri="{FF2B5EF4-FFF2-40B4-BE49-F238E27FC236}">
                <a16:creationId xmlns:a16="http://schemas.microsoft.com/office/drawing/2014/main" id="{C59C4702-1C69-408D-A3BD-FD4819AB89BD}"/>
              </a:ext>
            </a:extLst>
          </p:cNvPr>
          <p:cNvSpPr>
            <a:spLocks xmlns:a="http://schemas.openxmlformats.org/drawingml/2006/main" noGrp="1"/>
          </p:cNvSpPr>
          <p:nvPr/>
        </p:nvSpPr>
        <p:spPr>
          <a:xfrm xmlns:a="http://schemas.openxmlformats.org/drawingml/2006/main">
            <a:off x="1485900" y="8782050"/>
            <a:ext cx="914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00" b="0">
                <a:solidFill>
                  <a:srgbClr val="FFFFFF"/>
                </a:solidFill>
                <a:latin typeface="프리텐다드"/>
                <a:ea typeface="프리텐다드"/>
                <a:cs typeface="프리텐다드"/>
              </a:defRPr>
            </a:pPr>
            <a:r>
              <a:rPr sz="1500" b="0">
                <a:solidFill>
                  <a:srgbClr val="FFFFFF"/>
                </a:solidFill>
                <a:latin typeface="프리텐다드"/>
                <a:ea typeface="프리텐다드"/>
                <a:cs typeface="프리텐다드"/>
              </a:rPr>
              <a:t>데이터</a:t>
            </a:r>
          </a:p>
        </p:txBody>
      </p:sp>
      <p:sp>
        <p:nvSpPr>
          <p:cNvPr id="19" name="">
            <a:extLst xmlns:a="http://schemas.openxmlformats.org/drawingml/2006/main">
              <a:ext uri="{FF2B5EF4-FFF2-40B4-BE49-F238E27FC236}">
                <a16:creationId xmlns:a16="http://schemas.microsoft.com/office/drawing/2014/main" id="{F2517C19-014F-4BEF-ADF9-331A91097294}"/>
              </a:ext>
            </a:extLst>
          </p:cNvPr>
          <p:cNvSpPr>
            <a:spLocks xmlns:a="http://schemas.openxmlformats.org/drawingml/2006/main" noGrp="1"/>
          </p:cNvSpPr>
          <p:nvPr/>
        </p:nvSpPr>
        <p:spPr>
          <a:xfrm xmlns:a="http://schemas.openxmlformats.org/drawingml/2006/main">
            <a:off x="2524125" y="8782050"/>
            <a:ext cx="714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00" b="0">
                <a:solidFill>
                  <a:srgbClr val="FFFFFF"/>
                </a:solidFill>
                <a:latin typeface="프리텐다드"/>
                <a:ea typeface="프리텐다드"/>
                <a:cs typeface="프리텐다드"/>
              </a:defRPr>
            </a:pPr>
            <a:r>
              <a:rPr sz="1500" b="0">
                <a:solidFill>
                  <a:srgbClr val="FFFFFF"/>
                </a:solidFill>
                <a:latin typeface="프리텐다드"/>
                <a:ea typeface="프리텐다드"/>
                <a:cs typeface="프리텐다드"/>
              </a:rPr>
              <a:t>합성 · 비임상 시연</a:t>
            </a:r>
          </a:p>
        </p:txBody>
      </p:sp>
    </p:spTree>
    <p:extLst>
      <p:ext uri="{BB962C8B-B14F-4D97-AF65-F5344CB8AC3E}">
        <p14:creationId xmlns:p14="http://schemas.microsoft.com/office/powerpoint/2010/main" val="1980925101"/>
      </p:ext>
    </p:extLst>
  </p:cSld>
</p:sld>
</file>

<file path=ppt/slides/slide2.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C2120B5D-E377-461D-A3DC-F7D17AD16002}"/>
              </a:ext>
            </a:extLst>
          </p:cNvPr>
          <p:cNvSpPr>
            <a:spLocks xmlns:a="http://schemas.openxmlformats.org/drawingml/2006/main" noGrp="1"/>
          </p:cNvSpPr>
          <p:nvPr/>
        </p:nvSpPr>
        <p:spPr>
          <a:xfrm xmlns:a="http://schemas.openxmlformats.org/drawingml/2006/main" rot="0" flipH="0" flipV="0">
            <a:off x="-162858" y="-107527"/>
            <a:ext cx="5983252" cy="2953200"/>
          </a:xfrm>
          <a:custGeom xmlns:a="http://schemas.openxmlformats.org/drawingml/2006/main">
            <a:rect l="l" t="t" r="r" b="b"/>
            <a:pathLst>
              <a:path w="1575836" h="777797">
                <a:moveTo>
                  <a:pt x="0" y="0"/>
                </a:moveTo>
                <a:lnTo>
                  <a:pt x="1575836" y="0"/>
                </a:lnTo>
                <a:lnTo>
                  <a:pt x="1575836" y="777797"/>
                </a:lnTo>
                <a:lnTo>
                  <a:pt x="0" y="777797"/>
                </a:lnTo>
                <a:close/>
              </a:path>
            </a:pathLst>
          </a:custGeom>
          <a:solidFill xmlns:a="http://schemas.openxmlformats.org/drawingml/2006/main">
            <a:srgbClr val="E9E9E9"/>
          </a:solidFill>
          <a:ln xmlns:a="http://schemas.openxmlformats.org/drawingml/2006/main">
            <a:noFill/>
            <a:prstDash val="solid"/>
          </a:ln>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A59FCB92-38EB-45E0-AB05-DD3C8CB09326}"/>
              </a:ext>
            </a:extLst>
          </p:cNvPr>
          <p:cNvSpPr>
            <a:spLocks xmlns:a="http://schemas.openxmlformats.org/drawingml/2006/main" noGrp="1"/>
          </p:cNvSpPr>
          <p:nvPr/>
        </p:nvSpPr>
        <p:spPr>
          <a:xfrm xmlns:a="http://schemas.openxmlformats.org/drawingml/2006/main" rot="0" flipH="0" flipV="0">
            <a:off x="-162858" y="-288353"/>
            <a:ext cx="5983252" cy="3134026"/>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56"/>
              </a:lnSpc>
              <a:buNone/>
            </a:pPr>
            <a:endParaRPr/>
          </a:p>
        </p:txBody>
      </p:sp>
      <p:sp>
        <p:nvSpPr>
          <p:cNvPr id="6" name="Freeform 6">
            <a:extLst xmlns:a="http://schemas.openxmlformats.org/drawingml/2006/main">
              <a:ext uri="{FF2B5EF4-FFF2-40B4-BE49-F238E27FC236}">
                <a16:creationId xmlns:a16="http://schemas.microsoft.com/office/drawing/2014/main" id="{0DAA0E0E-277F-43C9-B520-169B2830A6D9}"/>
              </a:ext>
            </a:extLst>
          </p:cNvPr>
          <p:cNvSpPr>
            <a:spLocks xmlns:a="http://schemas.openxmlformats.org/drawingml/2006/main" noGrp="1"/>
          </p:cNvSpPr>
          <p:nvPr/>
        </p:nvSpPr>
        <p:spPr>
          <a:xfrm xmlns:a="http://schemas.openxmlformats.org/drawingml/2006/main" rot="0" flipH="0" flipV="0">
            <a:off x="1028700" y="1405377"/>
            <a:ext cx="132273" cy="814512"/>
          </a:xfrm>
          <a:custGeom xmlns:a="http://schemas.openxmlformats.org/drawingml/2006/main">
            <a:rect l="l" t="t" r="r" b="b"/>
            <a:pathLst>
              <a:path w="40474" h="249233">
                <a:moveTo>
                  <a:pt x="0" y="0"/>
                </a:moveTo>
                <a:lnTo>
                  <a:pt x="40474" y="0"/>
                </a:lnTo>
                <a:lnTo>
                  <a:pt x="40474" y="249233"/>
                </a:lnTo>
                <a:lnTo>
                  <a:pt x="0" y="249233"/>
                </a:lnTo>
                <a:close/>
              </a:path>
            </a:pathLst>
          </a:custGeom>
          <a:solidFill xmlns:a="http://schemas.openxmlformats.org/drawingml/2006/main">
            <a:srgbClr val="2A59C5"/>
          </a:solidFill>
        </p:spPr>
        <p:txBody>
          <a:bodyPr xmlns:a="http://schemas.openxmlformats.org/drawingml/2006/main"/>
          <a:lstStyle xmlns:a="http://schemas.openxmlformats.org/drawingml/2006/main"/>
          <a:p xmlns:a="http://schemas.openxmlformats.org/drawingml/2006/main">
            <a:endParaRPr/>
          </a:p>
        </p:txBody>
      </p:sp>
      <p:sp>
        <p:nvSpPr>
          <p:cNvPr id="7" name="TextBox 7">
            <a:extLst xmlns:a="http://schemas.openxmlformats.org/drawingml/2006/main">
              <a:ext uri="{FF2B5EF4-FFF2-40B4-BE49-F238E27FC236}">
                <a16:creationId xmlns:a16="http://schemas.microsoft.com/office/drawing/2014/main" id="{62B3A127-389C-4AAC-9A52-99539841DC61}"/>
              </a:ext>
            </a:extLst>
          </p:cNvPr>
          <p:cNvSpPr>
            <a:spLocks xmlns:a="http://schemas.openxmlformats.org/drawingml/2006/main" noGrp="1"/>
          </p:cNvSpPr>
          <p:nvPr/>
        </p:nvSpPr>
        <p:spPr>
          <a:xfrm xmlns:a="http://schemas.openxmlformats.org/drawingml/2006/main" rot="0" flipH="0" flipV="0">
            <a:off x="1028700" y="1280864"/>
            <a:ext cx="132273" cy="939025"/>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2520"/>
              </a:lnSpc>
              <a:buNone/>
            </a:pPr>
            <a:endParaRPr/>
          </a:p>
        </p:txBody>
      </p:sp>
      <p:sp>
        <p:nvSpPr>
          <p:cNvPr id="12" name="TextBox 12">
            <a:extLst xmlns:a="http://schemas.openxmlformats.org/drawingml/2006/main">
              <a:ext uri="{FF2B5EF4-FFF2-40B4-BE49-F238E27FC236}">
                <a16:creationId xmlns:a16="http://schemas.microsoft.com/office/drawing/2014/main" id="{79E0A9CC-00B3-4EEA-8ED2-C503D4AF04F5}"/>
              </a:ext>
            </a:extLst>
          </p:cNvPr>
          <p:cNvSpPr>
            <a:spLocks xmlns:a="http://schemas.openxmlformats.org/drawingml/2006/main" noGrp="1"/>
          </p:cNvSpPr>
          <p:nvPr/>
        </p:nvSpPr>
        <p:spPr>
          <a:xfrm xmlns:a="http://schemas.openxmlformats.org/drawingml/2006/main">
            <a:off x="1393273" y="1253961"/>
            <a:ext cx="3894213" cy="1013333"/>
          </a:xfrm>
          <a:prstGeom xmlns:a="http://schemas.openxmlformats.org/drawingml/2006/main" prst="rect">
            <a:avLst/>
          </a:prstGeom>
        </p:spPr>
        <p:txBody>
          <a:bodyPr xmlns:a="http://schemas.openxmlformats.org/drawingml/2006/main" lIns="0" tIns="0" rIns="0" bIns="0" anchor="t">
            <a:spAutoFit/>
          </a:bodyPr>
          <a:lstStyle xmlns:a="http://schemas.openxmlformats.org/drawingml/2006/main"/>
          <a:p xmlns:a="http://schemas.openxmlformats.org/drawingml/2006/main">
            <a:pPr marL="0" lvl="0" indent="0" algn="l">
              <a:lnSpc>
                <a:spcPts val="7979"/>
              </a:lnSpc>
              <a:spcBef>
                <a:spcPct val="0"/>
              </a:spcBef>
              <a:buNone/>
            </a:pPr>
            <a:r>
              <a:rPr sz="5699" b="1" u="none">
                <a:solidFill>
                  <a:srgbClr val="282828"/>
                </a:solidFill>
                <a:latin typeface="프리텐다드 Bold"/>
                <a:ea typeface="프리텐다드 Bold"/>
                <a:cs typeface="프리텐다드 Bold"/>
              </a:rPr>
              <a:t>발표의 여정</a:t>
            </a:r>
          </a:p>
        </p:txBody>
      </p:sp>
      <p:sp>
        <p:nvSpPr>
          <p:cNvPr id="13" name="">
            <a:extLst xmlns:a="http://schemas.openxmlformats.org/drawingml/2006/main">
              <a:ext uri="{FF2B5EF4-FFF2-40B4-BE49-F238E27FC236}">
                <a16:creationId xmlns:a16="http://schemas.microsoft.com/office/drawing/2014/main" id="{950D1393-3FF0-4C92-8BD1-766DF746A301}"/>
              </a:ext>
            </a:extLst>
          </p:cNvPr>
          <p:cNvSpPr>
            <a:spLocks xmlns:a="http://schemas.openxmlformats.org/drawingml/2006/main" noGrp="1"/>
          </p:cNvSpPr>
          <p:nvPr/>
        </p:nvSpPr>
        <p:spPr>
          <a:xfrm xmlns:a="http://schemas.openxmlformats.org/drawingml/2006/main">
            <a:off x="1028700" y="3105150"/>
            <a:ext cx="7924800" cy="1600200"/>
          </a:xfrm>
          <a:prstGeom xmlns:a="http://schemas.openxmlformats.org/drawingml/2006/main" prst="roundRect">
            <a:avLst>
              <a:gd name="adj" fmla="val 13095"/>
            </a:avLst>
          </a:prstGeom>
          <a:solidFill xmlns:a="http://schemas.openxmlformats.org/drawingml/2006/main">
            <a:srgbClr val="FFFFFF"/>
          </a:solidFill>
          <a:ln xmlns:a="http://schemas.openxmlformats.org/drawingml/2006/main" w="14288">
            <a:solidFill>
              <a:srgbClr val="D8E0E9"/>
            </a:solidFill>
            <a:prstDash val="solid"/>
          </a:ln>
        </p:spPr>
      </p:sp>
      <p:sp>
        <p:nvSpPr>
          <p:cNvPr id="14" name="">
            <a:extLst xmlns:a="http://schemas.openxmlformats.org/drawingml/2006/main">
              <a:ext uri="{FF2B5EF4-FFF2-40B4-BE49-F238E27FC236}">
                <a16:creationId xmlns:a16="http://schemas.microsoft.com/office/drawing/2014/main" id="{A9087B52-06DC-46B4-8E7F-3F56F41F3534}"/>
              </a:ext>
            </a:extLst>
          </p:cNvPr>
          <p:cNvSpPr>
            <a:spLocks xmlns:a="http://schemas.openxmlformats.org/drawingml/2006/main" noGrp="1"/>
          </p:cNvSpPr>
          <p:nvPr/>
        </p:nvSpPr>
        <p:spPr>
          <a:xfrm xmlns:a="http://schemas.openxmlformats.org/drawingml/2006/main">
            <a:off x="1257300" y="3352800"/>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5BBA34-CD59-441C-9DF4-7B02D54A615E}"/>
              </a:ext>
            </a:extLst>
          </p:cNvPr>
          <p:cNvSpPr>
            <a:spLocks xmlns:a="http://schemas.openxmlformats.org/drawingml/2006/main" noGrp="1"/>
          </p:cNvSpPr>
          <p:nvPr/>
        </p:nvSpPr>
        <p:spPr>
          <a:xfrm xmlns:a="http://schemas.openxmlformats.org/drawingml/2006/main">
            <a:off x="1314450" y="336232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01</a:t>
            </a:r>
          </a:p>
        </p:txBody>
      </p:sp>
      <p:sp>
        <p:nvSpPr>
          <p:cNvPr id="16" name="">
            <a:extLst xmlns:a="http://schemas.openxmlformats.org/drawingml/2006/main">
              <a:ext uri="{FF2B5EF4-FFF2-40B4-BE49-F238E27FC236}">
                <a16:creationId xmlns:a16="http://schemas.microsoft.com/office/drawing/2014/main" id="{8BE0818C-0AF8-472B-92B9-9CD6F674650D}"/>
              </a:ext>
            </a:extLst>
          </p:cNvPr>
          <p:cNvSpPr>
            <a:spLocks xmlns:a="http://schemas.openxmlformats.org/drawingml/2006/main" noGrp="1"/>
          </p:cNvSpPr>
          <p:nvPr/>
        </p:nvSpPr>
        <p:spPr>
          <a:xfrm xmlns:a="http://schemas.openxmlformats.org/drawingml/2006/main">
            <a:off x="2209800" y="3333750"/>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550" b="1">
                <a:solidFill>
                  <a:srgbClr val="17263A"/>
                </a:solidFill>
                <a:latin typeface="프리텐다드"/>
                <a:ea typeface="프리텐다드"/>
                <a:cs typeface="프리텐다드"/>
              </a:defRPr>
            </a:pPr>
            <a:r>
              <a:rPr sz="2550" b="1">
                <a:solidFill>
                  <a:srgbClr val="17263A"/>
                </a:solidFill>
                <a:latin typeface="프리텐다드"/>
                <a:ea typeface="프리텐다드"/>
                <a:cs typeface="프리텐다드"/>
              </a:rPr>
              <a:t>문제</a:t>
            </a:r>
          </a:p>
        </p:txBody>
      </p:sp>
      <p:sp>
        <p:nvSpPr>
          <p:cNvPr id="17" name="">
            <a:extLst xmlns:a="http://schemas.openxmlformats.org/drawingml/2006/main">
              <a:ext uri="{FF2B5EF4-FFF2-40B4-BE49-F238E27FC236}">
                <a16:creationId xmlns:a16="http://schemas.microsoft.com/office/drawing/2014/main" id="{BFC9D1FD-2F25-45B7-88D9-1883A9E8A45F}"/>
              </a:ext>
            </a:extLst>
          </p:cNvPr>
          <p:cNvSpPr>
            <a:spLocks xmlns:a="http://schemas.openxmlformats.org/drawingml/2006/main" noGrp="1"/>
          </p:cNvSpPr>
          <p:nvPr/>
        </p:nvSpPr>
        <p:spPr>
          <a:xfrm xmlns:a="http://schemas.openxmlformats.org/drawingml/2006/main">
            <a:off x="2209800" y="3905250"/>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CD 이동보다 어려운 것은 승인된 열람</a:t>
            </a:r>
          </a:p>
        </p:txBody>
      </p:sp>
      <p:sp>
        <p:nvSpPr>
          <p:cNvPr id="18" name="">
            <a:extLst xmlns:a="http://schemas.openxmlformats.org/drawingml/2006/main">
              <a:ext uri="{FF2B5EF4-FFF2-40B4-BE49-F238E27FC236}">
                <a16:creationId xmlns:a16="http://schemas.microsoft.com/office/drawing/2014/main" id="{8DA5EEB6-DFE3-4B76-BA2B-234B5E81992C}"/>
              </a:ext>
            </a:extLst>
          </p:cNvPr>
          <p:cNvSpPr>
            <a:spLocks xmlns:a="http://schemas.openxmlformats.org/drawingml/2006/main" noGrp="1"/>
          </p:cNvSpPr>
          <p:nvPr/>
        </p:nvSpPr>
        <p:spPr>
          <a:xfrm xmlns:a="http://schemas.openxmlformats.org/drawingml/2006/main">
            <a:off x="1028700" y="5057775"/>
            <a:ext cx="7924800" cy="1600200"/>
          </a:xfrm>
          <a:prstGeom xmlns:a="http://schemas.openxmlformats.org/drawingml/2006/main" prst="roundRect">
            <a:avLst>
              <a:gd name="adj" fmla="val 13095"/>
            </a:avLst>
          </a:prstGeom>
          <a:solidFill xmlns:a="http://schemas.openxmlformats.org/drawingml/2006/main">
            <a:srgbClr val="FFFFFF"/>
          </a:solidFill>
          <a:ln xmlns:a="http://schemas.openxmlformats.org/drawingml/2006/main" w="14288">
            <a:solidFill>
              <a:srgbClr val="D8E0E9"/>
            </a:solidFill>
            <a:prstDash val="solid"/>
          </a:ln>
        </p:spPr>
      </p:sp>
      <p:sp>
        <p:nvSpPr>
          <p:cNvPr id="19" name="">
            <a:extLst xmlns:a="http://schemas.openxmlformats.org/drawingml/2006/main">
              <a:ext uri="{FF2B5EF4-FFF2-40B4-BE49-F238E27FC236}">
                <a16:creationId xmlns:a16="http://schemas.microsoft.com/office/drawing/2014/main" id="{53FF045D-9203-450A-AC4C-EF7B4F8AE749}"/>
              </a:ext>
            </a:extLst>
          </p:cNvPr>
          <p:cNvSpPr>
            <a:spLocks xmlns:a="http://schemas.openxmlformats.org/drawingml/2006/main" noGrp="1"/>
          </p:cNvSpPr>
          <p:nvPr/>
        </p:nvSpPr>
        <p:spPr>
          <a:xfrm xmlns:a="http://schemas.openxmlformats.org/drawingml/2006/main">
            <a:off x="1257300" y="5305425"/>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0E1E453-9051-46EC-A254-9C36C8CA0658}"/>
              </a:ext>
            </a:extLst>
          </p:cNvPr>
          <p:cNvSpPr>
            <a:spLocks xmlns:a="http://schemas.openxmlformats.org/drawingml/2006/main" noGrp="1"/>
          </p:cNvSpPr>
          <p:nvPr/>
        </p:nvSpPr>
        <p:spPr>
          <a:xfrm xmlns:a="http://schemas.openxmlformats.org/drawingml/2006/main">
            <a:off x="1314450" y="5314950"/>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02</a:t>
            </a:r>
          </a:p>
        </p:txBody>
      </p:sp>
      <p:sp>
        <p:nvSpPr>
          <p:cNvPr id="21" name="">
            <a:extLst xmlns:a="http://schemas.openxmlformats.org/drawingml/2006/main">
              <a:ext uri="{FF2B5EF4-FFF2-40B4-BE49-F238E27FC236}">
                <a16:creationId xmlns:a16="http://schemas.microsoft.com/office/drawing/2014/main" id="{C74DD481-2850-43F9-A063-A109013F43BF}"/>
              </a:ext>
            </a:extLst>
          </p:cNvPr>
          <p:cNvSpPr>
            <a:spLocks xmlns:a="http://schemas.openxmlformats.org/drawingml/2006/main" noGrp="1"/>
          </p:cNvSpPr>
          <p:nvPr/>
        </p:nvSpPr>
        <p:spPr>
          <a:xfrm xmlns:a="http://schemas.openxmlformats.org/drawingml/2006/main">
            <a:off x="2209800" y="5286375"/>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550" b="1">
                <a:solidFill>
                  <a:srgbClr val="17263A"/>
                </a:solidFill>
                <a:latin typeface="프리텐다드"/>
                <a:ea typeface="프리텐다드"/>
                <a:cs typeface="프리텐다드"/>
              </a:defRPr>
            </a:pPr>
            <a:r>
              <a:rPr sz="2550" b="1">
                <a:solidFill>
                  <a:srgbClr val="17263A"/>
                </a:solidFill>
                <a:latin typeface="프리텐다드"/>
                <a:ea typeface="프리텐다드"/>
                <a:cs typeface="프리텐다드"/>
              </a:rPr>
              <a:t>환자 티켓</a:t>
            </a:r>
          </a:p>
        </p:txBody>
      </p:sp>
      <p:sp>
        <p:nvSpPr>
          <p:cNvPr id="22" name="">
            <a:extLst xmlns:a="http://schemas.openxmlformats.org/drawingml/2006/main">
              <a:ext uri="{FF2B5EF4-FFF2-40B4-BE49-F238E27FC236}">
                <a16:creationId xmlns:a16="http://schemas.microsoft.com/office/drawing/2014/main" id="{E094E5E5-C96E-4A36-9542-2F718ECE7F48}"/>
              </a:ext>
            </a:extLst>
          </p:cNvPr>
          <p:cNvSpPr>
            <a:spLocks xmlns:a="http://schemas.openxmlformats.org/drawingml/2006/main" noGrp="1"/>
          </p:cNvSpPr>
          <p:nvPr/>
        </p:nvSpPr>
        <p:spPr>
          <a:xfrm xmlns:a="http://schemas.openxmlformats.org/drawingml/2006/main">
            <a:off x="2209800" y="5857875"/>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동의가 정하는 대상 · 목적 · 범위</a:t>
            </a:r>
          </a:p>
        </p:txBody>
      </p:sp>
      <p:sp>
        <p:nvSpPr>
          <p:cNvPr id="23" name="">
            <a:extLst xmlns:a="http://schemas.openxmlformats.org/drawingml/2006/main">
              <a:ext uri="{FF2B5EF4-FFF2-40B4-BE49-F238E27FC236}">
                <a16:creationId xmlns:a16="http://schemas.microsoft.com/office/drawing/2014/main" id="{B26E348F-199D-489E-A5A3-986D62343CB7}"/>
              </a:ext>
            </a:extLst>
          </p:cNvPr>
          <p:cNvSpPr>
            <a:spLocks xmlns:a="http://schemas.openxmlformats.org/drawingml/2006/main" noGrp="1"/>
          </p:cNvSpPr>
          <p:nvPr/>
        </p:nvSpPr>
        <p:spPr>
          <a:xfrm xmlns:a="http://schemas.openxmlformats.org/drawingml/2006/main">
            <a:off x="1028700" y="7010400"/>
            <a:ext cx="7924800" cy="1600200"/>
          </a:xfrm>
          <a:prstGeom xmlns:a="http://schemas.openxmlformats.org/drawingml/2006/main" prst="roundRect">
            <a:avLst>
              <a:gd name="adj" fmla="val 13095"/>
            </a:avLst>
          </a:prstGeom>
          <a:solidFill xmlns:a="http://schemas.openxmlformats.org/drawingml/2006/main">
            <a:srgbClr val="FFFFFF"/>
          </a:solidFill>
          <a:ln xmlns:a="http://schemas.openxmlformats.org/drawingml/2006/main" w="14288">
            <a:solidFill>
              <a:srgbClr val="D8E0E9"/>
            </a:solidFill>
            <a:prstDash val="solid"/>
          </a:ln>
        </p:spPr>
      </p:sp>
      <p:sp>
        <p:nvSpPr>
          <p:cNvPr id="24" name="">
            <a:extLst xmlns:a="http://schemas.openxmlformats.org/drawingml/2006/main">
              <a:ext uri="{FF2B5EF4-FFF2-40B4-BE49-F238E27FC236}">
                <a16:creationId xmlns:a16="http://schemas.microsoft.com/office/drawing/2014/main" id="{7C607FBA-1902-4287-80E1-A88208C31049}"/>
              </a:ext>
            </a:extLst>
          </p:cNvPr>
          <p:cNvSpPr>
            <a:spLocks xmlns:a="http://schemas.openxmlformats.org/drawingml/2006/main" noGrp="1"/>
          </p:cNvSpPr>
          <p:nvPr/>
        </p:nvSpPr>
        <p:spPr>
          <a:xfrm xmlns:a="http://schemas.openxmlformats.org/drawingml/2006/main">
            <a:off x="1257300" y="7258050"/>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846C75E-A393-4748-A78E-BAAD2772F2FE}"/>
              </a:ext>
            </a:extLst>
          </p:cNvPr>
          <p:cNvSpPr>
            <a:spLocks xmlns:a="http://schemas.openxmlformats.org/drawingml/2006/main" noGrp="1"/>
          </p:cNvSpPr>
          <p:nvPr/>
        </p:nvSpPr>
        <p:spPr>
          <a:xfrm xmlns:a="http://schemas.openxmlformats.org/drawingml/2006/main">
            <a:off x="1314450" y="726757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03</a:t>
            </a:r>
          </a:p>
        </p:txBody>
      </p:sp>
      <p:sp>
        <p:nvSpPr>
          <p:cNvPr id="26" name="">
            <a:extLst xmlns:a="http://schemas.openxmlformats.org/drawingml/2006/main">
              <a:ext uri="{FF2B5EF4-FFF2-40B4-BE49-F238E27FC236}">
                <a16:creationId xmlns:a16="http://schemas.microsoft.com/office/drawing/2014/main" id="{DA919EF9-F791-4407-9608-A50B81FACB9D}"/>
              </a:ext>
            </a:extLst>
          </p:cNvPr>
          <p:cNvSpPr>
            <a:spLocks xmlns:a="http://schemas.openxmlformats.org/drawingml/2006/main" noGrp="1"/>
          </p:cNvSpPr>
          <p:nvPr/>
        </p:nvSpPr>
        <p:spPr>
          <a:xfrm xmlns:a="http://schemas.openxmlformats.org/drawingml/2006/main">
            <a:off x="2209800" y="7239000"/>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550" b="1">
                <a:solidFill>
                  <a:srgbClr val="17263A"/>
                </a:solidFill>
                <a:latin typeface="프리텐다드"/>
                <a:ea typeface="프리텐다드"/>
                <a:cs typeface="프리텐다드"/>
              </a:defRPr>
            </a:pPr>
            <a:r>
              <a:rPr sz="2550" b="1">
                <a:solidFill>
                  <a:srgbClr val="17263A"/>
                </a:solidFill>
                <a:latin typeface="프리텐다드"/>
                <a:ea typeface="프리텐다드"/>
                <a:cs typeface="프리텐다드"/>
              </a:rPr>
              <a:t>현재 구조</a:t>
            </a:r>
          </a:p>
        </p:txBody>
      </p:sp>
      <p:sp>
        <p:nvSpPr>
          <p:cNvPr id="27" name="">
            <a:extLst xmlns:a="http://schemas.openxmlformats.org/drawingml/2006/main">
              <a:ext uri="{FF2B5EF4-FFF2-40B4-BE49-F238E27FC236}">
                <a16:creationId xmlns:a16="http://schemas.microsoft.com/office/drawing/2014/main" id="{B068C4FF-6792-41AF-ABBC-CBA80E790E40}"/>
              </a:ext>
            </a:extLst>
          </p:cNvPr>
          <p:cNvSpPr>
            <a:spLocks xmlns:a="http://schemas.openxmlformats.org/drawingml/2006/main" noGrp="1"/>
          </p:cNvSpPr>
          <p:nvPr/>
        </p:nvSpPr>
        <p:spPr>
          <a:xfrm xmlns:a="http://schemas.openxmlformats.org/drawingml/2006/main">
            <a:off x="2209800" y="7810500"/>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Control과 병원 Gateway의 경계</a:t>
            </a:r>
          </a:p>
        </p:txBody>
      </p:sp>
      <p:sp>
        <p:nvSpPr>
          <p:cNvPr id="28" name="">
            <a:extLst xmlns:a="http://schemas.openxmlformats.org/drawingml/2006/main">
              <a:ext uri="{FF2B5EF4-FFF2-40B4-BE49-F238E27FC236}">
                <a16:creationId xmlns:a16="http://schemas.microsoft.com/office/drawing/2014/main" id="{2A225EE4-FE6B-4681-AABE-A6D32174F24F}"/>
              </a:ext>
            </a:extLst>
          </p:cNvPr>
          <p:cNvSpPr>
            <a:spLocks xmlns:a="http://schemas.openxmlformats.org/drawingml/2006/main" noGrp="1"/>
          </p:cNvSpPr>
          <p:nvPr/>
        </p:nvSpPr>
        <p:spPr>
          <a:xfrm xmlns:a="http://schemas.openxmlformats.org/drawingml/2006/main">
            <a:off x="9334500" y="3105150"/>
            <a:ext cx="7924800" cy="1600200"/>
          </a:xfrm>
          <a:prstGeom xmlns:a="http://schemas.openxmlformats.org/drawingml/2006/main" prst="roundRect">
            <a:avLst>
              <a:gd name="adj" fmla="val 13095"/>
            </a:avLst>
          </a:prstGeom>
          <a:solidFill xmlns:a="http://schemas.openxmlformats.org/drawingml/2006/main">
            <a:srgbClr val="FFFFFF"/>
          </a:solidFill>
          <a:ln xmlns:a="http://schemas.openxmlformats.org/drawingml/2006/main" w="14288">
            <a:solidFill>
              <a:srgbClr val="D8E0E9"/>
            </a:solidFill>
            <a:prstDash val="solid"/>
          </a:ln>
        </p:spPr>
      </p:sp>
      <p:sp>
        <p:nvSpPr>
          <p:cNvPr id="29" name="">
            <a:extLst xmlns:a="http://schemas.openxmlformats.org/drawingml/2006/main">
              <a:ext uri="{FF2B5EF4-FFF2-40B4-BE49-F238E27FC236}">
                <a16:creationId xmlns:a16="http://schemas.microsoft.com/office/drawing/2014/main" id="{84C2373C-2DF1-478E-BF97-52E51DC26E92}"/>
              </a:ext>
            </a:extLst>
          </p:cNvPr>
          <p:cNvSpPr>
            <a:spLocks xmlns:a="http://schemas.openxmlformats.org/drawingml/2006/main" noGrp="1"/>
          </p:cNvSpPr>
          <p:nvPr/>
        </p:nvSpPr>
        <p:spPr>
          <a:xfrm xmlns:a="http://schemas.openxmlformats.org/drawingml/2006/main">
            <a:off x="9563100" y="3352800"/>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235D9AEC-1E47-43B3-A928-D91F296CC79E}"/>
              </a:ext>
            </a:extLst>
          </p:cNvPr>
          <p:cNvSpPr>
            <a:spLocks xmlns:a="http://schemas.openxmlformats.org/drawingml/2006/main" noGrp="1"/>
          </p:cNvSpPr>
          <p:nvPr/>
        </p:nvSpPr>
        <p:spPr>
          <a:xfrm xmlns:a="http://schemas.openxmlformats.org/drawingml/2006/main">
            <a:off x="9620250" y="336232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04</a:t>
            </a:r>
          </a:p>
        </p:txBody>
      </p:sp>
      <p:sp>
        <p:nvSpPr>
          <p:cNvPr id="31" name="">
            <a:extLst xmlns:a="http://schemas.openxmlformats.org/drawingml/2006/main">
              <a:ext uri="{FF2B5EF4-FFF2-40B4-BE49-F238E27FC236}">
                <a16:creationId xmlns:a16="http://schemas.microsoft.com/office/drawing/2014/main" id="{D949E027-69A3-4EE3-99F9-F7C74250116A}"/>
              </a:ext>
            </a:extLst>
          </p:cNvPr>
          <p:cNvSpPr>
            <a:spLocks xmlns:a="http://schemas.openxmlformats.org/drawingml/2006/main" noGrp="1"/>
          </p:cNvSpPr>
          <p:nvPr/>
        </p:nvSpPr>
        <p:spPr>
          <a:xfrm xmlns:a="http://schemas.openxmlformats.org/drawingml/2006/main">
            <a:off x="10515600" y="3333750"/>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550" b="1">
                <a:solidFill>
                  <a:srgbClr val="17263A"/>
                </a:solidFill>
                <a:latin typeface="프리텐다드"/>
                <a:ea typeface="프리텐다드"/>
                <a:cs typeface="프리텐다드"/>
              </a:defRPr>
            </a:pPr>
            <a:r>
              <a:rPr sz="2550" b="1">
                <a:solidFill>
                  <a:srgbClr val="17263A"/>
                </a:solidFill>
                <a:latin typeface="프리텐다드"/>
                <a:ea typeface="프리텐다드"/>
                <a:cs typeface="프리텐다드"/>
              </a:rPr>
              <a:t>보안 경계</a:t>
            </a:r>
          </a:p>
        </p:txBody>
      </p:sp>
      <p:sp>
        <p:nvSpPr>
          <p:cNvPr id="32" name="">
            <a:extLst xmlns:a="http://schemas.openxmlformats.org/drawingml/2006/main">
              <a:ext uri="{FF2B5EF4-FFF2-40B4-BE49-F238E27FC236}">
                <a16:creationId xmlns:a16="http://schemas.microsoft.com/office/drawing/2014/main" id="{0E76B02D-F8D0-40BD-B98B-EBDD890BE5EC}"/>
              </a:ext>
            </a:extLst>
          </p:cNvPr>
          <p:cNvSpPr>
            <a:spLocks xmlns:a="http://schemas.openxmlformats.org/drawingml/2006/main" noGrp="1"/>
          </p:cNvSpPr>
          <p:nvPr/>
        </p:nvSpPr>
        <p:spPr>
          <a:xfrm xmlns:a="http://schemas.openxmlformats.org/drawingml/2006/main">
            <a:off x="10515600" y="3905250"/>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접근 조건 · 키 · 감사의 증거 수준</a:t>
            </a:r>
          </a:p>
        </p:txBody>
      </p:sp>
      <p:sp>
        <p:nvSpPr>
          <p:cNvPr id="33" name="">
            <a:extLst xmlns:a="http://schemas.openxmlformats.org/drawingml/2006/main">
              <a:ext uri="{FF2B5EF4-FFF2-40B4-BE49-F238E27FC236}">
                <a16:creationId xmlns:a16="http://schemas.microsoft.com/office/drawing/2014/main" id="{A1F5D1D8-9EF7-4A0D-8F34-4BCC8F55CCB1}"/>
              </a:ext>
            </a:extLst>
          </p:cNvPr>
          <p:cNvSpPr>
            <a:spLocks xmlns:a="http://schemas.openxmlformats.org/drawingml/2006/main" noGrp="1"/>
          </p:cNvSpPr>
          <p:nvPr/>
        </p:nvSpPr>
        <p:spPr>
          <a:xfrm xmlns:a="http://schemas.openxmlformats.org/drawingml/2006/main">
            <a:off x="9334500" y="5057775"/>
            <a:ext cx="7924800" cy="1600200"/>
          </a:xfrm>
          <a:prstGeom xmlns:a="http://schemas.openxmlformats.org/drawingml/2006/main" prst="roundRect">
            <a:avLst>
              <a:gd name="adj" fmla="val 13095"/>
            </a:avLst>
          </a:prstGeom>
          <a:solidFill xmlns:a="http://schemas.openxmlformats.org/drawingml/2006/main">
            <a:srgbClr val="0B2342"/>
          </a:solidFill>
          <a:ln xmlns:a="http://schemas.openxmlformats.org/drawingml/2006/main" w="14288">
            <a:solidFill>
              <a:srgbClr val="0B2342"/>
            </a:solidFill>
            <a:prstDash val="solid"/>
          </a:ln>
        </p:spPr>
      </p:sp>
      <p:sp>
        <p:nvSpPr>
          <p:cNvPr id="34" name="">
            <a:extLst xmlns:a="http://schemas.openxmlformats.org/drawingml/2006/main">
              <a:ext uri="{FF2B5EF4-FFF2-40B4-BE49-F238E27FC236}">
                <a16:creationId xmlns:a16="http://schemas.microsoft.com/office/drawing/2014/main" id="{73EF5DD3-E2DC-4EAB-8D86-A465142B9914}"/>
              </a:ext>
            </a:extLst>
          </p:cNvPr>
          <p:cNvSpPr>
            <a:spLocks xmlns:a="http://schemas.openxmlformats.org/drawingml/2006/main" noGrp="1"/>
          </p:cNvSpPr>
          <p:nvPr/>
        </p:nvSpPr>
        <p:spPr>
          <a:xfrm xmlns:a="http://schemas.openxmlformats.org/drawingml/2006/main">
            <a:off x="9563100" y="5305425"/>
            <a:ext cx="72390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63FAF058-EE19-4B00-ABE6-469C3B0E2B70}"/>
              </a:ext>
            </a:extLst>
          </p:cNvPr>
          <p:cNvSpPr>
            <a:spLocks xmlns:a="http://schemas.openxmlformats.org/drawingml/2006/main" noGrp="1"/>
          </p:cNvSpPr>
          <p:nvPr/>
        </p:nvSpPr>
        <p:spPr>
          <a:xfrm xmlns:a="http://schemas.openxmlformats.org/drawingml/2006/main">
            <a:off x="9620250" y="5314950"/>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05</a:t>
            </a:r>
          </a:p>
        </p:txBody>
      </p:sp>
      <p:sp>
        <p:nvSpPr>
          <p:cNvPr id="36" name="">
            <a:extLst xmlns:a="http://schemas.openxmlformats.org/drawingml/2006/main">
              <a:ext uri="{FF2B5EF4-FFF2-40B4-BE49-F238E27FC236}">
                <a16:creationId xmlns:a16="http://schemas.microsoft.com/office/drawing/2014/main" id="{56837388-BBB1-4A6D-ACE7-3D8A944A2A55}"/>
              </a:ext>
            </a:extLst>
          </p:cNvPr>
          <p:cNvSpPr>
            <a:spLocks xmlns:a="http://schemas.openxmlformats.org/drawingml/2006/main" noGrp="1"/>
          </p:cNvSpPr>
          <p:nvPr/>
        </p:nvSpPr>
        <p:spPr>
          <a:xfrm xmlns:a="http://schemas.openxmlformats.org/drawingml/2006/main">
            <a:off x="10515600" y="5286375"/>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550" b="1">
                <a:solidFill>
                  <a:srgbClr val="FFFFFF"/>
                </a:solidFill>
                <a:latin typeface="프리텐다드"/>
                <a:ea typeface="프리텐다드"/>
                <a:cs typeface="프리텐다드"/>
              </a:defRPr>
            </a:pPr>
            <a:r>
              <a:rPr sz="2550" b="1">
                <a:solidFill>
                  <a:srgbClr val="FFFFFF"/>
                </a:solidFill>
                <a:latin typeface="프리텐다드"/>
                <a:ea typeface="프리텐다드"/>
                <a:cs typeface="프리텐다드"/>
              </a:rPr>
              <a:t>실제 검증</a:t>
            </a:r>
          </a:p>
        </p:txBody>
      </p:sp>
      <p:sp>
        <p:nvSpPr>
          <p:cNvPr id="37" name="">
            <a:extLst xmlns:a="http://schemas.openxmlformats.org/drawingml/2006/main">
              <a:ext uri="{FF2B5EF4-FFF2-40B4-BE49-F238E27FC236}">
                <a16:creationId xmlns:a16="http://schemas.microsoft.com/office/drawing/2014/main" id="{3365CA4F-274A-4D36-81AD-FB2FBB551EA0}"/>
              </a:ext>
            </a:extLst>
          </p:cNvPr>
          <p:cNvSpPr>
            <a:spLocks xmlns:a="http://schemas.openxmlformats.org/drawingml/2006/main" noGrp="1"/>
          </p:cNvSpPr>
          <p:nvPr/>
        </p:nvSpPr>
        <p:spPr>
          <a:xfrm xmlns:a="http://schemas.openxmlformats.org/drawingml/2006/main">
            <a:off x="10515600" y="5857875"/>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D8E7F8"/>
                </a:solidFill>
                <a:latin typeface="프리텐다드"/>
                <a:ea typeface="프리텐다드"/>
                <a:cs typeface="프리텐다드"/>
              </a:defRPr>
            </a:pPr>
            <a:r>
              <a:rPr sz="1725" b="0">
                <a:solidFill>
                  <a:srgbClr val="D8E7F8"/>
                </a:solidFill>
                <a:latin typeface="프리텐다드"/>
                <a:ea typeface="프리텐다드"/>
                <a:cs typeface="프리텐다드"/>
              </a:rPr>
              <a:t>합성 영상 한 건의 A→B 여정</a:t>
            </a:r>
          </a:p>
        </p:txBody>
      </p:sp>
      <p:sp>
        <p:nvSpPr>
          <p:cNvPr id="38" name="">
            <a:extLst xmlns:a="http://schemas.openxmlformats.org/drawingml/2006/main">
              <a:ext uri="{FF2B5EF4-FFF2-40B4-BE49-F238E27FC236}">
                <a16:creationId xmlns:a16="http://schemas.microsoft.com/office/drawing/2014/main" id="{81C0B4BB-8E99-4DA0-B642-6D380B49BB14}"/>
              </a:ext>
            </a:extLst>
          </p:cNvPr>
          <p:cNvSpPr>
            <a:spLocks xmlns:a="http://schemas.openxmlformats.org/drawingml/2006/main" noGrp="1"/>
          </p:cNvSpPr>
          <p:nvPr/>
        </p:nvSpPr>
        <p:spPr>
          <a:xfrm xmlns:a="http://schemas.openxmlformats.org/drawingml/2006/main">
            <a:off x="9334500" y="7010400"/>
            <a:ext cx="7924800" cy="1600200"/>
          </a:xfrm>
          <a:prstGeom xmlns:a="http://schemas.openxmlformats.org/drawingml/2006/main" prst="roundRect">
            <a:avLst>
              <a:gd name="adj" fmla="val 13095"/>
            </a:avLst>
          </a:prstGeom>
          <a:solidFill xmlns:a="http://schemas.openxmlformats.org/drawingml/2006/main">
            <a:srgbClr val="FFFFFF"/>
          </a:solidFill>
          <a:ln xmlns:a="http://schemas.openxmlformats.org/drawingml/2006/main" w="14288">
            <a:solidFill>
              <a:srgbClr val="D8E0E9"/>
            </a:solidFill>
            <a:prstDash val="solid"/>
          </a:ln>
        </p:spPr>
      </p:sp>
      <p:sp>
        <p:nvSpPr>
          <p:cNvPr id="39" name="">
            <a:extLst xmlns:a="http://schemas.openxmlformats.org/drawingml/2006/main">
              <a:ext uri="{FF2B5EF4-FFF2-40B4-BE49-F238E27FC236}">
                <a16:creationId xmlns:a16="http://schemas.microsoft.com/office/drawing/2014/main" id="{FB1365CC-99A7-45DB-8BAE-02D5029450E3}"/>
              </a:ext>
            </a:extLst>
          </p:cNvPr>
          <p:cNvSpPr>
            <a:spLocks xmlns:a="http://schemas.openxmlformats.org/drawingml/2006/main" noGrp="1"/>
          </p:cNvSpPr>
          <p:nvPr/>
        </p:nvSpPr>
        <p:spPr>
          <a:xfrm xmlns:a="http://schemas.openxmlformats.org/drawingml/2006/main">
            <a:off x="9563100" y="7258050"/>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42D2828E-D854-4F4A-ABD8-C1D9586A44FD}"/>
              </a:ext>
            </a:extLst>
          </p:cNvPr>
          <p:cNvSpPr>
            <a:spLocks xmlns:a="http://schemas.openxmlformats.org/drawingml/2006/main" noGrp="1"/>
          </p:cNvSpPr>
          <p:nvPr/>
        </p:nvSpPr>
        <p:spPr>
          <a:xfrm xmlns:a="http://schemas.openxmlformats.org/drawingml/2006/main">
            <a:off x="9620250" y="726757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06</a:t>
            </a:r>
          </a:p>
        </p:txBody>
      </p:sp>
      <p:sp>
        <p:nvSpPr>
          <p:cNvPr id="41" name="">
            <a:extLst xmlns:a="http://schemas.openxmlformats.org/drawingml/2006/main">
              <a:ext uri="{FF2B5EF4-FFF2-40B4-BE49-F238E27FC236}">
                <a16:creationId xmlns:a16="http://schemas.microsoft.com/office/drawing/2014/main" id="{5AB21FFB-7F1E-4806-B9B9-77EDFFBA4B90}"/>
              </a:ext>
            </a:extLst>
          </p:cNvPr>
          <p:cNvSpPr>
            <a:spLocks xmlns:a="http://schemas.openxmlformats.org/drawingml/2006/main" noGrp="1"/>
          </p:cNvSpPr>
          <p:nvPr/>
        </p:nvSpPr>
        <p:spPr>
          <a:xfrm xmlns:a="http://schemas.openxmlformats.org/drawingml/2006/main">
            <a:off x="10515600" y="7239000"/>
            <a:ext cx="619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550" b="1">
                <a:solidFill>
                  <a:srgbClr val="17263A"/>
                </a:solidFill>
                <a:latin typeface="프리텐다드"/>
                <a:ea typeface="프리텐다드"/>
                <a:cs typeface="프리텐다드"/>
              </a:defRPr>
            </a:pPr>
            <a:r>
              <a:rPr sz="2550" b="1">
                <a:solidFill>
                  <a:srgbClr val="17263A"/>
                </a:solidFill>
                <a:latin typeface="프리텐다드"/>
                <a:ea typeface="프리텐다드"/>
                <a:cs typeface="프리텐다드"/>
              </a:rPr>
              <a:t>다음 관문</a:t>
            </a:r>
          </a:p>
        </p:txBody>
      </p:sp>
      <p:sp>
        <p:nvSpPr>
          <p:cNvPr id="42" name="">
            <a:extLst xmlns:a="http://schemas.openxmlformats.org/drawingml/2006/main">
              <a:ext uri="{FF2B5EF4-FFF2-40B4-BE49-F238E27FC236}">
                <a16:creationId xmlns:a16="http://schemas.microsoft.com/office/drawing/2014/main" id="{D03EF694-9650-49F2-B5AA-BCD8FFC65211}"/>
              </a:ext>
            </a:extLst>
          </p:cNvPr>
          <p:cNvSpPr>
            <a:spLocks xmlns:a="http://schemas.openxmlformats.org/drawingml/2006/main" noGrp="1"/>
          </p:cNvSpPr>
          <p:nvPr/>
        </p:nvSpPr>
        <p:spPr>
          <a:xfrm xmlns:a="http://schemas.openxmlformats.org/drawingml/2006/main">
            <a:off x="10515600" y="7810500"/>
            <a:ext cx="6286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700장 · 복구 · 운영 검증은 남아 있다</a:t>
            </a:r>
          </a:p>
        </p:txBody>
      </p:sp>
      <p:sp>
        <p:nvSpPr>
          <p:cNvPr id="43" name="">
            <a:extLst xmlns:a="http://schemas.openxmlformats.org/drawingml/2006/main">
              <a:ext uri="{FF2B5EF4-FFF2-40B4-BE49-F238E27FC236}">
                <a16:creationId xmlns:a16="http://schemas.microsoft.com/office/drawing/2014/main" id="{9933467F-4016-42C6-BE88-21F0EE799F59}"/>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BE413AC1-3C27-4746-AFE3-D7B9F7BDF549}"/>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45" name="">
            <a:extLst xmlns:a="http://schemas.openxmlformats.org/drawingml/2006/main">
              <a:ext uri="{FF2B5EF4-FFF2-40B4-BE49-F238E27FC236}">
                <a16:creationId xmlns:a16="http://schemas.microsoft.com/office/drawing/2014/main" id="{AE7B9B0E-DB02-40AC-A234-18FFB2E4112D}"/>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02  /  22</a:t>
            </a:r>
          </a:p>
        </p:txBody>
      </p:sp>
    </p:spTree>
    <p:extLst>
      <p:ext uri="{BB962C8B-B14F-4D97-AF65-F5344CB8AC3E}">
        <p14:creationId xmlns:p14="http://schemas.microsoft.com/office/powerpoint/2010/main" val="2772843340"/>
      </p:ext>
    </p:extLst>
  </p:cSld>
</p:sld>
</file>

<file path=ppt/slides/slide3.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0843A4B-188F-41EF-A3F2-BC4B20DF7378}"/>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A9BACE7-358E-4E3D-B4F9-AFE4F5B05B76}"/>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9BE0835-8BDF-4C19-8BD9-4D74260A4AEA}"/>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1ECB6D3-8FD1-4CC4-AE7E-FC60B8C0F7DF}"/>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PROBLEM STATEMENT</a:t>
            </a:r>
          </a:p>
        </p:txBody>
      </p:sp>
      <p:sp>
        <p:nvSpPr>
          <p:cNvPr id="5" name="">
            <a:extLst xmlns:a="http://schemas.openxmlformats.org/drawingml/2006/main">
              <a:ext uri="{FF2B5EF4-FFF2-40B4-BE49-F238E27FC236}">
                <a16:creationId xmlns:a16="http://schemas.microsoft.com/office/drawing/2014/main" id="{E8BA3E6B-8EF6-4FF0-8D5D-7F1F98803340}"/>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영상보다 전달 과정에서 맥락이 끊긴다</a:t>
            </a:r>
          </a:p>
        </p:txBody>
      </p:sp>
      <p:sp>
        <p:nvSpPr>
          <p:cNvPr id="6" name="">
            <a:extLst xmlns:a="http://schemas.openxmlformats.org/drawingml/2006/main">
              <a:ext uri="{FF2B5EF4-FFF2-40B4-BE49-F238E27FC236}">
                <a16:creationId xmlns:a16="http://schemas.microsoft.com/office/drawing/2014/main" id="{5816E6A7-58B7-4D88-B7F8-47A1CE33ECA6}"/>
              </a:ext>
            </a:extLst>
          </p:cNvPr>
          <p:cNvSpPr>
            <a:spLocks xmlns:a="http://schemas.openxmlformats.org/drawingml/2006/main" noGrp="1"/>
          </p:cNvSpPr>
          <p:nvPr/>
        </p:nvSpPr>
        <p:spPr>
          <a:xfrm xmlns:a="http://schemas.openxmlformats.org/drawingml/2006/main">
            <a:off x="1028700" y="2714625"/>
            <a:ext cx="16230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0">
                <a:solidFill>
                  <a:srgbClr val="53657B"/>
                </a:solidFill>
                <a:latin typeface="프리텐다드"/>
                <a:ea typeface="프리텐다드"/>
                <a:cs typeface="프리텐다드"/>
              </a:defRPr>
            </a:pPr>
            <a:r>
              <a:rPr sz="1950" b="0">
                <a:solidFill>
                  <a:srgbClr val="53657B"/>
                </a:solidFill>
                <a:latin typeface="프리텐다드"/>
                <a:ea typeface="프리텐다드"/>
                <a:cs typeface="프리텐다드"/>
              </a:rPr>
              <a:t>대표적인 이동 흐름 · 실제 발급·전달 절차는 기관마다 다릅니다.</a:t>
            </a:r>
          </a:p>
        </p:txBody>
      </p:sp>
      <p:sp>
        <p:nvSpPr>
          <p:cNvPr id="7" name="">
            <a:extLst xmlns:a="http://schemas.openxmlformats.org/drawingml/2006/main">
              <a:ext uri="{FF2B5EF4-FFF2-40B4-BE49-F238E27FC236}">
                <a16:creationId xmlns:a16="http://schemas.microsoft.com/office/drawing/2014/main" id="{89E2CD33-C0B9-4E28-BF2F-ACDA271271AC}"/>
              </a:ext>
            </a:extLst>
          </p:cNvPr>
          <p:cNvSpPr>
            <a:spLocks xmlns:a="http://schemas.openxmlformats.org/drawingml/2006/main" noGrp="1"/>
          </p:cNvSpPr>
          <p:nvPr/>
        </p:nvSpPr>
        <p:spPr>
          <a:xfrm xmlns:a="http://schemas.openxmlformats.org/drawingml/2006/main">
            <a:off x="1028700" y="4000500"/>
            <a:ext cx="3714750" cy="2647950"/>
          </a:xfrm>
          <a:prstGeom xmlns:a="http://schemas.openxmlformats.org/drawingml/2006/main" prst="roundRect">
            <a:avLst>
              <a:gd name="adj" fmla="val 8633"/>
            </a:avLst>
          </a:prstGeom>
          <a:solidFill xmlns:a="http://schemas.openxmlformats.org/drawingml/2006/main">
            <a:srgbClr val="E9F1FC"/>
          </a:solidFill>
          <a:ln xmlns:a="http://schemas.openxmlformats.org/drawingml/2006/main" w="14288">
            <a:solidFill>
              <a:srgbClr val="D8E0E9"/>
            </a:solidFill>
            <a:prstDash val="solid"/>
          </a:ln>
        </p:spPr>
      </p:sp>
      <p:sp>
        <p:nvSpPr>
          <p:cNvPr id="8" name="">
            <a:extLst xmlns:a="http://schemas.openxmlformats.org/drawingml/2006/main">
              <a:ext uri="{FF2B5EF4-FFF2-40B4-BE49-F238E27FC236}">
                <a16:creationId xmlns:a16="http://schemas.microsoft.com/office/drawing/2014/main" id="{33296948-6BBC-4BED-8147-70D214643890}"/>
              </a:ext>
            </a:extLst>
          </p:cNvPr>
          <p:cNvSpPr>
            <a:spLocks xmlns:a="http://schemas.openxmlformats.org/drawingml/2006/main" noGrp="1"/>
          </p:cNvSpPr>
          <p:nvPr/>
        </p:nvSpPr>
        <p:spPr>
          <a:xfrm xmlns:a="http://schemas.openxmlformats.org/drawingml/2006/main">
            <a:off x="1276350" y="4248150"/>
            <a:ext cx="6667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83188A3-A2DB-4CC8-8D0F-9EA335DEB211}"/>
              </a:ext>
            </a:extLst>
          </p:cNvPr>
          <p:cNvSpPr>
            <a:spLocks xmlns:a="http://schemas.openxmlformats.org/drawingml/2006/main" noGrp="1"/>
          </p:cNvSpPr>
          <p:nvPr/>
        </p:nvSpPr>
        <p:spPr>
          <a:xfrm xmlns:a="http://schemas.openxmlformats.org/drawingml/2006/main">
            <a:off x="1333500" y="4257675"/>
            <a:ext cx="55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01</a:t>
            </a:r>
          </a:p>
        </p:txBody>
      </p:sp>
      <p:sp>
        <p:nvSpPr>
          <p:cNvPr id="10" name="">
            <a:extLst xmlns:a="http://schemas.openxmlformats.org/drawingml/2006/main">
              <a:ext uri="{FF2B5EF4-FFF2-40B4-BE49-F238E27FC236}">
                <a16:creationId xmlns:a16="http://schemas.microsoft.com/office/drawing/2014/main" id="{3030CA2E-89EB-4708-B4CC-8953050F8852}"/>
              </a:ext>
            </a:extLst>
          </p:cNvPr>
          <p:cNvSpPr>
            <a:spLocks xmlns:a="http://schemas.openxmlformats.org/drawingml/2006/main" noGrp="1"/>
          </p:cNvSpPr>
          <p:nvPr/>
        </p:nvSpPr>
        <p:spPr>
          <a:xfrm xmlns:a="http://schemas.openxmlformats.org/drawingml/2006/main">
            <a:off x="1276350" y="4914900"/>
            <a:ext cx="3219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00" b="1">
                <a:solidFill>
                  <a:srgbClr val="17263A"/>
                </a:solidFill>
                <a:latin typeface="프리텐다드"/>
                <a:ea typeface="프리텐다드"/>
                <a:cs typeface="프리텐다드"/>
              </a:defRPr>
            </a:pPr>
            <a:r>
              <a:rPr sz="2400" b="1">
                <a:solidFill>
                  <a:srgbClr val="17263A"/>
                </a:solidFill>
                <a:latin typeface="프리텐다드"/>
                <a:ea typeface="프리텐다드"/>
                <a:cs typeface="프리텐다드"/>
              </a:rPr>
              <a:t>A병원에서 검사</a:t>
            </a:r>
          </a:p>
        </p:txBody>
      </p:sp>
      <p:sp>
        <p:nvSpPr>
          <p:cNvPr id="11" name="">
            <a:extLst xmlns:a="http://schemas.openxmlformats.org/drawingml/2006/main">
              <a:ext uri="{FF2B5EF4-FFF2-40B4-BE49-F238E27FC236}">
                <a16:creationId xmlns:a16="http://schemas.microsoft.com/office/drawing/2014/main" id="{5AAB9B04-614F-46E1-B592-FD14F6B3862B}"/>
              </a:ext>
            </a:extLst>
          </p:cNvPr>
          <p:cNvSpPr>
            <a:spLocks xmlns:a="http://schemas.openxmlformats.org/drawingml/2006/main" noGrp="1"/>
          </p:cNvSpPr>
          <p:nvPr/>
        </p:nvSpPr>
        <p:spPr>
          <a:xfrm xmlns:a="http://schemas.openxmlformats.org/drawingml/2006/main">
            <a:off x="1276350" y="5562600"/>
            <a:ext cx="3219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촬영 영상은</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원본기관에 보관</a:t>
            </a:r>
          </a:p>
        </p:txBody>
      </p:sp>
      <p:sp>
        <p:nvSpPr>
          <p:cNvPr id="12" name="">
            <a:extLst xmlns:a="http://schemas.openxmlformats.org/drawingml/2006/main">
              <a:ext uri="{FF2B5EF4-FFF2-40B4-BE49-F238E27FC236}">
                <a16:creationId xmlns:a16="http://schemas.microsoft.com/office/drawing/2014/main" id="{8EEA0462-C1E1-4DFB-BD85-264C0F3B4E72}"/>
              </a:ext>
            </a:extLst>
          </p:cNvPr>
          <p:cNvSpPr>
            <a:spLocks xmlns:a="http://schemas.openxmlformats.org/drawingml/2006/main" noGrp="1"/>
          </p:cNvSpPr>
          <p:nvPr/>
        </p:nvSpPr>
        <p:spPr>
          <a:xfrm xmlns:a="http://schemas.openxmlformats.org/drawingml/2006/main">
            <a:off x="4724400" y="49530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3234"/>
          </a:bodyPr>
          <a:lstStyle xmlns:a="http://schemas.openxmlformats.org/drawingml/2006/main"/>
          <a:p xmlns:a="http://schemas.openxmlformats.org/drawingml/2006/main">
            <a:pPr algn="ctr">
              <a:defRPr sz="3150" b="1">
                <a:solidFill>
                  <a:srgbClr val="2F68B5"/>
                </a:solidFill>
                <a:latin typeface="프리텐다드"/>
                <a:ea typeface="프리텐다드"/>
                <a:cs typeface="프리텐다드"/>
              </a:defRPr>
            </a:pPr>
            <a:r>
              <a:rPr sz="3150" b="1">
                <a:solidFill>
                  <a:srgbClr val="2F68B5"/>
                </a:solidFill>
                <a:latin typeface="프리텐다드"/>
                <a:ea typeface="프리텐다드"/>
                <a:cs typeface="프리텐다드"/>
              </a:rPr>
              <a:t>→</a:t>
            </a:r>
          </a:p>
        </p:txBody>
      </p:sp>
      <p:sp>
        <p:nvSpPr>
          <p:cNvPr id="13" name="">
            <a:extLst xmlns:a="http://schemas.openxmlformats.org/drawingml/2006/main">
              <a:ext uri="{FF2B5EF4-FFF2-40B4-BE49-F238E27FC236}">
                <a16:creationId xmlns:a16="http://schemas.microsoft.com/office/drawing/2014/main" id="{1D3205B2-7A1D-43E9-8AF4-0DFAE1811F96}"/>
              </a:ext>
            </a:extLst>
          </p:cNvPr>
          <p:cNvSpPr>
            <a:spLocks xmlns:a="http://schemas.openxmlformats.org/drawingml/2006/main" noGrp="1"/>
          </p:cNvSpPr>
          <p:nvPr/>
        </p:nvSpPr>
        <p:spPr>
          <a:xfrm xmlns:a="http://schemas.openxmlformats.org/drawingml/2006/main">
            <a:off x="5143500" y="4000500"/>
            <a:ext cx="3714750" cy="2647950"/>
          </a:xfrm>
          <a:prstGeom xmlns:a="http://schemas.openxmlformats.org/drawingml/2006/main" prst="roundRect">
            <a:avLst>
              <a:gd name="adj" fmla="val 8633"/>
            </a:avLst>
          </a:prstGeom>
          <a:solidFill xmlns:a="http://schemas.openxmlformats.org/drawingml/2006/main">
            <a:srgbClr val="F3F6FA"/>
          </a:solidFill>
          <a:ln xmlns:a="http://schemas.openxmlformats.org/drawingml/2006/main" w="14288">
            <a:solidFill>
              <a:srgbClr val="D8E0E9"/>
            </a:solidFill>
            <a:prstDash val="solid"/>
          </a:ln>
        </p:spPr>
      </p:sp>
      <p:sp>
        <p:nvSpPr>
          <p:cNvPr id="14" name="">
            <a:extLst xmlns:a="http://schemas.openxmlformats.org/drawingml/2006/main">
              <a:ext uri="{FF2B5EF4-FFF2-40B4-BE49-F238E27FC236}">
                <a16:creationId xmlns:a16="http://schemas.microsoft.com/office/drawing/2014/main" id="{146CD884-29BD-466D-955D-9755073176C0}"/>
              </a:ext>
            </a:extLst>
          </p:cNvPr>
          <p:cNvSpPr>
            <a:spLocks xmlns:a="http://schemas.openxmlformats.org/drawingml/2006/main" noGrp="1"/>
          </p:cNvSpPr>
          <p:nvPr/>
        </p:nvSpPr>
        <p:spPr>
          <a:xfrm xmlns:a="http://schemas.openxmlformats.org/drawingml/2006/main">
            <a:off x="5391150" y="4248150"/>
            <a:ext cx="666750" cy="400050"/>
          </a:xfrm>
          <a:prstGeom xmlns:a="http://schemas.openxmlformats.org/drawingml/2006/main" prst="roundRect">
            <a:avLst>
              <a:gd name="adj" fmla="val 50000"/>
            </a:avLst>
          </a:prstGeom>
          <a:solidFill xmlns:a="http://schemas.openxmlformats.org/drawingml/2006/main">
            <a:srgbClr val="0B234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312D34B-89F8-4661-A341-1CC782BFC009}"/>
              </a:ext>
            </a:extLst>
          </p:cNvPr>
          <p:cNvSpPr>
            <a:spLocks xmlns:a="http://schemas.openxmlformats.org/drawingml/2006/main" noGrp="1"/>
          </p:cNvSpPr>
          <p:nvPr/>
        </p:nvSpPr>
        <p:spPr>
          <a:xfrm xmlns:a="http://schemas.openxmlformats.org/drawingml/2006/main">
            <a:off x="5448300" y="4257675"/>
            <a:ext cx="55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02</a:t>
            </a:r>
          </a:p>
        </p:txBody>
      </p:sp>
      <p:sp>
        <p:nvSpPr>
          <p:cNvPr id="16" name="">
            <a:extLst xmlns:a="http://schemas.openxmlformats.org/drawingml/2006/main">
              <a:ext uri="{FF2B5EF4-FFF2-40B4-BE49-F238E27FC236}">
                <a16:creationId xmlns:a16="http://schemas.microsoft.com/office/drawing/2014/main" id="{F43E4D7C-7E8A-4C7C-ACC4-AA1916C1C91E}"/>
              </a:ext>
            </a:extLst>
          </p:cNvPr>
          <p:cNvSpPr>
            <a:spLocks xmlns:a="http://schemas.openxmlformats.org/drawingml/2006/main" noGrp="1"/>
          </p:cNvSpPr>
          <p:nvPr/>
        </p:nvSpPr>
        <p:spPr>
          <a:xfrm xmlns:a="http://schemas.openxmlformats.org/drawingml/2006/main">
            <a:off x="5391150" y="4914900"/>
            <a:ext cx="3219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00" b="1">
                <a:solidFill>
                  <a:srgbClr val="17263A"/>
                </a:solidFill>
                <a:latin typeface="프리텐다드"/>
                <a:ea typeface="프리텐다드"/>
                <a:cs typeface="프리텐다드"/>
              </a:defRPr>
            </a:pPr>
            <a:r>
              <a:rPr sz="2400" b="1">
                <a:solidFill>
                  <a:srgbClr val="17263A"/>
                </a:solidFill>
                <a:latin typeface="프리텐다드"/>
                <a:ea typeface="프리텐다드"/>
                <a:cs typeface="프리텐다드"/>
              </a:rPr>
              <a:t>환자가 옮김</a:t>
            </a:r>
          </a:p>
        </p:txBody>
      </p:sp>
      <p:sp>
        <p:nvSpPr>
          <p:cNvPr id="17" name="">
            <a:extLst xmlns:a="http://schemas.openxmlformats.org/drawingml/2006/main">
              <a:ext uri="{FF2B5EF4-FFF2-40B4-BE49-F238E27FC236}">
                <a16:creationId xmlns:a16="http://schemas.microsoft.com/office/drawing/2014/main" id="{2EEDF352-9AD8-4EDB-B9CD-1C64DCBBA6FD}"/>
              </a:ext>
            </a:extLst>
          </p:cNvPr>
          <p:cNvSpPr>
            <a:spLocks xmlns:a="http://schemas.openxmlformats.org/drawingml/2006/main" noGrp="1"/>
          </p:cNvSpPr>
          <p:nvPr/>
        </p:nvSpPr>
        <p:spPr>
          <a:xfrm xmlns:a="http://schemas.openxmlformats.org/drawingml/2006/main">
            <a:off x="5391150" y="5562600"/>
            <a:ext cx="3219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기록·매체를</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직접 전달할 수 있음</a:t>
            </a:r>
          </a:p>
        </p:txBody>
      </p:sp>
      <p:sp>
        <p:nvSpPr>
          <p:cNvPr id="18" name="">
            <a:extLst xmlns:a="http://schemas.openxmlformats.org/drawingml/2006/main">
              <a:ext uri="{FF2B5EF4-FFF2-40B4-BE49-F238E27FC236}">
                <a16:creationId xmlns:a16="http://schemas.microsoft.com/office/drawing/2014/main" id="{DDCC6D96-AEBC-41BB-A4D5-F97F428720FA}"/>
              </a:ext>
            </a:extLst>
          </p:cNvPr>
          <p:cNvSpPr>
            <a:spLocks xmlns:a="http://schemas.openxmlformats.org/drawingml/2006/main" noGrp="1"/>
          </p:cNvSpPr>
          <p:nvPr/>
        </p:nvSpPr>
        <p:spPr>
          <a:xfrm xmlns:a="http://schemas.openxmlformats.org/drawingml/2006/main">
            <a:off x="8839200" y="49530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3234"/>
          </a:bodyPr>
          <a:lstStyle xmlns:a="http://schemas.openxmlformats.org/drawingml/2006/main"/>
          <a:p xmlns:a="http://schemas.openxmlformats.org/drawingml/2006/main">
            <a:pPr algn="ctr">
              <a:defRPr sz="3150" b="1">
                <a:solidFill>
                  <a:srgbClr val="2F68B5"/>
                </a:solidFill>
                <a:latin typeface="프리텐다드"/>
                <a:ea typeface="프리텐다드"/>
                <a:cs typeface="프리텐다드"/>
              </a:defRPr>
            </a:pPr>
            <a:r>
              <a:rPr sz="3150" b="1">
                <a:solidFill>
                  <a:srgbClr val="2F68B5"/>
                </a:solidFill>
                <a:latin typeface="프리텐다드"/>
                <a:ea typeface="프리텐다드"/>
                <a:cs typeface="프리텐다드"/>
              </a:rPr>
              <a:t>→</a:t>
            </a:r>
          </a:p>
        </p:txBody>
      </p:sp>
      <p:sp>
        <p:nvSpPr>
          <p:cNvPr id="19" name="">
            <a:extLst xmlns:a="http://schemas.openxmlformats.org/drawingml/2006/main">
              <a:ext uri="{FF2B5EF4-FFF2-40B4-BE49-F238E27FC236}">
                <a16:creationId xmlns:a16="http://schemas.microsoft.com/office/drawing/2014/main" id="{D8B5C7E4-7F66-4FBF-8E43-E3514DE7DE44}"/>
              </a:ext>
            </a:extLst>
          </p:cNvPr>
          <p:cNvSpPr>
            <a:spLocks xmlns:a="http://schemas.openxmlformats.org/drawingml/2006/main" noGrp="1"/>
          </p:cNvSpPr>
          <p:nvPr/>
        </p:nvSpPr>
        <p:spPr>
          <a:xfrm xmlns:a="http://schemas.openxmlformats.org/drawingml/2006/main">
            <a:off x="9258300" y="4000500"/>
            <a:ext cx="3714750" cy="2647950"/>
          </a:xfrm>
          <a:prstGeom xmlns:a="http://schemas.openxmlformats.org/drawingml/2006/main" prst="roundRect">
            <a:avLst>
              <a:gd name="adj" fmla="val 8633"/>
            </a:avLst>
          </a:prstGeom>
          <a:solidFill xmlns:a="http://schemas.openxmlformats.org/drawingml/2006/main">
            <a:srgbClr val="FBF4E5"/>
          </a:solidFill>
          <a:ln xmlns:a="http://schemas.openxmlformats.org/drawingml/2006/main" w="14288">
            <a:solidFill>
              <a:srgbClr val="D8E0E9"/>
            </a:solidFill>
            <a:prstDash val="solid"/>
          </a:ln>
        </p:spPr>
      </p:sp>
      <p:sp>
        <p:nvSpPr>
          <p:cNvPr id="20" name="">
            <a:extLst xmlns:a="http://schemas.openxmlformats.org/drawingml/2006/main">
              <a:ext uri="{FF2B5EF4-FFF2-40B4-BE49-F238E27FC236}">
                <a16:creationId xmlns:a16="http://schemas.microsoft.com/office/drawing/2014/main" id="{EBE30AB1-0D72-4C76-BDF7-069766A449FF}"/>
              </a:ext>
            </a:extLst>
          </p:cNvPr>
          <p:cNvSpPr>
            <a:spLocks xmlns:a="http://schemas.openxmlformats.org/drawingml/2006/main" noGrp="1"/>
          </p:cNvSpPr>
          <p:nvPr/>
        </p:nvSpPr>
        <p:spPr>
          <a:xfrm xmlns:a="http://schemas.openxmlformats.org/drawingml/2006/main">
            <a:off x="9505950" y="4248150"/>
            <a:ext cx="666750" cy="400050"/>
          </a:xfrm>
          <a:prstGeom xmlns:a="http://schemas.openxmlformats.org/drawingml/2006/main" prst="roundRect">
            <a:avLst>
              <a:gd name="adj" fmla="val 50000"/>
            </a:avLst>
          </a:prstGeom>
          <a:solidFill xmlns:a="http://schemas.openxmlformats.org/drawingml/2006/main">
            <a:srgbClr val="DCA83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31B5910-E43E-4061-9992-630922511581}"/>
              </a:ext>
            </a:extLst>
          </p:cNvPr>
          <p:cNvSpPr>
            <a:spLocks xmlns:a="http://schemas.openxmlformats.org/drawingml/2006/main" noGrp="1"/>
          </p:cNvSpPr>
          <p:nvPr/>
        </p:nvSpPr>
        <p:spPr>
          <a:xfrm xmlns:a="http://schemas.openxmlformats.org/drawingml/2006/main">
            <a:off x="9563100" y="4257675"/>
            <a:ext cx="55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03</a:t>
            </a:r>
          </a:p>
        </p:txBody>
      </p:sp>
      <p:sp>
        <p:nvSpPr>
          <p:cNvPr id="22" name="">
            <a:extLst xmlns:a="http://schemas.openxmlformats.org/drawingml/2006/main">
              <a:ext uri="{FF2B5EF4-FFF2-40B4-BE49-F238E27FC236}">
                <a16:creationId xmlns:a16="http://schemas.microsoft.com/office/drawing/2014/main" id="{A38B7C44-FF22-41C8-B5B9-0082B661387C}"/>
              </a:ext>
            </a:extLst>
          </p:cNvPr>
          <p:cNvSpPr>
            <a:spLocks xmlns:a="http://schemas.openxmlformats.org/drawingml/2006/main" noGrp="1"/>
          </p:cNvSpPr>
          <p:nvPr/>
        </p:nvSpPr>
        <p:spPr>
          <a:xfrm xmlns:a="http://schemas.openxmlformats.org/drawingml/2006/main">
            <a:off x="9505950" y="4914900"/>
            <a:ext cx="3219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00" b="1">
                <a:solidFill>
                  <a:srgbClr val="17263A"/>
                </a:solidFill>
                <a:latin typeface="프리텐다드"/>
                <a:ea typeface="프리텐다드"/>
                <a:cs typeface="프리텐다드"/>
              </a:defRPr>
            </a:pPr>
            <a:r>
              <a:rPr sz="2400" b="1">
                <a:solidFill>
                  <a:srgbClr val="17263A"/>
                </a:solidFill>
                <a:latin typeface="프리텐다드"/>
                <a:ea typeface="프리텐다드"/>
                <a:cs typeface="프리텐다드"/>
              </a:rPr>
              <a:t>B병원에서 등록</a:t>
            </a:r>
          </a:p>
        </p:txBody>
      </p:sp>
      <p:sp>
        <p:nvSpPr>
          <p:cNvPr id="23" name="">
            <a:extLst xmlns:a="http://schemas.openxmlformats.org/drawingml/2006/main">
              <a:ext uri="{FF2B5EF4-FFF2-40B4-BE49-F238E27FC236}">
                <a16:creationId xmlns:a16="http://schemas.microsoft.com/office/drawing/2014/main" id="{F41E22EB-30F9-4C5A-A861-E99738E39FC7}"/>
              </a:ext>
            </a:extLst>
          </p:cNvPr>
          <p:cNvSpPr>
            <a:spLocks xmlns:a="http://schemas.openxmlformats.org/drawingml/2006/main" noGrp="1"/>
          </p:cNvSpPr>
          <p:nvPr/>
        </p:nvSpPr>
        <p:spPr>
          <a:xfrm xmlns:a="http://schemas.openxmlformats.org/drawingml/2006/main">
            <a:off x="9505950" y="5562600"/>
            <a:ext cx="3219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매체·포맷·절차가</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추가 확인을 요구할 수 있음</a:t>
            </a:r>
          </a:p>
        </p:txBody>
      </p:sp>
      <p:sp>
        <p:nvSpPr>
          <p:cNvPr id="24" name="">
            <a:extLst xmlns:a="http://schemas.openxmlformats.org/drawingml/2006/main">
              <a:ext uri="{FF2B5EF4-FFF2-40B4-BE49-F238E27FC236}">
                <a16:creationId xmlns:a16="http://schemas.microsoft.com/office/drawing/2014/main" id="{F691C7A5-1B15-433E-8DFE-C0791800FE54}"/>
              </a:ext>
            </a:extLst>
          </p:cNvPr>
          <p:cNvSpPr>
            <a:spLocks xmlns:a="http://schemas.openxmlformats.org/drawingml/2006/main" noGrp="1"/>
          </p:cNvSpPr>
          <p:nvPr/>
        </p:nvSpPr>
        <p:spPr>
          <a:xfrm xmlns:a="http://schemas.openxmlformats.org/drawingml/2006/main">
            <a:off x="12954000" y="4953000"/>
            <a:ext cx="4191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3234"/>
          </a:bodyPr>
          <a:lstStyle xmlns:a="http://schemas.openxmlformats.org/drawingml/2006/main"/>
          <a:p xmlns:a="http://schemas.openxmlformats.org/drawingml/2006/main">
            <a:pPr algn="ctr">
              <a:defRPr sz="3150" b="1">
                <a:solidFill>
                  <a:srgbClr val="2F68B5"/>
                </a:solidFill>
                <a:latin typeface="프리텐다드"/>
                <a:ea typeface="프리텐다드"/>
                <a:cs typeface="프리텐다드"/>
              </a:defRPr>
            </a:pPr>
            <a:r>
              <a:rPr sz="3150" b="1">
                <a:solidFill>
                  <a:srgbClr val="2F68B5"/>
                </a:solidFill>
                <a:latin typeface="프리텐다드"/>
                <a:ea typeface="프리텐다드"/>
                <a:cs typeface="프리텐다드"/>
              </a:rPr>
              <a:t>→</a:t>
            </a:r>
          </a:p>
        </p:txBody>
      </p:sp>
      <p:sp>
        <p:nvSpPr>
          <p:cNvPr id="25" name="">
            <a:extLst xmlns:a="http://schemas.openxmlformats.org/drawingml/2006/main">
              <a:ext uri="{FF2B5EF4-FFF2-40B4-BE49-F238E27FC236}">
                <a16:creationId xmlns:a16="http://schemas.microsoft.com/office/drawing/2014/main" id="{4C9337E5-D2AF-4F4B-A50F-79F8AE626797}"/>
              </a:ext>
            </a:extLst>
          </p:cNvPr>
          <p:cNvSpPr>
            <a:spLocks xmlns:a="http://schemas.openxmlformats.org/drawingml/2006/main" noGrp="1"/>
          </p:cNvSpPr>
          <p:nvPr/>
        </p:nvSpPr>
        <p:spPr>
          <a:xfrm xmlns:a="http://schemas.openxmlformats.org/drawingml/2006/main">
            <a:off x="13373100" y="4000500"/>
            <a:ext cx="3714750" cy="2647950"/>
          </a:xfrm>
          <a:prstGeom xmlns:a="http://schemas.openxmlformats.org/drawingml/2006/main" prst="roundRect">
            <a:avLst>
              <a:gd name="adj" fmla="val 8633"/>
            </a:avLst>
          </a:prstGeom>
          <a:solidFill xmlns:a="http://schemas.openxmlformats.org/drawingml/2006/main">
            <a:srgbClr val="E7F4F1"/>
          </a:solidFill>
          <a:ln xmlns:a="http://schemas.openxmlformats.org/drawingml/2006/main" w="14288">
            <a:solidFill>
              <a:srgbClr val="D8E0E9"/>
            </a:solidFill>
            <a:prstDash val="solid"/>
          </a:ln>
        </p:spPr>
      </p:sp>
      <p:sp>
        <p:nvSpPr>
          <p:cNvPr id="26" name="">
            <a:extLst xmlns:a="http://schemas.openxmlformats.org/drawingml/2006/main">
              <a:ext uri="{FF2B5EF4-FFF2-40B4-BE49-F238E27FC236}">
                <a16:creationId xmlns:a16="http://schemas.microsoft.com/office/drawing/2014/main" id="{F91ECFA5-900F-41CA-BCAC-7F10C21FEC83}"/>
              </a:ext>
            </a:extLst>
          </p:cNvPr>
          <p:cNvSpPr>
            <a:spLocks xmlns:a="http://schemas.openxmlformats.org/drawingml/2006/main" noGrp="1"/>
          </p:cNvSpPr>
          <p:nvPr/>
        </p:nvSpPr>
        <p:spPr>
          <a:xfrm xmlns:a="http://schemas.openxmlformats.org/drawingml/2006/main">
            <a:off x="13620750" y="4248150"/>
            <a:ext cx="666750" cy="400050"/>
          </a:xfrm>
          <a:prstGeom xmlns:a="http://schemas.openxmlformats.org/drawingml/2006/main" prst="roundRect">
            <a:avLst>
              <a:gd name="adj" fmla="val 50000"/>
            </a:avLst>
          </a:prstGeom>
          <a:solidFill xmlns:a="http://schemas.openxmlformats.org/drawingml/2006/main">
            <a:srgbClr val="168B82"/>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3B3F0BD7-671B-4E86-8CDD-E5B31919F6E0}"/>
              </a:ext>
            </a:extLst>
          </p:cNvPr>
          <p:cNvSpPr>
            <a:spLocks xmlns:a="http://schemas.openxmlformats.org/drawingml/2006/main" noGrp="1"/>
          </p:cNvSpPr>
          <p:nvPr/>
        </p:nvSpPr>
        <p:spPr>
          <a:xfrm xmlns:a="http://schemas.openxmlformats.org/drawingml/2006/main">
            <a:off x="13677900" y="4257675"/>
            <a:ext cx="552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04</a:t>
            </a:r>
          </a:p>
        </p:txBody>
      </p:sp>
      <p:sp>
        <p:nvSpPr>
          <p:cNvPr id="28" name="">
            <a:extLst xmlns:a="http://schemas.openxmlformats.org/drawingml/2006/main">
              <a:ext uri="{FF2B5EF4-FFF2-40B4-BE49-F238E27FC236}">
                <a16:creationId xmlns:a16="http://schemas.microsoft.com/office/drawing/2014/main" id="{9DEB4B0B-AFD4-49D2-A982-E7A3292CA5C9}"/>
              </a:ext>
            </a:extLst>
          </p:cNvPr>
          <p:cNvSpPr>
            <a:spLocks xmlns:a="http://schemas.openxmlformats.org/drawingml/2006/main" noGrp="1"/>
          </p:cNvSpPr>
          <p:nvPr/>
        </p:nvSpPr>
        <p:spPr>
          <a:xfrm xmlns:a="http://schemas.openxmlformats.org/drawingml/2006/main">
            <a:off x="13620750" y="4914900"/>
            <a:ext cx="32194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00" b="1">
                <a:solidFill>
                  <a:srgbClr val="17263A"/>
                </a:solidFill>
                <a:latin typeface="프리텐다드"/>
                <a:ea typeface="프리텐다드"/>
                <a:cs typeface="프리텐다드"/>
              </a:defRPr>
            </a:pPr>
            <a:r>
              <a:rPr sz="2400" b="1">
                <a:solidFill>
                  <a:srgbClr val="17263A"/>
                </a:solidFill>
                <a:latin typeface="프리텐다드"/>
                <a:ea typeface="프리텐다드"/>
                <a:cs typeface="프리텐다드"/>
              </a:rPr>
              <a:t>진료에 연결</a:t>
            </a:r>
          </a:p>
        </p:txBody>
      </p:sp>
      <p:sp>
        <p:nvSpPr>
          <p:cNvPr id="29" name="">
            <a:extLst xmlns:a="http://schemas.openxmlformats.org/drawingml/2006/main">
              <a:ext uri="{FF2B5EF4-FFF2-40B4-BE49-F238E27FC236}">
                <a16:creationId xmlns:a16="http://schemas.microsoft.com/office/drawing/2014/main" id="{0CA75906-6A09-4541-97B6-C5D9D04381C6}"/>
              </a:ext>
            </a:extLst>
          </p:cNvPr>
          <p:cNvSpPr>
            <a:spLocks xmlns:a="http://schemas.openxmlformats.org/drawingml/2006/main" noGrp="1"/>
          </p:cNvSpPr>
          <p:nvPr/>
        </p:nvSpPr>
        <p:spPr>
          <a:xfrm xmlns:a="http://schemas.openxmlformats.org/drawingml/2006/main">
            <a:off x="13620750" y="5562600"/>
            <a:ext cx="32194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필요 영상의 범위와</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출처 확인이 중요</a:t>
            </a:r>
          </a:p>
        </p:txBody>
      </p:sp>
      <p:sp>
        <p:nvSpPr>
          <p:cNvPr id="30" name="">
            <a:extLst xmlns:a="http://schemas.openxmlformats.org/drawingml/2006/main">
              <a:ext uri="{FF2B5EF4-FFF2-40B4-BE49-F238E27FC236}">
                <a16:creationId xmlns:a16="http://schemas.microsoft.com/office/drawing/2014/main" id="{4198DA19-A624-4273-BA59-298CFB7AEEAD}"/>
              </a:ext>
            </a:extLst>
          </p:cNvPr>
          <p:cNvSpPr>
            <a:spLocks xmlns:a="http://schemas.openxmlformats.org/drawingml/2006/main" noGrp="1"/>
          </p:cNvSpPr>
          <p:nvPr/>
        </p:nvSpPr>
        <p:spPr>
          <a:xfrm xmlns:a="http://schemas.openxmlformats.org/drawingml/2006/main">
            <a:off x="1028700" y="7239000"/>
            <a:ext cx="16230600" cy="1409700"/>
          </a:xfrm>
          <a:prstGeom xmlns:a="http://schemas.openxmlformats.org/drawingml/2006/main" prst="roundRect">
            <a:avLst>
              <a:gd name="adj" fmla="val 14865"/>
            </a:avLst>
          </a:prstGeom>
          <a:solidFill xmlns:a="http://schemas.openxmlformats.org/drawingml/2006/main">
            <a:srgbClr val="0B2342"/>
          </a:solidFill>
          <a:ln xmlns:a="http://schemas.openxmlformats.org/drawingml/2006/main" w="14288">
            <a:solidFill>
              <a:srgbClr val="0B2342"/>
            </a:solidFill>
            <a:prstDash val="solid"/>
          </a:ln>
        </p:spPr>
      </p:sp>
      <p:sp>
        <p:nvSpPr>
          <p:cNvPr id="31" name="">
            <a:extLst xmlns:a="http://schemas.openxmlformats.org/drawingml/2006/main">
              <a:ext uri="{FF2B5EF4-FFF2-40B4-BE49-F238E27FC236}">
                <a16:creationId xmlns:a16="http://schemas.microsoft.com/office/drawing/2014/main" id="{1A10022B-5ACB-4987-8633-E85FBD76DD0D}"/>
              </a:ext>
            </a:extLst>
          </p:cNvPr>
          <p:cNvSpPr>
            <a:spLocks xmlns:a="http://schemas.openxmlformats.org/drawingml/2006/main" noGrp="1"/>
          </p:cNvSpPr>
          <p:nvPr/>
        </p:nvSpPr>
        <p:spPr>
          <a:xfrm xmlns:a="http://schemas.openxmlformats.org/drawingml/2006/main">
            <a:off x="1428750" y="7477125"/>
            <a:ext cx="1543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475" b="1">
                <a:solidFill>
                  <a:srgbClr val="FFFFFF"/>
                </a:solidFill>
                <a:latin typeface="프리텐다드"/>
                <a:ea typeface="프리텐다드"/>
                <a:cs typeface="프리텐다드"/>
              </a:defRPr>
            </a:pPr>
            <a:r>
              <a:rPr sz="2475" b="1">
                <a:solidFill>
                  <a:srgbClr val="FFFFFF"/>
                </a:solidFill>
                <a:latin typeface="프리텐다드"/>
                <a:ea typeface="프리텐다드"/>
                <a:cs typeface="프리텐다드"/>
              </a:rPr>
              <a:t>핵심 질문은 ‘영상이 있나?’에서 끝나지 않습니다.</a:t>
            </a:r>
          </a:p>
          <a:p xmlns:a="http://schemas.openxmlformats.org/drawingml/2006/main">
            <a:pPr algn="ctr">
              <a:defRPr sz="2475" b="1">
                <a:solidFill>
                  <a:srgbClr val="FFFFFF"/>
                </a:solidFill>
                <a:latin typeface="프리텐다드"/>
                <a:ea typeface="프리텐다드"/>
                <a:cs typeface="프리텐다드"/>
              </a:defRPr>
            </a:pPr>
            <a:r>
              <a:rPr sz="2475" b="1">
                <a:solidFill>
                  <a:srgbClr val="FFFFFF"/>
                </a:solidFill>
                <a:latin typeface="프리텐다드"/>
                <a:ea typeface="프리텐다드"/>
                <a:cs typeface="프리텐다드"/>
              </a:rPr>
              <a:t>‘누가, 어떤 동의로, 어느 범위까지 열었는가?’를 연결해야 합니다.</a:t>
            </a:r>
          </a:p>
        </p:txBody>
      </p:sp>
      <p:sp>
        <p:nvSpPr>
          <p:cNvPr id="32" name="">
            <a:extLst xmlns:a="http://schemas.openxmlformats.org/drawingml/2006/main">
              <a:ext uri="{FF2B5EF4-FFF2-40B4-BE49-F238E27FC236}">
                <a16:creationId xmlns:a16="http://schemas.microsoft.com/office/drawing/2014/main" id="{CA3EF8AA-5EBF-4971-883E-F06C8E81D765}"/>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F20FE95-CE88-41E0-83DE-BBC5C2451776}"/>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34" name="">
            <a:extLst xmlns:a="http://schemas.openxmlformats.org/drawingml/2006/main">
              <a:ext uri="{FF2B5EF4-FFF2-40B4-BE49-F238E27FC236}">
                <a16:creationId xmlns:a16="http://schemas.microsoft.com/office/drawing/2014/main" id="{61F78CC8-BAEA-4240-A80E-3D0C62E3C518}"/>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03  /  22</a:t>
            </a:r>
          </a:p>
        </p:txBody>
      </p:sp>
    </p:spTree>
    <p:extLst>
      <p:ext uri="{BB962C8B-B14F-4D97-AF65-F5344CB8AC3E}">
        <p14:creationId xmlns:p14="http://schemas.microsoft.com/office/powerpoint/2010/main" val="780051164"/>
      </p:ext>
    </p:extLst>
  </p:cSld>
</p:sld>
</file>

<file path=ppt/slides/slide4.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3CA4F886-F040-49AB-8BC5-F57B46B1347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2901303-9197-45CD-A85A-E25DB8CC4F38}"/>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1C33219-7980-4CBA-9421-23AE39B7C05A}"/>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9038BCF-3D49-400C-9BED-795307FF4ED8}"/>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CORE JOURNEY</a:t>
            </a:r>
          </a:p>
        </p:txBody>
      </p:sp>
      <p:sp>
        <p:nvSpPr>
          <p:cNvPr id="5" name="">
            <a:extLst xmlns:a="http://schemas.openxmlformats.org/drawingml/2006/main">
              <a:ext uri="{FF2B5EF4-FFF2-40B4-BE49-F238E27FC236}">
                <a16:creationId xmlns:a16="http://schemas.microsoft.com/office/drawing/2014/main" id="{E795C8FF-0D8E-46E9-924E-A9AF29391214}"/>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영상은 원본기관에, 권한은 티켓으로</a:t>
            </a:r>
          </a:p>
        </p:txBody>
      </p:sp>
      <p:sp>
        <p:nvSpPr>
          <p:cNvPr id="6" name="">
            <a:extLst xmlns:a="http://schemas.openxmlformats.org/drawingml/2006/main">
              <a:ext uri="{FF2B5EF4-FFF2-40B4-BE49-F238E27FC236}">
                <a16:creationId xmlns:a16="http://schemas.microsoft.com/office/drawing/2014/main" id="{4C5FD13B-A6BC-4FCD-98AF-69D83ADA3211}"/>
              </a:ext>
            </a:extLst>
          </p:cNvPr>
          <p:cNvSpPr>
            <a:spLocks xmlns:a="http://schemas.openxmlformats.org/drawingml/2006/main" noGrp="1"/>
          </p:cNvSpPr>
          <p:nvPr/>
        </p:nvSpPr>
        <p:spPr>
          <a:xfrm xmlns:a="http://schemas.openxmlformats.org/drawingml/2006/main">
            <a:off x="1028700" y="2724150"/>
            <a:ext cx="16230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75" b="0">
                <a:solidFill>
                  <a:srgbClr val="53657B"/>
                </a:solidFill>
                <a:latin typeface="프리텐다드"/>
                <a:ea typeface="프리텐다드"/>
                <a:cs typeface="프리텐다드"/>
              </a:defRPr>
            </a:pPr>
            <a:r>
              <a:rPr sz="2175" b="0">
                <a:solidFill>
                  <a:srgbClr val="53657B"/>
                </a:solidFill>
                <a:latin typeface="프리텐다드"/>
                <a:ea typeface="프리텐다드"/>
                <a:cs typeface="프리텐다드"/>
              </a:rPr>
              <a:t>Medi Q가 옮기는 것은 ‘무제한 파일’이 아니라, 동의로 좁힌 접근 범위입니다.</a:t>
            </a:r>
          </a:p>
        </p:txBody>
      </p:sp>
      <p:sp>
        <p:nvSpPr>
          <p:cNvPr id="7" name="">
            <a:extLst xmlns:a="http://schemas.openxmlformats.org/drawingml/2006/main">
              <a:ext uri="{FF2B5EF4-FFF2-40B4-BE49-F238E27FC236}">
                <a16:creationId xmlns:a16="http://schemas.microsoft.com/office/drawing/2014/main" id="{AACA8719-049A-4656-8F53-728EEAEDD1AE}"/>
              </a:ext>
            </a:extLst>
          </p:cNvPr>
          <p:cNvSpPr>
            <a:spLocks xmlns:a="http://schemas.openxmlformats.org/drawingml/2006/main" noGrp="1"/>
          </p:cNvSpPr>
          <p:nvPr/>
        </p:nvSpPr>
        <p:spPr>
          <a:xfrm xmlns:a="http://schemas.openxmlformats.org/drawingml/2006/main">
            <a:off x="1028700" y="3962400"/>
            <a:ext cx="3905250" cy="2857500"/>
          </a:xfrm>
          <a:prstGeom xmlns:a="http://schemas.openxmlformats.org/drawingml/2006/main" prst="roundRect">
            <a:avLst>
              <a:gd name="adj" fmla="val 8667"/>
            </a:avLst>
          </a:prstGeom>
          <a:solidFill xmlns:a="http://schemas.openxmlformats.org/drawingml/2006/main">
            <a:srgbClr val="FFFFFF"/>
          </a:solidFill>
          <a:ln xmlns:a="http://schemas.openxmlformats.org/drawingml/2006/main" w="14288">
            <a:solidFill>
              <a:srgbClr val="D8E0E9"/>
            </a:solidFill>
            <a:prstDash val="solid"/>
          </a:ln>
        </p:spPr>
      </p:sp>
      <p:sp>
        <p:nvSpPr>
          <p:cNvPr id="8" name="">
            <a:extLst xmlns:a="http://schemas.openxmlformats.org/drawingml/2006/main">
              <a:ext uri="{FF2B5EF4-FFF2-40B4-BE49-F238E27FC236}">
                <a16:creationId xmlns:a16="http://schemas.microsoft.com/office/drawing/2014/main" id="{CB85D013-48E1-4E64-822F-3EBB71243484}"/>
              </a:ext>
            </a:extLst>
          </p:cNvPr>
          <p:cNvSpPr>
            <a:spLocks xmlns:a="http://schemas.openxmlformats.org/drawingml/2006/main" noGrp="1"/>
          </p:cNvSpPr>
          <p:nvPr/>
        </p:nvSpPr>
        <p:spPr>
          <a:xfrm xmlns:a="http://schemas.openxmlformats.org/drawingml/2006/main">
            <a:off x="1314450" y="4210050"/>
            <a:ext cx="1476375"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5496252-1485-463F-9F1F-1C16C7787D5F}"/>
              </a:ext>
            </a:extLst>
          </p:cNvPr>
          <p:cNvSpPr>
            <a:spLocks xmlns:a="http://schemas.openxmlformats.org/drawingml/2006/main" noGrp="1"/>
          </p:cNvSpPr>
          <p:nvPr/>
        </p:nvSpPr>
        <p:spPr>
          <a:xfrm xmlns:a="http://schemas.openxmlformats.org/drawingml/2006/main">
            <a:off x="1371600" y="4219575"/>
            <a:ext cx="13620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SOURCE</a:t>
            </a:r>
          </a:p>
        </p:txBody>
      </p:sp>
      <p:sp>
        <p:nvSpPr>
          <p:cNvPr id="10" name="">
            <a:extLst xmlns:a="http://schemas.openxmlformats.org/drawingml/2006/main">
              <a:ext uri="{FF2B5EF4-FFF2-40B4-BE49-F238E27FC236}">
                <a16:creationId xmlns:a16="http://schemas.microsoft.com/office/drawing/2014/main" id="{15DFA855-00A4-48C4-A756-5FDD6D035B81}"/>
              </a:ext>
            </a:extLst>
          </p:cNvPr>
          <p:cNvSpPr>
            <a:spLocks xmlns:a="http://schemas.openxmlformats.org/drawingml/2006/main" noGrp="1"/>
          </p:cNvSpPr>
          <p:nvPr/>
        </p:nvSpPr>
        <p:spPr>
          <a:xfrm xmlns:a="http://schemas.openxmlformats.org/drawingml/2006/main">
            <a:off x="1314450" y="4781550"/>
            <a:ext cx="333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A병원 · 원본 PACS</a:t>
            </a:r>
          </a:p>
        </p:txBody>
      </p:sp>
      <p:sp>
        <p:nvSpPr>
          <p:cNvPr id="11" name="">
            <a:extLst xmlns:a="http://schemas.openxmlformats.org/drawingml/2006/main">
              <a:ext uri="{FF2B5EF4-FFF2-40B4-BE49-F238E27FC236}">
                <a16:creationId xmlns:a16="http://schemas.microsoft.com/office/drawing/2014/main" id="{19B63020-5B0D-468D-9FF0-02EEAB9E83E0}"/>
              </a:ext>
            </a:extLst>
          </p:cNvPr>
          <p:cNvSpPr>
            <a:spLocks xmlns:a="http://schemas.openxmlformats.org/drawingml/2006/main" noGrp="1"/>
          </p:cNvSpPr>
          <p:nvPr/>
        </p:nvSpPr>
        <p:spPr>
          <a:xfrm xmlns:a="http://schemas.openxmlformats.org/drawingml/2006/main">
            <a:off x="1314450" y="5448300"/>
            <a:ext cx="333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75" b="0">
                <a:solidFill>
                  <a:srgbClr val="53657B"/>
                </a:solidFill>
                <a:latin typeface="프리텐다드"/>
                <a:ea typeface="프리텐다드"/>
                <a:cs typeface="프리텐다드"/>
              </a:defRPr>
            </a:pPr>
            <a:r>
              <a:rPr sz="1875" b="0">
                <a:solidFill>
                  <a:srgbClr val="53657B"/>
                </a:solidFill>
                <a:latin typeface="프리텐다드"/>
                <a:ea typeface="프리텐다드"/>
                <a:cs typeface="프리텐다드"/>
              </a:rPr>
              <a:t>영상의 원본은</a:t>
            </a:r>
          </a:p>
          <a:p xmlns:a="http://schemas.openxmlformats.org/drawingml/2006/main">
            <a:pPr algn="l">
              <a:defRPr sz="1875" b="0">
                <a:solidFill>
                  <a:srgbClr val="53657B"/>
                </a:solidFill>
                <a:latin typeface="프리텐다드"/>
                <a:ea typeface="프리텐다드"/>
                <a:cs typeface="프리텐다드"/>
              </a:defRPr>
            </a:pPr>
            <a:r>
              <a:rPr sz="1875" b="0">
                <a:solidFill>
                  <a:srgbClr val="53657B"/>
                </a:solidFill>
                <a:latin typeface="프리텐다드"/>
                <a:ea typeface="프리텐다드"/>
                <a:cs typeface="프리텐다드"/>
              </a:rPr>
              <a:t>A병원 시험 PACS에 유지</a:t>
            </a:r>
          </a:p>
        </p:txBody>
      </p:sp>
      <p:sp>
        <p:nvSpPr>
          <p:cNvPr id="12" name="">
            <a:extLst xmlns:a="http://schemas.openxmlformats.org/drawingml/2006/main">
              <a:ext uri="{FF2B5EF4-FFF2-40B4-BE49-F238E27FC236}">
                <a16:creationId xmlns:a16="http://schemas.microsoft.com/office/drawing/2014/main" id="{24833EE2-3A95-4685-A6EF-A27D7A552B0A}"/>
              </a:ext>
            </a:extLst>
          </p:cNvPr>
          <p:cNvSpPr>
            <a:spLocks xmlns:a="http://schemas.openxmlformats.org/drawingml/2006/main" noGrp="1"/>
          </p:cNvSpPr>
          <p:nvPr/>
        </p:nvSpPr>
        <p:spPr>
          <a:xfrm xmlns:a="http://schemas.openxmlformats.org/drawingml/2006/main">
            <a:off x="4972050" y="4933950"/>
            <a:ext cx="819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3750" b="1">
                <a:solidFill>
                  <a:srgbClr val="2F68B5"/>
                </a:solidFill>
                <a:latin typeface="프리텐다드"/>
                <a:ea typeface="프리텐다드"/>
                <a:cs typeface="프리텐다드"/>
              </a:defRPr>
            </a:pPr>
            <a:r>
              <a:rPr sz="3750" b="1">
                <a:solidFill>
                  <a:srgbClr val="2F68B5"/>
                </a:solidFill>
                <a:latin typeface="프리텐다드"/>
                <a:ea typeface="프리텐다드"/>
                <a:cs typeface="프리텐다드"/>
              </a:rPr>
              <a:t>→</a:t>
            </a:r>
          </a:p>
        </p:txBody>
      </p:sp>
      <p:sp>
        <p:nvSpPr>
          <p:cNvPr id="13" name="">
            <a:extLst xmlns:a="http://schemas.openxmlformats.org/drawingml/2006/main">
              <a:ext uri="{FF2B5EF4-FFF2-40B4-BE49-F238E27FC236}">
                <a16:creationId xmlns:a16="http://schemas.microsoft.com/office/drawing/2014/main" id="{89A8AFCD-0DA4-4E61-BDC9-509E578A9D33}"/>
              </a:ext>
            </a:extLst>
          </p:cNvPr>
          <p:cNvSpPr>
            <a:spLocks xmlns:a="http://schemas.openxmlformats.org/drawingml/2006/main" noGrp="1"/>
          </p:cNvSpPr>
          <p:nvPr/>
        </p:nvSpPr>
        <p:spPr>
          <a:xfrm xmlns:a="http://schemas.openxmlformats.org/drawingml/2006/main">
            <a:off x="5810250" y="3467100"/>
            <a:ext cx="6667500" cy="3848100"/>
          </a:xfrm>
          <a:prstGeom xmlns:a="http://schemas.openxmlformats.org/drawingml/2006/main" prst="roundRect">
            <a:avLst>
              <a:gd name="adj" fmla="val 6931"/>
            </a:avLst>
          </a:prstGeom>
          <a:solidFill xmlns:a="http://schemas.openxmlformats.org/drawingml/2006/main">
            <a:srgbClr val="0B2342"/>
          </a:solidFill>
          <a:ln xmlns:a="http://schemas.openxmlformats.org/drawingml/2006/main" w="14288">
            <a:solidFill>
              <a:srgbClr val="0B2342"/>
            </a:solidFill>
            <a:prstDash val="solid"/>
          </a:ln>
        </p:spPr>
      </p:sp>
      <p:sp>
        <p:nvSpPr>
          <p:cNvPr id="14" name="">
            <a:extLst xmlns:a="http://schemas.openxmlformats.org/drawingml/2006/main">
              <a:ext uri="{FF2B5EF4-FFF2-40B4-BE49-F238E27FC236}">
                <a16:creationId xmlns:a16="http://schemas.microsoft.com/office/drawing/2014/main" id="{6DD4FB57-FE34-468A-AEEF-7F34023AEE96}"/>
              </a:ext>
            </a:extLst>
          </p:cNvPr>
          <p:cNvSpPr>
            <a:spLocks xmlns:a="http://schemas.openxmlformats.org/drawingml/2006/main" noGrp="1"/>
          </p:cNvSpPr>
          <p:nvPr/>
        </p:nvSpPr>
        <p:spPr>
          <a:xfrm xmlns:a="http://schemas.openxmlformats.org/drawingml/2006/main">
            <a:off x="5810250" y="3467100"/>
            <a:ext cx="133350" cy="3848100"/>
          </a:xfrm>
          <a:prstGeom xmlns:a="http://schemas.openxmlformats.org/drawingml/2006/main" prst="rect">
            <a:avLst/>
          </a:prstGeom>
          <a:solidFill xmlns:a="http://schemas.openxmlformats.org/drawingml/2006/main">
            <a:srgbClr val="55C2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2CF2AB6-8956-4501-82FF-1A2468E6F90E}"/>
              </a:ext>
            </a:extLst>
          </p:cNvPr>
          <p:cNvSpPr>
            <a:spLocks xmlns:a="http://schemas.openxmlformats.org/drawingml/2006/main" noGrp="1"/>
          </p:cNvSpPr>
          <p:nvPr/>
        </p:nvSpPr>
        <p:spPr>
          <a:xfrm xmlns:a="http://schemas.openxmlformats.org/drawingml/2006/main">
            <a:off x="6248400" y="3752850"/>
            <a:ext cx="5762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1">
                <a:solidFill>
                  <a:srgbClr val="55C2D8"/>
                </a:solidFill>
                <a:latin typeface="프리텐다드"/>
                <a:ea typeface="프리텐다드"/>
                <a:cs typeface="프리텐다드"/>
              </a:defRPr>
            </a:pPr>
            <a:r>
              <a:rPr sz="1800" b="1">
                <a:solidFill>
                  <a:srgbClr val="55C2D8"/>
                </a:solidFill>
                <a:latin typeface="프리텐다드"/>
                <a:ea typeface="프리텐다드"/>
                <a:cs typeface="프리텐다드"/>
              </a:rPr>
              <a:t>환자 동의 티켓</a:t>
            </a:r>
          </a:p>
        </p:txBody>
      </p:sp>
      <p:sp>
        <p:nvSpPr>
          <p:cNvPr id="16" name="">
            <a:extLst xmlns:a="http://schemas.openxmlformats.org/drawingml/2006/main">
              <a:ext uri="{FF2B5EF4-FFF2-40B4-BE49-F238E27FC236}">
                <a16:creationId xmlns:a16="http://schemas.microsoft.com/office/drawing/2014/main" id="{0F9872F3-B32E-48FB-A4C2-C9D204C577CD}"/>
              </a:ext>
            </a:extLst>
          </p:cNvPr>
          <p:cNvSpPr>
            <a:spLocks xmlns:a="http://schemas.openxmlformats.org/drawingml/2006/main" noGrp="1"/>
          </p:cNvSpPr>
          <p:nvPr/>
        </p:nvSpPr>
        <p:spPr>
          <a:xfrm xmlns:a="http://schemas.openxmlformats.org/drawingml/2006/main">
            <a:off x="6248400" y="4219575"/>
            <a:ext cx="57531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63063"/>
          </a:bodyPr>
          <a:lstStyle xmlns:a="http://schemas.openxmlformats.org/drawingml/2006/main"/>
          <a:p xmlns:a="http://schemas.openxmlformats.org/drawingml/2006/main">
            <a:pPr algn="l">
              <a:defRPr sz="2775" b="1">
                <a:solidFill>
                  <a:srgbClr val="FFFFFF"/>
                </a:solidFill>
                <a:latin typeface="프리텐다드"/>
                <a:ea typeface="프리텐다드"/>
                <a:cs typeface="프리텐다드"/>
              </a:defRPr>
            </a:pPr>
            <a:r>
              <a:rPr sz="2775" b="1">
                <a:solidFill>
                  <a:srgbClr val="FFFFFF"/>
                </a:solidFill>
                <a:latin typeface="프리텐다드"/>
                <a:ea typeface="프리텐다드"/>
                <a:cs typeface="프리텐다드"/>
              </a:rPr>
              <a:t>열어도 되는 곳과</a:t>
            </a:r>
          </a:p>
          <a:p xmlns:a="http://schemas.openxmlformats.org/drawingml/2006/main">
            <a:pPr algn="l">
              <a:defRPr sz="2775" b="1">
                <a:solidFill>
                  <a:srgbClr val="FFFFFF"/>
                </a:solidFill>
                <a:latin typeface="프리텐다드"/>
                <a:ea typeface="프리텐다드"/>
                <a:cs typeface="프리텐다드"/>
              </a:defRPr>
            </a:pPr>
            <a:r>
              <a:rPr sz="2775" b="1">
                <a:solidFill>
                  <a:srgbClr val="FFFFFF"/>
                </a:solidFill>
                <a:latin typeface="프리텐다드"/>
                <a:ea typeface="프리텐다드"/>
                <a:cs typeface="프리텐다드"/>
              </a:rPr>
              <a:t>열 수 있는 범위를 먼저 고정</a:t>
            </a:r>
          </a:p>
        </p:txBody>
      </p:sp>
      <p:sp>
        <p:nvSpPr>
          <p:cNvPr id="17" name="">
            <a:extLst xmlns:a="http://schemas.openxmlformats.org/drawingml/2006/main">
              <a:ext uri="{FF2B5EF4-FFF2-40B4-BE49-F238E27FC236}">
                <a16:creationId xmlns:a16="http://schemas.microsoft.com/office/drawing/2014/main" id="{28CF330D-8DA9-4991-8E47-BAE447C56465}"/>
              </a:ext>
            </a:extLst>
          </p:cNvPr>
          <p:cNvSpPr>
            <a:spLocks xmlns:a="http://schemas.openxmlformats.org/drawingml/2006/main" noGrp="1"/>
          </p:cNvSpPr>
          <p:nvPr/>
        </p:nvSpPr>
        <p:spPr>
          <a:xfrm xmlns:a="http://schemas.openxmlformats.org/drawingml/2006/main">
            <a:off x="6248400" y="4972050"/>
            <a:ext cx="5619750" cy="19050"/>
          </a:xfrm>
          <a:prstGeom xmlns:a="http://schemas.openxmlformats.org/drawingml/2006/main" prst="rect">
            <a:avLst/>
          </a:prstGeom>
          <a:solidFill xmlns:a="http://schemas.openxmlformats.org/drawingml/2006/main">
            <a:srgbClr val="34516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C766BB7-0407-4E77-BF9E-0503452F5610}"/>
              </a:ext>
            </a:extLst>
          </p:cNvPr>
          <p:cNvSpPr>
            <a:spLocks xmlns:a="http://schemas.openxmlformats.org/drawingml/2006/main" noGrp="1"/>
          </p:cNvSpPr>
          <p:nvPr/>
        </p:nvSpPr>
        <p:spPr>
          <a:xfrm xmlns:a="http://schemas.openxmlformats.org/drawingml/2006/main">
            <a:off x="6248400" y="5143500"/>
            <a:ext cx="1447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AFC5DE"/>
                </a:solidFill>
                <a:latin typeface="프리텐다드"/>
                <a:ea typeface="프리텐다드"/>
                <a:cs typeface="프리텐다드"/>
              </a:defRPr>
            </a:pPr>
            <a:r>
              <a:rPr sz="1500" b="0">
                <a:solidFill>
                  <a:srgbClr val="AFC5DE"/>
                </a:solidFill>
                <a:latin typeface="프리텐다드"/>
                <a:ea typeface="프리텐다드"/>
                <a:cs typeface="프리텐다드"/>
              </a:rPr>
              <a:t>받는 곳</a:t>
            </a:r>
          </a:p>
        </p:txBody>
      </p:sp>
      <p:sp>
        <p:nvSpPr>
          <p:cNvPr id="19" name="">
            <a:extLst xmlns:a="http://schemas.openxmlformats.org/drawingml/2006/main">
              <a:ext uri="{FF2B5EF4-FFF2-40B4-BE49-F238E27FC236}">
                <a16:creationId xmlns:a16="http://schemas.microsoft.com/office/drawing/2014/main" id="{1F5720F0-033F-44E8-B16B-4EB2E71FF9CF}"/>
              </a:ext>
            </a:extLst>
          </p:cNvPr>
          <p:cNvSpPr>
            <a:spLocks xmlns:a="http://schemas.openxmlformats.org/drawingml/2006/main" noGrp="1"/>
          </p:cNvSpPr>
          <p:nvPr/>
        </p:nvSpPr>
        <p:spPr>
          <a:xfrm xmlns:a="http://schemas.openxmlformats.org/drawingml/2006/main">
            <a:off x="7791450" y="5143500"/>
            <a:ext cx="4057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1">
                <a:solidFill>
                  <a:srgbClr val="FFFFFF"/>
                </a:solidFill>
                <a:latin typeface="프리텐다드"/>
                <a:ea typeface="프리텐다드"/>
                <a:cs typeface="프리텐다드"/>
              </a:defRPr>
            </a:pPr>
            <a:r>
              <a:rPr sz="1575" b="1">
                <a:solidFill>
                  <a:srgbClr val="FFFFFF"/>
                </a:solidFill>
                <a:latin typeface="프리텐다드"/>
                <a:ea typeface="프리텐다드"/>
                <a:cs typeface="프리텐다드"/>
              </a:rPr>
              <a:t>B병원</a:t>
            </a:r>
          </a:p>
        </p:txBody>
      </p:sp>
      <p:sp>
        <p:nvSpPr>
          <p:cNvPr id="20" name="">
            <a:extLst xmlns:a="http://schemas.openxmlformats.org/drawingml/2006/main">
              <a:ext uri="{FF2B5EF4-FFF2-40B4-BE49-F238E27FC236}">
                <a16:creationId xmlns:a16="http://schemas.microsoft.com/office/drawing/2014/main" id="{B994E908-FEF4-49BE-8128-79B43D934D1F}"/>
              </a:ext>
            </a:extLst>
          </p:cNvPr>
          <p:cNvSpPr>
            <a:spLocks xmlns:a="http://schemas.openxmlformats.org/drawingml/2006/main" noGrp="1"/>
          </p:cNvSpPr>
          <p:nvPr/>
        </p:nvSpPr>
        <p:spPr>
          <a:xfrm xmlns:a="http://schemas.openxmlformats.org/drawingml/2006/main">
            <a:off x="6248400" y="5600700"/>
            <a:ext cx="1447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AFC5DE"/>
                </a:solidFill>
                <a:latin typeface="프리텐다드"/>
                <a:ea typeface="프리텐다드"/>
                <a:cs typeface="프리텐다드"/>
              </a:defRPr>
            </a:pPr>
            <a:r>
              <a:rPr sz="1500" b="0">
                <a:solidFill>
                  <a:srgbClr val="AFC5DE"/>
                </a:solidFill>
                <a:latin typeface="프리텐다드"/>
                <a:ea typeface="프리텐다드"/>
                <a:cs typeface="프리텐다드"/>
              </a:rPr>
              <a:t>목적</a:t>
            </a:r>
          </a:p>
        </p:txBody>
      </p:sp>
      <p:sp>
        <p:nvSpPr>
          <p:cNvPr id="21" name="">
            <a:extLst xmlns:a="http://schemas.openxmlformats.org/drawingml/2006/main">
              <a:ext uri="{FF2B5EF4-FFF2-40B4-BE49-F238E27FC236}">
                <a16:creationId xmlns:a16="http://schemas.microsoft.com/office/drawing/2014/main" id="{B5971C6E-A98D-439A-8750-B334EFD82C56}"/>
              </a:ext>
            </a:extLst>
          </p:cNvPr>
          <p:cNvSpPr>
            <a:spLocks xmlns:a="http://schemas.openxmlformats.org/drawingml/2006/main" noGrp="1"/>
          </p:cNvSpPr>
          <p:nvPr/>
        </p:nvSpPr>
        <p:spPr>
          <a:xfrm xmlns:a="http://schemas.openxmlformats.org/drawingml/2006/main">
            <a:off x="7791450" y="5600700"/>
            <a:ext cx="4057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1">
                <a:solidFill>
                  <a:srgbClr val="FFFFFF"/>
                </a:solidFill>
                <a:latin typeface="프리텐다드"/>
                <a:ea typeface="프리텐다드"/>
                <a:cs typeface="프리텐다드"/>
              </a:defRPr>
            </a:pPr>
            <a:r>
              <a:rPr sz="1575" b="1">
                <a:solidFill>
                  <a:srgbClr val="FFFFFF"/>
                </a:solidFill>
                <a:latin typeface="프리텐다드"/>
                <a:ea typeface="프리텐다드"/>
                <a:cs typeface="프리텐다드"/>
              </a:rPr>
              <a:t>진료</a:t>
            </a:r>
          </a:p>
        </p:txBody>
      </p:sp>
      <p:sp>
        <p:nvSpPr>
          <p:cNvPr id="22" name="">
            <a:extLst xmlns:a="http://schemas.openxmlformats.org/drawingml/2006/main">
              <a:ext uri="{FF2B5EF4-FFF2-40B4-BE49-F238E27FC236}">
                <a16:creationId xmlns:a16="http://schemas.microsoft.com/office/drawing/2014/main" id="{AF7BC790-C2CB-495D-9E2D-36D0D23EC5F3}"/>
              </a:ext>
            </a:extLst>
          </p:cNvPr>
          <p:cNvSpPr>
            <a:spLocks xmlns:a="http://schemas.openxmlformats.org/drawingml/2006/main" noGrp="1"/>
          </p:cNvSpPr>
          <p:nvPr/>
        </p:nvSpPr>
        <p:spPr>
          <a:xfrm xmlns:a="http://schemas.openxmlformats.org/drawingml/2006/main">
            <a:off x="6248400" y="6057900"/>
            <a:ext cx="1447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AFC5DE"/>
                </a:solidFill>
                <a:latin typeface="프리텐다드"/>
                <a:ea typeface="프리텐다드"/>
                <a:cs typeface="프리텐다드"/>
              </a:defRPr>
            </a:pPr>
            <a:r>
              <a:rPr sz="1500" b="0">
                <a:solidFill>
                  <a:srgbClr val="AFC5DE"/>
                </a:solidFill>
                <a:latin typeface="프리텐다드"/>
                <a:ea typeface="프리텐다드"/>
                <a:cs typeface="프리텐다드"/>
              </a:rPr>
              <a:t>기간·범위</a:t>
            </a:r>
          </a:p>
        </p:txBody>
      </p:sp>
      <p:sp>
        <p:nvSpPr>
          <p:cNvPr id="23" name="">
            <a:extLst xmlns:a="http://schemas.openxmlformats.org/drawingml/2006/main">
              <a:ext uri="{FF2B5EF4-FFF2-40B4-BE49-F238E27FC236}">
                <a16:creationId xmlns:a16="http://schemas.microsoft.com/office/drawing/2014/main" id="{EADCE759-D9ED-4B32-B314-B426F93040F3}"/>
              </a:ext>
            </a:extLst>
          </p:cNvPr>
          <p:cNvSpPr>
            <a:spLocks xmlns:a="http://schemas.openxmlformats.org/drawingml/2006/main" noGrp="1"/>
          </p:cNvSpPr>
          <p:nvPr/>
        </p:nvSpPr>
        <p:spPr>
          <a:xfrm xmlns:a="http://schemas.openxmlformats.org/drawingml/2006/main">
            <a:off x="7791450" y="6057900"/>
            <a:ext cx="4057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1">
                <a:solidFill>
                  <a:srgbClr val="FFFFFF"/>
                </a:solidFill>
                <a:latin typeface="프리텐다드"/>
                <a:ea typeface="프리텐다드"/>
                <a:cs typeface="프리텐다드"/>
              </a:defRPr>
            </a:pPr>
            <a:r>
              <a:rPr sz="1575" b="1">
                <a:solidFill>
                  <a:srgbClr val="FFFFFF"/>
                </a:solidFill>
                <a:latin typeface="프리텐다드"/>
                <a:ea typeface="프리텐다드"/>
                <a:cs typeface="프리텐다드"/>
              </a:rPr>
              <a:t>기간 + Study/Series</a:t>
            </a:r>
          </a:p>
        </p:txBody>
      </p:sp>
      <p:sp>
        <p:nvSpPr>
          <p:cNvPr id="24" name="">
            <a:extLst xmlns:a="http://schemas.openxmlformats.org/drawingml/2006/main">
              <a:ext uri="{FF2B5EF4-FFF2-40B4-BE49-F238E27FC236}">
                <a16:creationId xmlns:a16="http://schemas.microsoft.com/office/drawing/2014/main" id="{5D5F56BD-BB1D-45E6-80C3-528DFE4BA988}"/>
              </a:ext>
            </a:extLst>
          </p:cNvPr>
          <p:cNvSpPr>
            <a:spLocks xmlns:a="http://schemas.openxmlformats.org/drawingml/2006/main" noGrp="1"/>
          </p:cNvSpPr>
          <p:nvPr/>
        </p:nvSpPr>
        <p:spPr>
          <a:xfrm xmlns:a="http://schemas.openxmlformats.org/drawingml/2006/main">
            <a:off x="6248400" y="6515100"/>
            <a:ext cx="1447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AFC5DE"/>
                </a:solidFill>
                <a:latin typeface="프리텐다드"/>
                <a:ea typeface="프리텐다드"/>
                <a:cs typeface="프리텐다드"/>
              </a:defRPr>
            </a:pPr>
            <a:r>
              <a:rPr sz="1500" b="0">
                <a:solidFill>
                  <a:srgbClr val="AFC5DE"/>
                </a:solidFill>
                <a:latin typeface="프리텐다드"/>
                <a:ea typeface="프리텐다드"/>
                <a:cs typeface="프리텐다드"/>
              </a:rPr>
              <a:t>권한</a:t>
            </a:r>
          </a:p>
        </p:txBody>
      </p:sp>
      <p:sp>
        <p:nvSpPr>
          <p:cNvPr id="25" name="">
            <a:extLst xmlns:a="http://schemas.openxmlformats.org/drawingml/2006/main">
              <a:ext uri="{FF2B5EF4-FFF2-40B4-BE49-F238E27FC236}">
                <a16:creationId xmlns:a16="http://schemas.microsoft.com/office/drawing/2014/main" id="{76682738-F670-4BFB-8D05-D2A9C9E7BC0C}"/>
              </a:ext>
            </a:extLst>
          </p:cNvPr>
          <p:cNvSpPr>
            <a:spLocks xmlns:a="http://schemas.openxmlformats.org/drawingml/2006/main" noGrp="1"/>
          </p:cNvSpPr>
          <p:nvPr/>
        </p:nvSpPr>
        <p:spPr>
          <a:xfrm xmlns:a="http://schemas.openxmlformats.org/drawingml/2006/main">
            <a:off x="7791450" y="6515100"/>
            <a:ext cx="4057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1">
                <a:solidFill>
                  <a:srgbClr val="FFFFFF"/>
                </a:solidFill>
                <a:latin typeface="프리텐다드"/>
                <a:ea typeface="프리텐다드"/>
                <a:cs typeface="프리텐다드"/>
              </a:defRPr>
            </a:pPr>
            <a:r>
              <a:rPr sz="1575" b="1">
                <a:solidFill>
                  <a:srgbClr val="FFFFFF"/>
                </a:solidFill>
                <a:latin typeface="프리텐다드"/>
                <a:ea typeface="프리텐다드"/>
                <a:cs typeface="프리텐다드"/>
              </a:rPr>
              <a:t>VIEW_ONLY / DOWNLOAD_ALLOWED</a:t>
            </a:r>
          </a:p>
        </p:txBody>
      </p:sp>
      <p:sp>
        <p:nvSpPr>
          <p:cNvPr id="26" name="">
            <a:extLst xmlns:a="http://schemas.openxmlformats.org/drawingml/2006/main">
              <a:ext uri="{FF2B5EF4-FFF2-40B4-BE49-F238E27FC236}">
                <a16:creationId xmlns:a16="http://schemas.microsoft.com/office/drawing/2014/main" id="{77436B04-913B-4C31-983F-56D206F6F745}"/>
              </a:ext>
            </a:extLst>
          </p:cNvPr>
          <p:cNvSpPr>
            <a:spLocks xmlns:a="http://schemas.openxmlformats.org/drawingml/2006/main" noGrp="1"/>
          </p:cNvSpPr>
          <p:nvPr/>
        </p:nvSpPr>
        <p:spPr>
          <a:xfrm xmlns:a="http://schemas.openxmlformats.org/drawingml/2006/main">
            <a:off x="12487275" y="4933950"/>
            <a:ext cx="8191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3750" b="1">
                <a:solidFill>
                  <a:srgbClr val="2F68B5"/>
                </a:solidFill>
                <a:latin typeface="프리텐다드"/>
                <a:ea typeface="프리텐다드"/>
                <a:cs typeface="프리텐다드"/>
              </a:defRPr>
            </a:pPr>
            <a:r>
              <a:rPr sz="3750" b="1">
                <a:solidFill>
                  <a:srgbClr val="2F68B5"/>
                </a:solidFill>
                <a:latin typeface="프리텐다드"/>
                <a:ea typeface="프리텐다드"/>
                <a:cs typeface="프리텐다드"/>
              </a:rPr>
              <a:t>→</a:t>
            </a:r>
          </a:p>
        </p:txBody>
      </p:sp>
      <p:sp>
        <p:nvSpPr>
          <p:cNvPr id="27" name="">
            <a:extLst xmlns:a="http://schemas.openxmlformats.org/drawingml/2006/main">
              <a:ext uri="{FF2B5EF4-FFF2-40B4-BE49-F238E27FC236}">
                <a16:creationId xmlns:a16="http://schemas.microsoft.com/office/drawing/2014/main" id="{1C2BC6C6-7CDB-445E-8BB5-CD980BAB9567}"/>
              </a:ext>
            </a:extLst>
          </p:cNvPr>
          <p:cNvSpPr>
            <a:spLocks xmlns:a="http://schemas.openxmlformats.org/drawingml/2006/main" noGrp="1"/>
          </p:cNvSpPr>
          <p:nvPr/>
        </p:nvSpPr>
        <p:spPr>
          <a:xfrm xmlns:a="http://schemas.openxmlformats.org/drawingml/2006/main">
            <a:off x="13335000" y="3962400"/>
            <a:ext cx="3905250" cy="2857500"/>
          </a:xfrm>
          <a:prstGeom xmlns:a="http://schemas.openxmlformats.org/drawingml/2006/main" prst="roundRect">
            <a:avLst>
              <a:gd name="adj" fmla="val 8667"/>
            </a:avLst>
          </a:prstGeom>
          <a:solidFill xmlns:a="http://schemas.openxmlformats.org/drawingml/2006/main">
            <a:srgbClr val="E9F1FC"/>
          </a:solidFill>
          <a:ln xmlns:a="http://schemas.openxmlformats.org/drawingml/2006/main" w="14288">
            <a:solidFill>
              <a:srgbClr val="D8E0E9"/>
            </a:solidFill>
            <a:prstDash val="solid"/>
          </a:ln>
        </p:spPr>
      </p:sp>
      <p:sp>
        <p:nvSpPr>
          <p:cNvPr id="28" name="">
            <a:extLst xmlns:a="http://schemas.openxmlformats.org/drawingml/2006/main">
              <a:ext uri="{FF2B5EF4-FFF2-40B4-BE49-F238E27FC236}">
                <a16:creationId xmlns:a16="http://schemas.microsoft.com/office/drawing/2014/main" id="{D9727D7D-A3F4-4C4E-B61A-67093A02315E}"/>
              </a:ext>
            </a:extLst>
          </p:cNvPr>
          <p:cNvSpPr>
            <a:spLocks xmlns:a="http://schemas.openxmlformats.org/drawingml/2006/main" noGrp="1"/>
          </p:cNvSpPr>
          <p:nvPr/>
        </p:nvSpPr>
        <p:spPr>
          <a:xfrm xmlns:a="http://schemas.openxmlformats.org/drawingml/2006/main">
            <a:off x="13620750" y="4210050"/>
            <a:ext cx="1476375"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DB204DE-5087-447C-A782-A37D3F7E8CF9}"/>
              </a:ext>
            </a:extLst>
          </p:cNvPr>
          <p:cNvSpPr>
            <a:spLocks xmlns:a="http://schemas.openxmlformats.org/drawingml/2006/main" noGrp="1"/>
          </p:cNvSpPr>
          <p:nvPr/>
        </p:nvSpPr>
        <p:spPr>
          <a:xfrm xmlns:a="http://schemas.openxmlformats.org/drawingml/2006/main">
            <a:off x="13677900" y="4219575"/>
            <a:ext cx="13620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RECEIVER</a:t>
            </a:r>
          </a:p>
        </p:txBody>
      </p:sp>
      <p:sp>
        <p:nvSpPr>
          <p:cNvPr id="30" name="">
            <a:extLst xmlns:a="http://schemas.openxmlformats.org/drawingml/2006/main">
              <a:ext uri="{FF2B5EF4-FFF2-40B4-BE49-F238E27FC236}">
                <a16:creationId xmlns:a16="http://schemas.microsoft.com/office/drawing/2014/main" id="{9286188C-8C8F-400C-9F77-92D206AED497}"/>
              </a:ext>
            </a:extLst>
          </p:cNvPr>
          <p:cNvSpPr>
            <a:spLocks xmlns:a="http://schemas.openxmlformats.org/drawingml/2006/main" noGrp="1"/>
          </p:cNvSpPr>
          <p:nvPr/>
        </p:nvSpPr>
        <p:spPr>
          <a:xfrm xmlns:a="http://schemas.openxmlformats.org/drawingml/2006/main">
            <a:off x="13620750" y="4781550"/>
            <a:ext cx="3333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B병원 · 수신 PACS</a:t>
            </a:r>
          </a:p>
        </p:txBody>
      </p:sp>
      <p:sp>
        <p:nvSpPr>
          <p:cNvPr id="31" name="">
            <a:extLst xmlns:a="http://schemas.openxmlformats.org/drawingml/2006/main">
              <a:ext uri="{FF2B5EF4-FFF2-40B4-BE49-F238E27FC236}">
                <a16:creationId xmlns:a16="http://schemas.microsoft.com/office/drawing/2014/main" id="{A0A768FD-099F-44A1-A361-066128B2D26B}"/>
              </a:ext>
            </a:extLst>
          </p:cNvPr>
          <p:cNvSpPr>
            <a:spLocks xmlns:a="http://schemas.openxmlformats.org/drawingml/2006/main" noGrp="1"/>
          </p:cNvSpPr>
          <p:nvPr/>
        </p:nvSpPr>
        <p:spPr>
          <a:xfrm xmlns:a="http://schemas.openxmlformats.org/drawingml/2006/main">
            <a:off x="13620750" y="5448300"/>
            <a:ext cx="3333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75" b="0">
                <a:solidFill>
                  <a:srgbClr val="53657B"/>
                </a:solidFill>
                <a:latin typeface="프리텐다드"/>
                <a:ea typeface="프리텐다드"/>
                <a:cs typeface="프리텐다드"/>
              </a:defRPr>
            </a:pPr>
            <a:r>
              <a:rPr sz="1875" b="0">
                <a:solidFill>
                  <a:srgbClr val="53657B"/>
                </a:solidFill>
                <a:latin typeface="프리텐다드"/>
                <a:ea typeface="프리텐다드"/>
                <a:cs typeface="프리텐다드"/>
              </a:rPr>
              <a:t>동의 범위를 통과한</a:t>
            </a:r>
          </a:p>
          <a:p xmlns:a="http://schemas.openxmlformats.org/drawingml/2006/main">
            <a:pPr algn="l">
              <a:defRPr sz="1875" b="0">
                <a:solidFill>
                  <a:srgbClr val="53657B"/>
                </a:solidFill>
                <a:latin typeface="프리텐다드"/>
                <a:ea typeface="프리텐다드"/>
                <a:cs typeface="프리텐다드"/>
              </a:defRPr>
            </a:pPr>
            <a:r>
              <a:rPr sz="1875" b="0">
                <a:solidFill>
                  <a:srgbClr val="53657B"/>
                </a:solidFill>
                <a:latin typeface="프리텐다드"/>
                <a:ea typeface="프리텐다드"/>
                <a:cs typeface="프리텐다드"/>
              </a:rPr>
              <a:t>선택 영상만 전달·확인</a:t>
            </a:r>
          </a:p>
        </p:txBody>
      </p:sp>
      <p:sp>
        <p:nvSpPr>
          <p:cNvPr id="32" name="">
            <a:extLst xmlns:a="http://schemas.openxmlformats.org/drawingml/2006/main">
              <a:ext uri="{FF2B5EF4-FFF2-40B4-BE49-F238E27FC236}">
                <a16:creationId xmlns:a16="http://schemas.microsoft.com/office/drawing/2014/main" id="{4869FB48-5F6C-4270-95E7-9CA75641668B}"/>
              </a:ext>
            </a:extLst>
          </p:cNvPr>
          <p:cNvSpPr>
            <a:spLocks xmlns:a="http://schemas.openxmlformats.org/drawingml/2006/main" noGrp="1"/>
          </p:cNvSpPr>
          <p:nvPr/>
        </p:nvSpPr>
        <p:spPr>
          <a:xfrm xmlns:a="http://schemas.openxmlformats.org/drawingml/2006/main">
            <a:off x="1028700" y="7734300"/>
            <a:ext cx="16230600" cy="990600"/>
          </a:xfrm>
          <a:prstGeom xmlns:a="http://schemas.openxmlformats.org/drawingml/2006/main" prst="roundRect">
            <a:avLst>
              <a:gd name="adj" fmla="val 19231"/>
            </a:avLst>
          </a:prstGeom>
          <a:solidFill xmlns:a="http://schemas.openxmlformats.org/drawingml/2006/main">
            <a:srgbClr val="F3F6FA"/>
          </a:solidFill>
          <a:ln xmlns:a="http://schemas.openxmlformats.org/drawingml/2006/main" w="14288">
            <a:solidFill>
              <a:srgbClr val="D8E0E9"/>
            </a:solidFill>
            <a:prstDash val="solid"/>
          </a:ln>
        </p:spPr>
      </p:sp>
      <p:sp>
        <p:nvSpPr>
          <p:cNvPr id="33" name="">
            <a:extLst xmlns:a="http://schemas.openxmlformats.org/drawingml/2006/main">
              <a:ext uri="{FF2B5EF4-FFF2-40B4-BE49-F238E27FC236}">
                <a16:creationId xmlns:a16="http://schemas.microsoft.com/office/drawing/2014/main" id="{CCABC73D-6256-4D48-A628-7B90C2BD58B0}"/>
              </a:ext>
            </a:extLst>
          </p:cNvPr>
          <p:cNvSpPr>
            <a:spLocks xmlns:a="http://schemas.openxmlformats.org/drawingml/2006/main" noGrp="1"/>
          </p:cNvSpPr>
          <p:nvPr/>
        </p:nvSpPr>
        <p:spPr>
          <a:xfrm xmlns:a="http://schemas.openxmlformats.org/drawingml/2006/main">
            <a:off x="1314450" y="7924800"/>
            <a:ext cx="1562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75" b="1">
                <a:solidFill>
                  <a:srgbClr val="0B2342"/>
                </a:solidFill>
                <a:latin typeface="프리텐다드"/>
                <a:ea typeface="프리텐다드"/>
                <a:cs typeface="프리텐다드"/>
              </a:defRPr>
            </a:pPr>
            <a:r>
              <a:rPr sz="1875" b="1">
                <a:solidFill>
                  <a:srgbClr val="0B2342"/>
                </a:solidFill>
                <a:latin typeface="프리텐다드"/>
                <a:ea typeface="프리텐다드"/>
                <a:cs typeface="프리텐다드"/>
              </a:rPr>
              <a:t>Control Plane: 동의·정책·최소 메타데이터·감사   /   Data Plane: 병원 Gateway가 승인된 영상 경로를 처리</a:t>
            </a:r>
          </a:p>
        </p:txBody>
      </p:sp>
      <p:sp>
        <p:nvSpPr>
          <p:cNvPr id="34" name="">
            <a:extLst xmlns:a="http://schemas.openxmlformats.org/drawingml/2006/main">
              <a:ext uri="{FF2B5EF4-FFF2-40B4-BE49-F238E27FC236}">
                <a16:creationId xmlns:a16="http://schemas.microsoft.com/office/drawing/2014/main" id="{A4D454D3-B47D-4FFA-9C36-FEFBFFFC0722}"/>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42B6E23-AFAF-44B0-A6DC-E0E991E4D525}"/>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36" name="">
            <a:extLst xmlns:a="http://schemas.openxmlformats.org/drawingml/2006/main">
              <a:ext uri="{FF2B5EF4-FFF2-40B4-BE49-F238E27FC236}">
                <a16:creationId xmlns:a16="http://schemas.microsoft.com/office/drawing/2014/main" id="{89ACAC7C-8021-44F6-823C-C523E26F9D52}"/>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04  /  22</a:t>
            </a:r>
          </a:p>
        </p:txBody>
      </p:sp>
    </p:spTree>
    <p:extLst>
      <p:ext uri="{BB962C8B-B14F-4D97-AF65-F5344CB8AC3E}">
        <p14:creationId xmlns:p14="http://schemas.microsoft.com/office/powerpoint/2010/main" val="883386329"/>
      </p:ext>
    </p:extLst>
  </p:cSld>
</p:sld>
</file>

<file path=ppt/slides/slide5.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491C550-CF8D-4458-B730-24C3CDFD2C9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574370E-0104-424E-A2B5-188F35BBD32E}"/>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AB519ED-4E31-4991-87FC-DA1FD5DD3B1F}"/>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061E3A6-1B8D-4194-AE29-D1FBBFC8C28F}"/>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EVIDENCE BOUNDARY</a:t>
            </a:r>
          </a:p>
        </p:txBody>
      </p:sp>
      <p:sp>
        <p:nvSpPr>
          <p:cNvPr id="5" name="">
            <a:extLst xmlns:a="http://schemas.openxmlformats.org/drawingml/2006/main">
              <a:ext uri="{FF2B5EF4-FFF2-40B4-BE49-F238E27FC236}">
                <a16:creationId xmlns:a16="http://schemas.microsoft.com/office/drawing/2014/main" id="{841DBC17-25EE-4FAC-9469-76CD39FA7321}"/>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효과는 아직 숫자로 주장하지 않는다</a:t>
            </a:r>
          </a:p>
        </p:txBody>
      </p:sp>
      <p:sp>
        <p:nvSpPr>
          <p:cNvPr id="6" name="">
            <a:extLst xmlns:a="http://schemas.openxmlformats.org/drawingml/2006/main">
              <a:ext uri="{FF2B5EF4-FFF2-40B4-BE49-F238E27FC236}">
                <a16:creationId xmlns:a16="http://schemas.microsoft.com/office/drawing/2014/main" id="{19B604D8-8BF1-4257-AF46-33BEF099D4AC}"/>
              </a:ext>
            </a:extLst>
          </p:cNvPr>
          <p:cNvSpPr>
            <a:spLocks xmlns:a="http://schemas.openxmlformats.org/drawingml/2006/main" noGrp="1"/>
          </p:cNvSpPr>
          <p:nvPr/>
        </p:nvSpPr>
        <p:spPr>
          <a:xfrm xmlns:a="http://schemas.openxmlformats.org/drawingml/2006/main">
            <a:off x="1028700" y="2714625"/>
            <a:ext cx="16230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기술 PoC에서 확인한 것은 ‘연결이 됐는가’입니다. 재촬영·비용 절감은 아직 측정하지 않았습니다.</a:t>
            </a:r>
          </a:p>
        </p:txBody>
      </p:sp>
      <p:sp>
        <p:nvSpPr>
          <p:cNvPr id="7" name="">
            <a:extLst xmlns:a="http://schemas.openxmlformats.org/drawingml/2006/main">
              <a:ext uri="{FF2B5EF4-FFF2-40B4-BE49-F238E27FC236}">
                <a16:creationId xmlns:a16="http://schemas.microsoft.com/office/drawing/2014/main" id="{7160F515-A8DA-4B54-8CAA-06E08F03C8EB}"/>
              </a:ext>
            </a:extLst>
          </p:cNvPr>
          <p:cNvSpPr>
            <a:spLocks xmlns:a="http://schemas.openxmlformats.org/drawingml/2006/main" noGrp="1"/>
          </p:cNvSpPr>
          <p:nvPr/>
        </p:nvSpPr>
        <p:spPr>
          <a:xfrm xmlns:a="http://schemas.openxmlformats.org/drawingml/2006/main">
            <a:off x="1028700" y="3981450"/>
            <a:ext cx="5029200" cy="2857500"/>
          </a:xfrm>
          <a:prstGeom xmlns:a="http://schemas.openxmlformats.org/drawingml/2006/main" prst="roundRect">
            <a:avLst>
              <a:gd name="adj" fmla="val 8667"/>
            </a:avLst>
          </a:prstGeom>
          <a:solidFill xmlns:a="http://schemas.openxmlformats.org/drawingml/2006/main">
            <a:srgbClr val="FBF4E5"/>
          </a:solidFill>
          <a:ln xmlns:a="http://schemas.openxmlformats.org/drawingml/2006/main" w="14288">
            <a:solidFill>
              <a:srgbClr val="D8E0E9"/>
            </a:solidFill>
            <a:prstDash val="solid"/>
          </a:ln>
        </p:spPr>
      </p:sp>
      <p:sp>
        <p:nvSpPr>
          <p:cNvPr id="8" name="">
            <a:extLst xmlns:a="http://schemas.openxmlformats.org/drawingml/2006/main">
              <a:ext uri="{FF2B5EF4-FFF2-40B4-BE49-F238E27FC236}">
                <a16:creationId xmlns:a16="http://schemas.microsoft.com/office/drawing/2014/main" id="{981B26B4-3488-4660-88DC-B4CEE0CD14B5}"/>
              </a:ext>
            </a:extLst>
          </p:cNvPr>
          <p:cNvSpPr>
            <a:spLocks xmlns:a="http://schemas.openxmlformats.org/drawingml/2006/main" noGrp="1"/>
          </p:cNvSpPr>
          <p:nvPr/>
        </p:nvSpPr>
        <p:spPr>
          <a:xfrm xmlns:a="http://schemas.openxmlformats.org/drawingml/2006/main">
            <a:off x="1276350" y="4191000"/>
            <a:ext cx="4533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5238"/>
          </a:bodyPr>
          <a:lstStyle xmlns:a="http://schemas.openxmlformats.org/drawingml/2006/main"/>
          <a:p xmlns:a="http://schemas.openxmlformats.org/drawingml/2006/main">
            <a:pPr algn="ctr">
              <a:defRPr sz="5250" b="1">
                <a:solidFill>
                  <a:srgbClr val="DCA83D"/>
                </a:solidFill>
                <a:latin typeface="프리텐다드"/>
                <a:ea typeface="프리텐다드"/>
                <a:cs typeface="프리텐다드"/>
              </a:defRPr>
            </a:pPr>
            <a:r>
              <a:rPr sz="5250" b="1">
                <a:solidFill>
                  <a:srgbClr val="DCA83D"/>
                </a:solidFill>
                <a:latin typeface="프리텐다드"/>
                <a:ea typeface="프리텐다드"/>
                <a:cs typeface="프리텐다드"/>
              </a:rPr>
              <a:t>—</a:t>
            </a:r>
          </a:p>
        </p:txBody>
      </p:sp>
      <p:sp>
        <p:nvSpPr>
          <p:cNvPr id="9" name="">
            <a:extLst xmlns:a="http://schemas.openxmlformats.org/drawingml/2006/main">
              <a:ext uri="{FF2B5EF4-FFF2-40B4-BE49-F238E27FC236}">
                <a16:creationId xmlns:a16="http://schemas.microsoft.com/office/drawing/2014/main" id="{AE785A79-F1F5-43C7-A03C-ACA590A4A8B5}"/>
              </a:ext>
            </a:extLst>
          </p:cNvPr>
          <p:cNvSpPr>
            <a:spLocks xmlns:a="http://schemas.openxmlformats.org/drawingml/2006/main" noGrp="1"/>
          </p:cNvSpPr>
          <p:nvPr/>
        </p:nvSpPr>
        <p:spPr>
          <a:xfrm xmlns:a="http://schemas.openxmlformats.org/drawingml/2006/main">
            <a:off x="1314450" y="5067300"/>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재촬영 변화</a:t>
            </a:r>
          </a:p>
        </p:txBody>
      </p:sp>
      <p:sp>
        <p:nvSpPr>
          <p:cNvPr id="10" name="">
            <a:extLst xmlns:a="http://schemas.openxmlformats.org/drawingml/2006/main">
              <a:ext uri="{FF2B5EF4-FFF2-40B4-BE49-F238E27FC236}">
                <a16:creationId xmlns:a16="http://schemas.microsoft.com/office/drawing/2014/main" id="{DE32C13A-00D7-4F78-A375-73CE5B8917E2}"/>
              </a:ext>
            </a:extLst>
          </p:cNvPr>
          <p:cNvSpPr>
            <a:spLocks xmlns:a="http://schemas.openxmlformats.org/drawingml/2006/main" noGrp="1"/>
          </p:cNvSpPr>
          <p:nvPr/>
        </p:nvSpPr>
        <p:spPr>
          <a:xfrm xmlns:a="http://schemas.openxmlformats.org/drawingml/2006/main">
            <a:off x="1333500" y="5695950"/>
            <a:ext cx="4419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도입 전 기준선·분모</a:t>
            </a:r>
          </a:p>
          <a:p xmlns:a="http://schemas.openxmlformats.org/drawingml/2006/main">
            <a:pPr algn="ctr">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자료 수집 전</a:t>
            </a:r>
          </a:p>
        </p:txBody>
      </p:sp>
      <p:sp>
        <p:nvSpPr>
          <p:cNvPr id="11" name="">
            <a:extLst xmlns:a="http://schemas.openxmlformats.org/drawingml/2006/main">
              <a:ext uri="{FF2B5EF4-FFF2-40B4-BE49-F238E27FC236}">
                <a16:creationId xmlns:a16="http://schemas.microsoft.com/office/drawing/2014/main" id="{7AE379EC-9EBF-46CA-A143-CC92AAE2B107}"/>
              </a:ext>
            </a:extLst>
          </p:cNvPr>
          <p:cNvSpPr>
            <a:spLocks xmlns:a="http://schemas.openxmlformats.org/drawingml/2006/main" noGrp="1"/>
          </p:cNvSpPr>
          <p:nvPr/>
        </p:nvSpPr>
        <p:spPr>
          <a:xfrm xmlns:a="http://schemas.openxmlformats.org/drawingml/2006/main">
            <a:off x="6515100" y="3981450"/>
            <a:ext cx="5029200" cy="2857500"/>
          </a:xfrm>
          <a:prstGeom xmlns:a="http://schemas.openxmlformats.org/drawingml/2006/main" prst="roundRect">
            <a:avLst>
              <a:gd name="adj" fmla="val 8667"/>
            </a:avLst>
          </a:prstGeom>
          <a:solidFill xmlns:a="http://schemas.openxmlformats.org/drawingml/2006/main">
            <a:srgbClr val="E9F1FC"/>
          </a:solidFill>
          <a:ln xmlns:a="http://schemas.openxmlformats.org/drawingml/2006/main" w="14288">
            <a:solidFill>
              <a:srgbClr val="D8E0E9"/>
            </a:solidFill>
            <a:prstDash val="solid"/>
          </a:ln>
        </p:spPr>
      </p:sp>
      <p:sp>
        <p:nvSpPr>
          <p:cNvPr id="12" name="">
            <a:extLst xmlns:a="http://schemas.openxmlformats.org/drawingml/2006/main">
              <a:ext uri="{FF2B5EF4-FFF2-40B4-BE49-F238E27FC236}">
                <a16:creationId xmlns:a16="http://schemas.microsoft.com/office/drawing/2014/main" id="{6C5E9F0A-4C65-4219-AFB5-A6D3A1769913}"/>
              </a:ext>
            </a:extLst>
          </p:cNvPr>
          <p:cNvSpPr>
            <a:spLocks xmlns:a="http://schemas.openxmlformats.org/drawingml/2006/main" noGrp="1"/>
          </p:cNvSpPr>
          <p:nvPr/>
        </p:nvSpPr>
        <p:spPr>
          <a:xfrm xmlns:a="http://schemas.openxmlformats.org/drawingml/2006/main">
            <a:off x="6762750" y="4191000"/>
            <a:ext cx="4533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5238"/>
          </a:bodyPr>
          <a:lstStyle xmlns:a="http://schemas.openxmlformats.org/drawingml/2006/main"/>
          <a:p xmlns:a="http://schemas.openxmlformats.org/drawingml/2006/main">
            <a:pPr algn="ctr">
              <a:defRPr sz="5250" b="1">
                <a:solidFill>
                  <a:srgbClr val="2F68B5"/>
                </a:solidFill>
                <a:latin typeface="프리텐다드"/>
                <a:ea typeface="프리텐다드"/>
                <a:cs typeface="프리텐다드"/>
              </a:defRPr>
            </a:pPr>
            <a:r>
              <a:rPr sz="5250" b="1">
                <a:solidFill>
                  <a:srgbClr val="2F68B5"/>
                </a:solidFill>
                <a:latin typeface="프리텐다드"/>
                <a:ea typeface="프리텐다드"/>
                <a:cs typeface="프리텐다드"/>
              </a:rPr>
              <a:t>—</a:t>
            </a:r>
          </a:p>
        </p:txBody>
      </p:sp>
      <p:sp>
        <p:nvSpPr>
          <p:cNvPr id="13" name="">
            <a:extLst xmlns:a="http://schemas.openxmlformats.org/drawingml/2006/main">
              <a:ext uri="{FF2B5EF4-FFF2-40B4-BE49-F238E27FC236}">
                <a16:creationId xmlns:a16="http://schemas.microsoft.com/office/drawing/2014/main" id="{D3F85BD1-CE89-4302-B1DA-79703F4E3B41}"/>
              </a:ext>
            </a:extLst>
          </p:cNvPr>
          <p:cNvSpPr>
            <a:spLocks xmlns:a="http://schemas.openxmlformats.org/drawingml/2006/main" noGrp="1"/>
          </p:cNvSpPr>
          <p:nvPr/>
        </p:nvSpPr>
        <p:spPr>
          <a:xfrm xmlns:a="http://schemas.openxmlformats.org/drawingml/2006/main">
            <a:off x="6800850" y="5067300"/>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전달 소요시간</a:t>
            </a:r>
          </a:p>
        </p:txBody>
      </p:sp>
      <p:sp>
        <p:nvSpPr>
          <p:cNvPr id="14" name="">
            <a:extLst xmlns:a="http://schemas.openxmlformats.org/drawingml/2006/main">
              <a:ext uri="{FF2B5EF4-FFF2-40B4-BE49-F238E27FC236}">
                <a16:creationId xmlns:a16="http://schemas.microsoft.com/office/drawing/2014/main" id="{AE39D86F-2D7E-478D-B579-CCF22487D6CB}"/>
              </a:ext>
            </a:extLst>
          </p:cNvPr>
          <p:cNvSpPr>
            <a:spLocks xmlns:a="http://schemas.openxmlformats.org/drawingml/2006/main" noGrp="1"/>
          </p:cNvSpPr>
          <p:nvPr/>
        </p:nvSpPr>
        <p:spPr>
          <a:xfrm xmlns:a="http://schemas.openxmlformats.org/drawingml/2006/main">
            <a:off x="6819900" y="5695950"/>
            <a:ext cx="4419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비교 가능한 실제 운영</a:t>
            </a:r>
          </a:p>
          <a:p xmlns:a="http://schemas.openxmlformats.org/drawingml/2006/main">
            <a:pPr algn="ctr">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표본 측정 전</a:t>
            </a:r>
          </a:p>
        </p:txBody>
      </p:sp>
      <p:sp>
        <p:nvSpPr>
          <p:cNvPr id="15" name="">
            <a:extLst xmlns:a="http://schemas.openxmlformats.org/drawingml/2006/main">
              <a:ext uri="{FF2B5EF4-FFF2-40B4-BE49-F238E27FC236}">
                <a16:creationId xmlns:a16="http://schemas.microsoft.com/office/drawing/2014/main" id="{1AC66C7C-208C-48AE-A2DF-68F9647C24EA}"/>
              </a:ext>
            </a:extLst>
          </p:cNvPr>
          <p:cNvSpPr>
            <a:spLocks xmlns:a="http://schemas.openxmlformats.org/drawingml/2006/main" noGrp="1"/>
          </p:cNvSpPr>
          <p:nvPr/>
        </p:nvSpPr>
        <p:spPr>
          <a:xfrm xmlns:a="http://schemas.openxmlformats.org/drawingml/2006/main">
            <a:off x="12001500" y="3981450"/>
            <a:ext cx="5029200" cy="2857500"/>
          </a:xfrm>
          <a:prstGeom xmlns:a="http://schemas.openxmlformats.org/drawingml/2006/main" prst="roundRect">
            <a:avLst>
              <a:gd name="adj" fmla="val 8667"/>
            </a:avLst>
          </a:prstGeom>
          <a:solidFill xmlns:a="http://schemas.openxmlformats.org/drawingml/2006/main">
            <a:srgbClr val="E7F4F1"/>
          </a:solidFill>
          <a:ln xmlns:a="http://schemas.openxmlformats.org/drawingml/2006/main" w="14288">
            <a:solidFill>
              <a:srgbClr val="D8E0E9"/>
            </a:solidFill>
            <a:prstDash val="solid"/>
          </a:ln>
        </p:spPr>
      </p:sp>
      <p:sp>
        <p:nvSpPr>
          <p:cNvPr id="16" name="">
            <a:extLst xmlns:a="http://schemas.openxmlformats.org/drawingml/2006/main">
              <a:ext uri="{FF2B5EF4-FFF2-40B4-BE49-F238E27FC236}">
                <a16:creationId xmlns:a16="http://schemas.microsoft.com/office/drawing/2014/main" id="{FEC6ADCF-92A0-41EA-8B6F-228F14B18A60}"/>
              </a:ext>
            </a:extLst>
          </p:cNvPr>
          <p:cNvSpPr>
            <a:spLocks xmlns:a="http://schemas.openxmlformats.org/drawingml/2006/main" noGrp="1"/>
          </p:cNvSpPr>
          <p:nvPr/>
        </p:nvSpPr>
        <p:spPr>
          <a:xfrm xmlns:a="http://schemas.openxmlformats.org/drawingml/2006/main">
            <a:off x="12249150" y="4191000"/>
            <a:ext cx="4533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5238"/>
          </a:bodyPr>
          <a:lstStyle xmlns:a="http://schemas.openxmlformats.org/drawingml/2006/main"/>
          <a:p xmlns:a="http://schemas.openxmlformats.org/drawingml/2006/main">
            <a:pPr algn="ctr">
              <a:defRPr sz="5250" b="1">
                <a:solidFill>
                  <a:srgbClr val="168B82"/>
                </a:solidFill>
                <a:latin typeface="프리텐다드"/>
                <a:ea typeface="프리텐다드"/>
                <a:cs typeface="프리텐다드"/>
              </a:defRPr>
            </a:pPr>
            <a:r>
              <a:rPr sz="5250" b="1">
                <a:solidFill>
                  <a:srgbClr val="168B82"/>
                </a:solidFill>
                <a:latin typeface="프리텐다드"/>
                <a:ea typeface="프리텐다드"/>
                <a:cs typeface="프리텐다드"/>
              </a:rPr>
              <a:t>—</a:t>
            </a:r>
          </a:p>
        </p:txBody>
      </p:sp>
      <p:sp>
        <p:nvSpPr>
          <p:cNvPr id="17" name="">
            <a:extLst xmlns:a="http://schemas.openxmlformats.org/drawingml/2006/main">
              <a:ext uri="{FF2B5EF4-FFF2-40B4-BE49-F238E27FC236}">
                <a16:creationId xmlns:a16="http://schemas.microsoft.com/office/drawing/2014/main" id="{0D6C07BC-BA3F-4463-957B-B3BDA0101E68}"/>
              </a:ext>
            </a:extLst>
          </p:cNvPr>
          <p:cNvSpPr>
            <a:spLocks xmlns:a="http://schemas.openxmlformats.org/drawingml/2006/main" noGrp="1"/>
          </p:cNvSpPr>
          <p:nvPr/>
        </p:nvSpPr>
        <p:spPr>
          <a:xfrm xmlns:a="http://schemas.openxmlformats.org/drawingml/2006/main">
            <a:off x="12287250" y="5067300"/>
            <a:ext cx="4457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환자·기관 비용</a:t>
            </a:r>
          </a:p>
        </p:txBody>
      </p:sp>
      <p:sp>
        <p:nvSpPr>
          <p:cNvPr id="18" name="">
            <a:extLst xmlns:a="http://schemas.openxmlformats.org/drawingml/2006/main">
              <a:ext uri="{FF2B5EF4-FFF2-40B4-BE49-F238E27FC236}">
                <a16:creationId xmlns:a16="http://schemas.microsoft.com/office/drawing/2014/main" id="{CE20B306-3C55-4AF9-81C7-3B100D319EB5}"/>
              </a:ext>
            </a:extLst>
          </p:cNvPr>
          <p:cNvSpPr>
            <a:spLocks xmlns:a="http://schemas.openxmlformats.org/drawingml/2006/main" noGrp="1"/>
          </p:cNvSpPr>
          <p:nvPr/>
        </p:nvSpPr>
        <p:spPr>
          <a:xfrm xmlns:a="http://schemas.openxmlformats.org/drawingml/2006/main">
            <a:off x="12306300" y="5695950"/>
            <a:ext cx="44196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서비스 효과·경제성</a:t>
            </a:r>
          </a:p>
          <a:p xmlns:a="http://schemas.openxmlformats.org/drawingml/2006/main">
            <a:pPr algn="ctr">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평가 전</a:t>
            </a:r>
          </a:p>
        </p:txBody>
      </p:sp>
      <p:sp>
        <p:nvSpPr>
          <p:cNvPr id="19" name="">
            <a:extLst xmlns:a="http://schemas.openxmlformats.org/drawingml/2006/main">
              <a:ext uri="{FF2B5EF4-FFF2-40B4-BE49-F238E27FC236}">
                <a16:creationId xmlns:a16="http://schemas.microsoft.com/office/drawing/2014/main" id="{8A80B5D4-802F-4D51-A5B3-82A5F468AC13}"/>
              </a:ext>
            </a:extLst>
          </p:cNvPr>
          <p:cNvSpPr>
            <a:spLocks xmlns:a="http://schemas.openxmlformats.org/drawingml/2006/main" noGrp="1"/>
          </p:cNvSpPr>
          <p:nvPr/>
        </p:nvSpPr>
        <p:spPr>
          <a:xfrm xmlns:a="http://schemas.openxmlformats.org/drawingml/2006/main">
            <a:off x="1028700" y="7477125"/>
            <a:ext cx="2667000" cy="400050"/>
          </a:xfrm>
          <a:prstGeom xmlns:a="http://schemas.openxmlformats.org/drawingml/2006/main" prst="roundRect">
            <a:avLst>
              <a:gd name="adj" fmla="val 50000"/>
            </a:avLst>
          </a:prstGeom>
          <a:solidFill xmlns:a="http://schemas.openxmlformats.org/drawingml/2006/main">
            <a:srgbClr val="0B2342"/>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8AE2222-EB69-42FF-A835-A9BA2FBEAD4B}"/>
              </a:ext>
            </a:extLst>
          </p:cNvPr>
          <p:cNvSpPr>
            <a:spLocks xmlns:a="http://schemas.openxmlformats.org/drawingml/2006/main" noGrp="1"/>
          </p:cNvSpPr>
          <p:nvPr/>
        </p:nvSpPr>
        <p:spPr>
          <a:xfrm xmlns:a="http://schemas.openxmlformats.org/drawingml/2006/main">
            <a:off x="1085850" y="7486650"/>
            <a:ext cx="2552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다음 단계에서 측정</a:t>
            </a:r>
          </a:p>
        </p:txBody>
      </p:sp>
      <p:sp>
        <p:nvSpPr>
          <p:cNvPr id="21" name="">
            <a:extLst xmlns:a="http://schemas.openxmlformats.org/drawingml/2006/main">
              <a:ext uri="{FF2B5EF4-FFF2-40B4-BE49-F238E27FC236}">
                <a16:creationId xmlns:a16="http://schemas.microsoft.com/office/drawing/2014/main" id="{9FF0CEF1-05E7-428F-869F-D7FC9CAAE04E}"/>
              </a:ext>
            </a:extLst>
          </p:cNvPr>
          <p:cNvSpPr>
            <a:spLocks xmlns:a="http://schemas.openxmlformats.org/drawingml/2006/main" noGrp="1"/>
          </p:cNvSpPr>
          <p:nvPr/>
        </p:nvSpPr>
        <p:spPr>
          <a:xfrm xmlns:a="http://schemas.openxmlformats.org/drawingml/2006/main">
            <a:off x="3981450" y="7400925"/>
            <a:ext cx="132778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00" b="1">
                <a:solidFill>
                  <a:srgbClr val="0B2342"/>
                </a:solidFill>
                <a:latin typeface="프리텐다드"/>
                <a:ea typeface="프리텐다드"/>
                <a:cs typeface="프리텐다드"/>
              </a:defRPr>
            </a:pPr>
            <a:r>
              <a:rPr sz="2100" b="1">
                <a:solidFill>
                  <a:srgbClr val="0B2342"/>
                </a:solidFill>
                <a:latin typeface="프리텐다드"/>
                <a:ea typeface="프리텐다드"/>
                <a:cs typeface="프리텐다드"/>
              </a:rPr>
              <a:t>사전 기준선 · 비교 집단 · 기간 · 제외 조건을 정한 뒤 결과를 평가</a:t>
            </a:r>
          </a:p>
        </p:txBody>
      </p:sp>
      <p:sp>
        <p:nvSpPr>
          <p:cNvPr id="22" name="">
            <a:extLst xmlns:a="http://schemas.openxmlformats.org/drawingml/2006/main">
              <a:ext uri="{FF2B5EF4-FFF2-40B4-BE49-F238E27FC236}">
                <a16:creationId xmlns:a16="http://schemas.microsoft.com/office/drawing/2014/main" id="{47DA9E0E-78A1-452F-8BFD-CBD806E3B113}"/>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BD2EE48-10B5-4B27-8C31-B52DAF610AF5}"/>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4" name="">
            <a:extLst xmlns:a="http://schemas.openxmlformats.org/drawingml/2006/main">
              <a:ext uri="{FF2B5EF4-FFF2-40B4-BE49-F238E27FC236}">
                <a16:creationId xmlns:a16="http://schemas.microsoft.com/office/drawing/2014/main" id="{E60924FA-5708-4893-8FC9-3093DE387DE5}"/>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05  /  22</a:t>
            </a:r>
          </a:p>
        </p:txBody>
      </p:sp>
    </p:spTree>
    <p:extLst>
      <p:ext uri="{BB962C8B-B14F-4D97-AF65-F5344CB8AC3E}">
        <p14:creationId xmlns:p14="http://schemas.microsoft.com/office/powerpoint/2010/main" val="1817724812"/>
      </p:ext>
    </p:extLst>
  </p:cSld>
</p:sld>
</file>

<file path=ppt/slides/slide6.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9404A57C-8DC0-43E5-9AE4-7AC293750AF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5FE8334-E6EA-4B5E-B8D1-2F953A0A5C05}"/>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3E28440-0D48-4CBE-9BF3-CD16863382A2}"/>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FB28CB-51A5-467D-9ABC-08776EB8B828}"/>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PROBLEM STATEMENT</a:t>
            </a:r>
          </a:p>
        </p:txBody>
      </p:sp>
      <p:sp>
        <p:nvSpPr>
          <p:cNvPr id="5" name="">
            <a:extLst xmlns:a="http://schemas.openxmlformats.org/drawingml/2006/main">
              <a:ext uri="{FF2B5EF4-FFF2-40B4-BE49-F238E27FC236}">
                <a16:creationId xmlns:a16="http://schemas.microsoft.com/office/drawing/2014/main" id="{E6140C23-C661-4DBB-B4FB-35FC8BE117F1}"/>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문제는 세 가지 연결 공백으로 보인다</a:t>
            </a:r>
          </a:p>
        </p:txBody>
      </p:sp>
      <p:sp>
        <p:nvSpPr>
          <p:cNvPr id="6" name="">
            <a:extLst xmlns:a="http://schemas.openxmlformats.org/drawingml/2006/main">
              <a:ext uri="{FF2B5EF4-FFF2-40B4-BE49-F238E27FC236}">
                <a16:creationId xmlns:a16="http://schemas.microsoft.com/office/drawing/2014/main" id="{C83BE702-BF10-4DA1-A6F0-0844EAFE9E2E}"/>
              </a:ext>
            </a:extLst>
          </p:cNvPr>
          <p:cNvSpPr>
            <a:spLocks xmlns:a="http://schemas.openxmlformats.org/drawingml/2006/main" noGrp="1"/>
          </p:cNvSpPr>
          <p:nvPr/>
        </p:nvSpPr>
        <p:spPr>
          <a:xfrm xmlns:a="http://schemas.openxmlformats.org/drawingml/2006/main">
            <a:off x="1028700" y="3257550"/>
            <a:ext cx="16230600" cy="1524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D8E0E9"/>
            </a:solidFill>
            <a:prstDash val="solid"/>
          </a:ln>
        </p:spPr>
      </p:sp>
      <p:sp>
        <p:nvSpPr>
          <p:cNvPr id="7" name="">
            <a:extLst xmlns:a="http://schemas.openxmlformats.org/drawingml/2006/main">
              <a:ext uri="{FF2B5EF4-FFF2-40B4-BE49-F238E27FC236}">
                <a16:creationId xmlns:a16="http://schemas.microsoft.com/office/drawing/2014/main" id="{9C32AE36-889A-4E07-A56D-28C6ED6B3D7F}"/>
              </a:ext>
            </a:extLst>
          </p:cNvPr>
          <p:cNvSpPr>
            <a:spLocks xmlns:a="http://schemas.openxmlformats.org/drawingml/2006/main" noGrp="1"/>
          </p:cNvSpPr>
          <p:nvPr/>
        </p:nvSpPr>
        <p:spPr>
          <a:xfrm xmlns:a="http://schemas.openxmlformats.org/drawingml/2006/main">
            <a:off x="1295400" y="3581400"/>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8E5A4F8-FDE4-4930-809A-6049AFA0A1BA}"/>
              </a:ext>
            </a:extLst>
          </p:cNvPr>
          <p:cNvSpPr>
            <a:spLocks xmlns:a="http://schemas.openxmlformats.org/drawingml/2006/main" noGrp="1"/>
          </p:cNvSpPr>
          <p:nvPr/>
        </p:nvSpPr>
        <p:spPr>
          <a:xfrm xmlns:a="http://schemas.openxmlformats.org/drawingml/2006/main">
            <a:off x="1352550" y="359092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01</a:t>
            </a:r>
          </a:p>
        </p:txBody>
      </p:sp>
      <p:sp>
        <p:nvSpPr>
          <p:cNvPr id="9" name="">
            <a:extLst xmlns:a="http://schemas.openxmlformats.org/drawingml/2006/main">
              <a:ext uri="{FF2B5EF4-FFF2-40B4-BE49-F238E27FC236}">
                <a16:creationId xmlns:a16="http://schemas.microsoft.com/office/drawing/2014/main" id="{EBB53836-39DA-4D11-9BB2-508159D85DE3}"/>
              </a:ext>
            </a:extLst>
          </p:cNvPr>
          <p:cNvSpPr>
            <a:spLocks xmlns:a="http://schemas.openxmlformats.org/drawingml/2006/main" noGrp="1"/>
          </p:cNvSpPr>
          <p:nvPr/>
        </p:nvSpPr>
        <p:spPr>
          <a:xfrm xmlns:a="http://schemas.openxmlformats.org/drawingml/2006/main">
            <a:off x="2333625" y="3486150"/>
            <a:ext cx="457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75" b="1">
                <a:solidFill>
                  <a:srgbClr val="17263A"/>
                </a:solidFill>
                <a:latin typeface="프리텐다드"/>
                <a:ea typeface="프리텐다드"/>
                <a:cs typeface="프리텐다드"/>
              </a:defRPr>
            </a:pPr>
            <a:r>
              <a:rPr sz="2475" b="1">
                <a:solidFill>
                  <a:srgbClr val="17263A"/>
                </a:solidFill>
                <a:latin typeface="프리텐다드"/>
                <a:ea typeface="프리텐다드"/>
                <a:cs typeface="프리텐다드"/>
              </a:rPr>
              <a:t>맥락 공백</a:t>
            </a:r>
          </a:p>
        </p:txBody>
      </p:sp>
      <p:sp>
        <p:nvSpPr>
          <p:cNvPr id="10" name="">
            <a:extLst xmlns:a="http://schemas.openxmlformats.org/drawingml/2006/main">
              <a:ext uri="{FF2B5EF4-FFF2-40B4-BE49-F238E27FC236}">
                <a16:creationId xmlns:a16="http://schemas.microsoft.com/office/drawing/2014/main" id="{180980AB-D919-46CE-BA39-7E1427EA9374}"/>
              </a:ext>
            </a:extLst>
          </p:cNvPr>
          <p:cNvSpPr>
            <a:spLocks xmlns:a="http://schemas.openxmlformats.org/drawingml/2006/main" noGrp="1"/>
          </p:cNvSpPr>
          <p:nvPr/>
        </p:nvSpPr>
        <p:spPr>
          <a:xfrm xmlns:a="http://schemas.openxmlformats.org/drawingml/2006/main">
            <a:off x="7086600" y="3505200"/>
            <a:ext cx="9620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영상의 출처·검사·범위가</a:t>
            </a:r>
          </a:p>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수신 병원 흐름에 이어져야 한다.</a:t>
            </a:r>
          </a:p>
        </p:txBody>
      </p:sp>
      <p:sp>
        <p:nvSpPr>
          <p:cNvPr id="11" name="">
            <a:extLst xmlns:a="http://schemas.openxmlformats.org/drawingml/2006/main">
              <a:ext uri="{FF2B5EF4-FFF2-40B4-BE49-F238E27FC236}">
                <a16:creationId xmlns:a16="http://schemas.microsoft.com/office/drawing/2014/main" id="{3FD2A698-E646-4D05-B308-938F6CEE54D8}"/>
              </a:ext>
            </a:extLst>
          </p:cNvPr>
          <p:cNvSpPr>
            <a:spLocks xmlns:a="http://schemas.openxmlformats.org/drawingml/2006/main" noGrp="1"/>
          </p:cNvSpPr>
          <p:nvPr/>
        </p:nvSpPr>
        <p:spPr>
          <a:xfrm xmlns:a="http://schemas.openxmlformats.org/drawingml/2006/main">
            <a:off x="1028700" y="5124450"/>
            <a:ext cx="16230600" cy="1524000"/>
          </a:xfrm>
          <a:prstGeom xmlns:a="http://schemas.openxmlformats.org/drawingml/2006/main" prst="roundRect">
            <a:avLst>
              <a:gd name="adj" fmla="val 15000"/>
            </a:avLst>
          </a:prstGeom>
          <a:solidFill xmlns:a="http://schemas.openxmlformats.org/drawingml/2006/main">
            <a:srgbClr val="0B2342"/>
          </a:solidFill>
          <a:ln xmlns:a="http://schemas.openxmlformats.org/drawingml/2006/main" w="14288">
            <a:solidFill>
              <a:srgbClr val="0B2342"/>
            </a:solidFill>
            <a:prstDash val="solid"/>
          </a:ln>
        </p:spPr>
      </p:sp>
      <p:sp>
        <p:nvSpPr>
          <p:cNvPr id="12" name="">
            <a:extLst xmlns:a="http://schemas.openxmlformats.org/drawingml/2006/main">
              <a:ext uri="{FF2B5EF4-FFF2-40B4-BE49-F238E27FC236}">
                <a16:creationId xmlns:a16="http://schemas.microsoft.com/office/drawing/2014/main" id="{BC177E68-461A-4A21-916D-954B938319B1}"/>
              </a:ext>
            </a:extLst>
          </p:cNvPr>
          <p:cNvSpPr>
            <a:spLocks xmlns:a="http://schemas.openxmlformats.org/drawingml/2006/main" noGrp="1"/>
          </p:cNvSpPr>
          <p:nvPr/>
        </p:nvSpPr>
        <p:spPr>
          <a:xfrm xmlns:a="http://schemas.openxmlformats.org/drawingml/2006/main">
            <a:off x="1295400" y="5448300"/>
            <a:ext cx="72390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D357AD5-BBDF-4AA8-B59E-DC9E7AE7C260}"/>
              </a:ext>
            </a:extLst>
          </p:cNvPr>
          <p:cNvSpPr>
            <a:spLocks xmlns:a="http://schemas.openxmlformats.org/drawingml/2006/main" noGrp="1"/>
          </p:cNvSpPr>
          <p:nvPr/>
        </p:nvSpPr>
        <p:spPr>
          <a:xfrm xmlns:a="http://schemas.openxmlformats.org/drawingml/2006/main">
            <a:off x="1352550" y="545782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02</a:t>
            </a:r>
          </a:p>
        </p:txBody>
      </p:sp>
      <p:sp>
        <p:nvSpPr>
          <p:cNvPr id="14" name="">
            <a:extLst xmlns:a="http://schemas.openxmlformats.org/drawingml/2006/main">
              <a:ext uri="{FF2B5EF4-FFF2-40B4-BE49-F238E27FC236}">
                <a16:creationId xmlns:a16="http://schemas.microsoft.com/office/drawing/2014/main" id="{1A10E5B5-BBDB-4BE1-84F8-6E739152B902}"/>
              </a:ext>
            </a:extLst>
          </p:cNvPr>
          <p:cNvSpPr>
            <a:spLocks xmlns:a="http://schemas.openxmlformats.org/drawingml/2006/main" noGrp="1"/>
          </p:cNvSpPr>
          <p:nvPr/>
        </p:nvSpPr>
        <p:spPr>
          <a:xfrm xmlns:a="http://schemas.openxmlformats.org/drawingml/2006/main">
            <a:off x="2333625" y="5353050"/>
            <a:ext cx="457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75" b="1">
                <a:solidFill>
                  <a:srgbClr val="FFFFFF"/>
                </a:solidFill>
                <a:latin typeface="프리텐다드"/>
                <a:ea typeface="프리텐다드"/>
                <a:cs typeface="프리텐다드"/>
              </a:defRPr>
            </a:pPr>
            <a:r>
              <a:rPr sz="2475" b="1">
                <a:solidFill>
                  <a:srgbClr val="FFFFFF"/>
                </a:solidFill>
                <a:latin typeface="프리텐다드"/>
                <a:ea typeface="프리텐다드"/>
                <a:cs typeface="프리텐다드"/>
              </a:rPr>
              <a:t>권한 공백</a:t>
            </a:r>
          </a:p>
        </p:txBody>
      </p:sp>
      <p:sp>
        <p:nvSpPr>
          <p:cNvPr id="15" name="">
            <a:extLst xmlns:a="http://schemas.openxmlformats.org/drawingml/2006/main">
              <a:ext uri="{FF2B5EF4-FFF2-40B4-BE49-F238E27FC236}">
                <a16:creationId xmlns:a16="http://schemas.microsoft.com/office/drawing/2014/main" id="{CFE625CB-A97E-44A7-8C89-3AF237B336FA}"/>
              </a:ext>
            </a:extLst>
          </p:cNvPr>
          <p:cNvSpPr>
            <a:spLocks xmlns:a="http://schemas.openxmlformats.org/drawingml/2006/main" noGrp="1"/>
          </p:cNvSpPr>
          <p:nvPr/>
        </p:nvSpPr>
        <p:spPr>
          <a:xfrm xmlns:a="http://schemas.openxmlformats.org/drawingml/2006/main">
            <a:off x="7086600" y="5372100"/>
            <a:ext cx="9620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0">
                <a:solidFill>
                  <a:srgbClr val="DCE9F8"/>
                </a:solidFill>
                <a:latin typeface="프리텐다드"/>
                <a:ea typeface="프리텐다드"/>
                <a:cs typeface="프리텐다드"/>
              </a:defRPr>
            </a:pPr>
            <a:r>
              <a:rPr sz="2025" b="0">
                <a:solidFill>
                  <a:srgbClr val="DCE9F8"/>
                </a:solidFill>
                <a:latin typeface="프리텐다드"/>
                <a:ea typeface="프리텐다드"/>
                <a:cs typeface="프리텐다드"/>
              </a:rPr>
              <a:t>대상·목적·기간·검사 범위를</a:t>
            </a:r>
          </a:p>
          <a:p xmlns:a="http://schemas.openxmlformats.org/drawingml/2006/main">
            <a:pPr algn="l">
              <a:defRPr sz="2025" b="0">
                <a:solidFill>
                  <a:srgbClr val="DCE9F8"/>
                </a:solidFill>
                <a:latin typeface="프리텐다드"/>
                <a:ea typeface="프리텐다드"/>
                <a:cs typeface="프리텐다드"/>
              </a:defRPr>
            </a:pPr>
            <a:r>
              <a:rPr sz="2025" b="0">
                <a:solidFill>
                  <a:srgbClr val="DCE9F8"/>
                </a:solidFill>
                <a:latin typeface="프리텐다드"/>
                <a:ea typeface="프리텐다드"/>
                <a:cs typeface="프리텐다드"/>
              </a:rPr>
              <a:t>한 번의 동의로 명확히 제한해야 한다.</a:t>
            </a:r>
          </a:p>
        </p:txBody>
      </p:sp>
      <p:sp>
        <p:nvSpPr>
          <p:cNvPr id="16" name="">
            <a:extLst xmlns:a="http://schemas.openxmlformats.org/drawingml/2006/main">
              <a:ext uri="{FF2B5EF4-FFF2-40B4-BE49-F238E27FC236}">
                <a16:creationId xmlns:a16="http://schemas.microsoft.com/office/drawing/2014/main" id="{12CA3C19-2891-4F00-A13B-0C5931C48852}"/>
              </a:ext>
            </a:extLst>
          </p:cNvPr>
          <p:cNvSpPr>
            <a:spLocks xmlns:a="http://schemas.openxmlformats.org/drawingml/2006/main" noGrp="1"/>
          </p:cNvSpPr>
          <p:nvPr/>
        </p:nvSpPr>
        <p:spPr>
          <a:xfrm xmlns:a="http://schemas.openxmlformats.org/drawingml/2006/main">
            <a:off x="1028700" y="6991350"/>
            <a:ext cx="16230600" cy="1524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D8E0E9"/>
            </a:solidFill>
            <a:prstDash val="solid"/>
          </a:ln>
        </p:spPr>
      </p:sp>
      <p:sp>
        <p:nvSpPr>
          <p:cNvPr id="17" name="">
            <a:extLst xmlns:a="http://schemas.openxmlformats.org/drawingml/2006/main">
              <a:ext uri="{FF2B5EF4-FFF2-40B4-BE49-F238E27FC236}">
                <a16:creationId xmlns:a16="http://schemas.microsoft.com/office/drawing/2014/main" id="{6F103334-FC7A-4996-B576-7185727769D9}"/>
              </a:ext>
            </a:extLst>
          </p:cNvPr>
          <p:cNvSpPr>
            <a:spLocks xmlns:a="http://schemas.openxmlformats.org/drawingml/2006/main" noGrp="1"/>
          </p:cNvSpPr>
          <p:nvPr/>
        </p:nvSpPr>
        <p:spPr>
          <a:xfrm xmlns:a="http://schemas.openxmlformats.org/drawingml/2006/main">
            <a:off x="1295400" y="7315200"/>
            <a:ext cx="7239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C02FEBE-B6A7-4E10-B211-EBF31857E9DD}"/>
              </a:ext>
            </a:extLst>
          </p:cNvPr>
          <p:cNvSpPr>
            <a:spLocks xmlns:a="http://schemas.openxmlformats.org/drawingml/2006/main" noGrp="1"/>
          </p:cNvSpPr>
          <p:nvPr/>
        </p:nvSpPr>
        <p:spPr>
          <a:xfrm xmlns:a="http://schemas.openxmlformats.org/drawingml/2006/main">
            <a:off x="1352550" y="7324725"/>
            <a:ext cx="6096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03</a:t>
            </a:r>
          </a:p>
        </p:txBody>
      </p:sp>
      <p:sp>
        <p:nvSpPr>
          <p:cNvPr id="19" name="">
            <a:extLst xmlns:a="http://schemas.openxmlformats.org/drawingml/2006/main">
              <a:ext uri="{FF2B5EF4-FFF2-40B4-BE49-F238E27FC236}">
                <a16:creationId xmlns:a16="http://schemas.microsoft.com/office/drawing/2014/main" id="{917E212B-32EC-4DCE-B18C-4AA3D5FA484C}"/>
              </a:ext>
            </a:extLst>
          </p:cNvPr>
          <p:cNvSpPr>
            <a:spLocks xmlns:a="http://schemas.openxmlformats.org/drawingml/2006/main" noGrp="1"/>
          </p:cNvSpPr>
          <p:nvPr/>
        </p:nvSpPr>
        <p:spPr>
          <a:xfrm xmlns:a="http://schemas.openxmlformats.org/drawingml/2006/main">
            <a:off x="2333625" y="7219950"/>
            <a:ext cx="4572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475" b="1">
                <a:solidFill>
                  <a:srgbClr val="17263A"/>
                </a:solidFill>
                <a:latin typeface="프리텐다드"/>
                <a:ea typeface="프리텐다드"/>
                <a:cs typeface="프리텐다드"/>
              </a:defRPr>
            </a:pPr>
            <a:r>
              <a:rPr sz="2475" b="1">
                <a:solidFill>
                  <a:srgbClr val="17263A"/>
                </a:solidFill>
                <a:latin typeface="프리텐다드"/>
                <a:ea typeface="프리텐다드"/>
                <a:cs typeface="프리텐다드"/>
              </a:rPr>
              <a:t>증거 공백</a:t>
            </a:r>
          </a:p>
        </p:txBody>
      </p:sp>
      <p:sp>
        <p:nvSpPr>
          <p:cNvPr id="20" name="">
            <a:extLst xmlns:a="http://schemas.openxmlformats.org/drawingml/2006/main">
              <a:ext uri="{FF2B5EF4-FFF2-40B4-BE49-F238E27FC236}">
                <a16:creationId xmlns:a16="http://schemas.microsoft.com/office/drawing/2014/main" id="{BF5D8D58-943D-4861-994F-2260DAC7CC92}"/>
              </a:ext>
            </a:extLst>
          </p:cNvPr>
          <p:cNvSpPr>
            <a:spLocks xmlns:a="http://schemas.openxmlformats.org/drawingml/2006/main" noGrp="1"/>
          </p:cNvSpPr>
          <p:nvPr/>
        </p:nvSpPr>
        <p:spPr>
          <a:xfrm xmlns:a="http://schemas.openxmlformats.org/drawingml/2006/main">
            <a:off x="7086600" y="7239000"/>
            <a:ext cx="9620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허용·거부·수신 결과를</a:t>
            </a:r>
          </a:p>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서로 상관시켜 확인할 수 있어야 한다.</a:t>
            </a:r>
          </a:p>
        </p:txBody>
      </p:sp>
      <p:sp>
        <p:nvSpPr>
          <p:cNvPr id="21" name="">
            <a:extLst xmlns:a="http://schemas.openxmlformats.org/drawingml/2006/main">
              <a:ext uri="{FF2B5EF4-FFF2-40B4-BE49-F238E27FC236}">
                <a16:creationId xmlns:a16="http://schemas.microsoft.com/office/drawing/2014/main" id="{FB3D1F62-637E-4ABC-9060-7CA93BF4CD23}"/>
              </a:ext>
            </a:extLst>
          </p:cNvPr>
          <p:cNvSpPr>
            <a:spLocks xmlns:a="http://schemas.openxmlformats.org/drawingml/2006/main" noGrp="1"/>
          </p:cNvSpPr>
          <p:nvPr/>
        </p:nvSpPr>
        <p:spPr>
          <a:xfrm xmlns:a="http://schemas.openxmlformats.org/drawingml/2006/main">
            <a:off x="1028700" y="8953500"/>
            <a:ext cx="162306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r">
              <a:defRPr sz="1500" b="0">
                <a:solidFill>
                  <a:srgbClr val="7B8A9B"/>
                </a:solidFill>
                <a:latin typeface="프리텐다드"/>
                <a:ea typeface="프리텐다드"/>
                <a:cs typeface="프리텐다드"/>
              </a:defRPr>
            </a:pPr>
            <a:r>
              <a:rPr sz="1500" b="0">
                <a:solidFill>
                  <a:srgbClr val="7B8A9B"/>
                </a:solidFill>
                <a:latin typeface="프리텐다드"/>
                <a:ea typeface="프리텐다드"/>
                <a:cs typeface="프리텐다드"/>
              </a:rPr>
              <a:t>설계 가설 · 임상 효과나 실제 병원 운영현황을 판정한 내용은 아닙니다.</a:t>
            </a:r>
          </a:p>
        </p:txBody>
      </p:sp>
      <p:sp>
        <p:nvSpPr>
          <p:cNvPr id="22" name="">
            <a:extLst xmlns:a="http://schemas.openxmlformats.org/drawingml/2006/main">
              <a:ext uri="{FF2B5EF4-FFF2-40B4-BE49-F238E27FC236}">
                <a16:creationId xmlns:a16="http://schemas.microsoft.com/office/drawing/2014/main" id="{FDB86F25-E8FB-470C-AB13-1C4471C3C297}"/>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197AF0E-146C-4DF2-99DC-66A9A524407C}"/>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4" name="">
            <a:extLst xmlns:a="http://schemas.openxmlformats.org/drawingml/2006/main">
              <a:ext uri="{FF2B5EF4-FFF2-40B4-BE49-F238E27FC236}">
                <a16:creationId xmlns:a16="http://schemas.microsoft.com/office/drawing/2014/main" id="{EF0E2678-5AB2-424D-B81F-27A6CA898AE5}"/>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06  /  22</a:t>
            </a:r>
          </a:p>
        </p:txBody>
      </p:sp>
    </p:spTree>
    <p:extLst>
      <p:ext uri="{BB962C8B-B14F-4D97-AF65-F5344CB8AC3E}">
        <p14:creationId xmlns:p14="http://schemas.microsoft.com/office/powerpoint/2010/main" val="1722456104"/>
      </p:ext>
    </p:extLst>
  </p:cSld>
</p:sld>
</file>

<file path=ppt/slides/slide7.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BB55F3-47E3-4EC4-9687-170E0C11FCF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3385D24-258D-44C1-A934-A1950D736F7A}"/>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120F472-8C86-40EC-9304-C8A00A32F947}"/>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850B001-83C9-4AE7-AC04-FB65D50FC143}"/>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SOLUTION</a:t>
            </a:r>
          </a:p>
        </p:txBody>
      </p:sp>
      <p:sp>
        <p:nvSpPr>
          <p:cNvPr id="5" name="">
            <a:extLst xmlns:a="http://schemas.openxmlformats.org/drawingml/2006/main">
              <a:ext uri="{FF2B5EF4-FFF2-40B4-BE49-F238E27FC236}">
                <a16:creationId xmlns:a16="http://schemas.microsoft.com/office/drawing/2014/main" id="{72F9C27C-0A2E-4617-83A2-AA59211302B1}"/>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Medi Q의 설계는 세 가지 질문에 답한다</a:t>
            </a:r>
          </a:p>
        </p:txBody>
      </p:sp>
      <p:sp>
        <p:nvSpPr>
          <p:cNvPr id="6" name="">
            <a:extLst xmlns:a="http://schemas.openxmlformats.org/drawingml/2006/main">
              <a:ext uri="{FF2B5EF4-FFF2-40B4-BE49-F238E27FC236}">
                <a16:creationId xmlns:a16="http://schemas.microsoft.com/office/drawing/2014/main" id="{EC1379C7-0C78-49DB-B968-BC419134BBC9}"/>
              </a:ext>
            </a:extLst>
          </p:cNvPr>
          <p:cNvSpPr>
            <a:spLocks xmlns:a="http://schemas.openxmlformats.org/drawingml/2006/main" noGrp="1"/>
          </p:cNvSpPr>
          <p:nvPr/>
        </p:nvSpPr>
        <p:spPr>
          <a:xfrm xmlns:a="http://schemas.openxmlformats.org/drawingml/2006/main">
            <a:off x="1619250" y="27813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1">
                <a:solidFill>
                  <a:srgbClr val="7B8A9B"/>
                </a:solidFill>
                <a:latin typeface="프리텐다드"/>
                <a:ea typeface="프리텐다드"/>
                <a:cs typeface="프리텐다드"/>
              </a:defRPr>
            </a:pPr>
            <a:r>
              <a:rPr sz="1650" b="1">
                <a:solidFill>
                  <a:srgbClr val="7B8A9B"/>
                </a:solidFill>
                <a:latin typeface="프리텐다드"/>
                <a:ea typeface="프리텐다드"/>
                <a:cs typeface="프리텐다드"/>
              </a:rPr>
              <a:t>문제</a:t>
            </a:r>
          </a:p>
        </p:txBody>
      </p:sp>
      <p:sp>
        <p:nvSpPr>
          <p:cNvPr id="7" name="">
            <a:extLst xmlns:a="http://schemas.openxmlformats.org/drawingml/2006/main">
              <a:ext uri="{FF2B5EF4-FFF2-40B4-BE49-F238E27FC236}">
                <a16:creationId xmlns:a16="http://schemas.microsoft.com/office/drawing/2014/main" id="{297796F0-7FD3-45F3-B131-439570B33326}"/>
              </a:ext>
            </a:extLst>
          </p:cNvPr>
          <p:cNvSpPr>
            <a:spLocks xmlns:a="http://schemas.openxmlformats.org/drawingml/2006/main" noGrp="1"/>
          </p:cNvSpPr>
          <p:nvPr/>
        </p:nvSpPr>
        <p:spPr>
          <a:xfrm xmlns:a="http://schemas.openxmlformats.org/drawingml/2006/main">
            <a:off x="10001250" y="2781300"/>
            <a:ext cx="666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1">
                <a:solidFill>
                  <a:srgbClr val="7B8A9B"/>
                </a:solidFill>
                <a:latin typeface="프리텐다드"/>
                <a:ea typeface="프리텐다드"/>
                <a:cs typeface="프리텐다드"/>
              </a:defRPr>
            </a:pPr>
            <a:r>
              <a:rPr sz="1650" b="1">
                <a:solidFill>
                  <a:srgbClr val="7B8A9B"/>
                </a:solidFill>
                <a:latin typeface="프리텐다드"/>
                <a:ea typeface="프리텐다드"/>
                <a:cs typeface="프리텐다드"/>
              </a:rPr>
              <a:t>시스템 응답</a:t>
            </a:r>
          </a:p>
        </p:txBody>
      </p:sp>
      <p:sp>
        <p:nvSpPr>
          <p:cNvPr id="8" name="">
            <a:extLst xmlns:a="http://schemas.openxmlformats.org/drawingml/2006/main">
              <a:ext uri="{FF2B5EF4-FFF2-40B4-BE49-F238E27FC236}">
                <a16:creationId xmlns:a16="http://schemas.microsoft.com/office/drawing/2014/main" id="{A8EBBF98-F448-4B20-9D1A-961A2E0D53B4}"/>
              </a:ext>
            </a:extLst>
          </p:cNvPr>
          <p:cNvSpPr>
            <a:spLocks xmlns:a="http://schemas.openxmlformats.org/drawingml/2006/main" noGrp="1"/>
          </p:cNvSpPr>
          <p:nvPr/>
        </p:nvSpPr>
        <p:spPr>
          <a:xfrm xmlns:a="http://schemas.openxmlformats.org/drawingml/2006/main">
            <a:off x="1619250" y="3524250"/>
            <a:ext cx="6667500" cy="1276350"/>
          </a:xfrm>
          <a:prstGeom xmlns:a="http://schemas.openxmlformats.org/drawingml/2006/main" prst="roundRect">
            <a:avLst>
              <a:gd name="adj" fmla="val 16418"/>
            </a:avLst>
          </a:prstGeom>
          <a:solidFill xmlns:a="http://schemas.openxmlformats.org/drawingml/2006/main">
            <a:srgbClr val="FFFFFF"/>
          </a:solidFill>
          <a:ln xmlns:a="http://schemas.openxmlformats.org/drawingml/2006/main" w="14288">
            <a:solidFill>
              <a:srgbClr val="D8E0E9"/>
            </a:solidFill>
            <a:prstDash val="solid"/>
          </a:ln>
        </p:spPr>
      </p:sp>
      <p:sp>
        <p:nvSpPr>
          <p:cNvPr id="9" name="">
            <a:extLst xmlns:a="http://schemas.openxmlformats.org/drawingml/2006/main">
              <a:ext uri="{FF2B5EF4-FFF2-40B4-BE49-F238E27FC236}">
                <a16:creationId xmlns:a16="http://schemas.microsoft.com/office/drawing/2014/main" id="{3F0BF064-CDB0-4995-80CA-5119E4F726A5}"/>
              </a:ext>
            </a:extLst>
          </p:cNvPr>
          <p:cNvSpPr>
            <a:spLocks xmlns:a="http://schemas.openxmlformats.org/drawingml/2006/main" noGrp="1"/>
          </p:cNvSpPr>
          <p:nvPr/>
        </p:nvSpPr>
        <p:spPr>
          <a:xfrm xmlns:a="http://schemas.openxmlformats.org/drawingml/2006/main">
            <a:off x="1952625" y="3752850"/>
            <a:ext cx="6000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400" b="1">
                <a:solidFill>
                  <a:srgbClr val="0B2342"/>
                </a:solidFill>
                <a:latin typeface="프리텐다드"/>
                <a:ea typeface="프리텐다드"/>
                <a:cs typeface="프리텐다드"/>
              </a:defRPr>
            </a:pPr>
            <a:r>
              <a:rPr sz="2400" b="1">
                <a:solidFill>
                  <a:srgbClr val="0B2342"/>
                </a:solidFill>
                <a:latin typeface="프리텐다드"/>
                <a:ea typeface="프리텐다드"/>
                <a:cs typeface="프리텐다드"/>
              </a:rPr>
              <a:t>누가 열 수 있나?</a:t>
            </a:r>
          </a:p>
        </p:txBody>
      </p:sp>
      <p:sp>
        <p:nvSpPr>
          <p:cNvPr id="10" name="">
            <a:extLst xmlns:a="http://schemas.openxmlformats.org/drawingml/2006/main">
              <a:ext uri="{FF2B5EF4-FFF2-40B4-BE49-F238E27FC236}">
                <a16:creationId xmlns:a16="http://schemas.microsoft.com/office/drawing/2014/main" id="{3682E88A-B0C5-4799-A939-3CC10CEE7D00}"/>
              </a:ext>
            </a:extLst>
          </p:cNvPr>
          <p:cNvSpPr>
            <a:spLocks xmlns:a="http://schemas.openxmlformats.org/drawingml/2006/main" noGrp="1"/>
          </p:cNvSpPr>
          <p:nvPr/>
        </p:nvSpPr>
        <p:spPr>
          <a:xfrm xmlns:a="http://schemas.openxmlformats.org/drawingml/2006/main">
            <a:off x="8382000" y="38481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222"/>
          </a:bodyPr>
          <a:lstStyle xmlns:a="http://schemas.openxmlformats.org/drawingml/2006/main"/>
          <a:p xmlns:a="http://schemas.openxmlformats.org/drawingml/2006/main">
            <a:pPr algn="ctr">
              <a:defRPr sz="3600" b="1">
                <a:solidFill>
                  <a:srgbClr val="2F68B5"/>
                </a:solidFill>
                <a:latin typeface="프리텐다드"/>
                <a:ea typeface="프리텐다드"/>
                <a:cs typeface="프리텐다드"/>
              </a:defRPr>
            </a:pPr>
            <a:r>
              <a:rPr sz="3600" b="1">
                <a:solidFill>
                  <a:srgbClr val="2F68B5"/>
                </a:solidFill>
                <a:latin typeface="프리텐다드"/>
                <a:ea typeface="프리텐다드"/>
                <a:cs typeface="프리텐다드"/>
              </a:rPr>
              <a:t>→</a:t>
            </a:r>
          </a:p>
        </p:txBody>
      </p:sp>
      <p:sp>
        <p:nvSpPr>
          <p:cNvPr id="11" name="">
            <a:extLst xmlns:a="http://schemas.openxmlformats.org/drawingml/2006/main">
              <a:ext uri="{FF2B5EF4-FFF2-40B4-BE49-F238E27FC236}">
                <a16:creationId xmlns:a16="http://schemas.microsoft.com/office/drawing/2014/main" id="{18DDD03D-0073-488C-A0F5-57F55DF5E0B0}"/>
              </a:ext>
            </a:extLst>
          </p:cNvPr>
          <p:cNvSpPr>
            <a:spLocks xmlns:a="http://schemas.openxmlformats.org/drawingml/2006/main" noGrp="1"/>
          </p:cNvSpPr>
          <p:nvPr/>
        </p:nvSpPr>
        <p:spPr>
          <a:xfrm xmlns:a="http://schemas.openxmlformats.org/drawingml/2006/main">
            <a:off x="10001250" y="3524250"/>
            <a:ext cx="6667500" cy="1276350"/>
          </a:xfrm>
          <a:prstGeom xmlns:a="http://schemas.openxmlformats.org/drawingml/2006/main" prst="roundRect">
            <a:avLst>
              <a:gd name="adj" fmla="val 16418"/>
            </a:avLst>
          </a:prstGeom>
          <a:solidFill xmlns:a="http://schemas.openxmlformats.org/drawingml/2006/main">
            <a:srgbClr val="F3F6FA"/>
          </a:solidFill>
          <a:ln xmlns:a="http://schemas.openxmlformats.org/drawingml/2006/main" w="14288">
            <a:solidFill>
              <a:srgbClr val="D8E0E9"/>
            </a:solidFill>
            <a:prstDash val="solid"/>
          </a:ln>
        </p:spPr>
      </p:sp>
      <p:sp>
        <p:nvSpPr>
          <p:cNvPr id="12" name="">
            <a:extLst xmlns:a="http://schemas.openxmlformats.org/drawingml/2006/main">
              <a:ext uri="{FF2B5EF4-FFF2-40B4-BE49-F238E27FC236}">
                <a16:creationId xmlns:a16="http://schemas.microsoft.com/office/drawing/2014/main" id="{D9DE44E9-BAB6-47DD-8DCB-EB3072BC9C61}"/>
              </a:ext>
            </a:extLst>
          </p:cNvPr>
          <p:cNvSpPr>
            <a:spLocks xmlns:a="http://schemas.openxmlformats.org/drawingml/2006/main" noGrp="1"/>
          </p:cNvSpPr>
          <p:nvPr/>
        </p:nvSpPr>
        <p:spPr>
          <a:xfrm xmlns:a="http://schemas.openxmlformats.org/drawingml/2006/main">
            <a:off x="10306050" y="3752850"/>
            <a:ext cx="6057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17263A"/>
                </a:solidFill>
                <a:latin typeface="프리텐다드"/>
                <a:ea typeface="프리텐다드"/>
                <a:cs typeface="프리텐다드"/>
              </a:defRPr>
            </a:pPr>
            <a:r>
              <a:rPr sz="2175" b="1">
                <a:solidFill>
                  <a:srgbClr val="17263A"/>
                </a:solidFill>
                <a:latin typeface="프리텐다드"/>
                <a:ea typeface="프리텐다드"/>
                <a:cs typeface="프리텐다드"/>
              </a:rPr>
              <a:t>서버가 사용자·병원 역할을 확인</a:t>
            </a:r>
          </a:p>
        </p:txBody>
      </p:sp>
      <p:sp>
        <p:nvSpPr>
          <p:cNvPr id="13" name="">
            <a:extLst xmlns:a="http://schemas.openxmlformats.org/drawingml/2006/main">
              <a:ext uri="{FF2B5EF4-FFF2-40B4-BE49-F238E27FC236}">
                <a16:creationId xmlns:a16="http://schemas.microsoft.com/office/drawing/2014/main" id="{F3C596FC-12F2-47FA-B277-800D8E109B3C}"/>
              </a:ext>
            </a:extLst>
          </p:cNvPr>
          <p:cNvSpPr>
            <a:spLocks xmlns:a="http://schemas.openxmlformats.org/drawingml/2006/main" noGrp="1"/>
          </p:cNvSpPr>
          <p:nvPr/>
        </p:nvSpPr>
        <p:spPr>
          <a:xfrm xmlns:a="http://schemas.openxmlformats.org/drawingml/2006/main">
            <a:off x="1619250" y="5276850"/>
            <a:ext cx="6667500" cy="1276350"/>
          </a:xfrm>
          <a:prstGeom xmlns:a="http://schemas.openxmlformats.org/drawingml/2006/main" prst="roundRect">
            <a:avLst>
              <a:gd name="adj" fmla="val 16418"/>
            </a:avLst>
          </a:prstGeom>
          <a:solidFill xmlns:a="http://schemas.openxmlformats.org/drawingml/2006/main">
            <a:srgbClr val="E9F1FC"/>
          </a:solidFill>
          <a:ln xmlns:a="http://schemas.openxmlformats.org/drawingml/2006/main" w="14288">
            <a:solidFill>
              <a:srgbClr val="D8E0E9"/>
            </a:solidFill>
            <a:prstDash val="solid"/>
          </a:ln>
        </p:spPr>
      </p:sp>
      <p:sp>
        <p:nvSpPr>
          <p:cNvPr id="14" name="">
            <a:extLst xmlns:a="http://schemas.openxmlformats.org/drawingml/2006/main">
              <a:ext uri="{FF2B5EF4-FFF2-40B4-BE49-F238E27FC236}">
                <a16:creationId xmlns:a16="http://schemas.microsoft.com/office/drawing/2014/main" id="{15B26C93-CAF7-46E9-AD80-375A86DFB858}"/>
              </a:ext>
            </a:extLst>
          </p:cNvPr>
          <p:cNvSpPr>
            <a:spLocks xmlns:a="http://schemas.openxmlformats.org/drawingml/2006/main" noGrp="1"/>
          </p:cNvSpPr>
          <p:nvPr/>
        </p:nvSpPr>
        <p:spPr>
          <a:xfrm xmlns:a="http://schemas.openxmlformats.org/drawingml/2006/main">
            <a:off x="1952625" y="5505450"/>
            <a:ext cx="6000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400" b="1">
                <a:solidFill>
                  <a:srgbClr val="0B2342"/>
                </a:solidFill>
                <a:latin typeface="프리텐다드"/>
                <a:ea typeface="프리텐다드"/>
                <a:cs typeface="프리텐다드"/>
              </a:defRPr>
            </a:pPr>
            <a:r>
              <a:rPr sz="2400" b="1">
                <a:solidFill>
                  <a:srgbClr val="0B2342"/>
                </a:solidFill>
                <a:latin typeface="프리텐다드"/>
                <a:ea typeface="프리텐다드"/>
                <a:cs typeface="프리텐다드"/>
              </a:rPr>
              <a:t>무엇을 열 수 있나?</a:t>
            </a:r>
          </a:p>
        </p:txBody>
      </p:sp>
      <p:sp>
        <p:nvSpPr>
          <p:cNvPr id="15" name="">
            <a:extLst xmlns:a="http://schemas.openxmlformats.org/drawingml/2006/main">
              <a:ext uri="{FF2B5EF4-FFF2-40B4-BE49-F238E27FC236}">
                <a16:creationId xmlns:a16="http://schemas.microsoft.com/office/drawing/2014/main" id="{2E1E5488-9CC6-4C84-A5D1-15017E6EA914}"/>
              </a:ext>
            </a:extLst>
          </p:cNvPr>
          <p:cNvSpPr>
            <a:spLocks xmlns:a="http://schemas.openxmlformats.org/drawingml/2006/main" noGrp="1"/>
          </p:cNvSpPr>
          <p:nvPr/>
        </p:nvSpPr>
        <p:spPr>
          <a:xfrm xmlns:a="http://schemas.openxmlformats.org/drawingml/2006/main">
            <a:off x="8382000" y="56007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222"/>
          </a:bodyPr>
          <a:lstStyle xmlns:a="http://schemas.openxmlformats.org/drawingml/2006/main"/>
          <a:p xmlns:a="http://schemas.openxmlformats.org/drawingml/2006/main">
            <a:pPr algn="ctr">
              <a:defRPr sz="3600" b="1">
                <a:solidFill>
                  <a:srgbClr val="2F68B5"/>
                </a:solidFill>
                <a:latin typeface="프리텐다드"/>
                <a:ea typeface="프리텐다드"/>
                <a:cs typeface="프리텐다드"/>
              </a:defRPr>
            </a:pPr>
            <a:r>
              <a:rPr sz="3600" b="1">
                <a:solidFill>
                  <a:srgbClr val="2F68B5"/>
                </a:solidFill>
                <a:latin typeface="프리텐다드"/>
                <a:ea typeface="프리텐다드"/>
                <a:cs typeface="프리텐다드"/>
              </a:rPr>
              <a:t>→</a:t>
            </a:r>
          </a:p>
        </p:txBody>
      </p:sp>
      <p:sp>
        <p:nvSpPr>
          <p:cNvPr id="16" name="">
            <a:extLst xmlns:a="http://schemas.openxmlformats.org/drawingml/2006/main">
              <a:ext uri="{FF2B5EF4-FFF2-40B4-BE49-F238E27FC236}">
                <a16:creationId xmlns:a16="http://schemas.microsoft.com/office/drawing/2014/main" id="{0C8AD295-ED04-4E63-B879-BFDA6DB1B0C7}"/>
              </a:ext>
            </a:extLst>
          </p:cNvPr>
          <p:cNvSpPr>
            <a:spLocks xmlns:a="http://schemas.openxmlformats.org/drawingml/2006/main" noGrp="1"/>
          </p:cNvSpPr>
          <p:nvPr/>
        </p:nvSpPr>
        <p:spPr>
          <a:xfrm xmlns:a="http://schemas.openxmlformats.org/drawingml/2006/main">
            <a:off x="10001250" y="5276850"/>
            <a:ext cx="6667500" cy="1276350"/>
          </a:xfrm>
          <a:prstGeom xmlns:a="http://schemas.openxmlformats.org/drawingml/2006/main" prst="roundRect">
            <a:avLst>
              <a:gd name="adj" fmla="val 16418"/>
            </a:avLst>
          </a:prstGeom>
          <a:solidFill xmlns:a="http://schemas.openxmlformats.org/drawingml/2006/main">
            <a:srgbClr val="0B2342"/>
          </a:solidFill>
          <a:ln xmlns:a="http://schemas.openxmlformats.org/drawingml/2006/main" w="14288">
            <a:solidFill>
              <a:srgbClr val="0B2342"/>
            </a:solidFill>
            <a:prstDash val="solid"/>
          </a:ln>
        </p:spPr>
      </p:sp>
      <p:sp>
        <p:nvSpPr>
          <p:cNvPr id="17" name="">
            <a:extLst xmlns:a="http://schemas.openxmlformats.org/drawingml/2006/main">
              <a:ext uri="{FF2B5EF4-FFF2-40B4-BE49-F238E27FC236}">
                <a16:creationId xmlns:a16="http://schemas.microsoft.com/office/drawing/2014/main" id="{271B43D1-F6E2-4658-8DB1-E4B66B5BAAEB}"/>
              </a:ext>
            </a:extLst>
          </p:cNvPr>
          <p:cNvSpPr>
            <a:spLocks xmlns:a="http://schemas.openxmlformats.org/drawingml/2006/main" noGrp="1"/>
          </p:cNvSpPr>
          <p:nvPr/>
        </p:nvSpPr>
        <p:spPr>
          <a:xfrm xmlns:a="http://schemas.openxmlformats.org/drawingml/2006/main">
            <a:off x="10306050" y="5505450"/>
            <a:ext cx="6057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동의의 목적·기간·Study/Series로 제한</a:t>
            </a:r>
          </a:p>
        </p:txBody>
      </p:sp>
      <p:sp>
        <p:nvSpPr>
          <p:cNvPr id="18" name="">
            <a:extLst xmlns:a="http://schemas.openxmlformats.org/drawingml/2006/main">
              <a:ext uri="{FF2B5EF4-FFF2-40B4-BE49-F238E27FC236}">
                <a16:creationId xmlns:a16="http://schemas.microsoft.com/office/drawing/2014/main" id="{EADA5B15-A29E-4E85-A86E-7AB0D1CAB8D2}"/>
              </a:ext>
            </a:extLst>
          </p:cNvPr>
          <p:cNvSpPr>
            <a:spLocks xmlns:a="http://schemas.openxmlformats.org/drawingml/2006/main" noGrp="1"/>
          </p:cNvSpPr>
          <p:nvPr/>
        </p:nvSpPr>
        <p:spPr>
          <a:xfrm xmlns:a="http://schemas.openxmlformats.org/drawingml/2006/main">
            <a:off x="1619250" y="7029450"/>
            <a:ext cx="6667500" cy="1276350"/>
          </a:xfrm>
          <a:prstGeom xmlns:a="http://schemas.openxmlformats.org/drawingml/2006/main" prst="roundRect">
            <a:avLst>
              <a:gd name="adj" fmla="val 16418"/>
            </a:avLst>
          </a:prstGeom>
          <a:solidFill xmlns:a="http://schemas.openxmlformats.org/drawingml/2006/main">
            <a:srgbClr val="FFFFFF"/>
          </a:solidFill>
          <a:ln xmlns:a="http://schemas.openxmlformats.org/drawingml/2006/main" w="14288">
            <a:solidFill>
              <a:srgbClr val="D8E0E9"/>
            </a:solidFill>
            <a:prstDash val="solid"/>
          </a:ln>
        </p:spPr>
      </p:sp>
      <p:sp>
        <p:nvSpPr>
          <p:cNvPr id="19" name="">
            <a:extLst xmlns:a="http://schemas.openxmlformats.org/drawingml/2006/main">
              <a:ext uri="{FF2B5EF4-FFF2-40B4-BE49-F238E27FC236}">
                <a16:creationId xmlns:a16="http://schemas.microsoft.com/office/drawing/2014/main" id="{69602E8D-B6C8-4A39-AB34-860F108AE4FC}"/>
              </a:ext>
            </a:extLst>
          </p:cNvPr>
          <p:cNvSpPr>
            <a:spLocks xmlns:a="http://schemas.openxmlformats.org/drawingml/2006/main" noGrp="1"/>
          </p:cNvSpPr>
          <p:nvPr/>
        </p:nvSpPr>
        <p:spPr>
          <a:xfrm xmlns:a="http://schemas.openxmlformats.org/drawingml/2006/main">
            <a:off x="1952625" y="7258050"/>
            <a:ext cx="6000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400" b="1">
                <a:solidFill>
                  <a:srgbClr val="0B2342"/>
                </a:solidFill>
                <a:latin typeface="프리텐다드"/>
                <a:ea typeface="프리텐다드"/>
                <a:cs typeface="프리텐다드"/>
              </a:defRPr>
            </a:pPr>
            <a:r>
              <a:rPr sz="2400" b="1">
                <a:solidFill>
                  <a:srgbClr val="0B2342"/>
                </a:solidFill>
                <a:latin typeface="프리텐다드"/>
                <a:ea typeface="프리텐다드"/>
                <a:cs typeface="프리텐다드"/>
              </a:rPr>
              <a:t>무엇을 증명할 수 있나?</a:t>
            </a:r>
          </a:p>
        </p:txBody>
      </p:sp>
      <p:sp>
        <p:nvSpPr>
          <p:cNvPr id="20" name="">
            <a:extLst xmlns:a="http://schemas.openxmlformats.org/drawingml/2006/main">
              <a:ext uri="{FF2B5EF4-FFF2-40B4-BE49-F238E27FC236}">
                <a16:creationId xmlns:a16="http://schemas.microsoft.com/office/drawing/2014/main" id="{5730EA76-CDAA-4A44-9FD0-18E334172B33}"/>
              </a:ext>
            </a:extLst>
          </p:cNvPr>
          <p:cNvSpPr>
            <a:spLocks xmlns:a="http://schemas.openxmlformats.org/drawingml/2006/main" noGrp="1"/>
          </p:cNvSpPr>
          <p:nvPr/>
        </p:nvSpPr>
        <p:spPr>
          <a:xfrm xmlns:a="http://schemas.openxmlformats.org/drawingml/2006/main">
            <a:off x="8382000" y="7353300"/>
            <a:ext cx="1428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222"/>
          </a:bodyPr>
          <a:lstStyle xmlns:a="http://schemas.openxmlformats.org/drawingml/2006/main"/>
          <a:p xmlns:a="http://schemas.openxmlformats.org/drawingml/2006/main">
            <a:pPr algn="ctr">
              <a:defRPr sz="3600" b="1">
                <a:solidFill>
                  <a:srgbClr val="2F68B5"/>
                </a:solidFill>
                <a:latin typeface="프리텐다드"/>
                <a:ea typeface="프리텐다드"/>
                <a:cs typeface="프리텐다드"/>
              </a:defRPr>
            </a:pPr>
            <a:r>
              <a:rPr sz="3600" b="1">
                <a:solidFill>
                  <a:srgbClr val="2F68B5"/>
                </a:solidFill>
                <a:latin typeface="프리텐다드"/>
                <a:ea typeface="프리텐다드"/>
                <a:cs typeface="프리텐다드"/>
              </a:rPr>
              <a:t>→</a:t>
            </a:r>
          </a:p>
        </p:txBody>
      </p:sp>
      <p:sp>
        <p:nvSpPr>
          <p:cNvPr id="21" name="">
            <a:extLst xmlns:a="http://schemas.openxmlformats.org/drawingml/2006/main">
              <a:ext uri="{FF2B5EF4-FFF2-40B4-BE49-F238E27FC236}">
                <a16:creationId xmlns:a16="http://schemas.microsoft.com/office/drawing/2014/main" id="{242B168E-98E5-4204-850E-2AE0D5F8AAFD}"/>
              </a:ext>
            </a:extLst>
          </p:cNvPr>
          <p:cNvSpPr>
            <a:spLocks xmlns:a="http://schemas.openxmlformats.org/drawingml/2006/main" noGrp="1"/>
          </p:cNvSpPr>
          <p:nvPr/>
        </p:nvSpPr>
        <p:spPr>
          <a:xfrm xmlns:a="http://schemas.openxmlformats.org/drawingml/2006/main">
            <a:off x="10001250" y="7029450"/>
            <a:ext cx="6667500" cy="1276350"/>
          </a:xfrm>
          <a:prstGeom xmlns:a="http://schemas.openxmlformats.org/drawingml/2006/main" prst="roundRect">
            <a:avLst>
              <a:gd name="adj" fmla="val 16418"/>
            </a:avLst>
          </a:prstGeom>
          <a:solidFill xmlns:a="http://schemas.openxmlformats.org/drawingml/2006/main">
            <a:srgbClr val="F3F6FA"/>
          </a:solidFill>
          <a:ln xmlns:a="http://schemas.openxmlformats.org/drawingml/2006/main" w="14288">
            <a:solidFill>
              <a:srgbClr val="D8E0E9"/>
            </a:solidFill>
            <a:prstDash val="solid"/>
          </a:ln>
        </p:spPr>
      </p:sp>
      <p:sp>
        <p:nvSpPr>
          <p:cNvPr id="22" name="">
            <a:extLst xmlns:a="http://schemas.openxmlformats.org/drawingml/2006/main">
              <a:ext uri="{FF2B5EF4-FFF2-40B4-BE49-F238E27FC236}">
                <a16:creationId xmlns:a16="http://schemas.microsoft.com/office/drawing/2014/main" id="{2A6225B3-D46C-40FB-BC12-CE58B34BD1C8}"/>
              </a:ext>
            </a:extLst>
          </p:cNvPr>
          <p:cNvSpPr>
            <a:spLocks xmlns:a="http://schemas.openxmlformats.org/drawingml/2006/main" noGrp="1"/>
          </p:cNvSpPr>
          <p:nvPr/>
        </p:nvSpPr>
        <p:spPr>
          <a:xfrm xmlns:a="http://schemas.openxmlformats.org/drawingml/2006/main">
            <a:off x="10306050" y="7258050"/>
            <a:ext cx="60579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17263A"/>
                </a:solidFill>
                <a:latin typeface="프리텐다드"/>
                <a:ea typeface="프리텐다드"/>
                <a:cs typeface="프리텐다드"/>
              </a:defRPr>
            </a:pPr>
            <a:r>
              <a:rPr sz="2175" b="1">
                <a:solidFill>
                  <a:srgbClr val="17263A"/>
                </a:solidFill>
                <a:latin typeface="프리텐다드"/>
                <a:ea typeface="프리텐다드"/>
                <a:cs typeface="프리텐다드"/>
              </a:rPr>
              <a:t>Gateway 결과와 감사 이벤트를 상관</a:t>
            </a:r>
          </a:p>
        </p:txBody>
      </p:sp>
      <p:sp>
        <p:nvSpPr>
          <p:cNvPr id="23" name="">
            <a:extLst xmlns:a="http://schemas.openxmlformats.org/drawingml/2006/main">
              <a:ext uri="{FF2B5EF4-FFF2-40B4-BE49-F238E27FC236}">
                <a16:creationId xmlns:a16="http://schemas.microsoft.com/office/drawing/2014/main" id="{E55368F1-5747-46CD-8272-AE72DAC83304}"/>
              </a:ext>
            </a:extLst>
          </p:cNvPr>
          <p:cNvSpPr>
            <a:spLocks xmlns:a="http://schemas.openxmlformats.org/drawingml/2006/main" noGrp="1"/>
          </p:cNvSpPr>
          <p:nvPr/>
        </p:nvSpPr>
        <p:spPr>
          <a:xfrm xmlns:a="http://schemas.openxmlformats.org/drawingml/2006/main">
            <a:off x="1619250" y="8858250"/>
            <a:ext cx="15049500" cy="438150"/>
          </a:xfrm>
          <a:prstGeom xmlns:a="http://schemas.openxmlformats.org/drawingml/2006/main" prst="roundRect">
            <a:avLst>
              <a:gd name="adj" fmla="val 34783"/>
            </a:avLst>
          </a:prstGeom>
          <a:solidFill xmlns:a="http://schemas.openxmlformats.org/drawingml/2006/main">
            <a:srgbClr val="FBF4E5"/>
          </a:solidFill>
          <a:ln xmlns:a="http://schemas.openxmlformats.org/drawingml/2006/main" w="14288">
            <a:solidFill>
              <a:srgbClr val="FBF4E5"/>
            </a:solidFill>
            <a:prstDash val="solid"/>
          </a:ln>
        </p:spPr>
      </p:sp>
      <p:sp>
        <p:nvSpPr>
          <p:cNvPr id="24" name="">
            <a:extLst xmlns:a="http://schemas.openxmlformats.org/drawingml/2006/main">
              <a:ext uri="{FF2B5EF4-FFF2-40B4-BE49-F238E27FC236}">
                <a16:creationId xmlns:a16="http://schemas.microsoft.com/office/drawing/2014/main" id="{45B486BE-3ED3-4C5E-B36D-E42197FE225F}"/>
              </a:ext>
            </a:extLst>
          </p:cNvPr>
          <p:cNvSpPr>
            <a:spLocks xmlns:a="http://schemas.openxmlformats.org/drawingml/2006/main" noGrp="1"/>
          </p:cNvSpPr>
          <p:nvPr/>
        </p:nvSpPr>
        <p:spPr>
          <a:xfrm xmlns:a="http://schemas.openxmlformats.org/drawingml/2006/main">
            <a:off x="1828800" y="8877300"/>
            <a:ext cx="1463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725" b="1">
                <a:solidFill>
                  <a:srgbClr val="0B2342"/>
                </a:solidFill>
                <a:latin typeface="프리텐다드"/>
                <a:ea typeface="프리텐다드"/>
                <a:cs typeface="프리텐다드"/>
              </a:defRPr>
            </a:pPr>
            <a:r>
              <a:rPr sz="1725" b="1">
                <a:solidFill>
                  <a:srgbClr val="0B2342"/>
                </a:solidFill>
                <a:latin typeface="프리텐다드"/>
                <a:ea typeface="프리텐다드"/>
                <a:cs typeface="프리텐다드"/>
              </a:rPr>
              <a:t>‘AI 진단’이나 ‘재촬영 감소 보장’이 아니라, 승인된 영상 접근의 범위와 증거를 다룹니다.</a:t>
            </a:r>
          </a:p>
        </p:txBody>
      </p:sp>
      <p:sp>
        <p:nvSpPr>
          <p:cNvPr id="25" name="">
            <a:extLst xmlns:a="http://schemas.openxmlformats.org/drawingml/2006/main">
              <a:ext uri="{FF2B5EF4-FFF2-40B4-BE49-F238E27FC236}">
                <a16:creationId xmlns:a16="http://schemas.microsoft.com/office/drawing/2014/main" id="{0B61557F-3F8A-4E6F-B7B5-90AC57932B81}"/>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7A4976E-6AEC-4A10-8E1A-DCD403F18A55}"/>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7" name="">
            <a:extLst xmlns:a="http://schemas.openxmlformats.org/drawingml/2006/main">
              <a:ext uri="{FF2B5EF4-FFF2-40B4-BE49-F238E27FC236}">
                <a16:creationId xmlns:a16="http://schemas.microsoft.com/office/drawing/2014/main" id="{DBCCE510-6BA5-4F25-B152-29370B520E11}"/>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07  /  22</a:t>
            </a:r>
          </a:p>
        </p:txBody>
      </p:sp>
    </p:spTree>
    <p:extLst>
      <p:ext uri="{BB962C8B-B14F-4D97-AF65-F5344CB8AC3E}">
        <p14:creationId xmlns:p14="http://schemas.microsoft.com/office/powerpoint/2010/main" val="1947407222"/>
      </p:ext>
    </p:extLst>
  </p:cSld>
</p:sld>
</file>

<file path=ppt/slides/slide8.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C3552A5-822D-407F-ABF5-DBE0E66A35B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6BB8258-EF68-435F-801F-7C00AECA91D1}"/>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98047A15-79A6-46C1-A8F0-117E866226CA}"/>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CA2000-A43D-4A4D-85E5-F3D1298CBF1B}"/>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PRODUCT</a:t>
            </a:r>
          </a:p>
        </p:txBody>
      </p:sp>
      <p:sp>
        <p:nvSpPr>
          <p:cNvPr id="5" name="">
            <a:extLst xmlns:a="http://schemas.openxmlformats.org/drawingml/2006/main">
              <a:ext uri="{FF2B5EF4-FFF2-40B4-BE49-F238E27FC236}">
                <a16:creationId xmlns:a16="http://schemas.microsoft.com/office/drawing/2014/main" id="{F4BCF218-3FAE-43F3-BD83-B17CC1697BBA}"/>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환자 동의로 제어하는 영상교류 MVP</a:t>
            </a:r>
          </a:p>
        </p:txBody>
      </p:sp>
      <p:sp>
        <p:nvSpPr>
          <p:cNvPr id="6" name="">
            <a:extLst xmlns:a="http://schemas.openxmlformats.org/drawingml/2006/main">
              <a:ext uri="{FF2B5EF4-FFF2-40B4-BE49-F238E27FC236}">
                <a16:creationId xmlns:a16="http://schemas.microsoft.com/office/drawing/2014/main" id="{C4965ADB-430E-4082-AAF4-4E6839AA093F}"/>
              </a:ext>
            </a:extLst>
          </p:cNvPr>
          <p:cNvSpPr>
            <a:spLocks xmlns:a="http://schemas.openxmlformats.org/drawingml/2006/main" noGrp="1"/>
          </p:cNvSpPr>
          <p:nvPr/>
        </p:nvSpPr>
        <p:spPr>
          <a:xfrm xmlns:a="http://schemas.openxmlformats.org/drawingml/2006/main">
            <a:off x="1028700" y="2724150"/>
            <a:ext cx="16230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550" b="1">
                <a:solidFill>
                  <a:srgbClr val="0B2342"/>
                </a:solidFill>
                <a:latin typeface="프리텐다드"/>
                <a:ea typeface="프리텐다드"/>
                <a:cs typeface="프리텐다드"/>
              </a:defRPr>
            </a:pPr>
            <a:r>
              <a:rPr sz="2550" b="1">
                <a:solidFill>
                  <a:srgbClr val="0B2342"/>
                </a:solidFill>
                <a:latin typeface="프리텐다드"/>
                <a:ea typeface="프리텐다드"/>
                <a:cs typeface="프리텐다드"/>
              </a:rPr>
              <a:t>Control은 권한을 결정하고, 병원 Gateway는 승인된 영상 경로를 처리합니다.</a:t>
            </a:r>
          </a:p>
        </p:txBody>
      </p:sp>
      <p:sp>
        <p:nvSpPr>
          <p:cNvPr id="7" name="">
            <a:extLst xmlns:a="http://schemas.openxmlformats.org/drawingml/2006/main">
              <a:ext uri="{FF2B5EF4-FFF2-40B4-BE49-F238E27FC236}">
                <a16:creationId xmlns:a16="http://schemas.microsoft.com/office/drawing/2014/main" id="{157F0415-DE60-4038-9252-F7667736D9AF}"/>
              </a:ext>
            </a:extLst>
          </p:cNvPr>
          <p:cNvSpPr>
            <a:spLocks xmlns:a="http://schemas.openxmlformats.org/drawingml/2006/main" noGrp="1"/>
          </p:cNvSpPr>
          <p:nvPr/>
        </p:nvSpPr>
        <p:spPr>
          <a:xfrm xmlns:a="http://schemas.openxmlformats.org/drawingml/2006/main">
            <a:off x="1028700" y="4229100"/>
            <a:ext cx="5029200" cy="2857500"/>
          </a:xfrm>
          <a:prstGeom xmlns:a="http://schemas.openxmlformats.org/drawingml/2006/main" prst="roundRect">
            <a:avLst>
              <a:gd name="adj" fmla="val 8000"/>
            </a:avLst>
          </a:prstGeom>
          <a:solidFill xmlns:a="http://schemas.openxmlformats.org/drawingml/2006/main">
            <a:srgbClr val="0B2342"/>
          </a:solidFill>
          <a:ln xmlns:a="http://schemas.openxmlformats.org/drawingml/2006/main" w="14288">
            <a:solidFill>
              <a:srgbClr val="0B2342"/>
            </a:solidFill>
            <a:prstDash val="solid"/>
          </a:ln>
        </p:spPr>
      </p:sp>
      <p:sp>
        <p:nvSpPr>
          <p:cNvPr id="8" name="">
            <a:extLst xmlns:a="http://schemas.openxmlformats.org/drawingml/2006/main">
              <a:ext uri="{FF2B5EF4-FFF2-40B4-BE49-F238E27FC236}">
                <a16:creationId xmlns:a16="http://schemas.microsoft.com/office/drawing/2014/main" id="{BC16F563-869C-4BDB-973C-2EE1F61CB86B}"/>
              </a:ext>
            </a:extLst>
          </p:cNvPr>
          <p:cNvSpPr>
            <a:spLocks xmlns:a="http://schemas.openxmlformats.org/drawingml/2006/main" noGrp="1"/>
          </p:cNvSpPr>
          <p:nvPr/>
        </p:nvSpPr>
        <p:spPr>
          <a:xfrm xmlns:a="http://schemas.openxmlformats.org/drawingml/2006/main">
            <a:off x="1295400" y="4495800"/>
            <a:ext cx="209550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D046325-8F3D-482A-8939-09E959BC08DB}"/>
              </a:ext>
            </a:extLst>
          </p:cNvPr>
          <p:cNvSpPr>
            <a:spLocks xmlns:a="http://schemas.openxmlformats.org/drawingml/2006/main" noGrp="1"/>
          </p:cNvSpPr>
          <p:nvPr/>
        </p:nvSpPr>
        <p:spPr>
          <a:xfrm xmlns:a="http://schemas.openxmlformats.org/drawingml/2006/main">
            <a:off x="1352550" y="4505325"/>
            <a:ext cx="19812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CONTROL PLANE</a:t>
            </a:r>
          </a:p>
        </p:txBody>
      </p:sp>
      <p:sp>
        <p:nvSpPr>
          <p:cNvPr id="10" name="">
            <a:extLst xmlns:a="http://schemas.openxmlformats.org/drawingml/2006/main">
              <a:ext uri="{FF2B5EF4-FFF2-40B4-BE49-F238E27FC236}">
                <a16:creationId xmlns:a16="http://schemas.microsoft.com/office/drawing/2014/main" id="{F68BDDF4-AC72-445D-829C-B8777105B65F}"/>
              </a:ext>
            </a:extLst>
          </p:cNvPr>
          <p:cNvSpPr>
            <a:spLocks xmlns:a="http://schemas.openxmlformats.org/drawingml/2006/main" noGrp="1"/>
          </p:cNvSpPr>
          <p:nvPr/>
        </p:nvSpPr>
        <p:spPr>
          <a:xfrm xmlns:a="http://schemas.openxmlformats.org/drawingml/2006/main">
            <a:off x="1314450" y="5238750"/>
            <a:ext cx="44577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325" b="1">
                <a:solidFill>
                  <a:srgbClr val="FFFFFF"/>
                </a:solidFill>
                <a:latin typeface="프리텐다드"/>
                <a:ea typeface="프리텐다드"/>
                <a:cs typeface="프리텐다드"/>
              </a:defRPr>
            </a:pPr>
            <a:r>
              <a:rPr sz="2325" b="1">
                <a:solidFill>
                  <a:srgbClr val="FFFFFF"/>
                </a:solidFill>
                <a:latin typeface="프리텐다드"/>
                <a:ea typeface="프리텐다드"/>
                <a:cs typeface="프리텐다드"/>
              </a:rPr>
              <a:t>동의 · 접근정책 · 최소 메타데이터 · 감사</a:t>
            </a:r>
          </a:p>
        </p:txBody>
      </p:sp>
      <p:sp>
        <p:nvSpPr>
          <p:cNvPr id="11" name="">
            <a:extLst xmlns:a="http://schemas.openxmlformats.org/drawingml/2006/main">
              <a:ext uri="{FF2B5EF4-FFF2-40B4-BE49-F238E27FC236}">
                <a16:creationId xmlns:a16="http://schemas.microsoft.com/office/drawing/2014/main" id="{D1A969A1-17CC-46A8-BF38-6BB7FA3658C6}"/>
              </a:ext>
            </a:extLst>
          </p:cNvPr>
          <p:cNvSpPr>
            <a:spLocks xmlns:a="http://schemas.openxmlformats.org/drawingml/2006/main" noGrp="1"/>
          </p:cNvSpPr>
          <p:nvPr/>
        </p:nvSpPr>
        <p:spPr>
          <a:xfrm xmlns:a="http://schemas.openxmlformats.org/drawingml/2006/main">
            <a:off x="1314450" y="63627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500" b="0">
                <a:solidFill>
                  <a:srgbClr val="C7D9EE"/>
                </a:solidFill>
                <a:latin typeface="프리텐다드"/>
                <a:ea typeface="프리텐다드"/>
                <a:cs typeface="프리텐다드"/>
              </a:defRPr>
            </a:pPr>
            <a:r>
              <a:rPr sz="1500" b="0">
                <a:solidFill>
                  <a:srgbClr val="C7D9EE"/>
                </a:solidFill>
                <a:latin typeface="프리텐다드"/>
                <a:ea typeface="프리텐다드"/>
                <a:cs typeface="프리텐다드"/>
              </a:rPr>
              <a:t>결정·기록</a:t>
            </a:r>
          </a:p>
        </p:txBody>
      </p:sp>
      <p:sp>
        <p:nvSpPr>
          <p:cNvPr id="12" name="">
            <a:extLst xmlns:a="http://schemas.openxmlformats.org/drawingml/2006/main">
              <a:ext uri="{FF2B5EF4-FFF2-40B4-BE49-F238E27FC236}">
                <a16:creationId xmlns:a16="http://schemas.microsoft.com/office/drawing/2014/main" id="{FE4E8868-4148-4169-933E-217294AF121E}"/>
              </a:ext>
            </a:extLst>
          </p:cNvPr>
          <p:cNvSpPr>
            <a:spLocks xmlns:a="http://schemas.openxmlformats.org/drawingml/2006/main" noGrp="1"/>
          </p:cNvSpPr>
          <p:nvPr/>
        </p:nvSpPr>
        <p:spPr>
          <a:xfrm xmlns:a="http://schemas.openxmlformats.org/drawingml/2006/main">
            <a:off x="6000750" y="5353050"/>
            <a:ext cx="59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3150" b="1">
                <a:solidFill>
                  <a:srgbClr val="2F68B5"/>
                </a:solidFill>
                <a:latin typeface="프리텐다드"/>
                <a:ea typeface="프리텐다드"/>
                <a:cs typeface="프리텐다드"/>
              </a:defRPr>
            </a:pPr>
            <a:r>
              <a:rPr sz="3150" b="1">
                <a:solidFill>
                  <a:srgbClr val="2F68B5"/>
                </a:solidFill>
                <a:latin typeface="프리텐다드"/>
                <a:ea typeface="프리텐다드"/>
                <a:cs typeface="프리텐다드"/>
              </a:rPr>
              <a:t>→</a:t>
            </a:r>
          </a:p>
        </p:txBody>
      </p:sp>
      <p:sp>
        <p:nvSpPr>
          <p:cNvPr id="13" name="">
            <a:extLst xmlns:a="http://schemas.openxmlformats.org/drawingml/2006/main">
              <a:ext uri="{FF2B5EF4-FFF2-40B4-BE49-F238E27FC236}">
                <a16:creationId xmlns:a16="http://schemas.microsoft.com/office/drawing/2014/main" id="{A7C4C0B7-3684-4B00-9697-6514D4F0E093}"/>
              </a:ext>
            </a:extLst>
          </p:cNvPr>
          <p:cNvSpPr>
            <a:spLocks xmlns:a="http://schemas.openxmlformats.org/drawingml/2006/main" noGrp="1"/>
          </p:cNvSpPr>
          <p:nvPr/>
        </p:nvSpPr>
        <p:spPr>
          <a:xfrm xmlns:a="http://schemas.openxmlformats.org/drawingml/2006/main">
            <a:off x="6515100" y="4229100"/>
            <a:ext cx="5029200" cy="2857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0E9"/>
            </a:solidFill>
            <a:prstDash val="solid"/>
          </a:ln>
        </p:spPr>
      </p:sp>
      <p:sp>
        <p:nvSpPr>
          <p:cNvPr id="14" name="">
            <a:extLst xmlns:a="http://schemas.openxmlformats.org/drawingml/2006/main">
              <a:ext uri="{FF2B5EF4-FFF2-40B4-BE49-F238E27FC236}">
                <a16:creationId xmlns:a16="http://schemas.microsoft.com/office/drawing/2014/main" id="{DF6A3813-2D7F-4C44-8463-90D315A6D8E7}"/>
              </a:ext>
            </a:extLst>
          </p:cNvPr>
          <p:cNvSpPr>
            <a:spLocks xmlns:a="http://schemas.openxmlformats.org/drawingml/2006/main" noGrp="1"/>
          </p:cNvSpPr>
          <p:nvPr/>
        </p:nvSpPr>
        <p:spPr>
          <a:xfrm xmlns:a="http://schemas.openxmlformats.org/drawingml/2006/main">
            <a:off x="6781800" y="4495800"/>
            <a:ext cx="20955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9F1DC91-EAD3-43FD-BB42-F99FB1C27569}"/>
              </a:ext>
            </a:extLst>
          </p:cNvPr>
          <p:cNvSpPr>
            <a:spLocks xmlns:a="http://schemas.openxmlformats.org/drawingml/2006/main" noGrp="1"/>
          </p:cNvSpPr>
          <p:nvPr/>
        </p:nvSpPr>
        <p:spPr>
          <a:xfrm xmlns:a="http://schemas.openxmlformats.org/drawingml/2006/main">
            <a:off x="6838950" y="4505325"/>
            <a:ext cx="19812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96187"/>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HOSPITAL DATA PLANE</a:t>
            </a:r>
          </a:p>
        </p:txBody>
      </p:sp>
      <p:sp>
        <p:nvSpPr>
          <p:cNvPr id="16" name="">
            <a:extLst xmlns:a="http://schemas.openxmlformats.org/drawingml/2006/main">
              <a:ext uri="{FF2B5EF4-FFF2-40B4-BE49-F238E27FC236}">
                <a16:creationId xmlns:a16="http://schemas.microsoft.com/office/drawing/2014/main" id="{65285290-1219-4358-A08B-860DEAAF8CC3}"/>
              </a:ext>
            </a:extLst>
          </p:cNvPr>
          <p:cNvSpPr>
            <a:spLocks xmlns:a="http://schemas.openxmlformats.org/drawingml/2006/main" noGrp="1"/>
          </p:cNvSpPr>
          <p:nvPr/>
        </p:nvSpPr>
        <p:spPr>
          <a:xfrm xmlns:a="http://schemas.openxmlformats.org/drawingml/2006/main">
            <a:off x="6800850" y="5238750"/>
            <a:ext cx="44577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A/B Gateway · DICOMweb · 수신 PACS</a:t>
            </a:r>
          </a:p>
        </p:txBody>
      </p:sp>
      <p:sp>
        <p:nvSpPr>
          <p:cNvPr id="17" name="">
            <a:extLst xmlns:a="http://schemas.openxmlformats.org/drawingml/2006/main">
              <a:ext uri="{FF2B5EF4-FFF2-40B4-BE49-F238E27FC236}">
                <a16:creationId xmlns:a16="http://schemas.microsoft.com/office/drawing/2014/main" id="{F97FDCBB-09BA-42F2-ACCF-4DB727A21DD8}"/>
              </a:ext>
            </a:extLst>
          </p:cNvPr>
          <p:cNvSpPr>
            <a:spLocks xmlns:a="http://schemas.openxmlformats.org/drawingml/2006/main" noGrp="1"/>
          </p:cNvSpPr>
          <p:nvPr/>
        </p:nvSpPr>
        <p:spPr>
          <a:xfrm xmlns:a="http://schemas.openxmlformats.org/drawingml/2006/main">
            <a:off x="6800850" y="63627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원본과 수신본 경계</a:t>
            </a:r>
          </a:p>
        </p:txBody>
      </p:sp>
      <p:sp>
        <p:nvSpPr>
          <p:cNvPr id="18" name="">
            <a:extLst xmlns:a="http://schemas.openxmlformats.org/drawingml/2006/main">
              <a:ext uri="{FF2B5EF4-FFF2-40B4-BE49-F238E27FC236}">
                <a16:creationId xmlns:a16="http://schemas.microsoft.com/office/drawing/2014/main" id="{154CB20F-58A1-49F4-B490-E491F726BE33}"/>
              </a:ext>
            </a:extLst>
          </p:cNvPr>
          <p:cNvSpPr>
            <a:spLocks xmlns:a="http://schemas.openxmlformats.org/drawingml/2006/main" noGrp="1"/>
          </p:cNvSpPr>
          <p:nvPr/>
        </p:nvSpPr>
        <p:spPr>
          <a:xfrm xmlns:a="http://schemas.openxmlformats.org/drawingml/2006/main">
            <a:off x="11487150" y="5353050"/>
            <a:ext cx="590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3150" b="1">
                <a:solidFill>
                  <a:srgbClr val="2F68B5"/>
                </a:solidFill>
                <a:latin typeface="프리텐다드"/>
                <a:ea typeface="프리텐다드"/>
                <a:cs typeface="프리텐다드"/>
              </a:defRPr>
            </a:pPr>
            <a:r>
              <a:rPr sz="3150" b="1">
                <a:solidFill>
                  <a:srgbClr val="2F68B5"/>
                </a:solidFill>
                <a:latin typeface="프리텐다드"/>
                <a:ea typeface="프리텐다드"/>
                <a:cs typeface="프리텐다드"/>
              </a:rPr>
              <a:t>→</a:t>
            </a:r>
          </a:p>
        </p:txBody>
      </p:sp>
      <p:sp>
        <p:nvSpPr>
          <p:cNvPr id="19" name="">
            <a:extLst xmlns:a="http://schemas.openxmlformats.org/drawingml/2006/main">
              <a:ext uri="{FF2B5EF4-FFF2-40B4-BE49-F238E27FC236}">
                <a16:creationId xmlns:a16="http://schemas.microsoft.com/office/drawing/2014/main" id="{1FC07BF6-9A5F-49A6-97DC-B1D5739DD399}"/>
              </a:ext>
            </a:extLst>
          </p:cNvPr>
          <p:cNvSpPr>
            <a:spLocks xmlns:a="http://schemas.openxmlformats.org/drawingml/2006/main" noGrp="1"/>
          </p:cNvSpPr>
          <p:nvPr/>
        </p:nvSpPr>
        <p:spPr>
          <a:xfrm xmlns:a="http://schemas.openxmlformats.org/drawingml/2006/main">
            <a:off x="12001500" y="4229100"/>
            <a:ext cx="5029200" cy="2857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0E9"/>
            </a:solidFill>
            <a:prstDash val="solid"/>
          </a:ln>
        </p:spPr>
      </p:sp>
      <p:sp>
        <p:nvSpPr>
          <p:cNvPr id="20" name="">
            <a:extLst xmlns:a="http://schemas.openxmlformats.org/drawingml/2006/main">
              <a:ext uri="{FF2B5EF4-FFF2-40B4-BE49-F238E27FC236}">
                <a16:creationId xmlns:a16="http://schemas.microsoft.com/office/drawing/2014/main" id="{1287DE5D-1A42-481A-AF9A-0B7C5972FEB9}"/>
              </a:ext>
            </a:extLst>
          </p:cNvPr>
          <p:cNvSpPr>
            <a:spLocks xmlns:a="http://schemas.openxmlformats.org/drawingml/2006/main" noGrp="1"/>
          </p:cNvSpPr>
          <p:nvPr/>
        </p:nvSpPr>
        <p:spPr>
          <a:xfrm xmlns:a="http://schemas.openxmlformats.org/drawingml/2006/main">
            <a:off x="12268200" y="4495800"/>
            <a:ext cx="20955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DD52D33-0057-4E8A-AF63-A569E2C53B54}"/>
              </a:ext>
            </a:extLst>
          </p:cNvPr>
          <p:cNvSpPr>
            <a:spLocks xmlns:a="http://schemas.openxmlformats.org/drawingml/2006/main" noGrp="1"/>
          </p:cNvSpPr>
          <p:nvPr/>
        </p:nvSpPr>
        <p:spPr>
          <a:xfrm xmlns:a="http://schemas.openxmlformats.org/drawingml/2006/main">
            <a:off x="12325350" y="4505325"/>
            <a:ext cx="19812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VIEWER / PACS</a:t>
            </a:r>
          </a:p>
        </p:txBody>
      </p:sp>
      <p:sp>
        <p:nvSpPr>
          <p:cNvPr id="22" name="">
            <a:extLst xmlns:a="http://schemas.openxmlformats.org/drawingml/2006/main">
              <a:ext uri="{FF2B5EF4-FFF2-40B4-BE49-F238E27FC236}">
                <a16:creationId xmlns:a16="http://schemas.microsoft.com/office/drawing/2014/main" id="{ECA45B53-B2E9-4165-B909-3B0B34696122}"/>
              </a:ext>
            </a:extLst>
          </p:cNvPr>
          <p:cNvSpPr>
            <a:spLocks xmlns:a="http://schemas.openxmlformats.org/drawingml/2006/main" noGrp="1"/>
          </p:cNvSpPr>
          <p:nvPr/>
        </p:nvSpPr>
        <p:spPr>
          <a:xfrm xmlns:a="http://schemas.openxmlformats.org/drawingml/2006/main">
            <a:off x="12287250" y="5238750"/>
            <a:ext cx="44577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허용 범위의 검사 영상만 확인</a:t>
            </a:r>
          </a:p>
        </p:txBody>
      </p:sp>
      <p:sp>
        <p:nvSpPr>
          <p:cNvPr id="23" name="">
            <a:extLst xmlns:a="http://schemas.openxmlformats.org/drawingml/2006/main">
              <a:ext uri="{FF2B5EF4-FFF2-40B4-BE49-F238E27FC236}">
                <a16:creationId xmlns:a16="http://schemas.microsoft.com/office/drawing/2014/main" id="{0A4F09C3-4030-4B03-A240-2EDFEF5A719E}"/>
              </a:ext>
            </a:extLst>
          </p:cNvPr>
          <p:cNvSpPr>
            <a:spLocks xmlns:a="http://schemas.openxmlformats.org/drawingml/2006/main" noGrp="1"/>
          </p:cNvSpPr>
          <p:nvPr/>
        </p:nvSpPr>
        <p:spPr>
          <a:xfrm xmlns:a="http://schemas.openxmlformats.org/drawingml/2006/main">
            <a:off x="12287250" y="6362700"/>
            <a:ext cx="4457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필요한 만큼 조회</a:t>
            </a:r>
          </a:p>
        </p:txBody>
      </p:sp>
      <p:sp>
        <p:nvSpPr>
          <p:cNvPr id="24" name="">
            <a:extLst xmlns:a="http://schemas.openxmlformats.org/drawingml/2006/main">
              <a:ext uri="{FF2B5EF4-FFF2-40B4-BE49-F238E27FC236}">
                <a16:creationId xmlns:a16="http://schemas.microsoft.com/office/drawing/2014/main" id="{ABA20037-C088-4D5A-9C8E-9940133A4272}"/>
              </a:ext>
            </a:extLst>
          </p:cNvPr>
          <p:cNvSpPr>
            <a:spLocks xmlns:a="http://schemas.openxmlformats.org/drawingml/2006/main" noGrp="1"/>
          </p:cNvSpPr>
          <p:nvPr/>
        </p:nvSpPr>
        <p:spPr>
          <a:xfrm xmlns:a="http://schemas.openxmlformats.org/drawingml/2006/main">
            <a:off x="1028700" y="7667625"/>
            <a:ext cx="16230600" cy="1066800"/>
          </a:xfrm>
          <a:prstGeom xmlns:a="http://schemas.openxmlformats.org/drawingml/2006/main" prst="roundRect">
            <a:avLst>
              <a:gd name="adj" fmla="val 19643"/>
            </a:avLst>
          </a:prstGeom>
          <a:solidFill xmlns:a="http://schemas.openxmlformats.org/drawingml/2006/main">
            <a:srgbClr val="E9F1FC"/>
          </a:solidFill>
          <a:ln xmlns:a="http://schemas.openxmlformats.org/drawingml/2006/main" w="14288">
            <a:solidFill>
              <a:srgbClr val="D8E0E9"/>
            </a:solidFill>
            <a:prstDash val="solid"/>
          </a:ln>
        </p:spPr>
      </p:sp>
      <p:sp>
        <p:nvSpPr>
          <p:cNvPr id="25" name="">
            <a:extLst xmlns:a="http://schemas.openxmlformats.org/drawingml/2006/main">
              <a:ext uri="{FF2B5EF4-FFF2-40B4-BE49-F238E27FC236}">
                <a16:creationId xmlns:a16="http://schemas.microsoft.com/office/drawing/2014/main" id="{CE4F5B6C-112F-4E2D-8B92-FE6567DCD5F6}"/>
              </a:ext>
            </a:extLst>
          </p:cNvPr>
          <p:cNvSpPr>
            <a:spLocks xmlns:a="http://schemas.openxmlformats.org/drawingml/2006/main" noGrp="1"/>
          </p:cNvSpPr>
          <p:nvPr/>
        </p:nvSpPr>
        <p:spPr>
          <a:xfrm xmlns:a="http://schemas.openxmlformats.org/drawingml/2006/main">
            <a:off x="1314450" y="7877175"/>
            <a:ext cx="15621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75" b="1">
                <a:solidFill>
                  <a:srgbClr val="0B2342"/>
                </a:solidFill>
                <a:latin typeface="프리텐다드"/>
                <a:ea typeface="프리텐다드"/>
                <a:cs typeface="프리텐다드"/>
              </a:defRPr>
            </a:pPr>
            <a:r>
              <a:rPr sz="1875" b="1">
                <a:solidFill>
                  <a:srgbClr val="0B2342"/>
                </a:solidFill>
                <a:latin typeface="프리텐다드"/>
                <a:ea typeface="프리텐다드"/>
                <a:cs typeface="프리텐다드"/>
              </a:rPr>
              <a:t>확인된 경계: 원시 DICOM은 Control DB에 지속 저장하지 않음. 단, B병원 PACS는 승인된 반입 결과를 보관할 수 있습니다.</a:t>
            </a:r>
          </a:p>
        </p:txBody>
      </p:sp>
      <p:sp>
        <p:nvSpPr>
          <p:cNvPr id="26" name="">
            <a:extLst xmlns:a="http://schemas.openxmlformats.org/drawingml/2006/main">
              <a:ext uri="{FF2B5EF4-FFF2-40B4-BE49-F238E27FC236}">
                <a16:creationId xmlns:a16="http://schemas.microsoft.com/office/drawing/2014/main" id="{719A79D8-B11B-4C4D-A936-680DD46189A4}"/>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F95C9EF-6791-4544-9741-40D908784216}"/>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8" name="">
            <a:extLst xmlns:a="http://schemas.openxmlformats.org/drawingml/2006/main">
              <a:ext uri="{FF2B5EF4-FFF2-40B4-BE49-F238E27FC236}">
                <a16:creationId xmlns:a16="http://schemas.microsoft.com/office/drawing/2014/main" id="{6815DD60-30ED-48FA-8D0E-D5E6997A600D}"/>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08  /  22</a:t>
            </a:r>
          </a:p>
        </p:txBody>
      </p:sp>
    </p:spTree>
    <p:extLst>
      <p:ext uri="{BB962C8B-B14F-4D97-AF65-F5344CB8AC3E}">
        <p14:creationId xmlns:p14="http://schemas.microsoft.com/office/powerpoint/2010/main" val="1343127203"/>
      </p:ext>
    </p:extLst>
  </p:cSld>
</p:sld>
</file>

<file path=ppt/slides/slide9.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78" name="">
            <a:extLst xmlns:a="http://schemas.openxmlformats.org/drawingml/2006/main">
              <a:ext uri="{FF2B5EF4-FFF2-40B4-BE49-F238E27FC236}">
                <a16:creationId xmlns:a16="http://schemas.microsoft.com/office/drawing/2014/main" id="{56CEAE45-4152-449D-88A4-5403391783F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584234E-5A58-471D-B0BA-40FE089E6371}"/>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80B9E9D-E0E0-4558-92EC-DC6751B3BFA7}"/>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2332ADD-26C5-4B74-9B1B-B0D428F2AE95}"/>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SYSTEM DESIGN</a:t>
            </a:r>
          </a:p>
        </p:txBody>
      </p:sp>
      <p:sp>
        <p:nvSpPr>
          <p:cNvPr id="5" name="">
            <a:extLst xmlns:a="http://schemas.openxmlformats.org/drawingml/2006/main">
              <a:ext uri="{FF2B5EF4-FFF2-40B4-BE49-F238E27FC236}">
                <a16:creationId xmlns:a16="http://schemas.microsoft.com/office/drawing/2014/main" id="{7D23A374-BB1A-487B-9B9C-110211394CE9}"/>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Medi Q 인증·영상 접근 절차</a:t>
            </a:r>
          </a:p>
        </p:txBody>
      </p:sp>
      <p:sp>
        <p:nvSpPr>
          <p:cNvPr id="6" name="">
            <a:extLst xmlns:a="http://schemas.openxmlformats.org/drawingml/2006/main">
              <a:ext uri="{FF2B5EF4-FFF2-40B4-BE49-F238E27FC236}">
                <a16:creationId xmlns:a16="http://schemas.microsoft.com/office/drawing/2014/main" id="{C3EDE783-06F3-4BAC-BC7E-FE5EFBDA471A}"/>
              </a:ext>
            </a:extLst>
          </p:cNvPr>
          <p:cNvSpPr>
            <a:spLocks xmlns:a="http://schemas.openxmlformats.org/drawingml/2006/main" noGrp="1"/>
          </p:cNvSpPr>
          <p:nvPr/>
        </p:nvSpPr>
        <p:spPr>
          <a:xfrm xmlns:a="http://schemas.openxmlformats.org/drawingml/2006/main">
            <a:off x="1028700" y="2638425"/>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환자 동의에서 승인 영상과 감사기록까지 이어지는 목표 업무 흐름입니다.</a:t>
            </a:r>
          </a:p>
        </p:txBody>
      </p:sp>
      <p:sp>
        <p:nvSpPr>
          <p:cNvPr id="7" name="">
            <a:extLst xmlns:a="http://schemas.openxmlformats.org/drawingml/2006/main">
              <a:ext uri="{FF2B5EF4-FFF2-40B4-BE49-F238E27FC236}">
                <a16:creationId xmlns:a16="http://schemas.microsoft.com/office/drawing/2014/main" id="{3628AA82-8158-4524-86BE-760B687345A3}"/>
              </a:ext>
            </a:extLst>
          </p:cNvPr>
          <p:cNvSpPr>
            <a:spLocks xmlns:a="http://schemas.openxmlformats.org/drawingml/2006/main" noGrp="1"/>
          </p:cNvSpPr>
          <p:nvPr/>
        </p:nvSpPr>
        <p:spPr>
          <a:xfrm xmlns:a="http://schemas.openxmlformats.org/drawingml/2006/main">
            <a:off x="12287250" y="2647950"/>
            <a:ext cx="4972050" cy="400050"/>
          </a:xfrm>
          <a:prstGeom xmlns:a="http://schemas.openxmlformats.org/drawingml/2006/main" prst="roundRect">
            <a:avLst>
              <a:gd name="adj" fmla="val 50000"/>
            </a:avLst>
          </a:prstGeom>
          <a:solidFill xmlns:a="http://schemas.openxmlformats.org/drawingml/2006/main">
            <a:srgbClr val="FBF4E5"/>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E148E1E-D271-4963-9C98-12046834BF7F}"/>
              </a:ext>
            </a:extLst>
          </p:cNvPr>
          <p:cNvSpPr>
            <a:spLocks xmlns:a="http://schemas.openxmlformats.org/drawingml/2006/main" noGrp="1"/>
          </p:cNvSpPr>
          <p:nvPr/>
        </p:nvSpPr>
        <p:spPr>
          <a:xfrm xmlns:a="http://schemas.openxmlformats.org/drawingml/2006/main">
            <a:off x="12344400" y="2657475"/>
            <a:ext cx="48577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C64A4A"/>
                </a:solidFill>
                <a:latin typeface="프리텐다드"/>
                <a:ea typeface="프리텐다드"/>
                <a:cs typeface="프리텐다드"/>
              </a:defRPr>
            </a:pPr>
            <a:r>
              <a:rPr sz="1500" b="1">
                <a:solidFill>
                  <a:srgbClr val="C64A4A"/>
                </a:solidFill>
                <a:latin typeface="프리텐다드"/>
                <a:ea typeface="프리텐다드"/>
                <a:cs typeface="프리텐다드"/>
              </a:rPr>
              <a:t>QR 접수 전체 종단 흐름 · NOT VERIFIED</a:t>
            </a:r>
          </a:p>
        </p:txBody>
      </p:sp>
      <p:sp>
        <p:nvSpPr>
          <p:cNvPr id="9" name="">
            <a:extLst xmlns:a="http://schemas.openxmlformats.org/drawingml/2006/main">
              <a:ext uri="{FF2B5EF4-FFF2-40B4-BE49-F238E27FC236}">
                <a16:creationId xmlns:a16="http://schemas.microsoft.com/office/drawing/2014/main" id="{AFF4283F-3042-4395-9EE9-1F400C8EA4E5}"/>
              </a:ext>
            </a:extLst>
          </p:cNvPr>
          <p:cNvSpPr>
            <a:spLocks xmlns:a="http://schemas.openxmlformats.org/drawingml/2006/main" noGrp="1"/>
          </p:cNvSpPr>
          <p:nvPr/>
        </p:nvSpPr>
        <p:spPr>
          <a:xfrm xmlns:a="http://schemas.openxmlformats.org/drawingml/2006/main">
            <a:off x="1028700" y="3371850"/>
            <a:ext cx="3714750" cy="2000250"/>
          </a:xfrm>
          <a:prstGeom xmlns:a="http://schemas.openxmlformats.org/drawingml/2006/main" prst="roundRect">
            <a:avLst>
              <a:gd name="adj" fmla="val 8571"/>
            </a:avLst>
          </a:prstGeom>
          <a:solidFill xmlns:a="http://schemas.openxmlformats.org/drawingml/2006/main">
            <a:srgbClr val="E9F1FC"/>
          </a:solidFill>
          <a:ln xmlns:a="http://schemas.openxmlformats.org/drawingml/2006/main" w="14288">
            <a:solidFill>
              <a:srgbClr val="D8E0E9"/>
            </a:solidFill>
            <a:prstDash val="solid"/>
          </a:ln>
        </p:spPr>
      </p:sp>
      <p:sp>
        <p:nvSpPr>
          <p:cNvPr id="10" name="">
            <a:extLst xmlns:a="http://schemas.openxmlformats.org/drawingml/2006/main">
              <a:ext uri="{FF2B5EF4-FFF2-40B4-BE49-F238E27FC236}">
                <a16:creationId xmlns:a16="http://schemas.microsoft.com/office/drawing/2014/main" id="{7F8B3308-89C7-4048-BB75-3EC6BEF4323C}"/>
              </a:ext>
            </a:extLst>
          </p:cNvPr>
          <p:cNvSpPr>
            <a:spLocks xmlns:a="http://schemas.openxmlformats.org/drawingml/2006/main" noGrp="1"/>
          </p:cNvSpPr>
          <p:nvPr/>
        </p:nvSpPr>
        <p:spPr>
          <a:xfrm xmlns:a="http://schemas.openxmlformats.org/drawingml/2006/main">
            <a:off x="1200150" y="3524250"/>
            <a:ext cx="5905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20A1954-2FFA-4258-B0EC-F518610C6215}"/>
              </a:ext>
            </a:extLst>
          </p:cNvPr>
          <p:cNvSpPr>
            <a:spLocks xmlns:a="http://schemas.openxmlformats.org/drawingml/2006/main" noGrp="1"/>
          </p:cNvSpPr>
          <p:nvPr/>
        </p:nvSpPr>
        <p:spPr>
          <a:xfrm xmlns:a="http://schemas.openxmlformats.org/drawingml/2006/main">
            <a:off x="1257300" y="353377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01</a:t>
            </a:r>
          </a:p>
        </p:txBody>
      </p:sp>
      <p:sp>
        <p:nvSpPr>
          <p:cNvPr id="12" name="">
            <a:extLst xmlns:a="http://schemas.openxmlformats.org/drawingml/2006/main">
              <a:ext uri="{FF2B5EF4-FFF2-40B4-BE49-F238E27FC236}">
                <a16:creationId xmlns:a16="http://schemas.microsoft.com/office/drawing/2014/main" id="{8B16B812-211D-4806-B9D0-9164FA595745}"/>
              </a:ext>
            </a:extLst>
          </p:cNvPr>
          <p:cNvSpPr>
            <a:spLocks xmlns:a="http://schemas.openxmlformats.org/drawingml/2006/main" noGrp="1"/>
          </p:cNvSpPr>
          <p:nvPr/>
        </p:nvSpPr>
        <p:spPr>
          <a:xfrm xmlns:a="http://schemas.openxmlformats.org/drawingml/2006/main">
            <a:off x="1924050" y="353377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2F68B5"/>
                </a:solidFill>
                <a:latin typeface="프리텐다드"/>
                <a:ea typeface="프리텐다드"/>
                <a:cs typeface="프리텐다드"/>
              </a:defRPr>
            </a:pPr>
            <a:r>
              <a:rPr sz="1425" b="1">
                <a:solidFill>
                  <a:srgbClr val="2F68B5"/>
                </a:solidFill>
                <a:latin typeface="프리텐다드"/>
                <a:ea typeface="프리텐다드"/>
                <a:cs typeface="프리텐다드"/>
              </a:rPr>
              <a:t>환자 · 의료진</a:t>
            </a:r>
          </a:p>
        </p:txBody>
      </p:sp>
      <p:sp>
        <p:nvSpPr>
          <p:cNvPr id="13" name="">
            <a:extLst xmlns:a="http://schemas.openxmlformats.org/drawingml/2006/main">
              <a:ext uri="{FF2B5EF4-FFF2-40B4-BE49-F238E27FC236}">
                <a16:creationId xmlns:a16="http://schemas.microsoft.com/office/drawing/2014/main" id="{A552CB42-717B-4122-B48D-15E5C5DE9FE9}"/>
              </a:ext>
            </a:extLst>
          </p:cNvPr>
          <p:cNvSpPr>
            <a:spLocks xmlns:a="http://schemas.openxmlformats.org/drawingml/2006/main" noGrp="1"/>
          </p:cNvSpPr>
          <p:nvPr/>
        </p:nvSpPr>
        <p:spPr>
          <a:xfrm xmlns:a="http://schemas.openxmlformats.org/drawingml/2006/main">
            <a:off x="1200150" y="399097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Microsoft 로그인</a:t>
            </a:r>
          </a:p>
        </p:txBody>
      </p:sp>
      <p:sp>
        <p:nvSpPr>
          <p:cNvPr id="14" name="">
            <a:extLst xmlns:a="http://schemas.openxmlformats.org/drawingml/2006/main">
              <a:ext uri="{FF2B5EF4-FFF2-40B4-BE49-F238E27FC236}">
                <a16:creationId xmlns:a16="http://schemas.microsoft.com/office/drawing/2014/main" id="{CD202B1B-7749-4163-B408-9131B4E4EFFA}"/>
              </a:ext>
            </a:extLst>
          </p:cNvPr>
          <p:cNvSpPr>
            <a:spLocks xmlns:a="http://schemas.openxmlformats.org/drawingml/2006/main" noGrp="1"/>
          </p:cNvSpPr>
          <p:nvPr/>
        </p:nvSpPr>
        <p:spPr>
          <a:xfrm xmlns:a="http://schemas.openxmlformats.org/drawingml/2006/main">
            <a:off x="1200150" y="451485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06F3044-6434-4ECD-9245-114677433C98}"/>
              </a:ext>
            </a:extLst>
          </p:cNvPr>
          <p:cNvSpPr>
            <a:spLocks xmlns:a="http://schemas.openxmlformats.org/drawingml/2006/main" noGrp="1"/>
          </p:cNvSpPr>
          <p:nvPr/>
        </p:nvSpPr>
        <p:spPr>
          <a:xfrm xmlns:a="http://schemas.openxmlformats.org/drawingml/2006/main">
            <a:off x="1200150" y="462915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Entra 인증 후 서버가 역할과 병원을 확인</a:t>
            </a:r>
          </a:p>
        </p:txBody>
      </p:sp>
      <p:sp>
        <p:nvSpPr>
          <p:cNvPr id="16" name="">
            <a:extLst xmlns:a="http://schemas.openxmlformats.org/drawingml/2006/main">
              <a:ext uri="{FF2B5EF4-FFF2-40B4-BE49-F238E27FC236}">
                <a16:creationId xmlns:a16="http://schemas.microsoft.com/office/drawing/2014/main" id="{7C0D5513-7C99-4649-92E9-FB631EC89EB3}"/>
              </a:ext>
            </a:extLst>
          </p:cNvPr>
          <p:cNvSpPr>
            <a:spLocks xmlns:a="http://schemas.openxmlformats.org/drawingml/2006/main" noGrp="1"/>
          </p:cNvSpPr>
          <p:nvPr/>
        </p:nvSpPr>
        <p:spPr>
          <a:xfrm xmlns:a="http://schemas.openxmlformats.org/drawingml/2006/main">
            <a:off x="4743450" y="411480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8039"/>
          </a:bodyPr>
          <a:lstStyle xmlns:a="http://schemas.openxmlformats.org/drawingml/2006/main"/>
          <a:p xmlns:a="http://schemas.openxmlformats.org/drawingml/2006/main">
            <a:pPr algn="ctr">
              <a:defRPr sz="2550" b="1">
                <a:solidFill>
                  <a:srgbClr val="2F68B5"/>
                </a:solidFill>
                <a:latin typeface="프리텐다드"/>
                <a:ea typeface="프리텐다드"/>
                <a:cs typeface="프리텐다드"/>
              </a:defRPr>
            </a:pPr>
            <a:r>
              <a:rPr sz="2550" b="1">
                <a:solidFill>
                  <a:srgbClr val="2F68B5"/>
                </a:solidFill>
                <a:latin typeface="프리텐다드"/>
                <a:ea typeface="프리텐다드"/>
                <a:cs typeface="프리텐다드"/>
              </a:rPr>
              <a:t>→</a:t>
            </a:r>
          </a:p>
        </p:txBody>
      </p:sp>
      <p:sp>
        <p:nvSpPr>
          <p:cNvPr id="17" name="">
            <a:extLst xmlns:a="http://schemas.openxmlformats.org/drawingml/2006/main">
              <a:ext uri="{FF2B5EF4-FFF2-40B4-BE49-F238E27FC236}">
                <a16:creationId xmlns:a16="http://schemas.microsoft.com/office/drawing/2014/main" id="{A496DD3A-8A6C-4ECA-BA01-098AA53CF501}"/>
              </a:ext>
            </a:extLst>
          </p:cNvPr>
          <p:cNvSpPr>
            <a:spLocks xmlns:a="http://schemas.openxmlformats.org/drawingml/2006/main" noGrp="1"/>
          </p:cNvSpPr>
          <p:nvPr/>
        </p:nvSpPr>
        <p:spPr>
          <a:xfrm xmlns:a="http://schemas.openxmlformats.org/drawingml/2006/main">
            <a:off x="5143500" y="3371850"/>
            <a:ext cx="37147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14288">
            <a:solidFill>
              <a:srgbClr val="D8E0E9"/>
            </a:solidFill>
            <a:prstDash val="solid"/>
          </a:ln>
        </p:spPr>
      </p:sp>
      <p:sp>
        <p:nvSpPr>
          <p:cNvPr id="18" name="">
            <a:extLst xmlns:a="http://schemas.openxmlformats.org/drawingml/2006/main">
              <a:ext uri="{FF2B5EF4-FFF2-40B4-BE49-F238E27FC236}">
                <a16:creationId xmlns:a16="http://schemas.microsoft.com/office/drawing/2014/main" id="{D6FFB038-8892-48B0-9CE4-3131C78F0661}"/>
              </a:ext>
            </a:extLst>
          </p:cNvPr>
          <p:cNvSpPr>
            <a:spLocks xmlns:a="http://schemas.openxmlformats.org/drawingml/2006/main" noGrp="1"/>
          </p:cNvSpPr>
          <p:nvPr/>
        </p:nvSpPr>
        <p:spPr>
          <a:xfrm xmlns:a="http://schemas.openxmlformats.org/drawingml/2006/main">
            <a:off x="5314950" y="3524250"/>
            <a:ext cx="5905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FA7F7F2-E2FF-4ABE-B5DC-45C58BE45C15}"/>
              </a:ext>
            </a:extLst>
          </p:cNvPr>
          <p:cNvSpPr>
            <a:spLocks xmlns:a="http://schemas.openxmlformats.org/drawingml/2006/main" noGrp="1"/>
          </p:cNvSpPr>
          <p:nvPr/>
        </p:nvSpPr>
        <p:spPr>
          <a:xfrm xmlns:a="http://schemas.openxmlformats.org/drawingml/2006/main">
            <a:off x="5372100" y="353377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02</a:t>
            </a:r>
          </a:p>
        </p:txBody>
      </p:sp>
      <p:sp>
        <p:nvSpPr>
          <p:cNvPr id="20" name="">
            <a:extLst xmlns:a="http://schemas.openxmlformats.org/drawingml/2006/main">
              <a:ext uri="{FF2B5EF4-FFF2-40B4-BE49-F238E27FC236}">
                <a16:creationId xmlns:a16="http://schemas.microsoft.com/office/drawing/2014/main" id="{172DE687-E348-4313-ABAD-8D807D345BFF}"/>
              </a:ext>
            </a:extLst>
          </p:cNvPr>
          <p:cNvSpPr>
            <a:spLocks xmlns:a="http://schemas.openxmlformats.org/drawingml/2006/main" noGrp="1"/>
          </p:cNvSpPr>
          <p:nvPr/>
        </p:nvSpPr>
        <p:spPr>
          <a:xfrm xmlns:a="http://schemas.openxmlformats.org/drawingml/2006/main">
            <a:off x="6038850" y="353377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2F68B5"/>
                </a:solidFill>
                <a:latin typeface="프리텐다드"/>
                <a:ea typeface="프리텐다드"/>
                <a:cs typeface="프리텐다드"/>
              </a:defRPr>
            </a:pPr>
            <a:r>
              <a:rPr sz="1425" b="1">
                <a:solidFill>
                  <a:srgbClr val="2F68B5"/>
                </a:solidFill>
                <a:latin typeface="프리텐다드"/>
                <a:ea typeface="프리텐다드"/>
                <a:cs typeface="프리텐다드"/>
              </a:rPr>
              <a:t>환자</a:t>
            </a:r>
          </a:p>
        </p:txBody>
      </p:sp>
      <p:sp>
        <p:nvSpPr>
          <p:cNvPr id="21" name="">
            <a:extLst xmlns:a="http://schemas.openxmlformats.org/drawingml/2006/main">
              <a:ext uri="{FF2B5EF4-FFF2-40B4-BE49-F238E27FC236}">
                <a16:creationId xmlns:a16="http://schemas.microsoft.com/office/drawing/2014/main" id="{28B67D87-E73A-427D-976B-3FCCAA1057BF}"/>
              </a:ext>
            </a:extLst>
          </p:cNvPr>
          <p:cNvSpPr>
            <a:spLocks xmlns:a="http://schemas.openxmlformats.org/drawingml/2006/main" noGrp="1"/>
          </p:cNvSpPr>
          <p:nvPr/>
        </p:nvSpPr>
        <p:spPr>
          <a:xfrm xmlns:a="http://schemas.openxmlformats.org/drawingml/2006/main">
            <a:off x="5314950" y="399097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공유 범위 선택</a:t>
            </a:r>
          </a:p>
        </p:txBody>
      </p:sp>
      <p:sp>
        <p:nvSpPr>
          <p:cNvPr id="22" name="">
            <a:extLst xmlns:a="http://schemas.openxmlformats.org/drawingml/2006/main">
              <a:ext uri="{FF2B5EF4-FFF2-40B4-BE49-F238E27FC236}">
                <a16:creationId xmlns:a16="http://schemas.microsoft.com/office/drawing/2014/main" id="{F6A2CD0D-9B77-41F8-AE20-065DF06DF530}"/>
              </a:ext>
            </a:extLst>
          </p:cNvPr>
          <p:cNvSpPr>
            <a:spLocks xmlns:a="http://schemas.openxmlformats.org/drawingml/2006/main" noGrp="1"/>
          </p:cNvSpPr>
          <p:nvPr/>
        </p:nvSpPr>
        <p:spPr>
          <a:xfrm xmlns:a="http://schemas.openxmlformats.org/drawingml/2006/main">
            <a:off x="5314950" y="451485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C970368-A8F7-4EE1-9F6B-F8DEF6CECDD3}"/>
              </a:ext>
            </a:extLst>
          </p:cNvPr>
          <p:cNvSpPr>
            <a:spLocks xmlns:a="http://schemas.openxmlformats.org/drawingml/2006/main" noGrp="1"/>
          </p:cNvSpPr>
          <p:nvPr/>
        </p:nvSpPr>
        <p:spPr>
          <a:xfrm xmlns:a="http://schemas.openxmlformats.org/drawingml/2006/main">
            <a:off x="5314950" y="462915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수신 병원 · 목적 · 기간 · Study/Series를 지정</a:t>
            </a:r>
          </a:p>
        </p:txBody>
      </p:sp>
      <p:sp>
        <p:nvSpPr>
          <p:cNvPr id="24" name="">
            <a:extLst xmlns:a="http://schemas.openxmlformats.org/drawingml/2006/main">
              <a:ext uri="{FF2B5EF4-FFF2-40B4-BE49-F238E27FC236}">
                <a16:creationId xmlns:a16="http://schemas.microsoft.com/office/drawing/2014/main" id="{87ADE921-803D-48B6-9AAA-F35FA4615EAB}"/>
              </a:ext>
            </a:extLst>
          </p:cNvPr>
          <p:cNvSpPr>
            <a:spLocks xmlns:a="http://schemas.openxmlformats.org/drawingml/2006/main" noGrp="1"/>
          </p:cNvSpPr>
          <p:nvPr/>
        </p:nvSpPr>
        <p:spPr>
          <a:xfrm xmlns:a="http://schemas.openxmlformats.org/drawingml/2006/main">
            <a:off x="8858250" y="411480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8039"/>
          </a:bodyPr>
          <a:lstStyle xmlns:a="http://schemas.openxmlformats.org/drawingml/2006/main"/>
          <a:p xmlns:a="http://schemas.openxmlformats.org/drawingml/2006/main">
            <a:pPr algn="ctr">
              <a:defRPr sz="2550" b="1">
                <a:solidFill>
                  <a:srgbClr val="2F68B5"/>
                </a:solidFill>
                <a:latin typeface="프리텐다드"/>
                <a:ea typeface="프리텐다드"/>
                <a:cs typeface="프리텐다드"/>
              </a:defRPr>
            </a:pPr>
            <a:r>
              <a:rPr sz="2550" b="1">
                <a:solidFill>
                  <a:srgbClr val="2F68B5"/>
                </a:solidFill>
                <a:latin typeface="프리텐다드"/>
                <a:ea typeface="프리텐다드"/>
                <a:cs typeface="프리텐다드"/>
              </a:rPr>
              <a:t>→</a:t>
            </a:r>
          </a:p>
        </p:txBody>
      </p:sp>
      <p:sp>
        <p:nvSpPr>
          <p:cNvPr id="25" name="">
            <a:extLst xmlns:a="http://schemas.openxmlformats.org/drawingml/2006/main">
              <a:ext uri="{FF2B5EF4-FFF2-40B4-BE49-F238E27FC236}">
                <a16:creationId xmlns:a16="http://schemas.microsoft.com/office/drawing/2014/main" id="{F20DB3B4-232E-4049-AD68-AE9F56A6A576}"/>
              </a:ext>
            </a:extLst>
          </p:cNvPr>
          <p:cNvSpPr>
            <a:spLocks xmlns:a="http://schemas.openxmlformats.org/drawingml/2006/main" noGrp="1"/>
          </p:cNvSpPr>
          <p:nvPr/>
        </p:nvSpPr>
        <p:spPr>
          <a:xfrm xmlns:a="http://schemas.openxmlformats.org/drawingml/2006/main">
            <a:off x="9258300" y="3371850"/>
            <a:ext cx="3714750" cy="2000250"/>
          </a:xfrm>
          <a:prstGeom xmlns:a="http://schemas.openxmlformats.org/drawingml/2006/main" prst="roundRect">
            <a:avLst>
              <a:gd name="adj" fmla="val 8571"/>
            </a:avLst>
          </a:prstGeom>
          <a:solidFill xmlns:a="http://schemas.openxmlformats.org/drawingml/2006/main">
            <a:srgbClr val="FBF4E5"/>
          </a:solidFill>
          <a:ln xmlns:a="http://schemas.openxmlformats.org/drawingml/2006/main" w="14288">
            <a:solidFill>
              <a:srgbClr val="EAD8B4"/>
            </a:solidFill>
            <a:prstDash val="solid"/>
          </a:ln>
        </p:spPr>
      </p:sp>
      <p:sp>
        <p:nvSpPr>
          <p:cNvPr id="26" name="">
            <a:extLst xmlns:a="http://schemas.openxmlformats.org/drawingml/2006/main">
              <a:ext uri="{FF2B5EF4-FFF2-40B4-BE49-F238E27FC236}">
                <a16:creationId xmlns:a16="http://schemas.microsoft.com/office/drawing/2014/main" id="{B2EA2221-1702-46AC-B638-8BF8C915B7E7}"/>
              </a:ext>
            </a:extLst>
          </p:cNvPr>
          <p:cNvSpPr>
            <a:spLocks xmlns:a="http://schemas.openxmlformats.org/drawingml/2006/main" noGrp="1"/>
          </p:cNvSpPr>
          <p:nvPr/>
        </p:nvSpPr>
        <p:spPr>
          <a:xfrm xmlns:a="http://schemas.openxmlformats.org/drawingml/2006/main">
            <a:off x="9429750" y="3524250"/>
            <a:ext cx="590550" cy="400050"/>
          </a:xfrm>
          <a:prstGeom xmlns:a="http://schemas.openxmlformats.org/drawingml/2006/main" prst="roundRect">
            <a:avLst>
              <a:gd name="adj" fmla="val 50000"/>
            </a:avLst>
          </a:prstGeom>
          <a:solidFill xmlns:a="http://schemas.openxmlformats.org/drawingml/2006/main">
            <a:srgbClr val="DCA83D"/>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967CBCF9-83A8-4F9A-BE36-525F8EA2227B}"/>
              </a:ext>
            </a:extLst>
          </p:cNvPr>
          <p:cNvSpPr>
            <a:spLocks xmlns:a="http://schemas.openxmlformats.org/drawingml/2006/main" noGrp="1"/>
          </p:cNvSpPr>
          <p:nvPr/>
        </p:nvSpPr>
        <p:spPr>
          <a:xfrm xmlns:a="http://schemas.openxmlformats.org/drawingml/2006/main">
            <a:off x="9486900" y="353377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03</a:t>
            </a:r>
          </a:p>
        </p:txBody>
      </p:sp>
      <p:sp>
        <p:nvSpPr>
          <p:cNvPr id="28" name="">
            <a:extLst xmlns:a="http://schemas.openxmlformats.org/drawingml/2006/main">
              <a:ext uri="{FF2B5EF4-FFF2-40B4-BE49-F238E27FC236}">
                <a16:creationId xmlns:a16="http://schemas.microsoft.com/office/drawing/2014/main" id="{4D227EB5-4F89-4F5C-94BA-0E90C2C6C8B3}"/>
              </a:ext>
            </a:extLst>
          </p:cNvPr>
          <p:cNvSpPr>
            <a:spLocks xmlns:a="http://schemas.openxmlformats.org/drawingml/2006/main" noGrp="1"/>
          </p:cNvSpPr>
          <p:nvPr/>
        </p:nvSpPr>
        <p:spPr>
          <a:xfrm xmlns:a="http://schemas.openxmlformats.org/drawingml/2006/main">
            <a:off x="10153650" y="353377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DCA83D"/>
                </a:solidFill>
                <a:latin typeface="프리텐다드"/>
                <a:ea typeface="프리텐다드"/>
                <a:cs typeface="프리텐다드"/>
              </a:defRPr>
            </a:pPr>
            <a:r>
              <a:rPr sz="1425" b="1">
                <a:solidFill>
                  <a:srgbClr val="DCA83D"/>
                </a:solidFill>
                <a:latin typeface="프리텐다드"/>
                <a:ea typeface="프리텐다드"/>
                <a:cs typeface="프리텐다드"/>
              </a:rPr>
              <a:t>환자</a:t>
            </a:r>
          </a:p>
        </p:txBody>
      </p:sp>
      <p:sp>
        <p:nvSpPr>
          <p:cNvPr id="29" name="">
            <a:extLst xmlns:a="http://schemas.openxmlformats.org/drawingml/2006/main">
              <a:ext uri="{FF2B5EF4-FFF2-40B4-BE49-F238E27FC236}">
                <a16:creationId xmlns:a16="http://schemas.microsoft.com/office/drawing/2014/main" id="{5E585C8F-74CD-4730-B93E-F100B581022F}"/>
              </a:ext>
            </a:extLst>
          </p:cNvPr>
          <p:cNvSpPr>
            <a:spLocks xmlns:a="http://schemas.openxmlformats.org/drawingml/2006/main" noGrp="1"/>
          </p:cNvSpPr>
          <p:nvPr/>
        </p:nvSpPr>
        <p:spPr>
          <a:xfrm xmlns:a="http://schemas.openxmlformats.org/drawingml/2006/main">
            <a:off x="9429750" y="399097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동의 저장 · 티켓</a:t>
            </a:r>
          </a:p>
        </p:txBody>
      </p:sp>
      <p:sp>
        <p:nvSpPr>
          <p:cNvPr id="30" name="">
            <a:extLst xmlns:a="http://schemas.openxmlformats.org/drawingml/2006/main">
              <a:ext uri="{FF2B5EF4-FFF2-40B4-BE49-F238E27FC236}">
                <a16:creationId xmlns:a16="http://schemas.microsoft.com/office/drawing/2014/main" id="{2165C683-A22F-4950-94ED-2A2D399713A5}"/>
              </a:ext>
            </a:extLst>
          </p:cNvPr>
          <p:cNvSpPr>
            <a:spLocks xmlns:a="http://schemas.openxmlformats.org/drawingml/2006/main" noGrp="1"/>
          </p:cNvSpPr>
          <p:nvPr/>
        </p:nvSpPr>
        <p:spPr>
          <a:xfrm xmlns:a="http://schemas.openxmlformats.org/drawingml/2006/main">
            <a:off x="9429750" y="451485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B4F8568-CB6C-4EC4-85CF-96866F7711F6}"/>
              </a:ext>
            </a:extLst>
          </p:cNvPr>
          <p:cNvSpPr>
            <a:spLocks xmlns:a="http://schemas.openxmlformats.org/drawingml/2006/main" noGrp="1"/>
          </p:cNvSpPr>
          <p:nvPr/>
        </p:nvSpPr>
        <p:spPr>
          <a:xfrm xmlns:a="http://schemas.openxmlformats.org/drawingml/2006/main">
            <a:off x="9429750" y="462915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동의 조건을 보관하고 QR 티켓을 준비</a:t>
            </a:r>
          </a:p>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QR 전체 흐름은 미검증</a:t>
            </a:r>
          </a:p>
        </p:txBody>
      </p:sp>
      <p:sp>
        <p:nvSpPr>
          <p:cNvPr id="32" name="">
            <a:extLst xmlns:a="http://schemas.openxmlformats.org/drawingml/2006/main">
              <a:ext uri="{FF2B5EF4-FFF2-40B4-BE49-F238E27FC236}">
                <a16:creationId xmlns:a16="http://schemas.microsoft.com/office/drawing/2014/main" id="{9F48734C-2CAB-4852-A88B-C08A99EC845C}"/>
              </a:ext>
            </a:extLst>
          </p:cNvPr>
          <p:cNvSpPr>
            <a:spLocks xmlns:a="http://schemas.openxmlformats.org/drawingml/2006/main" noGrp="1"/>
          </p:cNvSpPr>
          <p:nvPr/>
        </p:nvSpPr>
        <p:spPr>
          <a:xfrm xmlns:a="http://schemas.openxmlformats.org/drawingml/2006/main">
            <a:off x="12973050" y="411480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8039"/>
          </a:bodyPr>
          <a:lstStyle xmlns:a="http://schemas.openxmlformats.org/drawingml/2006/main"/>
          <a:p xmlns:a="http://schemas.openxmlformats.org/drawingml/2006/main">
            <a:pPr algn="ctr">
              <a:defRPr sz="2550" b="1">
                <a:solidFill>
                  <a:srgbClr val="2F68B5"/>
                </a:solidFill>
                <a:latin typeface="프리텐다드"/>
                <a:ea typeface="프리텐다드"/>
                <a:cs typeface="프리텐다드"/>
              </a:defRPr>
            </a:pPr>
            <a:r>
              <a:rPr sz="2550" b="1">
                <a:solidFill>
                  <a:srgbClr val="2F68B5"/>
                </a:solidFill>
                <a:latin typeface="프리텐다드"/>
                <a:ea typeface="프리텐다드"/>
                <a:cs typeface="프리텐다드"/>
              </a:rPr>
              <a:t>→</a:t>
            </a:r>
          </a:p>
        </p:txBody>
      </p:sp>
      <p:sp>
        <p:nvSpPr>
          <p:cNvPr id="33" name="">
            <a:extLst xmlns:a="http://schemas.openxmlformats.org/drawingml/2006/main">
              <a:ext uri="{FF2B5EF4-FFF2-40B4-BE49-F238E27FC236}">
                <a16:creationId xmlns:a16="http://schemas.microsoft.com/office/drawing/2014/main" id="{F467CC43-F091-48F7-9EAA-A3AD433CE483}"/>
              </a:ext>
            </a:extLst>
          </p:cNvPr>
          <p:cNvSpPr>
            <a:spLocks xmlns:a="http://schemas.openxmlformats.org/drawingml/2006/main" noGrp="1"/>
          </p:cNvSpPr>
          <p:nvPr/>
        </p:nvSpPr>
        <p:spPr>
          <a:xfrm xmlns:a="http://schemas.openxmlformats.org/drawingml/2006/main">
            <a:off x="13373100" y="3371850"/>
            <a:ext cx="3714750" cy="2000250"/>
          </a:xfrm>
          <a:prstGeom xmlns:a="http://schemas.openxmlformats.org/drawingml/2006/main" prst="roundRect">
            <a:avLst>
              <a:gd name="adj" fmla="val 8571"/>
            </a:avLst>
          </a:prstGeom>
          <a:solidFill xmlns:a="http://schemas.openxmlformats.org/drawingml/2006/main">
            <a:srgbClr val="FBF4E5"/>
          </a:solidFill>
          <a:ln xmlns:a="http://schemas.openxmlformats.org/drawingml/2006/main" w="14288">
            <a:solidFill>
              <a:srgbClr val="EAD8B4"/>
            </a:solidFill>
            <a:prstDash val="solid"/>
          </a:ln>
        </p:spPr>
      </p:sp>
      <p:sp>
        <p:nvSpPr>
          <p:cNvPr id="34" name="">
            <a:extLst xmlns:a="http://schemas.openxmlformats.org/drawingml/2006/main">
              <a:ext uri="{FF2B5EF4-FFF2-40B4-BE49-F238E27FC236}">
                <a16:creationId xmlns:a16="http://schemas.microsoft.com/office/drawing/2014/main" id="{68EB0215-3CEF-4FA5-8E3F-EC7F7458B3ED}"/>
              </a:ext>
            </a:extLst>
          </p:cNvPr>
          <p:cNvSpPr>
            <a:spLocks xmlns:a="http://schemas.openxmlformats.org/drawingml/2006/main" noGrp="1"/>
          </p:cNvSpPr>
          <p:nvPr/>
        </p:nvSpPr>
        <p:spPr>
          <a:xfrm xmlns:a="http://schemas.openxmlformats.org/drawingml/2006/main">
            <a:off x="13544550" y="3524250"/>
            <a:ext cx="590550" cy="400050"/>
          </a:xfrm>
          <a:prstGeom xmlns:a="http://schemas.openxmlformats.org/drawingml/2006/main" prst="roundRect">
            <a:avLst>
              <a:gd name="adj" fmla="val 50000"/>
            </a:avLst>
          </a:prstGeom>
          <a:solidFill xmlns:a="http://schemas.openxmlformats.org/drawingml/2006/main">
            <a:srgbClr val="DCA83D"/>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67DC093-D341-47F0-BAF3-B752B70AF58D}"/>
              </a:ext>
            </a:extLst>
          </p:cNvPr>
          <p:cNvSpPr>
            <a:spLocks xmlns:a="http://schemas.openxmlformats.org/drawingml/2006/main" noGrp="1"/>
          </p:cNvSpPr>
          <p:nvPr/>
        </p:nvSpPr>
        <p:spPr>
          <a:xfrm xmlns:a="http://schemas.openxmlformats.org/drawingml/2006/main">
            <a:off x="13601700" y="353377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04</a:t>
            </a:r>
          </a:p>
        </p:txBody>
      </p:sp>
      <p:sp>
        <p:nvSpPr>
          <p:cNvPr id="36" name="">
            <a:extLst xmlns:a="http://schemas.openxmlformats.org/drawingml/2006/main">
              <a:ext uri="{FF2B5EF4-FFF2-40B4-BE49-F238E27FC236}">
                <a16:creationId xmlns:a16="http://schemas.microsoft.com/office/drawing/2014/main" id="{36D52B17-8DA0-433D-BC22-3554DB2172AA}"/>
              </a:ext>
            </a:extLst>
          </p:cNvPr>
          <p:cNvSpPr>
            <a:spLocks xmlns:a="http://schemas.openxmlformats.org/drawingml/2006/main" noGrp="1"/>
          </p:cNvSpPr>
          <p:nvPr/>
        </p:nvSpPr>
        <p:spPr>
          <a:xfrm xmlns:a="http://schemas.openxmlformats.org/drawingml/2006/main">
            <a:off x="14268450" y="353377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DCA83D"/>
                </a:solidFill>
                <a:latin typeface="프리텐다드"/>
                <a:ea typeface="프리텐다드"/>
                <a:cs typeface="프리텐다드"/>
              </a:defRPr>
            </a:pPr>
            <a:r>
              <a:rPr sz="1425" b="1">
                <a:solidFill>
                  <a:srgbClr val="DCA83D"/>
                </a:solidFill>
                <a:latin typeface="프리텐다드"/>
                <a:ea typeface="프리텐다드"/>
                <a:cs typeface="프리텐다드"/>
              </a:rPr>
              <a:t>B병원 의료진</a:t>
            </a:r>
          </a:p>
        </p:txBody>
      </p:sp>
      <p:sp>
        <p:nvSpPr>
          <p:cNvPr id="37" name="">
            <a:extLst xmlns:a="http://schemas.openxmlformats.org/drawingml/2006/main">
              <a:ext uri="{FF2B5EF4-FFF2-40B4-BE49-F238E27FC236}">
                <a16:creationId xmlns:a16="http://schemas.microsoft.com/office/drawing/2014/main" id="{F2EC714B-8631-4B38-AFEC-905AFD48C06E}"/>
              </a:ext>
            </a:extLst>
          </p:cNvPr>
          <p:cNvSpPr>
            <a:spLocks xmlns:a="http://schemas.openxmlformats.org/drawingml/2006/main" noGrp="1"/>
          </p:cNvSpPr>
          <p:nvPr/>
        </p:nvSpPr>
        <p:spPr>
          <a:xfrm xmlns:a="http://schemas.openxmlformats.org/drawingml/2006/main">
            <a:off x="13544550" y="399097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의료진 QR 접수</a:t>
            </a:r>
          </a:p>
        </p:txBody>
      </p:sp>
      <p:sp>
        <p:nvSpPr>
          <p:cNvPr id="38" name="">
            <a:extLst xmlns:a="http://schemas.openxmlformats.org/drawingml/2006/main">
              <a:ext uri="{FF2B5EF4-FFF2-40B4-BE49-F238E27FC236}">
                <a16:creationId xmlns:a16="http://schemas.microsoft.com/office/drawing/2014/main" id="{F2825F3B-4083-474F-9CE0-3015286A7E51}"/>
              </a:ext>
            </a:extLst>
          </p:cNvPr>
          <p:cNvSpPr>
            <a:spLocks xmlns:a="http://schemas.openxmlformats.org/drawingml/2006/main" noGrp="1"/>
          </p:cNvSpPr>
          <p:nvPr/>
        </p:nvSpPr>
        <p:spPr>
          <a:xfrm xmlns:a="http://schemas.openxmlformats.org/drawingml/2006/main">
            <a:off x="13544550" y="451485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C99A0CC2-3339-4596-8592-6BBD44A208CD}"/>
              </a:ext>
            </a:extLst>
          </p:cNvPr>
          <p:cNvSpPr>
            <a:spLocks xmlns:a="http://schemas.openxmlformats.org/drawingml/2006/main" noGrp="1"/>
          </p:cNvSpPr>
          <p:nvPr/>
        </p:nvSpPr>
        <p:spPr>
          <a:xfrm xmlns:a="http://schemas.openxmlformats.org/drawingml/2006/main">
            <a:off x="13544550" y="462915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요청 주체와 대상 범위를 확인</a:t>
            </a:r>
          </a:p>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실제 접수 E2E는 미검증</a:t>
            </a:r>
          </a:p>
        </p:txBody>
      </p:sp>
      <p:sp>
        <p:nvSpPr>
          <p:cNvPr id="40" name="">
            <a:extLst xmlns:a="http://schemas.openxmlformats.org/drawingml/2006/main">
              <a:ext uri="{FF2B5EF4-FFF2-40B4-BE49-F238E27FC236}">
                <a16:creationId xmlns:a16="http://schemas.microsoft.com/office/drawing/2014/main" id="{724282DA-4450-4751-B90E-A73C8C67A8C7}"/>
              </a:ext>
            </a:extLst>
          </p:cNvPr>
          <p:cNvSpPr>
            <a:spLocks xmlns:a="http://schemas.openxmlformats.org/drawingml/2006/main" noGrp="1"/>
          </p:cNvSpPr>
          <p:nvPr/>
        </p:nvSpPr>
        <p:spPr>
          <a:xfrm xmlns:a="http://schemas.openxmlformats.org/drawingml/2006/main">
            <a:off x="13373100" y="5715000"/>
            <a:ext cx="37147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14288">
            <a:solidFill>
              <a:srgbClr val="D8E0E9"/>
            </a:solidFill>
            <a:prstDash val="solid"/>
          </a:ln>
        </p:spPr>
      </p:sp>
      <p:sp>
        <p:nvSpPr>
          <p:cNvPr id="41" name="">
            <a:extLst xmlns:a="http://schemas.openxmlformats.org/drawingml/2006/main">
              <a:ext uri="{FF2B5EF4-FFF2-40B4-BE49-F238E27FC236}">
                <a16:creationId xmlns:a16="http://schemas.microsoft.com/office/drawing/2014/main" id="{082F3725-89E0-4DEF-A3C6-346F0D51F015}"/>
              </a:ext>
            </a:extLst>
          </p:cNvPr>
          <p:cNvSpPr>
            <a:spLocks xmlns:a="http://schemas.openxmlformats.org/drawingml/2006/main" noGrp="1"/>
          </p:cNvSpPr>
          <p:nvPr/>
        </p:nvSpPr>
        <p:spPr>
          <a:xfrm xmlns:a="http://schemas.openxmlformats.org/drawingml/2006/main">
            <a:off x="13544550" y="5867400"/>
            <a:ext cx="5905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40609EC5-2D0C-40FB-B92C-0D7CB13B7936}"/>
              </a:ext>
            </a:extLst>
          </p:cNvPr>
          <p:cNvSpPr>
            <a:spLocks xmlns:a="http://schemas.openxmlformats.org/drawingml/2006/main" noGrp="1"/>
          </p:cNvSpPr>
          <p:nvPr/>
        </p:nvSpPr>
        <p:spPr>
          <a:xfrm xmlns:a="http://schemas.openxmlformats.org/drawingml/2006/main">
            <a:off x="13601700" y="587692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05</a:t>
            </a:r>
          </a:p>
        </p:txBody>
      </p:sp>
      <p:sp>
        <p:nvSpPr>
          <p:cNvPr id="43" name="">
            <a:extLst xmlns:a="http://schemas.openxmlformats.org/drawingml/2006/main">
              <a:ext uri="{FF2B5EF4-FFF2-40B4-BE49-F238E27FC236}">
                <a16:creationId xmlns:a16="http://schemas.microsoft.com/office/drawing/2014/main" id="{C231F4E6-4FDF-425F-97FD-63563F4B3BF0}"/>
              </a:ext>
            </a:extLst>
          </p:cNvPr>
          <p:cNvSpPr>
            <a:spLocks xmlns:a="http://schemas.openxmlformats.org/drawingml/2006/main" noGrp="1"/>
          </p:cNvSpPr>
          <p:nvPr/>
        </p:nvSpPr>
        <p:spPr>
          <a:xfrm xmlns:a="http://schemas.openxmlformats.org/drawingml/2006/main">
            <a:off x="14268450" y="587692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2F68B5"/>
                </a:solidFill>
                <a:latin typeface="프리텐다드"/>
                <a:ea typeface="프리텐다드"/>
                <a:cs typeface="프리텐다드"/>
              </a:defRPr>
            </a:pPr>
            <a:r>
              <a:rPr sz="1425" b="1">
                <a:solidFill>
                  <a:srgbClr val="2F68B5"/>
                </a:solidFill>
                <a:latin typeface="프리텐다드"/>
                <a:ea typeface="프리텐다드"/>
                <a:cs typeface="프리텐다드"/>
              </a:rPr>
              <a:t>Control</a:t>
            </a:r>
          </a:p>
        </p:txBody>
      </p:sp>
      <p:sp>
        <p:nvSpPr>
          <p:cNvPr id="44" name="">
            <a:extLst xmlns:a="http://schemas.openxmlformats.org/drawingml/2006/main">
              <a:ext uri="{FF2B5EF4-FFF2-40B4-BE49-F238E27FC236}">
                <a16:creationId xmlns:a16="http://schemas.microsoft.com/office/drawing/2014/main" id="{B4D7CEF1-80F8-4E57-BFAE-7363BE63D020}"/>
              </a:ext>
            </a:extLst>
          </p:cNvPr>
          <p:cNvSpPr>
            <a:spLocks xmlns:a="http://schemas.openxmlformats.org/drawingml/2006/main" noGrp="1"/>
          </p:cNvSpPr>
          <p:nvPr/>
        </p:nvSpPr>
        <p:spPr>
          <a:xfrm xmlns:a="http://schemas.openxmlformats.org/drawingml/2006/main">
            <a:off x="13544550" y="633412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동의·범위 조회</a:t>
            </a:r>
          </a:p>
        </p:txBody>
      </p:sp>
      <p:sp>
        <p:nvSpPr>
          <p:cNvPr id="45" name="">
            <a:extLst xmlns:a="http://schemas.openxmlformats.org/drawingml/2006/main">
              <a:ext uri="{FF2B5EF4-FFF2-40B4-BE49-F238E27FC236}">
                <a16:creationId xmlns:a16="http://schemas.microsoft.com/office/drawing/2014/main" id="{7EC16563-FE37-4E11-98EF-63D9CF4211F3}"/>
              </a:ext>
            </a:extLst>
          </p:cNvPr>
          <p:cNvSpPr>
            <a:spLocks xmlns:a="http://schemas.openxmlformats.org/drawingml/2006/main" noGrp="1"/>
          </p:cNvSpPr>
          <p:nvPr/>
        </p:nvSpPr>
        <p:spPr>
          <a:xfrm xmlns:a="http://schemas.openxmlformats.org/drawingml/2006/main">
            <a:off x="13544550" y="685800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6E00C3A1-306D-4A6C-8E95-F418D49497F6}"/>
              </a:ext>
            </a:extLst>
          </p:cNvPr>
          <p:cNvSpPr>
            <a:spLocks xmlns:a="http://schemas.openxmlformats.org/drawingml/2006/main" noGrp="1"/>
          </p:cNvSpPr>
          <p:nvPr/>
        </p:nvSpPr>
        <p:spPr>
          <a:xfrm xmlns:a="http://schemas.openxmlformats.org/drawingml/2006/main">
            <a:off x="13544550" y="697230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상태 · 유효기간 · 병원 · 목적 · 영상 범위 확인</a:t>
            </a:r>
          </a:p>
        </p:txBody>
      </p:sp>
      <p:sp>
        <p:nvSpPr>
          <p:cNvPr id="47" name="">
            <a:extLst xmlns:a="http://schemas.openxmlformats.org/drawingml/2006/main">
              <a:ext uri="{FF2B5EF4-FFF2-40B4-BE49-F238E27FC236}">
                <a16:creationId xmlns:a16="http://schemas.microsoft.com/office/drawing/2014/main" id="{6C43CE96-12CD-44D6-86CC-B9715289042B}"/>
              </a:ext>
            </a:extLst>
          </p:cNvPr>
          <p:cNvSpPr>
            <a:spLocks xmlns:a="http://schemas.openxmlformats.org/drawingml/2006/main" noGrp="1"/>
          </p:cNvSpPr>
          <p:nvPr/>
        </p:nvSpPr>
        <p:spPr>
          <a:xfrm xmlns:a="http://schemas.openxmlformats.org/drawingml/2006/main">
            <a:off x="12973050" y="64579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8039"/>
          </a:bodyPr>
          <a:lstStyle xmlns:a="http://schemas.openxmlformats.org/drawingml/2006/main"/>
          <a:p xmlns:a="http://schemas.openxmlformats.org/drawingml/2006/main">
            <a:pPr algn="ctr">
              <a:defRPr sz="2550" b="1">
                <a:solidFill>
                  <a:srgbClr val="2F68B5"/>
                </a:solidFill>
                <a:latin typeface="프리텐다드"/>
                <a:ea typeface="프리텐다드"/>
                <a:cs typeface="프리텐다드"/>
              </a:defRPr>
            </a:pPr>
            <a:r>
              <a:rPr sz="2550" b="1">
                <a:solidFill>
                  <a:srgbClr val="2F68B5"/>
                </a:solidFill>
                <a:latin typeface="프리텐다드"/>
                <a:ea typeface="프리텐다드"/>
                <a:cs typeface="프리텐다드"/>
              </a:rPr>
              <a:t>←</a:t>
            </a:r>
          </a:p>
        </p:txBody>
      </p:sp>
      <p:sp>
        <p:nvSpPr>
          <p:cNvPr id="48" name="">
            <a:extLst xmlns:a="http://schemas.openxmlformats.org/drawingml/2006/main">
              <a:ext uri="{FF2B5EF4-FFF2-40B4-BE49-F238E27FC236}">
                <a16:creationId xmlns:a16="http://schemas.microsoft.com/office/drawing/2014/main" id="{361FA916-7EF7-40A2-9D5D-0EF736E111C4}"/>
              </a:ext>
            </a:extLst>
          </p:cNvPr>
          <p:cNvSpPr>
            <a:spLocks xmlns:a="http://schemas.openxmlformats.org/drawingml/2006/main" noGrp="1"/>
          </p:cNvSpPr>
          <p:nvPr/>
        </p:nvSpPr>
        <p:spPr>
          <a:xfrm xmlns:a="http://schemas.openxmlformats.org/drawingml/2006/main">
            <a:off x="9258300" y="5715000"/>
            <a:ext cx="3714750" cy="2000250"/>
          </a:xfrm>
          <a:prstGeom xmlns:a="http://schemas.openxmlformats.org/drawingml/2006/main" prst="roundRect">
            <a:avLst>
              <a:gd name="adj" fmla="val 8571"/>
            </a:avLst>
          </a:prstGeom>
          <a:solidFill xmlns:a="http://schemas.openxmlformats.org/drawingml/2006/main">
            <a:srgbClr val="E9F1FC"/>
          </a:solidFill>
          <a:ln xmlns:a="http://schemas.openxmlformats.org/drawingml/2006/main" w="14288">
            <a:solidFill>
              <a:srgbClr val="D8E0E9"/>
            </a:solidFill>
            <a:prstDash val="solid"/>
          </a:ln>
        </p:spPr>
      </p:sp>
      <p:sp>
        <p:nvSpPr>
          <p:cNvPr id="49" name="">
            <a:extLst xmlns:a="http://schemas.openxmlformats.org/drawingml/2006/main">
              <a:ext uri="{FF2B5EF4-FFF2-40B4-BE49-F238E27FC236}">
                <a16:creationId xmlns:a16="http://schemas.microsoft.com/office/drawing/2014/main" id="{BFF46E20-D5B1-4782-A265-066C6B8EC1AE}"/>
              </a:ext>
            </a:extLst>
          </p:cNvPr>
          <p:cNvSpPr>
            <a:spLocks xmlns:a="http://schemas.openxmlformats.org/drawingml/2006/main" noGrp="1"/>
          </p:cNvSpPr>
          <p:nvPr/>
        </p:nvSpPr>
        <p:spPr>
          <a:xfrm xmlns:a="http://schemas.openxmlformats.org/drawingml/2006/main">
            <a:off x="9429750" y="5867400"/>
            <a:ext cx="5905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24D4FBF2-7EEE-4D01-95A5-EA9CD0793FEA}"/>
              </a:ext>
            </a:extLst>
          </p:cNvPr>
          <p:cNvSpPr>
            <a:spLocks xmlns:a="http://schemas.openxmlformats.org/drawingml/2006/main" noGrp="1"/>
          </p:cNvSpPr>
          <p:nvPr/>
        </p:nvSpPr>
        <p:spPr>
          <a:xfrm xmlns:a="http://schemas.openxmlformats.org/drawingml/2006/main">
            <a:off x="9486900" y="587692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06</a:t>
            </a:r>
          </a:p>
        </p:txBody>
      </p:sp>
      <p:sp>
        <p:nvSpPr>
          <p:cNvPr id="51" name="">
            <a:extLst xmlns:a="http://schemas.openxmlformats.org/drawingml/2006/main">
              <a:ext uri="{FF2B5EF4-FFF2-40B4-BE49-F238E27FC236}">
                <a16:creationId xmlns:a16="http://schemas.microsoft.com/office/drawing/2014/main" id="{3EA165B9-60E6-43C5-BBAB-59580C3E0E7A}"/>
              </a:ext>
            </a:extLst>
          </p:cNvPr>
          <p:cNvSpPr>
            <a:spLocks xmlns:a="http://schemas.openxmlformats.org/drawingml/2006/main" noGrp="1"/>
          </p:cNvSpPr>
          <p:nvPr/>
        </p:nvSpPr>
        <p:spPr>
          <a:xfrm xmlns:a="http://schemas.openxmlformats.org/drawingml/2006/main">
            <a:off x="10153650" y="587692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2F68B5"/>
                </a:solidFill>
                <a:latin typeface="프리텐다드"/>
                <a:ea typeface="프리텐다드"/>
                <a:cs typeface="프리텐다드"/>
              </a:defRPr>
            </a:pPr>
            <a:r>
              <a:rPr sz="1425" b="1">
                <a:solidFill>
                  <a:srgbClr val="2F68B5"/>
                </a:solidFill>
                <a:latin typeface="프리텐다드"/>
                <a:ea typeface="프리텐다드"/>
                <a:cs typeface="프리텐다드"/>
              </a:rPr>
              <a:t>Control</a:t>
            </a:r>
          </a:p>
        </p:txBody>
      </p:sp>
      <p:sp>
        <p:nvSpPr>
          <p:cNvPr id="52" name="">
            <a:extLst xmlns:a="http://schemas.openxmlformats.org/drawingml/2006/main">
              <a:ext uri="{FF2B5EF4-FFF2-40B4-BE49-F238E27FC236}">
                <a16:creationId xmlns:a16="http://schemas.microsoft.com/office/drawing/2014/main" id="{6C6AA450-F748-4111-A60E-DFE463A34B88}"/>
              </a:ext>
            </a:extLst>
          </p:cNvPr>
          <p:cNvSpPr>
            <a:spLocks xmlns:a="http://schemas.openxmlformats.org/drawingml/2006/main" noGrp="1"/>
          </p:cNvSpPr>
          <p:nvPr/>
        </p:nvSpPr>
        <p:spPr>
          <a:xfrm xmlns:a="http://schemas.openxmlformats.org/drawingml/2006/main">
            <a:off x="9429750" y="633412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권한 판정·단기 토큰</a:t>
            </a:r>
          </a:p>
        </p:txBody>
      </p:sp>
      <p:sp>
        <p:nvSpPr>
          <p:cNvPr id="53" name="">
            <a:extLst xmlns:a="http://schemas.openxmlformats.org/drawingml/2006/main">
              <a:ext uri="{FF2B5EF4-FFF2-40B4-BE49-F238E27FC236}">
                <a16:creationId xmlns:a16="http://schemas.microsoft.com/office/drawing/2014/main" id="{8BD41E93-4A67-4676-BC4F-2F665342DF90}"/>
              </a:ext>
            </a:extLst>
          </p:cNvPr>
          <p:cNvSpPr>
            <a:spLocks xmlns:a="http://schemas.openxmlformats.org/drawingml/2006/main" noGrp="1"/>
          </p:cNvSpPr>
          <p:nvPr/>
        </p:nvSpPr>
        <p:spPr>
          <a:xfrm xmlns:a="http://schemas.openxmlformats.org/drawingml/2006/main">
            <a:off x="9429750" y="685800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54" name="">
            <a:extLst xmlns:a="http://schemas.openxmlformats.org/drawingml/2006/main">
              <a:ext uri="{FF2B5EF4-FFF2-40B4-BE49-F238E27FC236}">
                <a16:creationId xmlns:a16="http://schemas.microsoft.com/office/drawing/2014/main" id="{5BE30970-7BA3-466A-A56D-28EEDE4782E6}"/>
              </a:ext>
            </a:extLst>
          </p:cNvPr>
          <p:cNvSpPr>
            <a:spLocks xmlns:a="http://schemas.openxmlformats.org/drawingml/2006/main" noGrp="1"/>
          </p:cNvSpPr>
          <p:nvPr/>
        </p:nvSpPr>
        <p:spPr>
          <a:xfrm xmlns:a="http://schemas.openxmlformats.org/drawingml/2006/main">
            <a:off x="9429750" y="697230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허용 조건을 모두 확인한 뒤 좁은 범위 토큰 발급</a:t>
            </a:r>
          </a:p>
        </p:txBody>
      </p:sp>
      <p:sp>
        <p:nvSpPr>
          <p:cNvPr id="55" name="">
            <a:extLst xmlns:a="http://schemas.openxmlformats.org/drawingml/2006/main">
              <a:ext uri="{FF2B5EF4-FFF2-40B4-BE49-F238E27FC236}">
                <a16:creationId xmlns:a16="http://schemas.microsoft.com/office/drawing/2014/main" id="{A2DDCC8B-9AEC-4BEB-B9D2-2D6BF12B3DA2}"/>
              </a:ext>
            </a:extLst>
          </p:cNvPr>
          <p:cNvSpPr>
            <a:spLocks xmlns:a="http://schemas.openxmlformats.org/drawingml/2006/main" noGrp="1"/>
          </p:cNvSpPr>
          <p:nvPr/>
        </p:nvSpPr>
        <p:spPr>
          <a:xfrm xmlns:a="http://schemas.openxmlformats.org/drawingml/2006/main">
            <a:off x="8858250" y="64579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8039"/>
          </a:bodyPr>
          <a:lstStyle xmlns:a="http://schemas.openxmlformats.org/drawingml/2006/main"/>
          <a:p xmlns:a="http://schemas.openxmlformats.org/drawingml/2006/main">
            <a:pPr algn="ctr">
              <a:defRPr sz="2550" b="1">
                <a:solidFill>
                  <a:srgbClr val="2F68B5"/>
                </a:solidFill>
                <a:latin typeface="프리텐다드"/>
                <a:ea typeface="프리텐다드"/>
                <a:cs typeface="프리텐다드"/>
              </a:defRPr>
            </a:pPr>
            <a:r>
              <a:rPr sz="2550" b="1">
                <a:solidFill>
                  <a:srgbClr val="2F68B5"/>
                </a:solidFill>
                <a:latin typeface="프리텐다드"/>
                <a:ea typeface="프리텐다드"/>
                <a:cs typeface="프리텐다드"/>
              </a:rPr>
              <a:t>←</a:t>
            </a:r>
          </a:p>
        </p:txBody>
      </p:sp>
      <p:sp>
        <p:nvSpPr>
          <p:cNvPr id="56" name="">
            <a:extLst xmlns:a="http://schemas.openxmlformats.org/drawingml/2006/main">
              <a:ext uri="{FF2B5EF4-FFF2-40B4-BE49-F238E27FC236}">
                <a16:creationId xmlns:a16="http://schemas.microsoft.com/office/drawing/2014/main" id="{517B1600-5133-4EFB-8228-D8AF7CFC48D6}"/>
              </a:ext>
            </a:extLst>
          </p:cNvPr>
          <p:cNvSpPr>
            <a:spLocks xmlns:a="http://schemas.openxmlformats.org/drawingml/2006/main" noGrp="1"/>
          </p:cNvSpPr>
          <p:nvPr/>
        </p:nvSpPr>
        <p:spPr>
          <a:xfrm xmlns:a="http://schemas.openxmlformats.org/drawingml/2006/main">
            <a:off x="5143500" y="5715000"/>
            <a:ext cx="3714750" cy="2000250"/>
          </a:xfrm>
          <a:prstGeom xmlns:a="http://schemas.openxmlformats.org/drawingml/2006/main" prst="roundRect">
            <a:avLst>
              <a:gd name="adj" fmla="val 8571"/>
            </a:avLst>
          </a:prstGeom>
          <a:solidFill xmlns:a="http://schemas.openxmlformats.org/drawingml/2006/main">
            <a:srgbClr val="FFFFFF"/>
          </a:solidFill>
          <a:ln xmlns:a="http://schemas.openxmlformats.org/drawingml/2006/main" w="14288">
            <a:solidFill>
              <a:srgbClr val="D8E0E9"/>
            </a:solidFill>
            <a:prstDash val="solid"/>
          </a:ln>
        </p:spPr>
      </p:sp>
      <p:sp>
        <p:nvSpPr>
          <p:cNvPr id="57" name="">
            <a:extLst xmlns:a="http://schemas.openxmlformats.org/drawingml/2006/main">
              <a:ext uri="{FF2B5EF4-FFF2-40B4-BE49-F238E27FC236}">
                <a16:creationId xmlns:a16="http://schemas.microsoft.com/office/drawing/2014/main" id="{0EC7B9C1-2888-4797-80C2-765DAA0EE916}"/>
              </a:ext>
            </a:extLst>
          </p:cNvPr>
          <p:cNvSpPr>
            <a:spLocks xmlns:a="http://schemas.openxmlformats.org/drawingml/2006/main" noGrp="1"/>
          </p:cNvSpPr>
          <p:nvPr/>
        </p:nvSpPr>
        <p:spPr>
          <a:xfrm xmlns:a="http://schemas.openxmlformats.org/drawingml/2006/main">
            <a:off x="5314950" y="5867400"/>
            <a:ext cx="5905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58" name="">
            <a:extLst xmlns:a="http://schemas.openxmlformats.org/drawingml/2006/main">
              <a:ext uri="{FF2B5EF4-FFF2-40B4-BE49-F238E27FC236}">
                <a16:creationId xmlns:a16="http://schemas.microsoft.com/office/drawing/2014/main" id="{DB7AF7A4-0565-4931-B6E9-3504B87E13F7}"/>
              </a:ext>
            </a:extLst>
          </p:cNvPr>
          <p:cNvSpPr>
            <a:spLocks xmlns:a="http://schemas.openxmlformats.org/drawingml/2006/main" noGrp="1"/>
          </p:cNvSpPr>
          <p:nvPr/>
        </p:nvSpPr>
        <p:spPr>
          <a:xfrm xmlns:a="http://schemas.openxmlformats.org/drawingml/2006/main">
            <a:off x="5372100" y="587692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07</a:t>
            </a:r>
          </a:p>
        </p:txBody>
      </p:sp>
      <p:sp>
        <p:nvSpPr>
          <p:cNvPr id="59" name="">
            <a:extLst xmlns:a="http://schemas.openxmlformats.org/drawingml/2006/main">
              <a:ext uri="{FF2B5EF4-FFF2-40B4-BE49-F238E27FC236}">
                <a16:creationId xmlns:a16="http://schemas.microsoft.com/office/drawing/2014/main" id="{5C442746-F74D-44D1-8C0F-39096501A5E7}"/>
              </a:ext>
            </a:extLst>
          </p:cNvPr>
          <p:cNvSpPr>
            <a:spLocks xmlns:a="http://schemas.openxmlformats.org/drawingml/2006/main" noGrp="1"/>
          </p:cNvSpPr>
          <p:nvPr/>
        </p:nvSpPr>
        <p:spPr>
          <a:xfrm xmlns:a="http://schemas.openxmlformats.org/drawingml/2006/main">
            <a:off x="6038850" y="587692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168B82"/>
                </a:solidFill>
                <a:latin typeface="프리텐다드"/>
                <a:ea typeface="프리텐다드"/>
                <a:cs typeface="프리텐다드"/>
              </a:defRPr>
            </a:pPr>
            <a:r>
              <a:rPr sz="1425" b="1">
                <a:solidFill>
                  <a:srgbClr val="168B82"/>
                </a:solidFill>
                <a:latin typeface="프리텐다드"/>
                <a:ea typeface="프리텐다드"/>
                <a:cs typeface="프리텐다드"/>
              </a:rPr>
              <a:t>병원 Gateway</a:t>
            </a:r>
          </a:p>
        </p:txBody>
      </p:sp>
      <p:sp>
        <p:nvSpPr>
          <p:cNvPr id="60" name="">
            <a:extLst xmlns:a="http://schemas.openxmlformats.org/drawingml/2006/main">
              <a:ext uri="{FF2B5EF4-FFF2-40B4-BE49-F238E27FC236}">
                <a16:creationId xmlns:a16="http://schemas.microsoft.com/office/drawing/2014/main" id="{2BD1F1F8-E1A4-4F82-90E1-C97831762C3E}"/>
              </a:ext>
            </a:extLst>
          </p:cNvPr>
          <p:cNvSpPr>
            <a:spLocks xmlns:a="http://schemas.openxmlformats.org/drawingml/2006/main" noGrp="1"/>
          </p:cNvSpPr>
          <p:nvPr/>
        </p:nvSpPr>
        <p:spPr>
          <a:xfrm xmlns:a="http://schemas.openxmlformats.org/drawingml/2006/main">
            <a:off x="5314950" y="633412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Gateway 재검증</a:t>
            </a:r>
          </a:p>
        </p:txBody>
      </p:sp>
      <p:sp>
        <p:nvSpPr>
          <p:cNvPr id="61" name="">
            <a:extLst xmlns:a="http://schemas.openxmlformats.org/drawingml/2006/main">
              <a:ext uri="{FF2B5EF4-FFF2-40B4-BE49-F238E27FC236}">
                <a16:creationId xmlns:a16="http://schemas.microsoft.com/office/drawing/2014/main" id="{10C56A94-9275-4DFC-842F-8B87722696F5}"/>
              </a:ext>
            </a:extLst>
          </p:cNvPr>
          <p:cNvSpPr>
            <a:spLocks xmlns:a="http://schemas.openxmlformats.org/drawingml/2006/main" noGrp="1"/>
          </p:cNvSpPr>
          <p:nvPr/>
        </p:nvSpPr>
        <p:spPr>
          <a:xfrm xmlns:a="http://schemas.openxmlformats.org/drawingml/2006/main">
            <a:off x="5314950" y="685800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62" name="">
            <a:extLst xmlns:a="http://schemas.openxmlformats.org/drawingml/2006/main">
              <a:ext uri="{FF2B5EF4-FFF2-40B4-BE49-F238E27FC236}">
                <a16:creationId xmlns:a16="http://schemas.microsoft.com/office/drawing/2014/main" id="{96DC12F2-0F96-4DDA-933F-5E53B4F5894E}"/>
              </a:ext>
            </a:extLst>
          </p:cNvPr>
          <p:cNvSpPr>
            <a:spLocks xmlns:a="http://schemas.openxmlformats.org/drawingml/2006/main" noGrp="1"/>
          </p:cNvSpPr>
          <p:nvPr/>
        </p:nvSpPr>
        <p:spPr>
          <a:xfrm xmlns:a="http://schemas.openxmlformats.org/drawingml/2006/main">
            <a:off x="5314950" y="697230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토큰 · DPoP · 전송 인증을 요청 경계에서 검증</a:t>
            </a:r>
          </a:p>
        </p:txBody>
      </p:sp>
      <p:sp>
        <p:nvSpPr>
          <p:cNvPr id="63" name="">
            <a:extLst xmlns:a="http://schemas.openxmlformats.org/drawingml/2006/main">
              <a:ext uri="{FF2B5EF4-FFF2-40B4-BE49-F238E27FC236}">
                <a16:creationId xmlns:a16="http://schemas.microsoft.com/office/drawing/2014/main" id="{199E06BA-474F-41C6-92D7-42849D0623B5}"/>
              </a:ext>
            </a:extLst>
          </p:cNvPr>
          <p:cNvSpPr>
            <a:spLocks xmlns:a="http://schemas.openxmlformats.org/drawingml/2006/main" noGrp="1"/>
          </p:cNvSpPr>
          <p:nvPr/>
        </p:nvSpPr>
        <p:spPr>
          <a:xfrm xmlns:a="http://schemas.openxmlformats.org/drawingml/2006/main">
            <a:off x="4743450" y="6457950"/>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8039"/>
          </a:bodyPr>
          <a:lstStyle xmlns:a="http://schemas.openxmlformats.org/drawingml/2006/main"/>
          <a:p xmlns:a="http://schemas.openxmlformats.org/drawingml/2006/main">
            <a:pPr algn="ctr">
              <a:defRPr sz="2550" b="1">
                <a:solidFill>
                  <a:srgbClr val="2F68B5"/>
                </a:solidFill>
                <a:latin typeface="프리텐다드"/>
                <a:ea typeface="프리텐다드"/>
                <a:cs typeface="프리텐다드"/>
              </a:defRPr>
            </a:pPr>
            <a:r>
              <a:rPr sz="2550" b="1">
                <a:solidFill>
                  <a:srgbClr val="2F68B5"/>
                </a:solidFill>
                <a:latin typeface="프리텐다드"/>
                <a:ea typeface="프리텐다드"/>
                <a:cs typeface="프리텐다드"/>
              </a:rPr>
              <a:t>←</a:t>
            </a:r>
          </a:p>
        </p:txBody>
      </p:sp>
      <p:sp>
        <p:nvSpPr>
          <p:cNvPr id="64" name="">
            <a:extLst xmlns:a="http://schemas.openxmlformats.org/drawingml/2006/main">
              <a:ext uri="{FF2B5EF4-FFF2-40B4-BE49-F238E27FC236}">
                <a16:creationId xmlns:a16="http://schemas.microsoft.com/office/drawing/2014/main" id="{503ACAD5-C6D7-4EF3-9E65-14F7496ABF07}"/>
              </a:ext>
            </a:extLst>
          </p:cNvPr>
          <p:cNvSpPr>
            <a:spLocks xmlns:a="http://schemas.openxmlformats.org/drawingml/2006/main" noGrp="1"/>
          </p:cNvSpPr>
          <p:nvPr/>
        </p:nvSpPr>
        <p:spPr>
          <a:xfrm xmlns:a="http://schemas.openxmlformats.org/drawingml/2006/main">
            <a:off x="1028700" y="5715000"/>
            <a:ext cx="3714750" cy="2000250"/>
          </a:xfrm>
          <a:prstGeom xmlns:a="http://schemas.openxmlformats.org/drawingml/2006/main" prst="roundRect">
            <a:avLst>
              <a:gd name="adj" fmla="val 8571"/>
            </a:avLst>
          </a:prstGeom>
          <a:solidFill xmlns:a="http://schemas.openxmlformats.org/drawingml/2006/main">
            <a:srgbClr val="E7F4F1"/>
          </a:solidFill>
          <a:ln xmlns:a="http://schemas.openxmlformats.org/drawingml/2006/main" w="14288">
            <a:solidFill>
              <a:srgbClr val="D8E0E9"/>
            </a:solidFill>
            <a:prstDash val="solid"/>
          </a:ln>
        </p:spPr>
      </p:sp>
      <p:sp>
        <p:nvSpPr>
          <p:cNvPr id="65" name="">
            <a:extLst xmlns:a="http://schemas.openxmlformats.org/drawingml/2006/main">
              <a:ext uri="{FF2B5EF4-FFF2-40B4-BE49-F238E27FC236}">
                <a16:creationId xmlns:a16="http://schemas.microsoft.com/office/drawing/2014/main" id="{7A2662BE-5AAE-4039-85EC-E2A234E1FE8E}"/>
              </a:ext>
            </a:extLst>
          </p:cNvPr>
          <p:cNvSpPr>
            <a:spLocks xmlns:a="http://schemas.openxmlformats.org/drawingml/2006/main" noGrp="1"/>
          </p:cNvSpPr>
          <p:nvPr/>
        </p:nvSpPr>
        <p:spPr>
          <a:xfrm xmlns:a="http://schemas.openxmlformats.org/drawingml/2006/main">
            <a:off x="1200150" y="5867400"/>
            <a:ext cx="59055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66" name="">
            <a:extLst xmlns:a="http://schemas.openxmlformats.org/drawingml/2006/main">
              <a:ext uri="{FF2B5EF4-FFF2-40B4-BE49-F238E27FC236}">
                <a16:creationId xmlns:a16="http://schemas.microsoft.com/office/drawing/2014/main" id="{5B523BDB-197B-4314-ABC8-40324424FCEC}"/>
              </a:ext>
            </a:extLst>
          </p:cNvPr>
          <p:cNvSpPr>
            <a:spLocks xmlns:a="http://schemas.openxmlformats.org/drawingml/2006/main" noGrp="1"/>
          </p:cNvSpPr>
          <p:nvPr/>
        </p:nvSpPr>
        <p:spPr>
          <a:xfrm xmlns:a="http://schemas.openxmlformats.org/drawingml/2006/main">
            <a:off x="1257300" y="5876925"/>
            <a:ext cx="4762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08</a:t>
            </a:r>
          </a:p>
        </p:txBody>
      </p:sp>
      <p:sp>
        <p:nvSpPr>
          <p:cNvPr id="67" name="">
            <a:extLst xmlns:a="http://schemas.openxmlformats.org/drawingml/2006/main">
              <a:ext uri="{FF2B5EF4-FFF2-40B4-BE49-F238E27FC236}">
                <a16:creationId xmlns:a16="http://schemas.microsoft.com/office/drawing/2014/main" id="{200F78A4-C726-46D9-BA91-FC3CD4EAEF5F}"/>
              </a:ext>
            </a:extLst>
          </p:cNvPr>
          <p:cNvSpPr>
            <a:spLocks xmlns:a="http://schemas.openxmlformats.org/drawingml/2006/main" noGrp="1"/>
          </p:cNvSpPr>
          <p:nvPr/>
        </p:nvSpPr>
        <p:spPr>
          <a:xfrm xmlns:a="http://schemas.openxmlformats.org/drawingml/2006/main">
            <a:off x="1924050" y="5876925"/>
            <a:ext cx="2628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168B82"/>
                </a:solidFill>
                <a:latin typeface="프리텐다드"/>
                <a:ea typeface="프리텐다드"/>
                <a:cs typeface="프리텐다드"/>
              </a:defRPr>
            </a:pPr>
            <a:r>
              <a:rPr sz="1425" b="1">
                <a:solidFill>
                  <a:srgbClr val="168B82"/>
                </a:solidFill>
                <a:latin typeface="프리텐다드"/>
                <a:ea typeface="프리텐다드"/>
                <a:cs typeface="프리텐다드"/>
              </a:rPr>
              <a:t>A→B Gateway/PACS</a:t>
            </a:r>
          </a:p>
        </p:txBody>
      </p:sp>
      <p:sp>
        <p:nvSpPr>
          <p:cNvPr id="68" name="">
            <a:extLst xmlns:a="http://schemas.openxmlformats.org/drawingml/2006/main">
              <a:ext uri="{FF2B5EF4-FFF2-40B4-BE49-F238E27FC236}">
                <a16:creationId xmlns:a16="http://schemas.microsoft.com/office/drawing/2014/main" id="{95A0DF39-2ACF-40A1-A285-BDCA23A23FBB}"/>
              </a:ext>
            </a:extLst>
          </p:cNvPr>
          <p:cNvSpPr>
            <a:spLocks xmlns:a="http://schemas.openxmlformats.org/drawingml/2006/main" noGrp="1"/>
          </p:cNvSpPr>
          <p:nvPr/>
        </p:nvSpPr>
        <p:spPr>
          <a:xfrm xmlns:a="http://schemas.openxmlformats.org/drawingml/2006/main">
            <a:off x="1200150" y="6334125"/>
            <a:ext cx="33718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승인 영상·감사</a:t>
            </a:r>
          </a:p>
        </p:txBody>
      </p:sp>
      <p:sp>
        <p:nvSpPr>
          <p:cNvPr id="69" name="">
            <a:extLst xmlns:a="http://schemas.openxmlformats.org/drawingml/2006/main">
              <a:ext uri="{FF2B5EF4-FFF2-40B4-BE49-F238E27FC236}">
                <a16:creationId xmlns:a16="http://schemas.microsoft.com/office/drawing/2014/main" id="{26D411BA-C249-4AD0-98CD-D7E0B27D3762}"/>
              </a:ext>
            </a:extLst>
          </p:cNvPr>
          <p:cNvSpPr>
            <a:spLocks xmlns:a="http://schemas.openxmlformats.org/drawingml/2006/main" noGrp="1"/>
          </p:cNvSpPr>
          <p:nvPr/>
        </p:nvSpPr>
        <p:spPr>
          <a:xfrm xmlns:a="http://schemas.openxmlformats.org/drawingml/2006/main">
            <a:off x="1200150" y="6858000"/>
            <a:ext cx="337185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8CDAAA0A-07A7-4188-BD37-88919AF8D8B0}"/>
              </a:ext>
            </a:extLst>
          </p:cNvPr>
          <p:cNvSpPr>
            <a:spLocks xmlns:a="http://schemas.openxmlformats.org/drawingml/2006/main" noGrp="1"/>
          </p:cNvSpPr>
          <p:nvPr/>
        </p:nvSpPr>
        <p:spPr>
          <a:xfrm xmlns:a="http://schemas.openxmlformats.org/drawingml/2006/main">
            <a:off x="1200150" y="6972300"/>
            <a:ext cx="33718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53657B"/>
                </a:solidFill>
                <a:latin typeface="프리텐다드"/>
                <a:ea typeface="프리텐다드"/>
                <a:cs typeface="프리텐다드"/>
              </a:defRPr>
            </a:pPr>
            <a:r>
              <a:rPr sz="1500" b="0">
                <a:solidFill>
                  <a:srgbClr val="53657B"/>
                </a:solidFill>
                <a:latin typeface="프리텐다드"/>
                <a:ea typeface="프리텐다드"/>
                <a:cs typeface="프리텐다드"/>
              </a:rPr>
              <a:t>단건 수신 · 독립 재조회 · 감사 이벤트 상관</a:t>
            </a:r>
          </a:p>
        </p:txBody>
      </p:sp>
      <p:sp>
        <p:nvSpPr>
          <p:cNvPr id="71" name="">
            <a:extLst xmlns:a="http://schemas.openxmlformats.org/drawingml/2006/main">
              <a:ext uri="{FF2B5EF4-FFF2-40B4-BE49-F238E27FC236}">
                <a16:creationId xmlns:a16="http://schemas.microsoft.com/office/drawing/2014/main" id="{8EAA8D27-2B38-4671-BF9A-EF5EE5EA3091}"/>
              </a:ext>
            </a:extLst>
          </p:cNvPr>
          <p:cNvSpPr>
            <a:spLocks xmlns:a="http://schemas.openxmlformats.org/drawingml/2006/main" noGrp="1"/>
          </p:cNvSpPr>
          <p:nvPr/>
        </p:nvSpPr>
        <p:spPr>
          <a:xfrm xmlns:a="http://schemas.openxmlformats.org/drawingml/2006/main">
            <a:off x="14744700" y="5305425"/>
            <a:ext cx="9715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78125"/>
          </a:bodyPr>
          <a:lstStyle xmlns:a="http://schemas.openxmlformats.org/drawingml/2006/main"/>
          <a:p xmlns:a="http://schemas.openxmlformats.org/drawingml/2006/main">
            <a:pPr algn="ctr">
              <a:defRPr sz="2400" b="1">
                <a:solidFill>
                  <a:srgbClr val="2F68B5"/>
                </a:solidFill>
                <a:latin typeface="프리텐다드"/>
                <a:ea typeface="프리텐다드"/>
                <a:cs typeface="프리텐다드"/>
              </a:defRPr>
            </a:pPr>
            <a:r>
              <a:rPr sz="2400" b="1">
                <a:solidFill>
                  <a:srgbClr val="2F68B5"/>
                </a:solidFill>
                <a:latin typeface="프리텐다드"/>
                <a:ea typeface="프리텐다드"/>
                <a:cs typeface="프리텐다드"/>
              </a:rPr>
              <a:t>↓</a:t>
            </a:r>
          </a:p>
        </p:txBody>
      </p:sp>
      <p:sp>
        <p:nvSpPr>
          <p:cNvPr id="72" name="">
            <a:extLst xmlns:a="http://schemas.openxmlformats.org/drawingml/2006/main">
              <a:ext uri="{FF2B5EF4-FFF2-40B4-BE49-F238E27FC236}">
                <a16:creationId xmlns:a16="http://schemas.microsoft.com/office/drawing/2014/main" id="{38B96A3C-3598-455C-B810-E588E727AD59}"/>
              </a:ext>
            </a:extLst>
          </p:cNvPr>
          <p:cNvSpPr>
            <a:spLocks xmlns:a="http://schemas.openxmlformats.org/drawingml/2006/main" noGrp="1"/>
          </p:cNvSpPr>
          <p:nvPr/>
        </p:nvSpPr>
        <p:spPr>
          <a:xfrm xmlns:a="http://schemas.openxmlformats.org/drawingml/2006/main">
            <a:off x="1028700" y="8001000"/>
            <a:ext cx="16230600" cy="971550"/>
          </a:xfrm>
          <a:prstGeom xmlns:a="http://schemas.openxmlformats.org/drawingml/2006/main" prst="roundRect">
            <a:avLst>
              <a:gd name="adj" fmla="val 17647"/>
            </a:avLst>
          </a:prstGeom>
          <a:solidFill xmlns:a="http://schemas.openxmlformats.org/drawingml/2006/main">
            <a:srgbClr val="0B2342"/>
          </a:solidFill>
          <a:ln xmlns:a="http://schemas.openxmlformats.org/drawingml/2006/main" w="14288">
            <a:solidFill>
              <a:srgbClr val="0B2342"/>
            </a:solidFill>
            <a:prstDash val="solid"/>
          </a:ln>
        </p:spPr>
      </p:sp>
      <p:sp>
        <p:nvSpPr>
          <p:cNvPr id="73" name="">
            <a:extLst xmlns:a="http://schemas.openxmlformats.org/drawingml/2006/main">
              <a:ext uri="{FF2B5EF4-FFF2-40B4-BE49-F238E27FC236}">
                <a16:creationId xmlns:a16="http://schemas.microsoft.com/office/drawing/2014/main" id="{CD818646-B985-4ABA-A644-AA69245783A7}"/>
              </a:ext>
            </a:extLst>
          </p:cNvPr>
          <p:cNvSpPr>
            <a:spLocks xmlns:a="http://schemas.openxmlformats.org/drawingml/2006/main" noGrp="1"/>
          </p:cNvSpPr>
          <p:nvPr/>
        </p:nvSpPr>
        <p:spPr>
          <a:xfrm xmlns:a="http://schemas.openxmlformats.org/drawingml/2006/main">
            <a:off x="1295400" y="8105775"/>
            <a:ext cx="15697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425" b="1">
                <a:solidFill>
                  <a:srgbClr val="BFD7F4"/>
                </a:solidFill>
                <a:latin typeface="프리텐다드"/>
                <a:ea typeface="프리텐다드"/>
                <a:cs typeface="프리텐다드"/>
              </a:defRPr>
            </a:pPr>
            <a:r>
              <a:rPr sz="1425" b="1">
                <a:solidFill>
                  <a:srgbClr val="BFD7F4"/>
                </a:solidFill>
                <a:latin typeface="프리텐다드"/>
                <a:ea typeface="프리텐다드"/>
                <a:cs typeface="프리텐다드"/>
              </a:rPr>
              <a:t>단건 검증 범위</a:t>
            </a:r>
          </a:p>
        </p:txBody>
      </p:sp>
      <p:sp>
        <p:nvSpPr>
          <p:cNvPr id="74" name="">
            <a:extLst xmlns:a="http://schemas.openxmlformats.org/drawingml/2006/main">
              <a:ext uri="{FF2B5EF4-FFF2-40B4-BE49-F238E27FC236}">
                <a16:creationId xmlns:a16="http://schemas.microsoft.com/office/drawing/2014/main" id="{C12CBB95-E8F4-4E0A-9DFA-6A80AD7A28AC}"/>
              </a:ext>
            </a:extLst>
          </p:cNvPr>
          <p:cNvSpPr>
            <a:spLocks xmlns:a="http://schemas.openxmlformats.org/drawingml/2006/main" noGrp="1"/>
          </p:cNvSpPr>
          <p:nvPr/>
        </p:nvSpPr>
        <p:spPr>
          <a:xfrm xmlns:a="http://schemas.openxmlformats.org/drawingml/2006/main">
            <a:off x="1295400" y="8410575"/>
            <a:ext cx="156972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FFFFFF"/>
                </a:solidFill>
                <a:latin typeface="프리텐다드"/>
                <a:ea typeface="프리텐다드"/>
                <a:cs typeface="프리텐다드"/>
              </a:defRPr>
            </a:pPr>
            <a:r>
              <a:rPr sz="1575" b="1">
                <a:solidFill>
                  <a:srgbClr val="FFFFFF"/>
                </a:solidFill>
                <a:latin typeface="프리텐다드"/>
                <a:ea typeface="프리텐다드"/>
                <a:cs typeface="프리텐다드"/>
              </a:rPr>
              <a:t>단건 PASS: 기존 동의 → Entra/DPoP → Instance 1건 A→B → B 재조회·감사  |  QR E2E · 700장 전송: NOT VERIFIED</a:t>
            </a:r>
          </a:p>
        </p:txBody>
      </p:sp>
      <p:sp>
        <p:nvSpPr>
          <p:cNvPr id="75" name="">
            <a:extLst xmlns:a="http://schemas.openxmlformats.org/drawingml/2006/main">
              <a:ext uri="{FF2B5EF4-FFF2-40B4-BE49-F238E27FC236}">
                <a16:creationId xmlns:a16="http://schemas.microsoft.com/office/drawing/2014/main" id="{B406618A-0720-48D8-A009-B9812D0A06B0}"/>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76" name="">
            <a:extLst xmlns:a="http://schemas.openxmlformats.org/drawingml/2006/main">
              <a:ext uri="{FF2B5EF4-FFF2-40B4-BE49-F238E27FC236}">
                <a16:creationId xmlns:a16="http://schemas.microsoft.com/office/drawing/2014/main" id="{F2228201-9E50-48F7-A781-05458F6AAE6B}"/>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77" name="">
            <a:extLst xmlns:a="http://schemas.openxmlformats.org/drawingml/2006/main">
              <a:ext uri="{FF2B5EF4-FFF2-40B4-BE49-F238E27FC236}">
                <a16:creationId xmlns:a16="http://schemas.microsoft.com/office/drawing/2014/main" id="{06BD0FB5-7BE3-4F84-8F76-F762A23C3B9B}"/>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09  /  22</a:t>
            </a:r>
          </a:p>
        </p:txBody>
      </p:sp>
    </p:spTree>
    <p:extLst>
      <p:ext uri="{BB962C8B-B14F-4D97-AF65-F5344CB8AC3E}">
        <p14:creationId xmlns:p14="http://schemas.microsoft.com/office/powerpoint/2010/main" val="145893899"/>
      </p:ext>
    </p:extLst>
  </p:cSld>
</p:sld>
</file>

<file path=ppt/slides/slide10.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26A2DCE-7F6D-45F6-9AD1-E975C16913C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2A8629-6352-4E0E-80FF-BC8D19DE7CB8}"/>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F9CD518-35DA-450E-94FC-204571FA1586}"/>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AB8F6A7-4904-4DF2-B701-EB86D234CD7F}"/>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ROLES &amp; SURFACES</a:t>
            </a:r>
          </a:p>
        </p:txBody>
      </p:sp>
      <p:sp>
        <p:nvSpPr>
          <p:cNvPr id="5" name="">
            <a:extLst xmlns:a="http://schemas.openxmlformats.org/drawingml/2006/main">
              <a:ext uri="{FF2B5EF4-FFF2-40B4-BE49-F238E27FC236}">
                <a16:creationId xmlns:a16="http://schemas.microsoft.com/office/drawing/2014/main" id="{77F07F3C-18A3-4EB3-BADE-427981D16029}"/>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역할은 분리하고, 영상 경로는 좁힌다</a:t>
            </a:r>
          </a:p>
        </p:txBody>
      </p:sp>
      <p:sp>
        <p:nvSpPr>
          <p:cNvPr id="6" name="">
            <a:extLst xmlns:a="http://schemas.openxmlformats.org/drawingml/2006/main">
              <a:ext uri="{FF2B5EF4-FFF2-40B4-BE49-F238E27FC236}">
                <a16:creationId xmlns:a16="http://schemas.microsoft.com/office/drawing/2014/main" id="{E629F46D-DBED-4411-B3C5-DD200A4B323F}"/>
              </a:ext>
            </a:extLst>
          </p:cNvPr>
          <p:cNvSpPr>
            <a:spLocks xmlns:a="http://schemas.openxmlformats.org/drawingml/2006/main" noGrp="1"/>
          </p:cNvSpPr>
          <p:nvPr/>
        </p:nvSpPr>
        <p:spPr>
          <a:xfrm xmlns:a="http://schemas.openxmlformats.org/drawingml/2006/main">
            <a:off x="1028700" y="2714625"/>
            <a:ext cx="16230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950" b="0">
                <a:solidFill>
                  <a:srgbClr val="53657B"/>
                </a:solidFill>
                <a:latin typeface="프리텐다드"/>
                <a:ea typeface="프리텐다드"/>
                <a:cs typeface="프리텐다드"/>
              </a:defRPr>
            </a:pPr>
            <a:r>
              <a:rPr sz="1950" b="0">
                <a:solidFill>
                  <a:srgbClr val="53657B"/>
                </a:solidFill>
                <a:latin typeface="프리텐다드"/>
                <a:ea typeface="프리텐다드"/>
                <a:cs typeface="프리텐다드"/>
              </a:rPr>
              <a:t>화면은 진입점입니다. 최종 접근 허용은 서버와 병원 Gateway의 검증이 결정합니다.</a:t>
            </a:r>
          </a:p>
        </p:txBody>
      </p:sp>
      <p:sp>
        <p:nvSpPr>
          <p:cNvPr id="7" name="">
            <a:extLst xmlns:a="http://schemas.openxmlformats.org/drawingml/2006/main">
              <a:ext uri="{FF2B5EF4-FFF2-40B4-BE49-F238E27FC236}">
                <a16:creationId xmlns:a16="http://schemas.microsoft.com/office/drawing/2014/main" id="{1CD0887B-9CCA-49A2-81A0-C39DDF9C3605}"/>
              </a:ext>
            </a:extLst>
          </p:cNvPr>
          <p:cNvSpPr>
            <a:spLocks xmlns:a="http://schemas.openxmlformats.org/drawingml/2006/main" noGrp="1"/>
          </p:cNvSpPr>
          <p:nvPr/>
        </p:nvSpPr>
        <p:spPr>
          <a:xfrm xmlns:a="http://schemas.openxmlformats.org/drawingml/2006/main">
            <a:off x="1028700" y="3848100"/>
            <a:ext cx="5029200" cy="3638550"/>
          </a:xfrm>
          <a:prstGeom xmlns:a="http://schemas.openxmlformats.org/drawingml/2006/main" prst="roundRect">
            <a:avLst>
              <a:gd name="adj" fmla="val 6283"/>
            </a:avLst>
          </a:prstGeom>
          <a:solidFill xmlns:a="http://schemas.openxmlformats.org/drawingml/2006/main">
            <a:srgbClr val="FFFFFF"/>
          </a:solidFill>
          <a:ln xmlns:a="http://schemas.openxmlformats.org/drawingml/2006/main" w="14288">
            <a:solidFill>
              <a:srgbClr val="D8E0E9"/>
            </a:solidFill>
            <a:prstDash val="solid"/>
          </a:ln>
        </p:spPr>
      </p:sp>
      <p:sp>
        <p:nvSpPr>
          <p:cNvPr id="8" name="">
            <a:extLst xmlns:a="http://schemas.openxmlformats.org/drawingml/2006/main">
              <a:ext uri="{FF2B5EF4-FFF2-40B4-BE49-F238E27FC236}">
                <a16:creationId xmlns:a16="http://schemas.microsoft.com/office/drawing/2014/main" id="{B1CA70EC-9AE3-49C2-9327-D29E8BC545CB}"/>
              </a:ext>
            </a:extLst>
          </p:cNvPr>
          <p:cNvSpPr>
            <a:spLocks xmlns:a="http://schemas.openxmlformats.org/drawingml/2006/main" noGrp="1"/>
          </p:cNvSpPr>
          <p:nvPr/>
        </p:nvSpPr>
        <p:spPr>
          <a:xfrm xmlns:a="http://schemas.openxmlformats.org/drawingml/2006/main">
            <a:off x="1028700" y="3848100"/>
            <a:ext cx="5029200" cy="114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79950AC-8C01-4999-A7D7-ADD70A0E8874}"/>
              </a:ext>
            </a:extLst>
          </p:cNvPr>
          <p:cNvSpPr>
            <a:spLocks xmlns:a="http://schemas.openxmlformats.org/drawingml/2006/main" noGrp="1"/>
          </p:cNvSpPr>
          <p:nvPr/>
        </p:nvSpPr>
        <p:spPr>
          <a:xfrm xmlns:a="http://schemas.openxmlformats.org/drawingml/2006/main">
            <a:off x="1295400" y="4191000"/>
            <a:ext cx="142875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2106902-3F57-44B5-BD9F-12D372CAAB88}"/>
              </a:ext>
            </a:extLst>
          </p:cNvPr>
          <p:cNvSpPr>
            <a:spLocks xmlns:a="http://schemas.openxmlformats.org/drawingml/2006/main" noGrp="1"/>
          </p:cNvSpPr>
          <p:nvPr/>
        </p:nvSpPr>
        <p:spPr>
          <a:xfrm xmlns:a="http://schemas.openxmlformats.org/drawingml/2006/main">
            <a:off x="1352550" y="4200525"/>
            <a:ext cx="1314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환자</a:t>
            </a:r>
          </a:p>
        </p:txBody>
      </p:sp>
      <p:sp>
        <p:nvSpPr>
          <p:cNvPr id="11" name="">
            <a:extLst xmlns:a="http://schemas.openxmlformats.org/drawingml/2006/main">
              <a:ext uri="{FF2B5EF4-FFF2-40B4-BE49-F238E27FC236}">
                <a16:creationId xmlns:a16="http://schemas.microsoft.com/office/drawing/2014/main" id="{8311BA41-65B6-4433-80DE-086B7DB54F83}"/>
              </a:ext>
            </a:extLst>
          </p:cNvPr>
          <p:cNvSpPr>
            <a:spLocks xmlns:a="http://schemas.openxmlformats.org/drawingml/2006/main" noGrp="1"/>
          </p:cNvSpPr>
          <p:nvPr/>
        </p:nvSpPr>
        <p:spPr>
          <a:xfrm xmlns:a="http://schemas.openxmlformats.org/drawingml/2006/main">
            <a:off x="1295400" y="48387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00" b="1">
                <a:solidFill>
                  <a:srgbClr val="17263A"/>
                </a:solidFill>
                <a:latin typeface="프리텐다드"/>
                <a:ea typeface="프리텐다드"/>
                <a:cs typeface="프리텐다드"/>
              </a:defRPr>
            </a:pPr>
            <a:r>
              <a:rPr sz="2100" b="1">
                <a:solidFill>
                  <a:srgbClr val="17263A"/>
                </a:solidFill>
                <a:latin typeface="프리텐다드"/>
                <a:ea typeface="프리텐다드"/>
                <a:cs typeface="프리텐다드"/>
              </a:rPr>
              <a:t>환자 웹 / 모바일 PWA</a:t>
            </a:r>
          </a:p>
        </p:txBody>
      </p:sp>
      <p:sp>
        <p:nvSpPr>
          <p:cNvPr id="12" name="">
            <a:extLst xmlns:a="http://schemas.openxmlformats.org/drawingml/2006/main">
              <a:ext uri="{FF2B5EF4-FFF2-40B4-BE49-F238E27FC236}">
                <a16:creationId xmlns:a16="http://schemas.microsoft.com/office/drawing/2014/main" id="{A7C1BBFC-CC21-443E-8783-3894E891A97A}"/>
              </a:ext>
            </a:extLst>
          </p:cNvPr>
          <p:cNvSpPr>
            <a:spLocks xmlns:a="http://schemas.openxmlformats.org/drawingml/2006/main" noGrp="1"/>
          </p:cNvSpPr>
          <p:nvPr/>
        </p:nvSpPr>
        <p:spPr>
          <a:xfrm xmlns:a="http://schemas.openxmlformats.org/drawingml/2006/main">
            <a:off x="1295400" y="5676900"/>
            <a:ext cx="4476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공유 대상·목적·기간·검사 범위를 선택하고 동의 이력을 확인</a:t>
            </a:r>
          </a:p>
        </p:txBody>
      </p:sp>
      <p:sp>
        <p:nvSpPr>
          <p:cNvPr id="13" name="">
            <a:extLst xmlns:a="http://schemas.openxmlformats.org/drawingml/2006/main">
              <a:ext uri="{FF2B5EF4-FFF2-40B4-BE49-F238E27FC236}">
                <a16:creationId xmlns:a16="http://schemas.microsoft.com/office/drawing/2014/main" id="{4802B283-015A-4FB6-9DEB-CE2576A5D2E6}"/>
              </a:ext>
            </a:extLst>
          </p:cNvPr>
          <p:cNvSpPr>
            <a:spLocks xmlns:a="http://schemas.openxmlformats.org/drawingml/2006/main" noGrp="1"/>
          </p:cNvSpPr>
          <p:nvPr/>
        </p:nvSpPr>
        <p:spPr>
          <a:xfrm xmlns:a="http://schemas.openxmlformats.org/drawingml/2006/main">
            <a:off x="6515100" y="3848100"/>
            <a:ext cx="5029200" cy="3638550"/>
          </a:xfrm>
          <a:prstGeom xmlns:a="http://schemas.openxmlformats.org/drawingml/2006/main" prst="roundRect">
            <a:avLst>
              <a:gd name="adj" fmla="val 6283"/>
            </a:avLst>
          </a:prstGeom>
          <a:solidFill xmlns:a="http://schemas.openxmlformats.org/drawingml/2006/main">
            <a:srgbClr val="FFFFFF"/>
          </a:solidFill>
          <a:ln xmlns:a="http://schemas.openxmlformats.org/drawingml/2006/main" w="14288">
            <a:solidFill>
              <a:srgbClr val="D8E0E9"/>
            </a:solidFill>
            <a:prstDash val="solid"/>
          </a:ln>
        </p:spPr>
      </p:sp>
      <p:sp>
        <p:nvSpPr>
          <p:cNvPr id="14" name="">
            <a:extLst xmlns:a="http://schemas.openxmlformats.org/drawingml/2006/main">
              <a:ext uri="{FF2B5EF4-FFF2-40B4-BE49-F238E27FC236}">
                <a16:creationId xmlns:a16="http://schemas.microsoft.com/office/drawing/2014/main" id="{FDED112F-BE17-4023-88B2-C22C18EA0222}"/>
              </a:ext>
            </a:extLst>
          </p:cNvPr>
          <p:cNvSpPr>
            <a:spLocks xmlns:a="http://schemas.openxmlformats.org/drawingml/2006/main" noGrp="1"/>
          </p:cNvSpPr>
          <p:nvPr/>
        </p:nvSpPr>
        <p:spPr>
          <a:xfrm xmlns:a="http://schemas.openxmlformats.org/drawingml/2006/main">
            <a:off x="6515100" y="3848100"/>
            <a:ext cx="5029200" cy="114300"/>
          </a:xfrm>
          <a:prstGeom xmlns:a="http://schemas.openxmlformats.org/drawingml/2006/main" prst="rect">
            <a:avLst/>
          </a:prstGeom>
          <a:solidFill xmlns:a="http://schemas.openxmlformats.org/drawingml/2006/main">
            <a:srgbClr val="168B82"/>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63FFD656-7329-4929-817E-6CF0ABB2EABD}"/>
              </a:ext>
            </a:extLst>
          </p:cNvPr>
          <p:cNvSpPr>
            <a:spLocks xmlns:a="http://schemas.openxmlformats.org/drawingml/2006/main" noGrp="1"/>
          </p:cNvSpPr>
          <p:nvPr/>
        </p:nvSpPr>
        <p:spPr>
          <a:xfrm xmlns:a="http://schemas.openxmlformats.org/drawingml/2006/main">
            <a:off x="6781800" y="4191000"/>
            <a:ext cx="142875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D652A03-CCB9-41A2-8638-50895D6DC734}"/>
              </a:ext>
            </a:extLst>
          </p:cNvPr>
          <p:cNvSpPr>
            <a:spLocks xmlns:a="http://schemas.openxmlformats.org/drawingml/2006/main" noGrp="1"/>
          </p:cNvSpPr>
          <p:nvPr/>
        </p:nvSpPr>
        <p:spPr>
          <a:xfrm xmlns:a="http://schemas.openxmlformats.org/drawingml/2006/main">
            <a:off x="6838950" y="4200525"/>
            <a:ext cx="1314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의료진</a:t>
            </a:r>
          </a:p>
        </p:txBody>
      </p:sp>
      <p:sp>
        <p:nvSpPr>
          <p:cNvPr id="17" name="">
            <a:extLst xmlns:a="http://schemas.openxmlformats.org/drawingml/2006/main">
              <a:ext uri="{FF2B5EF4-FFF2-40B4-BE49-F238E27FC236}">
                <a16:creationId xmlns:a16="http://schemas.microsoft.com/office/drawing/2014/main" id="{2B19EE40-FB05-4480-8CEB-C0ADBB2DC6E4}"/>
              </a:ext>
            </a:extLst>
          </p:cNvPr>
          <p:cNvSpPr>
            <a:spLocks xmlns:a="http://schemas.openxmlformats.org/drawingml/2006/main" noGrp="1"/>
          </p:cNvSpPr>
          <p:nvPr/>
        </p:nvSpPr>
        <p:spPr>
          <a:xfrm xmlns:a="http://schemas.openxmlformats.org/drawingml/2006/main">
            <a:off x="6781800" y="48387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00" b="1">
                <a:solidFill>
                  <a:srgbClr val="17263A"/>
                </a:solidFill>
                <a:latin typeface="프리텐다드"/>
                <a:ea typeface="프리텐다드"/>
                <a:cs typeface="프리텐다드"/>
              </a:defRPr>
            </a:pPr>
            <a:r>
              <a:rPr sz="2100" b="1">
                <a:solidFill>
                  <a:srgbClr val="17263A"/>
                </a:solidFill>
                <a:latin typeface="프리텐다드"/>
                <a:ea typeface="프리텐다드"/>
                <a:cs typeface="프리텐다드"/>
              </a:rPr>
              <a:t>의료진 웹</a:t>
            </a:r>
          </a:p>
        </p:txBody>
      </p:sp>
      <p:sp>
        <p:nvSpPr>
          <p:cNvPr id="18" name="">
            <a:extLst xmlns:a="http://schemas.openxmlformats.org/drawingml/2006/main">
              <a:ext uri="{FF2B5EF4-FFF2-40B4-BE49-F238E27FC236}">
                <a16:creationId xmlns:a16="http://schemas.microsoft.com/office/drawing/2014/main" id="{DC5CF415-EBE1-4796-8522-405A6B6FA482}"/>
              </a:ext>
            </a:extLst>
          </p:cNvPr>
          <p:cNvSpPr>
            <a:spLocks xmlns:a="http://schemas.openxmlformats.org/drawingml/2006/main" noGrp="1"/>
          </p:cNvSpPr>
          <p:nvPr/>
        </p:nvSpPr>
        <p:spPr>
          <a:xfrm xmlns:a="http://schemas.openxmlformats.org/drawingml/2006/main">
            <a:off x="6781800" y="5676900"/>
            <a:ext cx="4476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QR·시연 접수 및 환자기록·영상·보관 UI. 전체 인증·QR 종단 경로는 미검증</a:t>
            </a:r>
          </a:p>
        </p:txBody>
      </p:sp>
      <p:sp>
        <p:nvSpPr>
          <p:cNvPr id="19" name="">
            <a:extLst xmlns:a="http://schemas.openxmlformats.org/drawingml/2006/main">
              <a:ext uri="{FF2B5EF4-FFF2-40B4-BE49-F238E27FC236}">
                <a16:creationId xmlns:a16="http://schemas.microsoft.com/office/drawing/2014/main" id="{F1249D96-41D5-4AE3-A420-D7022B66E3C0}"/>
              </a:ext>
            </a:extLst>
          </p:cNvPr>
          <p:cNvSpPr>
            <a:spLocks xmlns:a="http://schemas.openxmlformats.org/drawingml/2006/main" noGrp="1"/>
          </p:cNvSpPr>
          <p:nvPr/>
        </p:nvSpPr>
        <p:spPr>
          <a:xfrm xmlns:a="http://schemas.openxmlformats.org/drawingml/2006/main">
            <a:off x="12001500" y="3848100"/>
            <a:ext cx="5029200" cy="3638550"/>
          </a:xfrm>
          <a:prstGeom xmlns:a="http://schemas.openxmlformats.org/drawingml/2006/main" prst="roundRect">
            <a:avLst>
              <a:gd name="adj" fmla="val 6283"/>
            </a:avLst>
          </a:prstGeom>
          <a:solidFill xmlns:a="http://schemas.openxmlformats.org/drawingml/2006/main">
            <a:srgbClr val="FFFFFF"/>
          </a:solidFill>
          <a:ln xmlns:a="http://schemas.openxmlformats.org/drawingml/2006/main" w="14288">
            <a:solidFill>
              <a:srgbClr val="D8E0E9"/>
            </a:solidFill>
            <a:prstDash val="solid"/>
          </a:ln>
        </p:spPr>
      </p:sp>
      <p:sp>
        <p:nvSpPr>
          <p:cNvPr id="20" name="">
            <a:extLst xmlns:a="http://schemas.openxmlformats.org/drawingml/2006/main">
              <a:ext uri="{FF2B5EF4-FFF2-40B4-BE49-F238E27FC236}">
                <a16:creationId xmlns:a16="http://schemas.microsoft.com/office/drawing/2014/main" id="{09AD48FA-CEDF-4A8F-AAD6-A147052671B3}"/>
              </a:ext>
            </a:extLst>
          </p:cNvPr>
          <p:cNvSpPr>
            <a:spLocks xmlns:a="http://schemas.openxmlformats.org/drawingml/2006/main" noGrp="1"/>
          </p:cNvSpPr>
          <p:nvPr/>
        </p:nvSpPr>
        <p:spPr>
          <a:xfrm xmlns:a="http://schemas.openxmlformats.org/drawingml/2006/main">
            <a:off x="12001500" y="3848100"/>
            <a:ext cx="5029200" cy="114300"/>
          </a:xfrm>
          <a:prstGeom xmlns:a="http://schemas.openxmlformats.org/drawingml/2006/main" prst="rect">
            <a:avLst/>
          </a:prstGeom>
          <a:solidFill xmlns:a="http://schemas.openxmlformats.org/drawingml/2006/main">
            <a:srgbClr val="DCA83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F04711C-152C-41FC-B9DD-FFC5B4AB1D28}"/>
              </a:ext>
            </a:extLst>
          </p:cNvPr>
          <p:cNvSpPr>
            <a:spLocks xmlns:a="http://schemas.openxmlformats.org/drawingml/2006/main" noGrp="1"/>
          </p:cNvSpPr>
          <p:nvPr/>
        </p:nvSpPr>
        <p:spPr>
          <a:xfrm xmlns:a="http://schemas.openxmlformats.org/drawingml/2006/main">
            <a:off x="12268200" y="4191000"/>
            <a:ext cx="142875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D869410-EDAA-4C17-808A-67C80146157C}"/>
              </a:ext>
            </a:extLst>
          </p:cNvPr>
          <p:cNvSpPr>
            <a:spLocks xmlns:a="http://schemas.openxmlformats.org/drawingml/2006/main" noGrp="1"/>
          </p:cNvSpPr>
          <p:nvPr/>
        </p:nvSpPr>
        <p:spPr>
          <a:xfrm xmlns:a="http://schemas.openxmlformats.org/drawingml/2006/main">
            <a:off x="12325350" y="4200525"/>
            <a:ext cx="13144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보안 운영자</a:t>
            </a:r>
          </a:p>
        </p:txBody>
      </p:sp>
      <p:sp>
        <p:nvSpPr>
          <p:cNvPr id="23" name="">
            <a:extLst xmlns:a="http://schemas.openxmlformats.org/drawingml/2006/main">
              <a:ext uri="{FF2B5EF4-FFF2-40B4-BE49-F238E27FC236}">
                <a16:creationId xmlns:a16="http://schemas.microsoft.com/office/drawing/2014/main" id="{668A113B-281A-4461-B466-D59FB6CA129E}"/>
              </a:ext>
            </a:extLst>
          </p:cNvPr>
          <p:cNvSpPr>
            <a:spLocks xmlns:a="http://schemas.openxmlformats.org/drawingml/2006/main" noGrp="1"/>
          </p:cNvSpPr>
          <p:nvPr/>
        </p:nvSpPr>
        <p:spPr>
          <a:xfrm xmlns:a="http://schemas.openxmlformats.org/drawingml/2006/main">
            <a:off x="12268200" y="4838700"/>
            <a:ext cx="4495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00" b="1">
                <a:solidFill>
                  <a:srgbClr val="17263A"/>
                </a:solidFill>
                <a:latin typeface="프리텐다드"/>
                <a:ea typeface="프리텐다드"/>
                <a:cs typeface="프리텐다드"/>
              </a:defRPr>
            </a:pPr>
            <a:r>
              <a:rPr sz="2100" b="1">
                <a:solidFill>
                  <a:srgbClr val="17263A"/>
                </a:solidFill>
                <a:latin typeface="프리텐다드"/>
                <a:ea typeface="프리텐다드"/>
                <a:cs typeface="프리텐다드"/>
              </a:rPr>
              <a:t>보안 관제실</a:t>
            </a:r>
          </a:p>
        </p:txBody>
      </p:sp>
      <p:sp>
        <p:nvSpPr>
          <p:cNvPr id="24" name="">
            <a:extLst xmlns:a="http://schemas.openxmlformats.org/drawingml/2006/main">
              <a:ext uri="{FF2B5EF4-FFF2-40B4-BE49-F238E27FC236}">
                <a16:creationId xmlns:a16="http://schemas.microsoft.com/office/drawing/2014/main" id="{F1AAC03F-22CB-4B56-A279-881885D0538E}"/>
              </a:ext>
            </a:extLst>
          </p:cNvPr>
          <p:cNvSpPr>
            <a:spLocks xmlns:a="http://schemas.openxmlformats.org/drawingml/2006/main" noGrp="1"/>
          </p:cNvSpPr>
          <p:nvPr/>
        </p:nvSpPr>
        <p:spPr>
          <a:xfrm xmlns:a="http://schemas.openxmlformats.org/drawingml/2006/main">
            <a:off x="12268200" y="5676900"/>
            <a:ext cx="4476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허용된 감사 출처를 검색·검토; 원본 로그의 완전성은 별도 확인</a:t>
            </a:r>
          </a:p>
        </p:txBody>
      </p:sp>
      <p:sp>
        <p:nvSpPr>
          <p:cNvPr id="25" name="">
            <a:extLst xmlns:a="http://schemas.openxmlformats.org/drawingml/2006/main">
              <a:ext uri="{FF2B5EF4-FFF2-40B4-BE49-F238E27FC236}">
                <a16:creationId xmlns:a16="http://schemas.microsoft.com/office/drawing/2014/main" id="{2F2275A7-C8C4-4BB7-A601-196EE629288C}"/>
              </a:ext>
            </a:extLst>
          </p:cNvPr>
          <p:cNvSpPr>
            <a:spLocks xmlns:a="http://schemas.openxmlformats.org/drawingml/2006/main" noGrp="1"/>
          </p:cNvSpPr>
          <p:nvPr/>
        </p:nvSpPr>
        <p:spPr>
          <a:xfrm xmlns:a="http://schemas.openxmlformats.org/drawingml/2006/main">
            <a:off x="1028700" y="7867650"/>
            <a:ext cx="16230600" cy="1028700"/>
          </a:xfrm>
          <a:prstGeom xmlns:a="http://schemas.openxmlformats.org/drawingml/2006/main" prst="roundRect">
            <a:avLst>
              <a:gd name="adj" fmla="val 18519"/>
            </a:avLst>
          </a:prstGeom>
          <a:solidFill xmlns:a="http://schemas.openxmlformats.org/drawingml/2006/main">
            <a:srgbClr val="FBF4E5"/>
          </a:solidFill>
          <a:ln xmlns:a="http://schemas.openxmlformats.org/drawingml/2006/main" w="14288">
            <a:solidFill>
              <a:srgbClr val="D8E0E9"/>
            </a:solidFill>
            <a:prstDash val="solid"/>
          </a:ln>
        </p:spPr>
      </p:sp>
      <p:sp>
        <p:nvSpPr>
          <p:cNvPr id="26" name="">
            <a:extLst xmlns:a="http://schemas.openxmlformats.org/drawingml/2006/main">
              <a:ext uri="{FF2B5EF4-FFF2-40B4-BE49-F238E27FC236}">
                <a16:creationId xmlns:a16="http://schemas.microsoft.com/office/drawing/2014/main" id="{8CE041B1-EEDF-4169-A432-8B4A4F6A2691}"/>
              </a:ext>
            </a:extLst>
          </p:cNvPr>
          <p:cNvSpPr>
            <a:spLocks xmlns:a="http://schemas.openxmlformats.org/drawingml/2006/main" noGrp="1"/>
          </p:cNvSpPr>
          <p:nvPr/>
        </p:nvSpPr>
        <p:spPr>
          <a:xfrm xmlns:a="http://schemas.openxmlformats.org/drawingml/2006/main">
            <a:off x="1314450" y="8048625"/>
            <a:ext cx="1562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725" b="1">
                <a:solidFill>
                  <a:srgbClr val="0B2342"/>
                </a:solidFill>
                <a:latin typeface="프리텐다드"/>
                <a:ea typeface="프리텐다드"/>
                <a:cs typeface="프리텐다드"/>
              </a:defRPr>
            </a:pPr>
            <a:r>
              <a:rPr sz="1725" b="1">
                <a:solidFill>
                  <a:srgbClr val="0B2342"/>
                </a:solidFill>
                <a:latin typeface="프리텐다드"/>
                <a:ea typeface="프리텐다드"/>
                <a:cs typeface="프리텐다드"/>
              </a:rPr>
              <a:t>Android 상태: 기존 /mobile/ PWA를 여는 TWA 디버그 APK까지. Digital Asset Links는 Azure에서 404 — 정식 서명·스토어·기기 동작은 미검증.</a:t>
            </a:r>
          </a:p>
        </p:txBody>
      </p:sp>
      <p:sp>
        <p:nvSpPr>
          <p:cNvPr id="27" name="">
            <a:extLst xmlns:a="http://schemas.openxmlformats.org/drawingml/2006/main">
              <a:ext uri="{FF2B5EF4-FFF2-40B4-BE49-F238E27FC236}">
                <a16:creationId xmlns:a16="http://schemas.microsoft.com/office/drawing/2014/main" id="{DDB99434-5D8F-47F2-B259-B93E993421B6}"/>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737A9A2-C94B-4EE4-948A-995B238BEE19}"/>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9" name="">
            <a:extLst xmlns:a="http://schemas.openxmlformats.org/drawingml/2006/main">
              <a:ext uri="{FF2B5EF4-FFF2-40B4-BE49-F238E27FC236}">
                <a16:creationId xmlns:a16="http://schemas.microsoft.com/office/drawing/2014/main" id="{0629C11F-D248-47F2-B817-D54650341D99}"/>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10  /  22</a:t>
            </a:r>
          </a:p>
        </p:txBody>
      </p:sp>
      <p:pic xmlns:a="http://schemas.openxmlformats.org/drawingml/2006/main" xmlns:r="http://schemas.openxmlformats.org/officeDocument/2006/relationships">
        <p:nvPicPr>
          <p:cNvPr id="31" name="Picture 30" descr="02_patient_login.png"/>
          <p:cNvPicPr>
            <a:picLocks noChangeAspect="1"/>
          </p:cNvPicPr>
          <p:nvPr/>
        </p:nvPicPr>
        <p:blipFill>
          <a:blip r:embed="rId3"/>
          <a:stretch>
            <a:fillRect/>
          </a:stretch>
        </p:blipFill>
        <p:spPr>
          <a:xfrm>
            <a:off x="1234440" y="4663440"/>
            <a:ext cx="4572000" cy="2857500"/>
          </a:xfrm>
          <a:prstGeom prst="rect">
            <a:avLst/>
          </a:prstGeom>
        </p:spPr>
      </p:pic>
      <p:pic xmlns:a="http://schemas.openxmlformats.org/drawingml/2006/main" xmlns:r="http://schemas.openxmlformats.org/officeDocument/2006/relationships">
        <p:nvPicPr>
          <p:cNvPr id="32" name="Picture 31" descr="03_clinician_login.png"/>
          <p:cNvPicPr>
            <a:picLocks noChangeAspect="1"/>
          </p:cNvPicPr>
          <p:nvPr/>
        </p:nvPicPr>
        <p:blipFill>
          <a:blip r:embed="rId4"/>
          <a:stretch>
            <a:fillRect/>
          </a:stretch>
        </p:blipFill>
        <p:spPr>
          <a:xfrm>
            <a:off x="6720840" y="4663440"/>
            <a:ext cx="4572000" cy="2857500"/>
          </a:xfrm>
          <a:prstGeom prst="rect">
            <a:avLst/>
          </a:prstGeom>
        </p:spPr>
      </p:pic>
      <p:pic xmlns:a="http://schemas.openxmlformats.org/drawingml/2006/main" xmlns:r="http://schemas.openxmlformats.org/officeDocument/2006/relationships">
        <p:nvPicPr>
          <p:cNvPr id="33" name="Picture 32" descr="04_security_admin_login.png"/>
          <p:cNvPicPr>
            <a:picLocks noChangeAspect="1"/>
          </p:cNvPicPr>
          <p:nvPr/>
        </p:nvPicPr>
        <p:blipFill>
          <a:blip r:embed="rId5"/>
          <a:stretch>
            <a:fillRect/>
          </a:stretch>
        </p:blipFill>
        <p:spPr>
          <a:xfrm>
            <a:off x="12207240" y="4663440"/>
            <a:ext cx="4572000" cy="2857500"/>
          </a:xfrm>
          <a:prstGeom prst="rect">
            <a:avLst/>
          </a:prstGeom>
        </p:spPr>
      </p:pic>
    </p:spTree>
    <p:extLst>
      <p:ext uri="{BB962C8B-B14F-4D97-AF65-F5344CB8AC3E}">
        <p14:creationId xmlns:p14="http://schemas.microsoft.com/office/powerpoint/2010/main" val="2881528096"/>
      </p:ext>
    </p:extLst>
  </p:cSld>
</p:sld>
</file>

<file path=ppt/slides/slide11.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DAEF2BB-30E1-42DA-8F6E-6E78F1BD392F}"/>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12CBA85-519F-41D5-A664-9BBE612A9F0E}"/>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4BD4195-B6CC-48C2-9BB9-7A8479661F97}"/>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3A669D-D5AE-445F-98E1-FD44AD8DE923}"/>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WORKFLOW</a:t>
            </a:r>
          </a:p>
        </p:txBody>
      </p:sp>
      <p:sp>
        <p:nvSpPr>
          <p:cNvPr id="5" name="">
            <a:extLst xmlns:a="http://schemas.openxmlformats.org/drawingml/2006/main">
              <a:ext uri="{FF2B5EF4-FFF2-40B4-BE49-F238E27FC236}">
                <a16:creationId xmlns:a16="http://schemas.microsoft.com/office/drawing/2014/main" id="{5A9958AE-150F-406F-B62C-C454E2BFA26E}"/>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CD 이동에서, 승인된 접근으로</a:t>
            </a:r>
          </a:p>
        </p:txBody>
      </p:sp>
      <p:sp>
        <p:nvSpPr>
          <p:cNvPr id="6" name="">
            <a:extLst xmlns:a="http://schemas.openxmlformats.org/drawingml/2006/main">
              <a:ext uri="{FF2B5EF4-FFF2-40B4-BE49-F238E27FC236}">
                <a16:creationId xmlns:a16="http://schemas.microsoft.com/office/drawing/2014/main" id="{7508CCB6-01AE-4DFE-91D2-5AC623BC9FE4}"/>
              </a:ext>
            </a:extLst>
          </p:cNvPr>
          <p:cNvSpPr>
            <a:spLocks xmlns:a="http://schemas.openxmlformats.org/drawingml/2006/main" noGrp="1"/>
          </p:cNvSpPr>
          <p:nvPr/>
        </p:nvSpPr>
        <p:spPr>
          <a:xfrm xmlns:a="http://schemas.openxmlformats.org/drawingml/2006/main">
            <a:off x="1028700" y="2819400"/>
            <a:ext cx="28575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523406D-DFF9-4C2E-A20B-D6510C9EE72C}"/>
              </a:ext>
            </a:extLst>
          </p:cNvPr>
          <p:cNvSpPr>
            <a:spLocks xmlns:a="http://schemas.openxmlformats.org/drawingml/2006/main" noGrp="1"/>
          </p:cNvSpPr>
          <p:nvPr/>
        </p:nvSpPr>
        <p:spPr>
          <a:xfrm xmlns:a="http://schemas.openxmlformats.org/drawingml/2006/main">
            <a:off x="1085850" y="2828925"/>
            <a:ext cx="27432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대표 흐름 비교</a:t>
            </a:r>
          </a:p>
        </p:txBody>
      </p:sp>
      <p:sp>
        <p:nvSpPr>
          <p:cNvPr id="8" name="">
            <a:extLst xmlns:a="http://schemas.openxmlformats.org/drawingml/2006/main">
              <a:ext uri="{FF2B5EF4-FFF2-40B4-BE49-F238E27FC236}">
                <a16:creationId xmlns:a16="http://schemas.microsoft.com/office/drawing/2014/main" id="{144B86B5-2680-430B-A12F-7B2F5C3BDA5B}"/>
              </a:ext>
            </a:extLst>
          </p:cNvPr>
          <p:cNvSpPr>
            <a:spLocks xmlns:a="http://schemas.openxmlformats.org/drawingml/2006/main" noGrp="1"/>
          </p:cNvSpPr>
          <p:nvPr/>
        </p:nvSpPr>
        <p:spPr>
          <a:xfrm xmlns:a="http://schemas.openxmlformats.org/drawingml/2006/main">
            <a:off x="1028700" y="314325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1">
                <a:solidFill>
                  <a:srgbClr val="53657B"/>
                </a:solidFill>
                <a:latin typeface="프리텐다드"/>
                <a:ea typeface="프리텐다드"/>
                <a:cs typeface="프리텐다드"/>
              </a:defRPr>
            </a:pPr>
            <a:r>
              <a:rPr sz="1800" b="1">
                <a:solidFill>
                  <a:srgbClr val="53657B"/>
                </a:solidFill>
                <a:latin typeface="프리텐다드"/>
                <a:ea typeface="프리텐다드"/>
                <a:cs typeface="프리텐다드"/>
              </a:rPr>
              <a:t>매체 중심</a:t>
            </a:r>
          </a:p>
        </p:txBody>
      </p:sp>
      <p:sp>
        <p:nvSpPr>
          <p:cNvPr id="9" name="">
            <a:extLst xmlns:a="http://schemas.openxmlformats.org/drawingml/2006/main">
              <a:ext uri="{FF2B5EF4-FFF2-40B4-BE49-F238E27FC236}">
                <a16:creationId xmlns:a16="http://schemas.microsoft.com/office/drawing/2014/main" id="{69F94CCE-3748-4B4B-8038-9CC561C649F1}"/>
              </a:ext>
            </a:extLst>
          </p:cNvPr>
          <p:cNvSpPr>
            <a:spLocks xmlns:a="http://schemas.openxmlformats.org/drawingml/2006/main" noGrp="1"/>
          </p:cNvSpPr>
          <p:nvPr/>
        </p:nvSpPr>
        <p:spPr>
          <a:xfrm xmlns:a="http://schemas.openxmlformats.org/drawingml/2006/main">
            <a:off x="1028700" y="3657600"/>
            <a:ext cx="2857500" cy="1314450"/>
          </a:xfrm>
          <a:prstGeom xmlns:a="http://schemas.openxmlformats.org/drawingml/2006/main" prst="roundRect">
            <a:avLst>
              <a:gd name="adj" fmla="val 14493"/>
            </a:avLst>
          </a:prstGeom>
          <a:solidFill xmlns:a="http://schemas.openxmlformats.org/drawingml/2006/main">
            <a:srgbClr val="F3F6FA"/>
          </a:solidFill>
          <a:ln xmlns:a="http://schemas.openxmlformats.org/drawingml/2006/main" w="14288">
            <a:solidFill>
              <a:srgbClr val="D8E0E9"/>
            </a:solidFill>
            <a:prstDash val="solid"/>
          </a:ln>
        </p:spPr>
      </p:sp>
      <p:sp>
        <p:nvSpPr>
          <p:cNvPr id="10" name="">
            <a:extLst xmlns:a="http://schemas.openxmlformats.org/drawingml/2006/main">
              <a:ext uri="{FF2B5EF4-FFF2-40B4-BE49-F238E27FC236}">
                <a16:creationId xmlns:a16="http://schemas.microsoft.com/office/drawing/2014/main" id="{4C98FFEE-179C-44FF-9DCA-3E7888C71D61}"/>
              </a:ext>
            </a:extLst>
          </p:cNvPr>
          <p:cNvSpPr>
            <a:spLocks xmlns:a="http://schemas.openxmlformats.org/drawingml/2006/main" noGrp="1"/>
          </p:cNvSpPr>
          <p:nvPr/>
        </p:nvSpPr>
        <p:spPr>
          <a:xfrm xmlns:a="http://schemas.openxmlformats.org/drawingml/2006/main">
            <a:off x="1200150" y="390525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53657B"/>
                </a:solidFill>
                <a:latin typeface="프리텐다드"/>
                <a:ea typeface="프리텐다드"/>
                <a:cs typeface="프리텐다드"/>
              </a:defRPr>
            </a:pPr>
            <a:r>
              <a:rPr sz="2175" b="1">
                <a:solidFill>
                  <a:srgbClr val="53657B"/>
                </a:solidFill>
                <a:latin typeface="프리텐다드"/>
                <a:ea typeface="프리텐다드"/>
                <a:cs typeface="프리텐다드"/>
              </a:rPr>
              <a:t>검사</a:t>
            </a:r>
          </a:p>
        </p:txBody>
      </p:sp>
      <p:sp>
        <p:nvSpPr>
          <p:cNvPr id="11" name="">
            <a:extLst xmlns:a="http://schemas.openxmlformats.org/drawingml/2006/main">
              <a:ext uri="{FF2B5EF4-FFF2-40B4-BE49-F238E27FC236}">
                <a16:creationId xmlns:a16="http://schemas.microsoft.com/office/drawing/2014/main" id="{9BB13962-1E58-432B-96F1-4C9E4D54DF00}"/>
              </a:ext>
            </a:extLst>
          </p:cNvPr>
          <p:cNvSpPr>
            <a:spLocks xmlns:a="http://schemas.openxmlformats.org/drawingml/2006/main" noGrp="1"/>
          </p:cNvSpPr>
          <p:nvPr/>
        </p:nvSpPr>
        <p:spPr>
          <a:xfrm xmlns:a="http://schemas.openxmlformats.org/drawingml/2006/main">
            <a:off x="3848100" y="403860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12" name="">
            <a:extLst xmlns:a="http://schemas.openxmlformats.org/drawingml/2006/main">
              <a:ext uri="{FF2B5EF4-FFF2-40B4-BE49-F238E27FC236}">
                <a16:creationId xmlns:a16="http://schemas.microsoft.com/office/drawing/2014/main" id="{D05A8703-168A-4D32-A27B-AED71785DAE7}"/>
              </a:ext>
            </a:extLst>
          </p:cNvPr>
          <p:cNvSpPr>
            <a:spLocks xmlns:a="http://schemas.openxmlformats.org/drawingml/2006/main" noGrp="1"/>
          </p:cNvSpPr>
          <p:nvPr/>
        </p:nvSpPr>
        <p:spPr>
          <a:xfrm xmlns:a="http://schemas.openxmlformats.org/drawingml/2006/main">
            <a:off x="4305300" y="3657600"/>
            <a:ext cx="2857500" cy="1314450"/>
          </a:xfrm>
          <a:prstGeom xmlns:a="http://schemas.openxmlformats.org/drawingml/2006/main" prst="roundRect">
            <a:avLst>
              <a:gd name="adj" fmla="val 14493"/>
            </a:avLst>
          </a:prstGeom>
          <a:solidFill xmlns:a="http://schemas.openxmlformats.org/drawingml/2006/main">
            <a:srgbClr val="F3F6FA"/>
          </a:solidFill>
          <a:ln xmlns:a="http://schemas.openxmlformats.org/drawingml/2006/main" w="14288">
            <a:solidFill>
              <a:srgbClr val="D8E0E9"/>
            </a:solidFill>
            <a:prstDash val="solid"/>
          </a:ln>
        </p:spPr>
      </p:sp>
      <p:sp>
        <p:nvSpPr>
          <p:cNvPr id="13" name="">
            <a:extLst xmlns:a="http://schemas.openxmlformats.org/drawingml/2006/main">
              <a:ext uri="{FF2B5EF4-FFF2-40B4-BE49-F238E27FC236}">
                <a16:creationId xmlns:a16="http://schemas.microsoft.com/office/drawing/2014/main" id="{754BCFC8-EB0A-4D18-BEEF-E331D38CEAB6}"/>
              </a:ext>
            </a:extLst>
          </p:cNvPr>
          <p:cNvSpPr>
            <a:spLocks xmlns:a="http://schemas.openxmlformats.org/drawingml/2006/main" noGrp="1"/>
          </p:cNvSpPr>
          <p:nvPr/>
        </p:nvSpPr>
        <p:spPr>
          <a:xfrm xmlns:a="http://schemas.openxmlformats.org/drawingml/2006/main">
            <a:off x="4476750" y="390525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53657B"/>
                </a:solidFill>
                <a:latin typeface="프리텐다드"/>
                <a:ea typeface="프리텐다드"/>
                <a:cs typeface="프리텐다드"/>
              </a:defRPr>
            </a:pPr>
            <a:r>
              <a:rPr sz="2175" b="1">
                <a:solidFill>
                  <a:srgbClr val="53657B"/>
                </a:solidFill>
                <a:latin typeface="프리텐다드"/>
                <a:ea typeface="프리텐다드"/>
                <a:cs typeface="프리텐다드"/>
              </a:rPr>
              <a:t>발급</a:t>
            </a:r>
          </a:p>
        </p:txBody>
      </p:sp>
      <p:sp>
        <p:nvSpPr>
          <p:cNvPr id="14" name="">
            <a:extLst xmlns:a="http://schemas.openxmlformats.org/drawingml/2006/main">
              <a:ext uri="{FF2B5EF4-FFF2-40B4-BE49-F238E27FC236}">
                <a16:creationId xmlns:a16="http://schemas.microsoft.com/office/drawing/2014/main" id="{D2E959DD-708C-480E-9A06-1485D38B88BF}"/>
              </a:ext>
            </a:extLst>
          </p:cNvPr>
          <p:cNvSpPr>
            <a:spLocks xmlns:a="http://schemas.openxmlformats.org/drawingml/2006/main" noGrp="1"/>
          </p:cNvSpPr>
          <p:nvPr/>
        </p:nvSpPr>
        <p:spPr>
          <a:xfrm xmlns:a="http://schemas.openxmlformats.org/drawingml/2006/main">
            <a:off x="7124700" y="403860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15" name="">
            <a:extLst xmlns:a="http://schemas.openxmlformats.org/drawingml/2006/main">
              <a:ext uri="{FF2B5EF4-FFF2-40B4-BE49-F238E27FC236}">
                <a16:creationId xmlns:a16="http://schemas.microsoft.com/office/drawing/2014/main" id="{B8B287EE-AB65-4D75-84FB-C3D3194F8E86}"/>
              </a:ext>
            </a:extLst>
          </p:cNvPr>
          <p:cNvSpPr>
            <a:spLocks xmlns:a="http://schemas.openxmlformats.org/drawingml/2006/main" noGrp="1"/>
          </p:cNvSpPr>
          <p:nvPr/>
        </p:nvSpPr>
        <p:spPr>
          <a:xfrm xmlns:a="http://schemas.openxmlformats.org/drawingml/2006/main">
            <a:off x="7581900" y="3657600"/>
            <a:ext cx="2857500" cy="1314450"/>
          </a:xfrm>
          <a:prstGeom xmlns:a="http://schemas.openxmlformats.org/drawingml/2006/main" prst="roundRect">
            <a:avLst>
              <a:gd name="adj" fmla="val 14493"/>
            </a:avLst>
          </a:prstGeom>
          <a:solidFill xmlns:a="http://schemas.openxmlformats.org/drawingml/2006/main">
            <a:srgbClr val="F3F6FA"/>
          </a:solidFill>
          <a:ln xmlns:a="http://schemas.openxmlformats.org/drawingml/2006/main" w="14288">
            <a:solidFill>
              <a:srgbClr val="D8E0E9"/>
            </a:solidFill>
            <a:prstDash val="solid"/>
          </a:ln>
        </p:spPr>
      </p:sp>
      <p:sp>
        <p:nvSpPr>
          <p:cNvPr id="16" name="">
            <a:extLst xmlns:a="http://schemas.openxmlformats.org/drawingml/2006/main">
              <a:ext uri="{FF2B5EF4-FFF2-40B4-BE49-F238E27FC236}">
                <a16:creationId xmlns:a16="http://schemas.microsoft.com/office/drawing/2014/main" id="{8065AF59-4132-43B9-A57B-578107882FC7}"/>
              </a:ext>
            </a:extLst>
          </p:cNvPr>
          <p:cNvSpPr>
            <a:spLocks xmlns:a="http://schemas.openxmlformats.org/drawingml/2006/main" noGrp="1"/>
          </p:cNvSpPr>
          <p:nvPr/>
        </p:nvSpPr>
        <p:spPr>
          <a:xfrm xmlns:a="http://schemas.openxmlformats.org/drawingml/2006/main">
            <a:off x="7753350" y="390525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53657B"/>
                </a:solidFill>
                <a:latin typeface="프리텐다드"/>
                <a:ea typeface="프리텐다드"/>
                <a:cs typeface="프리텐다드"/>
              </a:defRPr>
            </a:pPr>
            <a:r>
              <a:rPr sz="2175" b="1">
                <a:solidFill>
                  <a:srgbClr val="53657B"/>
                </a:solidFill>
                <a:latin typeface="프리텐다드"/>
                <a:ea typeface="프리텐다드"/>
                <a:cs typeface="프리텐다드"/>
              </a:rPr>
              <a:t>이동</a:t>
            </a:r>
          </a:p>
        </p:txBody>
      </p:sp>
      <p:sp>
        <p:nvSpPr>
          <p:cNvPr id="17" name="">
            <a:extLst xmlns:a="http://schemas.openxmlformats.org/drawingml/2006/main">
              <a:ext uri="{FF2B5EF4-FFF2-40B4-BE49-F238E27FC236}">
                <a16:creationId xmlns:a16="http://schemas.microsoft.com/office/drawing/2014/main" id="{E4F1B299-08F6-4163-BD25-121537DE8200}"/>
              </a:ext>
            </a:extLst>
          </p:cNvPr>
          <p:cNvSpPr>
            <a:spLocks xmlns:a="http://schemas.openxmlformats.org/drawingml/2006/main" noGrp="1"/>
          </p:cNvSpPr>
          <p:nvPr/>
        </p:nvSpPr>
        <p:spPr>
          <a:xfrm xmlns:a="http://schemas.openxmlformats.org/drawingml/2006/main">
            <a:off x="10401300" y="403860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18" name="">
            <a:extLst xmlns:a="http://schemas.openxmlformats.org/drawingml/2006/main">
              <a:ext uri="{FF2B5EF4-FFF2-40B4-BE49-F238E27FC236}">
                <a16:creationId xmlns:a16="http://schemas.microsoft.com/office/drawing/2014/main" id="{9DE0D60F-9158-4C9F-A87E-5B3964409397}"/>
              </a:ext>
            </a:extLst>
          </p:cNvPr>
          <p:cNvSpPr>
            <a:spLocks xmlns:a="http://schemas.openxmlformats.org/drawingml/2006/main" noGrp="1"/>
          </p:cNvSpPr>
          <p:nvPr/>
        </p:nvSpPr>
        <p:spPr>
          <a:xfrm xmlns:a="http://schemas.openxmlformats.org/drawingml/2006/main">
            <a:off x="10858500" y="3657600"/>
            <a:ext cx="2857500" cy="1314450"/>
          </a:xfrm>
          <a:prstGeom xmlns:a="http://schemas.openxmlformats.org/drawingml/2006/main" prst="roundRect">
            <a:avLst>
              <a:gd name="adj" fmla="val 14493"/>
            </a:avLst>
          </a:prstGeom>
          <a:solidFill xmlns:a="http://schemas.openxmlformats.org/drawingml/2006/main">
            <a:srgbClr val="F3F6FA"/>
          </a:solidFill>
          <a:ln xmlns:a="http://schemas.openxmlformats.org/drawingml/2006/main" w="14288">
            <a:solidFill>
              <a:srgbClr val="D8E0E9"/>
            </a:solidFill>
            <a:prstDash val="solid"/>
          </a:ln>
        </p:spPr>
      </p:sp>
      <p:sp>
        <p:nvSpPr>
          <p:cNvPr id="19" name="">
            <a:extLst xmlns:a="http://schemas.openxmlformats.org/drawingml/2006/main">
              <a:ext uri="{FF2B5EF4-FFF2-40B4-BE49-F238E27FC236}">
                <a16:creationId xmlns:a16="http://schemas.microsoft.com/office/drawing/2014/main" id="{9DFC6462-6F5B-4912-B5E6-3862ED7D01DF}"/>
              </a:ext>
            </a:extLst>
          </p:cNvPr>
          <p:cNvSpPr>
            <a:spLocks xmlns:a="http://schemas.openxmlformats.org/drawingml/2006/main" noGrp="1"/>
          </p:cNvSpPr>
          <p:nvPr/>
        </p:nvSpPr>
        <p:spPr>
          <a:xfrm xmlns:a="http://schemas.openxmlformats.org/drawingml/2006/main">
            <a:off x="11029950" y="390525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53657B"/>
                </a:solidFill>
                <a:latin typeface="프리텐다드"/>
                <a:ea typeface="프리텐다드"/>
                <a:cs typeface="프리텐다드"/>
              </a:defRPr>
            </a:pPr>
            <a:r>
              <a:rPr sz="2175" b="1">
                <a:solidFill>
                  <a:srgbClr val="53657B"/>
                </a:solidFill>
                <a:latin typeface="프리텐다드"/>
                <a:ea typeface="프리텐다드"/>
                <a:cs typeface="프리텐다드"/>
              </a:rPr>
              <a:t>등록</a:t>
            </a:r>
          </a:p>
        </p:txBody>
      </p:sp>
      <p:sp>
        <p:nvSpPr>
          <p:cNvPr id="20" name="">
            <a:extLst xmlns:a="http://schemas.openxmlformats.org/drawingml/2006/main">
              <a:ext uri="{FF2B5EF4-FFF2-40B4-BE49-F238E27FC236}">
                <a16:creationId xmlns:a16="http://schemas.microsoft.com/office/drawing/2014/main" id="{33E1FD44-34AE-45EF-BF90-7B7A3745C4F9}"/>
              </a:ext>
            </a:extLst>
          </p:cNvPr>
          <p:cNvSpPr>
            <a:spLocks xmlns:a="http://schemas.openxmlformats.org/drawingml/2006/main" noGrp="1"/>
          </p:cNvSpPr>
          <p:nvPr/>
        </p:nvSpPr>
        <p:spPr>
          <a:xfrm xmlns:a="http://schemas.openxmlformats.org/drawingml/2006/main">
            <a:off x="13677900" y="403860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21" name="">
            <a:extLst xmlns:a="http://schemas.openxmlformats.org/drawingml/2006/main">
              <a:ext uri="{FF2B5EF4-FFF2-40B4-BE49-F238E27FC236}">
                <a16:creationId xmlns:a16="http://schemas.microsoft.com/office/drawing/2014/main" id="{4B5B31BA-5F6F-4085-8EDD-5EFDB5DF4432}"/>
              </a:ext>
            </a:extLst>
          </p:cNvPr>
          <p:cNvSpPr>
            <a:spLocks xmlns:a="http://schemas.openxmlformats.org/drawingml/2006/main" noGrp="1"/>
          </p:cNvSpPr>
          <p:nvPr/>
        </p:nvSpPr>
        <p:spPr>
          <a:xfrm xmlns:a="http://schemas.openxmlformats.org/drawingml/2006/main">
            <a:off x="14135100" y="3657600"/>
            <a:ext cx="2857500" cy="1314450"/>
          </a:xfrm>
          <a:prstGeom xmlns:a="http://schemas.openxmlformats.org/drawingml/2006/main" prst="roundRect">
            <a:avLst>
              <a:gd name="adj" fmla="val 14493"/>
            </a:avLst>
          </a:prstGeom>
          <a:solidFill xmlns:a="http://schemas.openxmlformats.org/drawingml/2006/main">
            <a:srgbClr val="F3F6FA"/>
          </a:solidFill>
          <a:ln xmlns:a="http://schemas.openxmlformats.org/drawingml/2006/main" w="14288">
            <a:solidFill>
              <a:srgbClr val="D8E0E9"/>
            </a:solidFill>
            <a:prstDash val="solid"/>
          </a:ln>
        </p:spPr>
      </p:sp>
      <p:sp>
        <p:nvSpPr>
          <p:cNvPr id="22" name="">
            <a:extLst xmlns:a="http://schemas.openxmlformats.org/drawingml/2006/main">
              <a:ext uri="{FF2B5EF4-FFF2-40B4-BE49-F238E27FC236}">
                <a16:creationId xmlns:a16="http://schemas.microsoft.com/office/drawing/2014/main" id="{899CDD60-6EB5-4362-BF33-C62C0FAC1928}"/>
              </a:ext>
            </a:extLst>
          </p:cNvPr>
          <p:cNvSpPr>
            <a:spLocks xmlns:a="http://schemas.openxmlformats.org/drawingml/2006/main" noGrp="1"/>
          </p:cNvSpPr>
          <p:nvPr/>
        </p:nvSpPr>
        <p:spPr>
          <a:xfrm xmlns:a="http://schemas.openxmlformats.org/drawingml/2006/main">
            <a:off x="14306550" y="390525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53657B"/>
                </a:solidFill>
                <a:latin typeface="프리텐다드"/>
                <a:ea typeface="프리텐다드"/>
                <a:cs typeface="프리텐다드"/>
              </a:defRPr>
            </a:pPr>
            <a:r>
              <a:rPr sz="2175" b="1">
                <a:solidFill>
                  <a:srgbClr val="53657B"/>
                </a:solidFill>
                <a:latin typeface="프리텐다드"/>
                <a:ea typeface="프리텐다드"/>
                <a:cs typeface="프리텐다드"/>
              </a:rPr>
              <a:t>확인</a:t>
            </a:r>
          </a:p>
        </p:txBody>
      </p:sp>
      <p:sp>
        <p:nvSpPr>
          <p:cNvPr id="23" name="">
            <a:extLst xmlns:a="http://schemas.openxmlformats.org/drawingml/2006/main">
              <a:ext uri="{FF2B5EF4-FFF2-40B4-BE49-F238E27FC236}">
                <a16:creationId xmlns:a16="http://schemas.microsoft.com/office/drawing/2014/main" id="{AAF80066-28A2-4390-8692-D1B438361CBA}"/>
              </a:ext>
            </a:extLst>
          </p:cNvPr>
          <p:cNvSpPr>
            <a:spLocks xmlns:a="http://schemas.openxmlformats.org/drawingml/2006/main" noGrp="1"/>
          </p:cNvSpPr>
          <p:nvPr/>
        </p:nvSpPr>
        <p:spPr>
          <a:xfrm xmlns:a="http://schemas.openxmlformats.org/drawingml/2006/main">
            <a:off x="1028700" y="5448300"/>
            <a:ext cx="304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1">
                <a:solidFill>
                  <a:srgbClr val="2F68B5"/>
                </a:solidFill>
                <a:latin typeface="프리텐다드"/>
                <a:ea typeface="프리텐다드"/>
                <a:cs typeface="프리텐다드"/>
              </a:defRPr>
            </a:pPr>
            <a:r>
              <a:rPr sz="1800" b="1">
                <a:solidFill>
                  <a:srgbClr val="2F68B5"/>
                </a:solidFill>
                <a:latin typeface="프리텐다드"/>
                <a:ea typeface="프리텐다드"/>
                <a:cs typeface="프리텐다드"/>
              </a:rPr>
              <a:t>Medi Q PoC</a:t>
            </a:r>
          </a:p>
        </p:txBody>
      </p:sp>
      <p:sp>
        <p:nvSpPr>
          <p:cNvPr id="24" name="">
            <a:extLst xmlns:a="http://schemas.openxmlformats.org/drawingml/2006/main">
              <a:ext uri="{FF2B5EF4-FFF2-40B4-BE49-F238E27FC236}">
                <a16:creationId xmlns:a16="http://schemas.microsoft.com/office/drawing/2014/main" id="{9C1D58B1-72D0-448D-A2BC-9A4D4931471B}"/>
              </a:ext>
            </a:extLst>
          </p:cNvPr>
          <p:cNvSpPr>
            <a:spLocks xmlns:a="http://schemas.openxmlformats.org/drawingml/2006/main" noGrp="1"/>
          </p:cNvSpPr>
          <p:nvPr/>
        </p:nvSpPr>
        <p:spPr>
          <a:xfrm xmlns:a="http://schemas.openxmlformats.org/drawingml/2006/main">
            <a:off x="1028700" y="5962650"/>
            <a:ext cx="2857500" cy="1314450"/>
          </a:xfrm>
          <a:prstGeom xmlns:a="http://schemas.openxmlformats.org/drawingml/2006/main" prst="roundRect">
            <a:avLst>
              <a:gd name="adj" fmla="val 14493"/>
            </a:avLst>
          </a:prstGeom>
          <a:solidFill xmlns:a="http://schemas.openxmlformats.org/drawingml/2006/main">
            <a:srgbClr val="0B2342"/>
          </a:solidFill>
          <a:ln xmlns:a="http://schemas.openxmlformats.org/drawingml/2006/main" w="14288">
            <a:solidFill>
              <a:srgbClr val="0B2342"/>
            </a:solidFill>
            <a:prstDash val="solid"/>
          </a:ln>
        </p:spPr>
      </p:sp>
      <p:sp>
        <p:nvSpPr>
          <p:cNvPr id="25" name="">
            <a:extLst xmlns:a="http://schemas.openxmlformats.org/drawingml/2006/main">
              <a:ext uri="{FF2B5EF4-FFF2-40B4-BE49-F238E27FC236}">
                <a16:creationId xmlns:a16="http://schemas.microsoft.com/office/drawing/2014/main" id="{DB01F080-0840-4DC7-90DF-4B189DEFDC95}"/>
              </a:ext>
            </a:extLst>
          </p:cNvPr>
          <p:cNvSpPr>
            <a:spLocks xmlns:a="http://schemas.openxmlformats.org/drawingml/2006/main" noGrp="1"/>
          </p:cNvSpPr>
          <p:nvPr/>
        </p:nvSpPr>
        <p:spPr>
          <a:xfrm xmlns:a="http://schemas.openxmlformats.org/drawingml/2006/main">
            <a:off x="1200150" y="62103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동의</a:t>
            </a:r>
          </a:p>
        </p:txBody>
      </p:sp>
      <p:sp>
        <p:nvSpPr>
          <p:cNvPr id="26" name="">
            <a:extLst xmlns:a="http://schemas.openxmlformats.org/drawingml/2006/main">
              <a:ext uri="{FF2B5EF4-FFF2-40B4-BE49-F238E27FC236}">
                <a16:creationId xmlns:a16="http://schemas.microsoft.com/office/drawing/2014/main" id="{E605CD91-DE5A-48E4-8D8E-52C57B11D82C}"/>
              </a:ext>
            </a:extLst>
          </p:cNvPr>
          <p:cNvSpPr>
            <a:spLocks xmlns:a="http://schemas.openxmlformats.org/drawingml/2006/main" noGrp="1"/>
          </p:cNvSpPr>
          <p:nvPr/>
        </p:nvSpPr>
        <p:spPr>
          <a:xfrm xmlns:a="http://schemas.openxmlformats.org/drawingml/2006/main">
            <a:off x="3848100" y="634365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55C2D8"/>
                </a:solidFill>
                <a:latin typeface="프리텐다드"/>
                <a:ea typeface="프리텐다드"/>
                <a:cs typeface="프리텐다드"/>
              </a:defRPr>
            </a:pPr>
            <a:r>
              <a:rPr sz="2700" b="1">
                <a:solidFill>
                  <a:srgbClr val="55C2D8"/>
                </a:solidFill>
                <a:latin typeface="프리텐다드"/>
                <a:ea typeface="프리텐다드"/>
                <a:cs typeface="프리텐다드"/>
              </a:rPr>
              <a:t>→</a:t>
            </a:r>
          </a:p>
        </p:txBody>
      </p:sp>
      <p:sp>
        <p:nvSpPr>
          <p:cNvPr id="27" name="">
            <a:extLst xmlns:a="http://schemas.openxmlformats.org/drawingml/2006/main">
              <a:ext uri="{FF2B5EF4-FFF2-40B4-BE49-F238E27FC236}">
                <a16:creationId xmlns:a16="http://schemas.microsoft.com/office/drawing/2014/main" id="{D303B096-60BE-460E-B597-C59DE387267A}"/>
              </a:ext>
            </a:extLst>
          </p:cNvPr>
          <p:cNvSpPr>
            <a:spLocks xmlns:a="http://schemas.openxmlformats.org/drawingml/2006/main" noGrp="1"/>
          </p:cNvSpPr>
          <p:nvPr/>
        </p:nvSpPr>
        <p:spPr>
          <a:xfrm xmlns:a="http://schemas.openxmlformats.org/drawingml/2006/main">
            <a:off x="4305300" y="5962650"/>
            <a:ext cx="2857500" cy="1314450"/>
          </a:xfrm>
          <a:prstGeom xmlns:a="http://schemas.openxmlformats.org/drawingml/2006/main" prst="roundRect">
            <a:avLst>
              <a:gd name="adj" fmla="val 14493"/>
            </a:avLst>
          </a:prstGeom>
          <a:solidFill xmlns:a="http://schemas.openxmlformats.org/drawingml/2006/main">
            <a:srgbClr val="0B2342"/>
          </a:solidFill>
          <a:ln xmlns:a="http://schemas.openxmlformats.org/drawingml/2006/main" w="14288">
            <a:solidFill>
              <a:srgbClr val="0B2342"/>
            </a:solidFill>
            <a:prstDash val="solid"/>
          </a:ln>
        </p:spPr>
      </p:sp>
      <p:sp>
        <p:nvSpPr>
          <p:cNvPr id="28" name="">
            <a:extLst xmlns:a="http://schemas.openxmlformats.org/drawingml/2006/main">
              <a:ext uri="{FF2B5EF4-FFF2-40B4-BE49-F238E27FC236}">
                <a16:creationId xmlns:a16="http://schemas.microsoft.com/office/drawing/2014/main" id="{FD97167D-EF6B-4BEC-A430-B7A2FA436721}"/>
              </a:ext>
            </a:extLst>
          </p:cNvPr>
          <p:cNvSpPr>
            <a:spLocks xmlns:a="http://schemas.openxmlformats.org/drawingml/2006/main" noGrp="1"/>
          </p:cNvSpPr>
          <p:nvPr/>
        </p:nvSpPr>
        <p:spPr>
          <a:xfrm xmlns:a="http://schemas.openxmlformats.org/drawingml/2006/main">
            <a:off x="4476750" y="62103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정책</a:t>
            </a:r>
          </a:p>
        </p:txBody>
      </p:sp>
      <p:sp>
        <p:nvSpPr>
          <p:cNvPr id="29" name="">
            <a:extLst xmlns:a="http://schemas.openxmlformats.org/drawingml/2006/main">
              <a:ext uri="{FF2B5EF4-FFF2-40B4-BE49-F238E27FC236}">
                <a16:creationId xmlns:a16="http://schemas.microsoft.com/office/drawing/2014/main" id="{118ABF38-981B-44C8-BDED-F305FF5AF66C}"/>
              </a:ext>
            </a:extLst>
          </p:cNvPr>
          <p:cNvSpPr>
            <a:spLocks xmlns:a="http://schemas.openxmlformats.org/drawingml/2006/main" noGrp="1"/>
          </p:cNvSpPr>
          <p:nvPr/>
        </p:nvSpPr>
        <p:spPr>
          <a:xfrm xmlns:a="http://schemas.openxmlformats.org/drawingml/2006/main">
            <a:off x="7124700" y="634365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55C2D8"/>
                </a:solidFill>
                <a:latin typeface="프리텐다드"/>
                <a:ea typeface="프리텐다드"/>
                <a:cs typeface="프리텐다드"/>
              </a:defRPr>
            </a:pPr>
            <a:r>
              <a:rPr sz="2700" b="1">
                <a:solidFill>
                  <a:srgbClr val="55C2D8"/>
                </a:solidFill>
                <a:latin typeface="프리텐다드"/>
                <a:ea typeface="프리텐다드"/>
                <a:cs typeface="프리텐다드"/>
              </a:rPr>
              <a:t>→</a:t>
            </a:r>
          </a:p>
        </p:txBody>
      </p:sp>
      <p:sp>
        <p:nvSpPr>
          <p:cNvPr id="30" name="">
            <a:extLst xmlns:a="http://schemas.openxmlformats.org/drawingml/2006/main">
              <a:ext uri="{FF2B5EF4-FFF2-40B4-BE49-F238E27FC236}">
                <a16:creationId xmlns:a16="http://schemas.microsoft.com/office/drawing/2014/main" id="{CF2D4EBF-54B3-4F4B-BD65-52F0CC23F025}"/>
              </a:ext>
            </a:extLst>
          </p:cNvPr>
          <p:cNvSpPr>
            <a:spLocks xmlns:a="http://schemas.openxmlformats.org/drawingml/2006/main" noGrp="1"/>
          </p:cNvSpPr>
          <p:nvPr/>
        </p:nvSpPr>
        <p:spPr>
          <a:xfrm xmlns:a="http://schemas.openxmlformats.org/drawingml/2006/main">
            <a:off x="7581900" y="5962650"/>
            <a:ext cx="2857500" cy="1314450"/>
          </a:xfrm>
          <a:prstGeom xmlns:a="http://schemas.openxmlformats.org/drawingml/2006/main" prst="roundRect">
            <a:avLst>
              <a:gd name="adj" fmla="val 14493"/>
            </a:avLst>
          </a:prstGeom>
          <a:solidFill xmlns:a="http://schemas.openxmlformats.org/drawingml/2006/main">
            <a:srgbClr val="0B2342"/>
          </a:solidFill>
          <a:ln xmlns:a="http://schemas.openxmlformats.org/drawingml/2006/main" w="14288">
            <a:solidFill>
              <a:srgbClr val="0B2342"/>
            </a:solidFill>
            <a:prstDash val="solid"/>
          </a:ln>
        </p:spPr>
      </p:sp>
      <p:sp>
        <p:nvSpPr>
          <p:cNvPr id="31" name="">
            <a:extLst xmlns:a="http://schemas.openxmlformats.org/drawingml/2006/main">
              <a:ext uri="{FF2B5EF4-FFF2-40B4-BE49-F238E27FC236}">
                <a16:creationId xmlns:a16="http://schemas.microsoft.com/office/drawing/2014/main" id="{D35166C0-5898-4AC8-BC1A-B1F1EEB5BFF8}"/>
              </a:ext>
            </a:extLst>
          </p:cNvPr>
          <p:cNvSpPr>
            <a:spLocks xmlns:a="http://schemas.openxmlformats.org/drawingml/2006/main" noGrp="1"/>
          </p:cNvSpPr>
          <p:nvPr/>
        </p:nvSpPr>
        <p:spPr>
          <a:xfrm xmlns:a="http://schemas.openxmlformats.org/drawingml/2006/main">
            <a:off x="7753350" y="62103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토큰</a:t>
            </a:r>
          </a:p>
        </p:txBody>
      </p:sp>
      <p:sp>
        <p:nvSpPr>
          <p:cNvPr id="32" name="">
            <a:extLst xmlns:a="http://schemas.openxmlformats.org/drawingml/2006/main">
              <a:ext uri="{FF2B5EF4-FFF2-40B4-BE49-F238E27FC236}">
                <a16:creationId xmlns:a16="http://schemas.microsoft.com/office/drawing/2014/main" id="{7A8460F4-E8AA-4C47-A93F-2EDBE6E88D18}"/>
              </a:ext>
            </a:extLst>
          </p:cNvPr>
          <p:cNvSpPr>
            <a:spLocks xmlns:a="http://schemas.openxmlformats.org/drawingml/2006/main" noGrp="1"/>
          </p:cNvSpPr>
          <p:nvPr/>
        </p:nvSpPr>
        <p:spPr>
          <a:xfrm xmlns:a="http://schemas.openxmlformats.org/drawingml/2006/main">
            <a:off x="10401300" y="634365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55C2D8"/>
                </a:solidFill>
                <a:latin typeface="프리텐다드"/>
                <a:ea typeface="프리텐다드"/>
                <a:cs typeface="프리텐다드"/>
              </a:defRPr>
            </a:pPr>
            <a:r>
              <a:rPr sz="2700" b="1">
                <a:solidFill>
                  <a:srgbClr val="55C2D8"/>
                </a:solidFill>
                <a:latin typeface="프리텐다드"/>
                <a:ea typeface="프리텐다드"/>
                <a:cs typeface="프리텐다드"/>
              </a:rPr>
              <a:t>→</a:t>
            </a:r>
          </a:p>
        </p:txBody>
      </p:sp>
      <p:sp>
        <p:nvSpPr>
          <p:cNvPr id="33" name="">
            <a:extLst xmlns:a="http://schemas.openxmlformats.org/drawingml/2006/main">
              <a:ext uri="{FF2B5EF4-FFF2-40B4-BE49-F238E27FC236}">
                <a16:creationId xmlns:a16="http://schemas.microsoft.com/office/drawing/2014/main" id="{BEF1E793-70EC-40B1-8E2C-D0AF097FB417}"/>
              </a:ext>
            </a:extLst>
          </p:cNvPr>
          <p:cNvSpPr>
            <a:spLocks xmlns:a="http://schemas.openxmlformats.org/drawingml/2006/main" noGrp="1"/>
          </p:cNvSpPr>
          <p:nvPr/>
        </p:nvSpPr>
        <p:spPr>
          <a:xfrm xmlns:a="http://schemas.openxmlformats.org/drawingml/2006/main">
            <a:off x="10858500" y="5962650"/>
            <a:ext cx="2857500" cy="1314450"/>
          </a:xfrm>
          <a:prstGeom xmlns:a="http://schemas.openxmlformats.org/drawingml/2006/main" prst="roundRect">
            <a:avLst>
              <a:gd name="adj" fmla="val 14493"/>
            </a:avLst>
          </a:prstGeom>
          <a:solidFill xmlns:a="http://schemas.openxmlformats.org/drawingml/2006/main">
            <a:srgbClr val="0B2342"/>
          </a:solidFill>
          <a:ln xmlns:a="http://schemas.openxmlformats.org/drawingml/2006/main" w="14288">
            <a:solidFill>
              <a:srgbClr val="0B2342"/>
            </a:solidFill>
            <a:prstDash val="solid"/>
          </a:ln>
        </p:spPr>
      </p:sp>
      <p:sp>
        <p:nvSpPr>
          <p:cNvPr id="34" name="">
            <a:extLst xmlns:a="http://schemas.openxmlformats.org/drawingml/2006/main">
              <a:ext uri="{FF2B5EF4-FFF2-40B4-BE49-F238E27FC236}">
                <a16:creationId xmlns:a16="http://schemas.microsoft.com/office/drawing/2014/main" id="{ADB17C97-89D2-4504-A020-46BC69501839}"/>
              </a:ext>
            </a:extLst>
          </p:cNvPr>
          <p:cNvSpPr>
            <a:spLocks xmlns:a="http://schemas.openxmlformats.org/drawingml/2006/main" noGrp="1"/>
          </p:cNvSpPr>
          <p:nvPr/>
        </p:nvSpPr>
        <p:spPr>
          <a:xfrm xmlns:a="http://schemas.openxmlformats.org/drawingml/2006/main">
            <a:off x="11029950" y="62103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Gateway</a:t>
            </a:r>
          </a:p>
        </p:txBody>
      </p:sp>
      <p:sp>
        <p:nvSpPr>
          <p:cNvPr id="35" name="">
            <a:extLst xmlns:a="http://schemas.openxmlformats.org/drawingml/2006/main">
              <a:ext uri="{FF2B5EF4-FFF2-40B4-BE49-F238E27FC236}">
                <a16:creationId xmlns:a16="http://schemas.microsoft.com/office/drawing/2014/main" id="{9A7442B7-8C94-40E4-8511-3180CAFE8A6D}"/>
              </a:ext>
            </a:extLst>
          </p:cNvPr>
          <p:cNvSpPr>
            <a:spLocks xmlns:a="http://schemas.openxmlformats.org/drawingml/2006/main" noGrp="1"/>
          </p:cNvSpPr>
          <p:nvPr/>
        </p:nvSpPr>
        <p:spPr>
          <a:xfrm xmlns:a="http://schemas.openxmlformats.org/drawingml/2006/main">
            <a:off x="13677900" y="6343650"/>
            <a:ext cx="4572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7610"/>
          </a:bodyPr>
          <a:lstStyle xmlns:a="http://schemas.openxmlformats.org/drawingml/2006/main"/>
          <a:p xmlns:a="http://schemas.openxmlformats.org/drawingml/2006/main">
            <a:pPr algn="ctr">
              <a:defRPr sz="2700" b="1">
                <a:solidFill>
                  <a:srgbClr val="55C2D8"/>
                </a:solidFill>
                <a:latin typeface="프리텐다드"/>
                <a:ea typeface="프리텐다드"/>
                <a:cs typeface="프리텐다드"/>
              </a:defRPr>
            </a:pPr>
            <a:r>
              <a:rPr sz="2700" b="1">
                <a:solidFill>
                  <a:srgbClr val="55C2D8"/>
                </a:solidFill>
                <a:latin typeface="프리텐다드"/>
                <a:ea typeface="프리텐다드"/>
                <a:cs typeface="프리텐다드"/>
              </a:rPr>
              <a:t>→</a:t>
            </a:r>
          </a:p>
        </p:txBody>
      </p:sp>
      <p:sp>
        <p:nvSpPr>
          <p:cNvPr id="36" name="">
            <a:extLst xmlns:a="http://schemas.openxmlformats.org/drawingml/2006/main">
              <a:ext uri="{FF2B5EF4-FFF2-40B4-BE49-F238E27FC236}">
                <a16:creationId xmlns:a16="http://schemas.microsoft.com/office/drawing/2014/main" id="{CA6B4C61-F433-471C-94F2-B46952E067FB}"/>
              </a:ext>
            </a:extLst>
          </p:cNvPr>
          <p:cNvSpPr>
            <a:spLocks xmlns:a="http://schemas.openxmlformats.org/drawingml/2006/main" noGrp="1"/>
          </p:cNvSpPr>
          <p:nvPr/>
        </p:nvSpPr>
        <p:spPr>
          <a:xfrm xmlns:a="http://schemas.openxmlformats.org/drawingml/2006/main">
            <a:off x="14135100" y="5962650"/>
            <a:ext cx="2857500" cy="1314450"/>
          </a:xfrm>
          <a:prstGeom xmlns:a="http://schemas.openxmlformats.org/drawingml/2006/main" prst="roundRect">
            <a:avLst>
              <a:gd name="adj" fmla="val 14493"/>
            </a:avLst>
          </a:prstGeom>
          <a:solidFill xmlns:a="http://schemas.openxmlformats.org/drawingml/2006/main">
            <a:srgbClr val="0B2342"/>
          </a:solidFill>
          <a:ln xmlns:a="http://schemas.openxmlformats.org/drawingml/2006/main" w="14288">
            <a:solidFill>
              <a:srgbClr val="0B2342"/>
            </a:solidFill>
            <a:prstDash val="solid"/>
          </a:ln>
        </p:spPr>
      </p:sp>
      <p:sp>
        <p:nvSpPr>
          <p:cNvPr id="37" name="">
            <a:extLst xmlns:a="http://schemas.openxmlformats.org/drawingml/2006/main">
              <a:ext uri="{FF2B5EF4-FFF2-40B4-BE49-F238E27FC236}">
                <a16:creationId xmlns:a16="http://schemas.microsoft.com/office/drawing/2014/main" id="{F7A83EE3-3AC3-4C21-A130-A0B0771FABE2}"/>
              </a:ext>
            </a:extLst>
          </p:cNvPr>
          <p:cNvSpPr>
            <a:spLocks xmlns:a="http://schemas.openxmlformats.org/drawingml/2006/main" noGrp="1"/>
          </p:cNvSpPr>
          <p:nvPr/>
        </p:nvSpPr>
        <p:spPr>
          <a:xfrm xmlns:a="http://schemas.openxmlformats.org/drawingml/2006/main">
            <a:off x="14306550" y="6210300"/>
            <a:ext cx="2514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감사</a:t>
            </a:r>
          </a:p>
        </p:txBody>
      </p:sp>
      <p:sp>
        <p:nvSpPr>
          <p:cNvPr id="38" name="">
            <a:extLst xmlns:a="http://schemas.openxmlformats.org/drawingml/2006/main">
              <a:ext uri="{FF2B5EF4-FFF2-40B4-BE49-F238E27FC236}">
                <a16:creationId xmlns:a16="http://schemas.microsoft.com/office/drawing/2014/main" id="{6A36BF75-0497-489E-8ACE-4980CA7A0E56}"/>
              </a:ext>
            </a:extLst>
          </p:cNvPr>
          <p:cNvSpPr>
            <a:spLocks xmlns:a="http://schemas.openxmlformats.org/drawingml/2006/main" noGrp="1"/>
          </p:cNvSpPr>
          <p:nvPr/>
        </p:nvSpPr>
        <p:spPr>
          <a:xfrm xmlns:a="http://schemas.openxmlformats.org/drawingml/2006/main">
            <a:off x="1028700" y="7962900"/>
            <a:ext cx="16230600" cy="952500"/>
          </a:xfrm>
          <a:prstGeom xmlns:a="http://schemas.openxmlformats.org/drawingml/2006/main" prst="roundRect">
            <a:avLst>
              <a:gd name="adj" fmla="val 20000"/>
            </a:avLst>
          </a:prstGeom>
          <a:solidFill xmlns:a="http://schemas.openxmlformats.org/drawingml/2006/main">
            <a:srgbClr val="E9F1FC"/>
          </a:solidFill>
          <a:ln xmlns:a="http://schemas.openxmlformats.org/drawingml/2006/main" w="14288">
            <a:solidFill>
              <a:srgbClr val="D8E0E9"/>
            </a:solidFill>
            <a:prstDash val="solid"/>
          </a:ln>
        </p:spPr>
      </p:sp>
      <p:sp>
        <p:nvSpPr>
          <p:cNvPr id="39" name="">
            <a:extLst xmlns:a="http://schemas.openxmlformats.org/drawingml/2006/main">
              <a:ext uri="{FF2B5EF4-FFF2-40B4-BE49-F238E27FC236}">
                <a16:creationId xmlns:a16="http://schemas.microsoft.com/office/drawing/2014/main" id="{7C570187-4C05-407E-92DA-ADA3103D8E9B}"/>
              </a:ext>
            </a:extLst>
          </p:cNvPr>
          <p:cNvSpPr>
            <a:spLocks xmlns:a="http://schemas.openxmlformats.org/drawingml/2006/main" noGrp="1"/>
          </p:cNvSpPr>
          <p:nvPr/>
        </p:nvSpPr>
        <p:spPr>
          <a:xfrm xmlns:a="http://schemas.openxmlformats.org/drawingml/2006/main">
            <a:off x="1314450" y="8134350"/>
            <a:ext cx="15621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75" b="1">
                <a:solidFill>
                  <a:srgbClr val="0B2342"/>
                </a:solidFill>
                <a:latin typeface="프리텐다드"/>
                <a:ea typeface="프리텐다드"/>
                <a:cs typeface="프리텐다드"/>
              </a:defRPr>
            </a:pPr>
            <a:r>
              <a:rPr sz="1875" b="1">
                <a:solidFill>
                  <a:srgbClr val="0B2342"/>
                </a:solidFill>
                <a:latin typeface="프리텐다드"/>
                <a:ea typeface="프리텐다드"/>
                <a:cs typeface="프리텐다드"/>
              </a:rPr>
              <a:t>시연으로 입증한 것은 승인 범위·단건 수신·해시 재조회입니다. ‘재촬영 감소’는 목표이지 측정 결과가 아닙니다.</a:t>
            </a:r>
          </a:p>
        </p:txBody>
      </p:sp>
      <p:sp>
        <p:nvSpPr>
          <p:cNvPr id="40" name="">
            <a:extLst xmlns:a="http://schemas.openxmlformats.org/drawingml/2006/main">
              <a:ext uri="{FF2B5EF4-FFF2-40B4-BE49-F238E27FC236}">
                <a16:creationId xmlns:a16="http://schemas.microsoft.com/office/drawing/2014/main" id="{383CD80C-F862-4C8F-92D8-5F654713AA3D}"/>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940E658-BEE0-4221-9AAB-70CCFF488F2B}"/>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42" name="">
            <a:extLst xmlns:a="http://schemas.openxmlformats.org/drawingml/2006/main">
              <a:ext uri="{FF2B5EF4-FFF2-40B4-BE49-F238E27FC236}">
                <a16:creationId xmlns:a16="http://schemas.microsoft.com/office/drawing/2014/main" id="{64CC60A8-470C-4232-9B96-DE9FD55E0AC6}"/>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11  /  22</a:t>
            </a:r>
          </a:p>
        </p:txBody>
      </p:sp>
    </p:spTree>
    <p:extLst>
      <p:ext uri="{BB962C8B-B14F-4D97-AF65-F5344CB8AC3E}">
        <p14:creationId xmlns:p14="http://schemas.microsoft.com/office/powerpoint/2010/main" val="3907151258"/>
      </p:ext>
    </p:extLst>
  </p:cSld>
</p:sld>
</file>

<file path=ppt/slides/slide12.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925586DE-E615-4EB6-B62F-5E4350EA2476}"/>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CD2B627-0058-4C36-BBAA-3C06996DBB0B}"/>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548FD29-488B-4AB2-9A92-AADCD9E7038F}"/>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E5016D-A47B-426D-9F70-1F853210F396}"/>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SYSTEM DESIGN</a:t>
            </a:r>
          </a:p>
        </p:txBody>
      </p:sp>
      <p:sp>
        <p:nvSpPr>
          <p:cNvPr id="5" name="">
            <a:extLst xmlns:a="http://schemas.openxmlformats.org/drawingml/2006/main">
              <a:ext uri="{FF2B5EF4-FFF2-40B4-BE49-F238E27FC236}">
                <a16:creationId xmlns:a16="http://schemas.microsoft.com/office/drawing/2014/main" id="{2F595C0A-7892-4094-8EC4-C95636F19CE9}"/>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권한은 Azure에서, 원본은 병원에서</a:t>
            </a:r>
          </a:p>
        </p:txBody>
      </p:sp>
      <p:sp>
        <p:nvSpPr>
          <p:cNvPr id="6" name="">
            <a:extLst xmlns:a="http://schemas.openxmlformats.org/drawingml/2006/main">
              <a:ext uri="{FF2B5EF4-FFF2-40B4-BE49-F238E27FC236}">
                <a16:creationId xmlns:a16="http://schemas.microsoft.com/office/drawing/2014/main" id="{08CBCD54-3BDA-449F-B0F8-64F27111E539}"/>
              </a:ext>
            </a:extLst>
          </p:cNvPr>
          <p:cNvSpPr>
            <a:spLocks xmlns:a="http://schemas.openxmlformats.org/drawingml/2006/main" noGrp="1"/>
          </p:cNvSpPr>
          <p:nvPr/>
        </p:nvSpPr>
        <p:spPr>
          <a:xfrm xmlns:a="http://schemas.openxmlformats.org/drawingml/2006/main">
            <a:off x="1028700" y="2638425"/>
            <a:ext cx="11811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합성 테스트 환경의 제어 경로와 영상 경로를 분리해 봅니다.</a:t>
            </a:r>
          </a:p>
        </p:txBody>
      </p:sp>
      <p:sp>
        <p:nvSpPr>
          <p:cNvPr id="7" name="">
            <a:extLst xmlns:a="http://schemas.openxmlformats.org/drawingml/2006/main">
              <a:ext uri="{FF2B5EF4-FFF2-40B4-BE49-F238E27FC236}">
                <a16:creationId xmlns:a16="http://schemas.microsoft.com/office/drawing/2014/main" id="{B6047A38-EF8B-4100-99F2-C464AFDF219C}"/>
              </a:ext>
            </a:extLst>
          </p:cNvPr>
          <p:cNvSpPr>
            <a:spLocks xmlns:a="http://schemas.openxmlformats.org/drawingml/2006/main" noGrp="1"/>
          </p:cNvSpPr>
          <p:nvPr/>
        </p:nvSpPr>
        <p:spPr>
          <a:xfrm xmlns:a="http://schemas.openxmlformats.org/drawingml/2006/main">
            <a:off x="13658850" y="2647950"/>
            <a:ext cx="360045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7FB3B4-F2B6-4273-85E2-F39725F769F7}"/>
              </a:ext>
            </a:extLst>
          </p:cNvPr>
          <p:cNvSpPr>
            <a:spLocks xmlns:a="http://schemas.openxmlformats.org/drawingml/2006/main" noGrp="1"/>
          </p:cNvSpPr>
          <p:nvPr/>
        </p:nvSpPr>
        <p:spPr>
          <a:xfrm xmlns:a="http://schemas.openxmlformats.org/drawingml/2006/main">
            <a:off x="13716000" y="2657475"/>
            <a:ext cx="34861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테스트 병원 · 비임상 PoC</a:t>
            </a:r>
          </a:p>
        </p:txBody>
      </p:sp>
      <p:sp>
        <p:nvSpPr>
          <p:cNvPr id="9" name="">
            <a:extLst xmlns:a="http://schemas.openxmlformats.org/drawingml/2006/main">
              <a:ext uri="{FF2B5EF4-FFF2-40B4-BE49-F238E27FC236}">
                <a16:creationId xmlns:a16="http://schemas.microsoft.com/office/drawing/2014/main" id="{2C1D07C1-81BC-44DC-82DE-8F52C01FADA2}"/>
              </a:ext>
            </a:extLst>
          </p:cNvPr>
          <p:cNvSpPr>
            <a:spLocks xmlns:a="http://schemas.openxmlformats.org/drawingml/2006/main" noGrp="1"/>
          </p:cNvSpPr>
          <p:nvPr/>
        </p:nvSpPr>
        <p:spPr>
          <a:xfrm xmlns:a="http://schemas.openxmlformats.org/drawingml/2006/main">
            <a:off x="1028700" y="3333750"/>
            <a:ext cx="2362200" cy="3657600"/>
          </a:xfrm>
          <a:prstGeom xmlns:a="http://schemas.openxmlformats.org/drawingml/2006/main" prst="roundRect">
            <a:avLst>
              <a:gd name="adj" fmla="val 5645"/>
            </a:avLst>
          </a:prstGeom>
          <a:solidFill xmlns:a="http://schemas.openxmlformats.org/drawingml/2006/main">
            <a:srgbClr val="F3F6FA"/>
          </a:solidFill>
          <a:ln xmlns:a="http://schemas.openxmlformats.org/drawingml/2006/main" w="14288">
            <a:solidFill>
              <a:srgbClr val="D8E0E9"/>
            </a:solidFill>
            <a:prstDash val="solid"/>
          </a:ln>
        </p:spPr>
      </p:sp>
      <p:sp>
        <p:nvSpPr>
          <p:cNvPr id="10" name="">
            <a:extLst xmlns:a="http://schemas.openxmlformats.org/drawingml/2006/main">
              <a:ext uri="{FF2B5EF4-FFF2-40B4-BE49-F238E27FC236}">
                <a16:creationId xmlns:a16="http://schemas.microsoft.com/office/drawing/2014/main" id="{E72E4DF6-A02A-459E-B91F-E54CA7125CC9}"/>
              </a:ext>
            </a:extLst>
          </p:cNvPr>
          <p:cNvSpPr>
            <a:spLocks xmlns:a="http://schemas.openxmlformats.org/drawingml/2006/main" noGrp="1"/>
          </p:cNvSpPr>
          <p:nvPr/>
        </p:nvSpPr>
        <p:spPr>
          <a:xfrm xmlns:a="http://schemas.openxmlformats.org/drawingml/2006/main">
            <a:off x="1219200" y="3448050"/>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1">
                <a:solidFill>
                  <a:srgbClr val="17263A"/>
                </a:solidFill>
                <a:latin typeface="프리텐다드"/>
                <a:ea typeface="프리텐다드"/>
                <a:cs typeface="프리텐다드"/>
              </a:defRPr>
            </a:pPr>
            <a:r>
              <a:rPr sz="1800" b="1">
                <a:solidFill>
                  <a:srgbClr val="17263A"/>
                </a:solidFill>
                <a:latin typeface="프리텐다드"/>
                <a:ea typeface="프리텐다드"/>
                <a:cs typeface="프리텐다드"/>
              </a:rPr>
              <a:t>사용자</a:t>
            </a:r>
          </a:p>
        </p:txBody>
      </p:sp>
      <p:sp>
        <p:nvSpPr>
          <p:cNvPr id="11" name="">
            <a:extLst xmlns:a="http://schemas.openxmlformats.org/drawingml/2006/main">
              <a:ext uri="{FF2B5EF4-FFF2-40B4-BE49-F238E27FC236}">
                <a16:creationId xmlns:a16="http://schemas.microsoft.com/office/drawing/2014/main" id="{220F901F-283C-4489-9C4F-8FC79C5F9552}"/>
              </a:ext>
            </a:extLst>
          </p:cNvPr>
          <p:cNvSpPr>
            <a:spLocks xmlns:a="http://schemas.openxmlformats.org/drawingml/2006/main" noGrp="1"/>
          </p:cNvSpPr>
          <p:nvPr/>
        </p:nvSpPr>
        <p:spPr>
          <a:xfrm xmlns:a="http://schemas.openxmlformats.org/drawingml/2006/main">
            <a:off x="1219200" y="3857625"/>
            <a:ext cx="19812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986D269-D270-4F1D-9241-5CE5CED68AF0}"/>
              </a:ext>
            </a:extLst>
          </p:cNvPr>
          <p:cNvSpPr>
            <a:spLocks xmlns:a="http://schemas.openxmlformats.org/drawingml/2006/main" noGrp="1"/>
          </p:cNvSpPr>
          <p:nvPr/>
        </p:nvSpPr>
        <p:spPr>
          <a:xfrm xmlns:a="http://schemas.openxmlformats.org/drawingml/2006/main">
            <a:off x="1200150" y="4048125"/>
            <a:ext cx="2019300" cy="1143000"/>
          </a:xfrm>
          <a:prstGeom xmlns:a="http://schemas.openxmlformats.org/drawingml/2006/main" prst="roundRect">
            <a:avLst>
              <a:gd name="adj" fmla="val 8333"/>
            </a:avLst>
          </a:prstGeom>
          <a:solidFill xmlns:a="http://schemas.openxmlformats.org/drawingml/2006/main">
            <a:srgbClr val="FFFFFF"/>
          </a:solidFill>
          <a:ln xmlns:a="http://schemas.openxmlformats.org/drawingml/2006/main" w="14288">
            <a:solidFill>
              <a:srgbClr val="D8E0E9"/>
            </a:solidFill>
            <a:prstDash val="solid"/>
          </a:ln>
        </p:spPr>
      </p:sp>
      <p:sp>
        <p:nvSpPr>
          <p:cNvPr id="13" name="">
            <a:extLst xmlns:a="http://schemas.openxmlformats.org/drawingml/2006/main">
              <a:ext uri="{FF2B5EF4-FFF2-40B4-BE49-F238E27FC236}">
                <a16:creationId xmlns:a16="http://schemas.microsoft.com/office/drawing/2014/main" id="{B51EE7D9-5117-4A08-BECC-0B1EFFE094AC}"/>
              </a:ext>
            </a:extLst>
          </p:cNvPr>
          <p:cNvSpPr>
            <a:spLocks xmlns:a="http://schemas.openxmlformats.org/drawingml/2006/main" noGrp="1"/>
          </p:cNvSpPr>
          <p:nvPr/>
        </p:nvSpPr>
        <p:spPr>
          <a:xfrm xmlns:a="http://schemas.openxmlformats.org/drawingml/2006/main">
            <a:off x="1362075" y="41719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4203"/>
          </a:bodyPr>
          <a:lstStyle xmlns:a="http://schemas.openxmlformats.org/drawingml/2006/main"/>
          <a:p xmlns:a="http://schemas.openxmlformats.org/drawingml/2006/main">
            <a:pPr algn="l">
              <a:defRPr sz="1725" b="1">
                <a:solidFill>
                  <a:srgbClr val="2F68B5"/>
                </a:solidFill>
                <a:latin typeface="프리텐다드"/>
                <a:ea typeface="프리텐다드"/>
                <a:cs typeface="프리텐다드"/>
              </a:defRPr>
            </a:pPr>
            <a:r>
              <a:rPr sz="1725" b="1">
                <a:solidFill>
                  <a:srgbClr val="2F68B5"/>
                </a:solidFill>
                <a:latin typeface="프리텐다드"/>
                <a:ea typeface="프리텐다드"/>
                <a:cs typeface="프리텐다드"/>
              </a:rPr>
              <a:t>환자</a:t>
            </a:r>
          </a:p>
        </p:txBody>
      </p:sp>
      <p:sp>
        <p:nvSpPr>
          <p:cNvPr id="14" name="">
            <a:extLst xmlns:a="http://schemas.openxmlformats.org/drawingml/2006/main">
              <a:ext uri="{FF2B5EF4-FFF2-40B4-BE49-F238E27FC236}">
                <a16:creationId xmlns:a16="http://schemas.microsoft.com/office/drawing/2014/main" id="{66DD78BA-CA85-44F8-86BC-43FBC3EC5EC2}"/>
              </a:ext>
            </a:extLst>
          </p:cNvPr>
          <p:cNvSpPr>
            <a:spLocks xmlns:a="http://schemas.openxmlformats.org/drawingml/2006/main" noGrp="1"/>
          </p:cNvSpPr>
          <p:nvPr/>
        </p:nvSpPr>
        <p:spPr>
          <a:xfrm xmlns:a="http://schemas.openxmlformats.org/drawingml/2006/main">
            <a:off x="1362075" y="4552950"/>
            <a:ext cx="16954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병원·목적·기간·</a:t>
            </a:r>
          </a:p>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영상 범위를 선택</a:t>
            </a:r>
          </a:p>
        </p:txBody>
      </p:sp>
      <p:sp>
        <p:nvSpPr>
          <p:cNvPr id="15" name="">
            <a:extLst xmlns:a="http://schemas.openxmlformats.org/drawingml/2006/main">
              <a:ext uri="{FF2B5EF4-FFF2-40B4-BE49-F238E27FC236}">
                <a16:creationId xmlns:a16="http://schemas.microsoft.com/office/drawing/2014/main" id="{4048978A-FD0F-4C75-95D7-7FA06E332C7F}"/>
              </a:ext>
            </a:extLst>
          </p:cNvPr>
          <p:cNvSpPr>
            <a:spLocks xmlns:a="http://schemas.openxmlformats.org/drawingml/2006/main" noGrp="1"/>
          </p:cNvSpPr>
          <p:nvPr/>
        </p:nvSpPr>
        <p:spPr>
          <a:xfrm xmlns:a="http://schemas.openxmlformats.org/drawingml/2006/main">
            <a:off x="1200150" y="5381625"/>
            <a:ext cx="2019300" cy="1352550"/>
          </a:xfrm>
          <a:prstGeom xmlns:a="http://schemas.openxmlformats.org/drawingml/2006/main" prst="roundRect">
            <a:avLst>
              <a:gd name="adj" fmla="val 7042"/>
            </a:avLst>
          </a:prstGeom>
          <a:solidFill xmlns:a="http://schemas.openxmlformats.org/drawingml/2006/main">
            <a:srgbClr val="FFFFFF"/>
          </a:solidFill>
          <a:ln xmlns:a="http://schemas.openxmlformats.org/drawingml/2006/main" w="14288">
            <a:solidFill>
              <a:srgbClr val="D8E0E9"/>
            </a:solidFill>
            <a:prstDash val="solid"/>
          </a:ln>
        </p:spPr>
      </p:sp>
      <p:sp>
        <p:nvSpPr>
          <p:cNvPr id="16" name="">
            <a:extLst xmlns:a="http://schemas.openxmlformats.org/drawingml/2006/main">
              <a:ext uri="{FF2B5EF4-FFF2-40B4-BE49-F238E27FC236}">
                <a16:creationId xmlns:a16="http://schemas.microsoft.com/office/drawing/2014/main" id="{C9CA227B-225B-404D-91B5-50F35745C043}"/>
              </a:ext>
            </a:extLst>
          </p:cNvPr>
          <p:cNvSpPr>
            <a:spLocks xmlns:a="http://schemas.openxmlformats.org/drawingml/2006/main" noGrp="1"/>
          </p:cNvSpPr>
          <p:nvPr/>
        </p:nvSpPr>
        <p:spPr>
          <a:xfrm xmlns:a="http://schemas.openxmlformats.org/drawingml/2006/main">
            <a:off x="1362075" y="55054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4203"/>
          </a:bodyPr>
          <a:lstStyle xmlns:a="http://schemas.openxmlformats.org/drawingml/2006/main"/>
          <a:p xmlns:a="http://schemas.openxmlformats.org/drawingml/2006/main">
            <a:pPr algn="l">
              <a:defRPr sz="1725" b="1">
                <a:solidFill>
                  <a:srgbClr val="168B82"/>
                </a:solidFill>
                <a:latin typeface="프리텐다드"/>
                <a:ea typeface="프리텐다드"/>
                <a:cs typeface="프리텐다드"/>
              </a:defRPr>
            </a:pPr>
            <a:r>
              <a:rPr sz="1725" b="1">
                <a:solidFill>
                  <a:srgbClr val="168B82"/>
                </a:solidFill>
                <a:latin typeface="프리텐다드"/>
                <a:ea typeface="프리텐다드"/>
                <a:cs typeface="프리텐다드"/>
              </a:rPr>
              <a:t>의료진</a:t>
            </a:r>
          </a:p>
        </p:txBody>
      </p:sp>
      <p:sp>
        <p:nvSpPr>
          <p:cNvPr id="17" name="">
            <a:extLst xmlns:a="http://schemas.openxmlformats.org/drawingml/2006/main">
              <a:ext uri="{FF2B5EF4-FFF2-40B4-BE49-F238E27FC236}">
                <a16:creationId xmlns:a16="http://schemas.microsoft.com/office/drawing/2014/main" id="{AB876559-392F-4E00-BF9F-E77661C39F65}"/>
              </a:ext>
            </a:extLst>
          </p:cNvPr>
          <p:cNvSpPr>
            <a:spLocks xmlns:a="http://schemas.openxmlformats.org/drawingml/2006/main" noGrp="1"/>
          </p:cNvSpPr>
          <p:nvPr/>
        </p:nvSpPr>
        <p:spPr>
          <a:xfrm xmlns:a="http://schemas.openxmlformats.org/drawingml/2006/main">
            <a:off x="1362075" y="5886450"/>
            <a:ext cx="1695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765"/>
          </a:bodyPr>
          <a:lstStyle xmlns:a="http://schemas.openxmlformats.org/drawingml/2006/main"/>
          <a:p xmlns:a="http://schemas.openxmlformats.org/drawingml/2006/main">
            <a:pPr algn="l">
              <a:defRPr sz="1350" b="0">
                <a:solidFill>
                  <a:srgbClr val="53657B"/>
                </a:solidFill>
                <a:latin typeface="프리텐다드"/>
                <a:ea typeface="프리텐다드"/>
                <a:cs typeface="프리텐다드"/>
              </a:defRPr>
            </a:pPr>
            <a:r>
              <a:rPr sz="1350" b="0">
                <a:solidFill>
                  <a:srgbClr val="53657B"/>
                </a:solidFill>
                <a:latin typeface="프리텐다드"/>
                <a:ea typeface="프리텐다드"/>
                <a:cs typeface="프리텐다드"/>
              </a:rPr>
              <a:t>요청·접수 UI와</a:t>
            </a:r>
          </a:p>
          <a:p xmlns:a="http://schemas.openxmlformats.org/drawingml/2006/main">
            <a:pPr algn="l">
              <a:defRPr sz="1350" b="0">
                <a:solidFill>
                  <a:srgbClr val="53657B"/>
                </a:solidFill>
                <a:latin typeface="프리텐다드"/>
                <a:ea typeface="프리텐다드"/>
                <a:cs typeface="프리텐다드"/>
              </a:defRPr>
            </a:pPr>
            <a:r>
              <a:rPr sz="1350" b="0">
                <a:solidFill>
                  <a:srgbClr val="53657B"/>
                </a:solidFill>
                <a:latin typeface="프리텐다드"/>
                <a:ea typeface="프리텐다드"/>
                <a:cs typeface="프리텐다드"/>
              </a:rPr>
              <a:t>승인 영상 열람</a:t>
            </a:r>
          </a:p>
          <a:p xmlns:a="http://schemas.openxmlformats.org/drawingml/2006/main">
            <a:pPr algn="l">
              <a:defRPr sz="1350" b="0">
                <a:solidFill>
                  <a:srgbClr val="53657B"/>
                </a:solidFill>
                <a:latin typeface="프리텐다드"/>
                <a:ea typeface="프리텐다드"/>
                <a:cs typeface="프리텐다드"/>
              </a:defRPr>
            </a:pPr>
            <a:r>
              <a:rPr sz="1350" b="0">
                <a:solidFill>
                  <a:srgbClr val="53657B"/>
                </a:solidFill>
                <a:latin typeface="프리텐다드"/>
                <a:ea typeface="프리텐다드"/>
                <a:cs typeface="프리텐다드"/>
              </a:rPr>
              <a:t>QR 종단 흐름 미검증</a:t>
            </a:r>
          </a:p>
        </p:txBody>
      </p:sp>
      <p:sp>
        <p:nvSpPr>
          <p:cNvPr id="18" name="">
            <a:extLst xmlns:a="http://schemas.openxmlformats.org/drawingml/2006/main">
              <a:ext uri="{FF2B5EF4-FFF2-40B4-BE49-F238E27FC236}">
                <a16:creationId xmlns:a16="http://schemas.microsoft.com/office/drawing/2014/main" id="{CC7BC5EB-750D-4CA7-BFFD-06B2E684DF69}"/>
              </a:ext>
            </a:extLst>
          </p:cNvPr>
          <p:cNvSpPr>
            <a:spLocks xmlns:a="http://schemas.openxmlformats.org/drawingml/2006/main" noGrp="1"/>
          </p:cNvSpPr>
          <p:nvPr/>
        </p:nvSpPr>
        <p:spPr>
          <a:xfrm xmlns:a="http://schemas.openxmlformats.org/drawingml/2006/main">
            <a:off x="3600450" y="3333750"/>
            <a:ext cx="7353300" cy="3657600"/>
          </a:xfrm>
          <a:prstGeom xmlns:a="http://schemas.openxmlformats.org/drawingml/2006/main" prst="roundRect">
            <a:avLst>
              <a:gd name="adj" fmla="val 3646"/>
            </a:avLst>
          </a:prstGeom>
          <a:solidFill xmlns:a="http://schemas.openxmlformats.org/drawingml/2006/main">
            <a:srgbClr val="F7F9FC"/>
          </a:solidFill>
          <a:ln xmlns:a="http://schemas.openxmlformats.org/drawingml/2006/main" w="14288">
            <a:solidFill>
              <a:srgbClr val="D8E0E9"/>
            </a:solidFill>
            <a:prstDash val="solid"/>
          </a:ln>
        </p:spPr>
      </p:sp>
      <p:sp>
        <p:nvSpPr>
          <p:cNvPr id="19" name="">
            <a:extLst xmlns:a="http://schemas.openxmlformats.org/drawingml/2006/main">
              <a:ext uri="{FF2B5EF4-FFF2-40B4-BE49-F238E27FC236}">
                <a16:creationId xmlns:a16="http://schemas.microsoft.com/office/drawing/2014/main" id="{39FCEA0A-E2DA-477C-B1D7-A3B39EA03A3F}"/>
              </a:ext>
            </a:extLst>
          </p:cNvPr>
          <p:cNvSpPr>
            <a:spLocks xmlns:a="http://schemas.openxmlformats.org/drawingml/2006/main" noGrp="1"/>
          </p:cNvSpPr>
          <p:nvPr/>
        </p:nvSpPr>
        <p:spPr>
          <a:xfrm xmlns:a="http://schemas.openxmlformats.org/drawingml/2006/main">
            <a:off x="3810000" y="3448050"/>
            <a:ext cx="695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1">
                <a:solidFill>
                  <a:srgbClr val="2F68B5"/>
                </a:solidFill>
                <a:latin typeface="프리텐다드"/>
                <a:ea typeface="프리텐다드"/>
                <a:cs typeface="프리텐다드"/>
              </a:defRPr>
            </a:pPr>
            <a:r>
              <a:rPr sz="1800" b="1">
                <a:solidFill>
                  <a:srgbClr val="2F68B5"/>
                </a:solidFill>
                <a:latin typeface="프리텐다드"/>
                <a:ea typeface="프리텐다드"/>
                <a:cs typeface="프리텐다드"/>
              </a:rPr>
              <a:t>Azure 제어 영역 · 현재 테스트</a:t>
            </a:r>
          </a:p>
        </p:txBody>
      </p:sp>
      <p:sp>
        <p:nvSpPr>
          <p:cNvPr id="20" name="">
            <a:extLst xmlns:a="http://schemas.openxmlformats.org/drawingml/2006/main">
              <a:ext uri="{FF2B5EF4-FFF2-40B4-BE49-F238E27FC236}">
                <a16:creationId xmlns:a16="http://schemas.microsoft.com/office/drawing/2014/main" id="{5E8E4859-C83B-47BD-9986-62FA9B632900}"/>
              </a:ext>
            </a:extLst>
          </p:cNvPr>
          <p:cNvSpPr>
            <a:spLocks xmlns:a="http://schemas.openxmlformats.org/drawingml/2006/main" noGrp="1"/>
          </p:cNvSpPr>
          <p:nvPr/>
        </p:nvSpPr>
        <p:spPr>
          <a:xfrm xmlns:a="http://schemas.openxmlformats.org/drawingml/2006/main">
            <a:off x="3790950" y="3962400"/>
            <a:ext cx="24765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D8E0E9"/>
            </a:solidFill>
            <a:prstDash val="solid"/>
          </a:ln>
        </p:spPr>
      </p:sp>
      <p:sp>
        <p:nvSpPr>
          <p:cNvPr id="21" name="">
            <a:extLst xmlns:a="http://schemas.openxmlformats.org/drawingml/2006/main">
              <a:ext uri="{FF2B5EF4-FFF2-40B4-BE49-F238E27FC236}">
                <a16:creationId xmlns:a16="http://schemas.microsoft.com/office/drawing/2014/main" id="{68BAB7F5-5FC0-40E2-8CC0-59DBB4E24D1A}"/>
              </a:ext>
            </a:extLst>
          </p:cNvPr>
          <p:cNvSpPr>
            <a:spLocks xmlns:a="http://schemas.openxmlformats.org/drawingml/2006/main" noGrp="1"/>
          </p:cNvSpPr>
          <p:nvPr/>
        </p:nvSpPr>
        <p:spPr>
          <a:xfrm xmlns:a="http://schemas.openxmlformats.org/drawingml/2006/main">
            <a:off x="3943350" y="4038600"/>
            <a:ext cx="2171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5238"/>
          </a:bodyPr>
          <a:lstStyle xmlns:a="http://schemas.openxmlformats.org/drawingml/2006/main"/>
          <a:p xmlns:a="http://schemas.openxmlformats.org/drawingml/2006/main">
            <a:pPr algn="l">
              <a:defRPr sz="1575" b="1">
                <a:solidFill>
                  <a:srgbClr val="17263A"/>
                </a:solidFill>
                <a:latin typeface="프리텐다드"/>
                <a:ea typeface="프리텐다드"/>
                <a:cs typeface="프리텐다드"/>
              </a:defRPr>
            </a:pPr>
            <a:r>
              <a:rPr sz="1575" b="1">
                <a:solidFill>
                  <a:srgbClr val="17263A"/>
                </a:solidFill>
                <a:latin typeface="프리텐다드"/>
                <a:ea typeface="프리텐다드"/>
                <a:cs typeface="프리텐다드"/>
              </a:rPr>
              <a:t>Microsoft Entra ID</a:t>
            </a:r>
          </a:p>
        </p:txBody>
      </p:sp>
      <p:sp>
        <p:nvSpPr>
          <p:cNvPr id="22" name="">
            <a:extLst xmlns:a="http://schemas.openxmlformats.org/drawingml/2006/main">
              <a:ext uri="{FF2B5EF4-FFF2-40B4-BE49-F238E27FC236}">
                <a16:creationId xmlns:a16="http://schemas.microsoft.com/office/drawing/2014/main" id="{8D38FF4D-5287-486F-86F4-DD3E0879685E}"/>
              </a:ext>
            </a:extLst>
          </p:cNvPr>
          <p:cNvSpPr>
            <a:spLocks xmlns:a="http://schemas.openxmlformats.org/drawingml/2006/main" noGrp="1"/>
          </p:cNvSpPr>
          <p:nvPr/>
        </p:nvSpPr>
        <p:spPr>
          <a:xfrm xmlns:a="http://schemas.openxmlformats.org/drawingml/2006/main">
            <a:off x="3943350" y="4371975"/>
            <a:ext cx="21717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350" b="0">
                <a:solidFill>
                  <a:srgbClr val="53657B"/>
                </a:solidFill>
                <a:latin typeface="프리텐다드"/>
                <a:ea typeface="프리텐다드"/>
                <a:cs typeface="프리텐다드"/>
              </a:defRPr>
            </a:pPr>
            <a:r>
              <a:rPr sz="1350" b="0">
                <a:solidFill>
                  <a:srgbClr val="53657B"/>
                </a:solidFill>
                <a:latin typeface="프리텐다드"/>
                <a:ea typeface="프리텐다드"/>
                <a:cs typeface="프리텐다드"/>
              </a:rPr>
              <a:t>환자·의료진 신원 확인</a:t>
            </a:r>
          </a:p>
        </p:txBody>
      </p:sp>
      <p:sp>
        <p:nvSpPr>
          <p:cNvPr id="23" name="">
            <a:extLst xmlns:a="http://schemas.openxmlformats.org/drawingml/2006/main">
              <a:ext uri="{FF2B5EF4-FFF2-40B4-BE49-F238E27FC236}">
                <a16:creationId xmlns:a16="http://schemas.microsoft.com/office/drawing/2014/main" id="{08147A12-FA57-4109-944B-486271B3FC93}"/>
              </a:ext>
            </a:extLst>
          </p:cNvPr>
          <p:cNvSpPr>
            <a:spLocks xmlns:a="http://schemas.openxmlformats.org/drawingml/2006/main" noGrp="1"/>
          </p:cNvSpPr>
          <p:nvPr/>
        </p:nvSpPr>
        <p:spPr>
          <a:xfrm xmlns:a="http://schemas.openxmlformats.org/drawingml/2006/main">
            <a:off x="6438900" y="3962400"/>
            <a:ext cx="430530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4288">
            <a:solidFill>
              <a:srgbClr val="D8E0E9"/>
            </a:solidFill>
            <a:prstDash val="solid"/>
          </a:ln>
        </p:spPr>
      </p:sp>
      <p:sp>
        <p:nvSpPr>
          <p:cNvPr id="24" name="">
            <a:extLst xmlns:a="http://schemas.openxmlformats.org/drawingml/2006/main">
              <a:ext uri="{FF2B5EF4-FFF2-40B4-BE49-F238E27FC236}">
                <a16:creationId xmlns:a16="http://schemas.microsoft.com/office/drawing/2014/main" id="{28B61510-C1E3-4E7D-9BE9-9192A5172786}"/>
              </a:ext>
            </a:extLst>
          </p:cNvPr>
          <p:cNvSpPr>
            <a:spLocks xmlns:a="http://schemas.openxmlformats.org/drawingml/2006/main" noGrp="1"/>
          </p:cNvSpPr>
          <p:nvPr/>
        </p:nvSpPr>
        <p:spPr>
          <a:xfrm xmlns:a="http://schemas.openxmlformats.org/drawingml/2006/main">
            <a:off x="6591300" y="4038600"/>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1">
                <a:solidFill>
                  <a:srgbClr val="17263A"/>
                </a:solidFill>
                <a:latin typeface="프리텐다드"/>
                <a:ea typeface="프리텐다드"/>
                <a:cs typeface="프리텐다드"/>
              </a:defRPr>
            </a:pPr>
            <a:r>
              <a:rPr sz="1500" b="1">
                <a:solidFill>
                  <a:srgbClr val="17263A"/>
                </a:solidFill>
                <a:latin typeface="프리텐다드"/>
                <a:ea typeface="프리텐다드"/>
                <a:cs typeface="프리텐다드"/>
              </a:rPr>
              <a:t>HTTPS Edge · Caddy + Coraza WAF</a:t>
            </a:r>
          </a:p>
        </p:txBody>
      </p:sp>
      <p:sp>
        <p:nvSpPr>
          <p:cNvPr id="25" name="">
            <a:extLst xmlns:a="http://schemas.openxmlformats.org/drawingml/2006/main">
              <a:ext uri="{FF2B5EF4-FFF2-40B4-BE49-F238E27FC236}">
                <a16:creationId xmlns:a16="http://schemas.microsoft.com/office/drawing/2014/main" id="{9CF2CD8B-C5DF-4194-A131-35D98928B435}"/>
              </a:ext>
            </a:extLst>
          </p:cNvPr>
          <p:cNvSpPr>
            <a:spLocks xmlns:a="http://schemas.openxmlformats.org/drawingml/2006/main" noGrp="1"/>
          </p:cNvSpPr>
          <p:nvPr/>
        </p:nvSpPr>
        <p:spPr>
          <a:xfrm xmlns:a="http://schemas.openxmlformats.org/drawingml/2006/main">
            <a:off x="6591300" y="4371975"/>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350" b="0">
                <a:solidFill>
                  <a:srgbClr val="53657B"/>
                </a:solidFill>
                <a:latin typeface="프리텐다드"/>
                <a:ea typeface="프리텐다드"/>
                <a:cs typeface="프리텐다드"/>
              </a:defRPr>
            </a:pPr>
            <a:r>
              <a:rPr sz="1350" b="0">
                <a:solidFill>
                  <a:srgbClr val="53657B"/>
                </a:solidFill>
                <a:latin typeface="프리텐다드"/>
                <a:ea typeface="프리텐다드"/>
                <a:cs typeface="프리텐다드"/>
              </a:rPr>
              <a:t>웹·모바일 공개 진입점</a:t>
            </a:r>
          </a:p>
        </p:txBody>
      </p:sp>
      <p:sp>
        <p:nvSpPr>
          <p:cNvPr id="26" name="">
            <a:extLst xmlns:a="http://schemas.openxmlformats.org/drawingml/2006/main">
              <a:ext uri="{FF2B5EF4-FFF2-40B4-BE49-F238E27FC236}">
                <a16:creationId xmlns:a16="http://schemas.microsoft.com/office/drawing/2014/main" id="{42F07AC7-E8D7-497B-8FE3-B3F5F3D999E0}"/>
              </a:ext>
            </a:extLst>
          </p:cNvPr>
          <p:cNvSpPr>
            <a:spLocks xmlns:a="http://schemas.openxmlformats.org/drawingml/2006/main" noGrp="1"/>
          </p:cNvSpPr>
          <p:nvPr/>
        </p:nvSpPr>
        <p:spPr>
          <a:xfrm xmlns:a="http://schemas.openxmlformats.org/drawingml/2006/main">
            <a:off x="6819900" y="481965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74713"/>
          </a:bodyPr>
          <a:lstStyle xmlns:a="http://schemas.openxmlformats.org/drawingml/2006/main"/>
          <a:p xmlns:a="http://schemas.openxmlformats.org/drawingml/2006/main">
            <a:pPr algn="ctr">
              <a:defRPr sz="2175" b="1">
                <a:solidFill>
                  <a:srgbClr val="2F68B5"/>
                </a:solidFill>
                <a:latin typeface="프리텐다드"/>
                <a:ea typeface="프리텐다드"/>
                <a:cs typeface="프리텐다드"/>
              </a:defRPr>
            </a:pPr>
            <a:r>
              <a:rPr sz="2175" b="1">
                <a:solidFill>
                  <a:srgbClr val="2F68B5"/>
                </a:solidFill>
                <a:latin typeface="프리텐다드"/>
                <a:ea typeface="프리텐다드"/>
                <a:cs typeface="프리텐다드"/>
              </a:rPr>
              <a:t>↓</a:t>
            </a:r>
          </a:p>
        </p:txBody>
      </p:sp>
      <p:sp>
        <p:nvSpPr>
          <p:cNvPr id="27" name="">
            <a:extLst xmlns:a="http://schemas.openxmlformats.org/drawingml/2006/main">
              <a:ext uri="{FF2B5EF4-FFF2-40B4-BE49-F238E27FC236}">
                <a16:creationId xmlns:a16="http://schemas.microsoft.com/office/drawing/2014/main" id="{1DA0283B-AE14-4002-B314-85A9160D6B53}"/>
              </a:ext>
            </a:extLst>
          </p:cNvPr>
          <p:cNvSpPr>
            <a:spLocks xmlns:a="http://schemas.openxmlformats.org/drawingml/2006/main" noGrp="1"/>
          </p:cNvSpPr>
          <p:nvPr/>
        </p:nvSpPr>
        <p:spPr>
          <a:xfrm xmlns:a="http://schemas.openxmlformats.org/drawingml/2006/main">
            <a:off x="4324350" y="5086350"/>
            <a:ext cx="5905500" cy="1066800"/>
          </a:xfrm>
          <a:prstGeom xmlns:a="http://schemas.openxmlformats.org/drawingml/2006/main" prst="roundRect">
            <a:avLst>
              <a:gd name="adj" fmla="val 8929"/>
            </a:avLst>
          </a:prstGeom>
          <a:solidFill xmlns:a="http://schemas.openxmlformats.org/drawingml/2006/main">
            <a:srgbClr val="0B2342"/>
          </a:solidFill>
          <a:ln xmlns:a="http://schemas.openxmlformats.org/drawingml/2006/main" w="14288">
            <a:solidFill>
              <a:srgbClr val="0B2342"/>
            </a:solidFill>
            <a:prstDash val="solid"/>
          </a:ln>
        </p:spPr>
      </p:sp>
      <p:sp>
        <p:nvSpPr>
          <p:cNvPr id="28" name="">
            <a:extLst xmlns:a="http://schemas.openxmlformats.org/drawingml/2006/main">
              <a:ext uri="{FF2B5EF4-FFF2-40B4-BE49-F238E27FC236}">
                <a16:creationId xmlns:a16="http://schemas.microsoft.com/office/drawing/2014/main" id="{993A8137-9E14-48FB-B404-B2171CEC5904}"/>
              </a:ext>
            </a:extLst>
          </p:cNvPr>
          <p:cNvSpPr>
            <a:spLocks xmlns:a="http://schemas.openxmlformats.org/drawingml/2006/main" noGrp="1"/>
          </p:cNvSpPr>
          <p:nvPr/>
        </p:nvSpPr>
        <p:spPr>
          <a:xfrm xmlns:a="http://schemas.openxmlformats.org/drawingml/2006/main">
            <a:off x="4514850" y="51625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0278"/>
          </a:bodyPr>
          <a:lstStyle xmlns:a="http://schemas.openxmlformats.org/drawingml/2006/main"/>
          <a:p xmlns:a="http://schemas.openxmlformats.org/drawingml/2006/main">
            <a:pPr algn="l">
              <a:defRPr sz="1800" b="1">
                <a:solidFill>
                  <a:srgbClr val="FFFFFF"/>
                </a:solidFill>
                <a:latin typeface="프리텐다드"/>
                <a:ea typeface="프리텐다드"/>
                <a:cs typeface="프리텐다드"/>
              </a:defRPr>
            </a:pPr>
            <a:r>
              <a:rPr sz="1800" b="1">
                <a:solidFill>
                  <a:srgbClr val="FFFFFF"/>
                </a:solidFill>
                <a:latin typeface="프리텐다드"/>
                <a:ea typeface="프리텐다드"/>
                <a:cs typeface="프리텐다드"/>
              </a:rPr>
              <a:t>Medi Q Control API</a:t>
            </a:r>
          </a:p>
        </p:txBody>
      </p:sp>
      <p:sp>
        <p:nvSpPr>
          <p:cNvPr id="29" name="">
            <a:extLst xmlns:a="http://schemas.openxmlformats.org/drawingml/2006/main">
              <a:ext uri="{FF2B5EF4-FFF2-40B4-BE49-F238E27FC236}">
                <a16:creationId xmlns:a16="http://schemas.microsoft.com/office/drawing/2014/main" id="{57E86667-9416-4736-8278-E644C512B5AA}"/>
              </a:ext>
            </a:extLst>
          </p:cNvPr>
          <p:cNvSpPr>
            <a:spLocks xmlns:a="http://schemas.openxmlformats.org/drawingml/2006/main" noGrp="1"/>
          </p:cNvSpPr>
          <p:nvPr/>
        </p:nvSpPr>
        <p:spPr>
          <a:xfrm xmlns:a="http://schemas.openxmlformats.org/drawingml/2006/main">
            <a:off x="4514850" y="5524500"/>
            <a:ext cx="5524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5833"/>
          </a:bodyPr>
          <a:lstStyle xmlns:a="http://schemas.openxmlformats.org/drawingml/2006/main"/>
          <a:p xmlns:a="http://schemas.openxmlformats.org/drawingml/2006/main">
            <a:pPr algn="l">
              <a:defRPr sz="1500" b="0">
                <a:solidFill>
                  <a:srgbClr val="DCE8F5"/>
                </a:solidFill>
                <a:latin typeface="프리텐다드"/>
                <a:ea typeface="프리텐다드"/>
                <a:cs typeface="프리텐다드"/>
              </a:defRPr>
            </a:pPr>
            <a:r>
              <a:rPr sz="1500" b="0">
                <a:solidFill>
                  <a:srgbClr val="DCE8F5"/>
                </a:solidFill>
                <a:latin typeface="프리텐다드"/>
                <a:ea typeface="프리텐다드"/>
                <a:cs typeface="프리텐다드"/>
              </a:rPr>
              <a:t>동의 · RBAC/ABAC · 단기 범위 토큰</a:t>
            </a:r>
          </a:p>
          <a:p xmlns:a="http://schemas.openxmlformats.org/drawingml/2006/main">
            <a:pPr algn="l">
              <a:defRPr sz="1500" b="0">
                <a:solidFill>
                  <a:srgbClr val="DCE8F5"/>
                </a:solidFill>
                <a:latin typeface="프리텐다드"/>
                <a:ea typeface="프리텐다드"/>
                <a:cs typeface="프리텐다드"/>
              </a:defRPr>
            </a:pPr>
            <a:r>
              <a:rPr sz="1500" b="0">
                <a:solidFill>
                  <a:srgbClr val="DCE8F5"/>
                </a:solidFill>
                <a:latin typeface="프리텐다드"/>
                <a:ea typeface="프리텐다드"/>
                <a:cs typeface="프리텐다드"/>
              </a:rPr>
              <a:t>정책·메타데이터·감사 관리</a:t>
            </a:r>
          </a:p>
        </p:txBody>
      </p:sp>
      <p:sp>
        <p:nvSpPr>
          <p:cNvPr id="30" name="">
            <a:extLst xmlns:a="http://schemas.openxmlformats.org/drawingml/2006/main">
              <a:ext uri="{FF2B5EF4-FFF2-40B4-BE49-F238E27FC236}">
                <a16:creationId xmlns:a16="http://schemas.microsoft.com/office/drawing/2014/main" id="{84E52DE2-A7E6-4E0F-B77F-B1B859A52BAA}"/>
              </a:ext>
            </a:extLst>
          </p:cNvPr>
          <p:cNvSpPr>
            <a:spLocks xmlns:a="http://schemas.openxmlformats.org/drawingml/2006/main" noGrp="1"/>
          </p:cNvSpPr>
          <p:nvPr/>
        </p:nvSpPr>
        <p:spPr>
          <a:xfrm xmlns:a="http://schemas.openxmlformats.org/drawingml/2006/main">
            <a:off x="3790950" y="6305550"/>
            <a:ext cx="3333750" cy="552450"/>
          </a:xfrm>
          <a:prstGeom xmlns:a="http://schemas.openxmlformats.org/drawingml/2006/main" prst="roundRect">
            <a:avLst>
              <a:gd name="adj" fmla="val 13793"/>
            </a:avLst>
          </a:prstGeom>
          <a:solidFill xmlns:a="http://schemas.openxmlformats.org/drawingml/2006/main">
            <a:srgbClr val="FFFFFF"/>
          </a:solidFill>
          <a:ln xmlns:a="http://schemas.openxmlformats.org/drawingml/2006/main" w="14288">
            <a:solidFill>
              <a:srgbClr val="D8E0E9"/>
            </a:solidFill>
            <a:prstDash val="solid"/>
          </a:ln>
        </p:spPr>
      </p:sp>
      <p:sp>
        <p:nvSpPr>
          <p:cNvPr id="31" name="">
            <a:extLst xmlns:a="http://schemas.openxmlformats.org/drawingml/2006/main">
              <a:ext uri="{FF2B5EF4-FFF2-40B4-BE49-F238E27FC236}">
                <a16:creationId xmlns:a16="http://schemas.microsoft.com/office/drawing/2014/main" id="{77BB7CDC-FF2C-4F23-B391-A22BD760F458}"/>
              </a:ext>
            </a:extLst>
          </p:cNvPr>
          <p:cNvSpPr>
            <a:spLocks xmlns:a="http://schemas.openxmlformats.org/drawingml/2006/main" noGrp="1"/>
          </p:cNvSpPr>
          <p:nvPr/>
        </p:nvSpPr>
        <p:spPr>
          <a:xfrm xmlns:a="http://schemas.openxmlformats.org/drawingml/2006/main">
            <a:off x="3924300" y="6438900"/>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6491"/>
          </a:bodyPr>
          <a:lstStyle xmlns:a="http://schemas.openxmlformats.org/drawingml/2006/main"/>
          <a:p xmlns:a="http://schemas.openxmlformats.org/drawingml/2006/main">
            <a:pPr algn="l">
              <a:defRPr sz="1425" b="1">
                <a:solidFill>
                  <a:srgbClr val="17263A"/>
                </a:solidFill>
                <a:latin typeface="프리텐다드"/>
                <a:ea typeface="프리텐다드"/>
                <a:cs typeface="프리텐다드"/>
              </a:defRPr>
            </a:pPr>
            <a:r>
              <a:rPr sz="1425" b="1">
                <a:solidFill>
                  <a:srgbClr val="17263A"/>
                </a:solidFill>
                <a:latin typeface="프리텐다드"/>
                <a:ea typeface="프리텐다드"/>
                <a:cs typeface="프리텐다드"/>
              </a:rPr>
              <a:t>PostgreSQL · 메타데이터</a:t>
            </a:r>
          </a:p>
        </p:txBody>
      </p:sp>
      <p:sp>
        <p:nvSpPr>
          <p:cNvPr id="32" name="">
            <a:extLst xmlns:a="http://schemas.openxmlformats.org/drawingml/2006/main">
              <a:ext uri="{FF2B5EF4-FFF2-40B4-BE49-F238E27FC236}">
                <a16:creationId xmlns:a16="http://schemas.microsoft.com/office/drawing/2014/main" id="{125D2C2C-E092-4F8C-AD7F-10BE076F4E3C}"/>
              </a:ext>
            </a:extLst>
          </p:cNvPr>
          <p:cNvSpPr>
            <a:spLocks xmlns:a="http://schemas.openxmlformats.org/drawingml/2006/main" noGrp="1"/>
          </p:cNvSpPr>
          <p:nvPr/>
        </p:nvSpPr>
        <p:spPr>
          <a:xfrm xmlns:a="http://schemas.openxmlformats.org/drawingml/2006/main">
            <a:off x="7296150" y="6305550"/>
            <a:ext cx="3448050" cy="552450"/>
          </a:xfrm>
          <a:prstGeom xmlns:a="http://schemas.openxmlformats.org/drawingml/2006/main" prst="roundRect">
            <a:avLst>
              <a:gd name="adj" fmla="val 13793"/>
            </a:avLst>
          </a:prstGeom>
          <a:solidFill xmlns:a="http://schemas.openxmlformats.org/drawingml/2006/main">
            <a:srgbClr val="FBF4E5"/>
          </a:solidFill>
          <a:ln xmlns:a="http://schemas.openxmlformats.org/drawingml/2006/main" w="14288">
            <a:solidFill>
              <a:srgbClr val="EAD8B4"/>
            </a:solidFill>
            <a:prstDash val="solid"/>
          </a:ln>
        </p:spPr>
      </p:sp>
      <p:sp>
        <p:nvSpPr>
          <p:cNvPr id="33" name="">
            <a:extLst xmlns:a="http://schemas.openxmlformats.org/drawingml/2006/main">
              <a:ext uri="{FF2B5EF4-FFF2-40B4-BE49-F238E27FC236}">
                <a16:creationId xmlns:a16="http://schemas.microsoft.com/office/drawing/2014/main" id="{17889DCD-8940-40DB-A16D-60DCF8146C58}"/>
              </a:ext>
            </a:extLst>
          </p:cNvPr>
          <p:cNvSpPr>
            <a:spLocks xmlns:a="http://schemas.openxmlformats.org/drawingml/2006/main" noGrp="1"/>
          </p:cNvSpPr>
          <p:nvPr/>
        </p:nvSpPr>
        <p:spPr>
          <a:xfrm xmlns:a="http://schemas.openxmlformats.org/drawingml/2006/main">
            <a:off x="7429500" y="6438900"/>
            <a:ext cx="3181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6491"/>
          </a:bodyPr>
          <a:lstStyle xmlns:a="http://schemas.openxmlformats.org/drawingml/2006/main"/>
          <a:p xmlns:a="http://schemas.openxmlformats.org/drawingml/2006/main">
            <a:pPr algn="l">
              <a:defRPr sz="1425" b="1">
                <a:solidFill>
                  <a:srgbClr val="17263A"/>
                </a:solidFill>
                <a:latin typeface="프리텐다드"/>
                <a:ea typeface="프리텐다드"/>
                <a:cs typeface="프리텐다드"/>
              </a:defRPr>
            </a:pPr>
            <a:r>
              <a:rPr sz="1425" b="1">
                <a:solidFill>
                  <a:srgbClr val="17263A"/>
                </a:solidFill>
                <a:latin typeface="프리텐다드"/>
                <a:ea typeface="프리텐다드"/>
                <a:cs typeface="프리텐다드"/>
              </a:rPr>
              <a:t>Key Vault · 단건 키 작업 사용</a:t>
            </a:r>
          </a:p>
        </p:txBody>
      </p:sp>
      <p:sp>
        <p:nvSpPr>
          <p:cNvPr id="34" name="">
            <a:extLst xmlns:a="http://schemas.openxmlformats.org/drawingml/2006/main">
              <a:ext uri="{FF2B5EF4-FFF2-40B4-BE49-F238E27FC236}">
                <a16:creationId xmlns:a16="http://schemas.microsoft.com/office/drawing/2014/main" id="{809C991E-12A5-4EBC-9167-A54BAD3B4648}"/>
              </a:ext>
            </a:extLst>
          </p:cNvPr>
          <p:cNvSpPr>
            <a:spLocks xmlns:a="http://schemas.openxmlformats.org/drawingml/2006/main" noGrp="1"/>
          </p:cNvSpPr>
          <p:nvPr/>
        </p:nvSpPr>
        <p:spPr>
          <a:xfrm xmlns:a="http://schemas.openxmlformats.org/drawingml/2006/main">
            <a:off x="11163300" y="3333750"/>
            <a:ext cx="6096000" cy="3657600"/>
          </a:xfrm>
          <a:prstGeom xmlns:a="http://schemas.openxmlformats.org/drawingml/2006/main" prst="roundRect">
            <a:avLst>
              <a:gd name="adj" fmla="val 3646"/>
            </a:avLst>
          </a:prstGeom>
          <a:solidFill xmlns:a="http://schemas.openxmlformats.org/drawingml/2006/main">
            <a:srgbClr val="F7F9FC"/>
          </a:solidFill>
          <a:ln xmlns:a="http://schemas.openxmlformats.org/drawingml/2006/main" w="14288">
            <a:solidFill>
              <a:srgbClr val="D8E0E9"/>
            </a:solidFill>
            <a:prstDash val="solid"/>
          </a:ln>
        </p:spPr>
      </p:sp>
      <p:sp>
        <p:nvSpPr>
          <p:cNvPr id="35" name="">
            <a:extLst xmlns:a="http://schemas.openxmlformats.org/drawingml/2006/main">
              <a:ext uri="{FF2B5EF4-FFF2-40B4-BE49-F238E27FC236}">
                <a16:creationId xmlns:a16="http://schemas.microsoft.com/office/drawing/2014/main" id="{CEA4D103-3A13-4657-BA84-6D1E7FA8ADB4}"/>
              </a:ext>
            </a:extLst>
          </p:cNvPr>
          <p:cNvSpPr>
            <a:spLocks xmlns:a="http://schemas.openxmlformats.org/drawingml/2006/main" noGrp="1"/>
          </p:cNvSpPr>
          <p:nvPr/>
        </p:nvSpPr>
        <p:spPr>
          <a:xfrm xmlns:a="http://schemas.openxmlformats.org/drawingml/2006/main">
            <a:off x="11372850" y="3448050"/>
            <a:ext cx="5676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1">
                <a:solidFill>
                  <a:srgbClr val="17263A"/>
                </a:solidFill>
                <a:latin typeface="프리텐다드"/>
                <a:ea typeface="프리텐다드"/>
                <a:cs typeface="프리텐다드"/>
              </a:defRPr>
            </a:pPr>
            <a:r>
              <a:rPr sz="1800" b="1">
                <a:solidFill>
                  <a:srgbClr val="17263A"/>
                </a:solidFill>
                <a:latin typeface="프리텐다드"/>
                <a:ea typeface="프리텐다드"/>
                <a:cs typeface="프리텐다드"/>
              </a:rPr>
              <a:t>병원 데이터 영역 · A/B 테스트</a:t>
            </a:r>
          </a:p>
        </p:txBody>
      </p:sp>
      <p:sp>
        <p:nvSpPr>
          <p:cNvPr id="36" name="">
            <a:extLst xmlns:a="http://schemas.openxmlformats.org/drawingml/2006/main">
              <a:ext uri="{FF2B5EF4-FFF2-40B4-BE49-F238E27FC236}">
                <a16:creationId xmlns:a16="http://schemas.microsoft.com/office/drawing/2014/main" id="{3672CE5D-5611-441B-8B6F-0948E60F0CD0}"/>
              </a:ext>
            </a:extLst>
          </p:cNvPr>
          <p:cNvSpPr>
            <a:spLocks xmlns:a="http://schemas.openxmlformats.org/drawingml/2006/main" noGrp="1"/>
          </p:cNvSpPr>
          <p:nvPr/>
        </p:nvSpPr>
        <p:spPr>
          <a:xfrm xmlns:a="http://schemas.openxmlformats.org/drawingml/2006/main">
            <a:off x="11353800" y="3962400"/>
            <a:ext cx="57150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4288">
            <a:solidFill>
              <a:srgbClr val="D8E0E9"/>
            </a:solidFill>
            <a:prstDash val="solid"/>
          </a:ln>
        </p:spPr>
      </p:sp>
      <p:sp>
        <p:nvSpPr>
          <p:cNvPr id="37" name="">
            <a:extLst xmlns:a="http://schemas.openxmlformats.org/drawingml/2006/main">
              <a:ext uri="{FF2B5EF4-FFF2-40B4-BE49-F238E27FC236}">
                <a16:creationId xmlns:a16="http://schemas.microsoft.com/office/drawing/2014/main" id="{0CE891C2-7100-40BC-9BFD-D789D5ABE9FA}"/>
              </a:ext>
            </a:extLst>
          </p:cNvPr>
          <p:cNvSpPr>
            <a:spLocks xmlns:a="http://schemas.openxmlformats.org/drawingml/2006/main" noGrp="1"/>
          </p:cNvSpPr>
          <p:nvPr/>
        </p:nvSpPr>
        <p:spPr>
          <a:xfrm xmlns:a="http://schemas.openxmlformats.org/drawingml/2006/main">
            <a:off x="11525250" y="4057650"/>
            <a:ext cx="537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2F68B5"/>
                </a:solidFill>
                <a:latin typeface="프리텐다드"/>
                <a:ea typeface="프리텐다드"/>
                <a:cs typeface="프리텐다드"/>
              </a:defRPr>
            </a:pPr>
            <a:r>
              <a:rPr sz="1650" b="1">
                <a:solidFill>
                  <a:srgbClr val="2F68B5"/>
                </a:solidFill>
                <a:latin typeface="프리텐다드"/>
                <a:ea typeface="프리텐다드"/>
                <a:cs typeface="프리텐다드"/>
              </a:rPr>
              <a:t>A 병원 · 원본 제공</a:t>
            </a:r>
          </a:p>
        </p:txBody>
      </p:sp>
      <p:sp>
        <p:nvSpPr>
          <p:cNvPr id="38" name="">
            <a:extLst xmlns:a="http://schemas.openxmlformats.org/drawingml/2006/main">
              <a:ext uri="{FF2B5EF4-FFF2-40B4-BE49-F238E27FC236}">
                <a16:creationId xmlns:a16="http://schemas.microsoft.com/office/drawing/2014/main" id="{5CB35A99-C712-4CFD-89C3-5A9AA1BC503F}"/>
              </a:ext>
            </a:extLst>
          </p:cNvPr>
          <p:cNvSpPr>
            <a:spLocks xmlns:a="http://schemas.openxmlformats.org/drawingml/2006/main" noGrp="1"/>
          </p:cNvSpPr>
          <p:nvPr/>
        </p:nvSpPr>
        <p:spPr>
          <a:xfrm xmlns:a="http://schemas.openxmlformats.org/drawingml/2006/main">
            <a:off x="11525250" y="4438650"/>
            <a:ext cx="5372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A Gateway + Orthanc PACS</a:t>
            </a:r>
          </a:p>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합성 원본은 A 테스트 환경에 보관</a:t>
            </a:r>
          </a:p>
        </p:txBody>
      </p:sp>
      <p:sp>
        <p:nvSpPr>
          <p:cNvPr id="39" name="">
            <a:extLst xmlns:a="http://schemas.openxmlformats.org/drawingml/2006/main">
              <a:ext uri="{FF2B5EF4-FFF2-40B4-BE49-F238E27FC236}">
                <a16:creationId xmlns:a16="http://schemas.microsoft.com/office/drawing/2014/main" id="{36F3B9CD-0E7F-4D02-854E-F0ED711BC526}"/>
              </a:ext>
            </a:extLst>
          </p:cNvPr>
          <p:cNvSpPr>
            <a:spLocks xmlns:a="http://schemas.openxmlformats.org/drawingml/2006/main" noGrp="1"/>
          </p:cNvSpPr>
          <p:nvPr/>
        </p:nvSpPr>
        <p:spPr>
          <a:xfrm xmlns:a="http://schemas.openxmlformats.org/drawingml/2006/main">
            <a:off x="13811250" y="5067300"/>
            <a:ext cx="819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83333"/>
          </a:bodyPr>
          <a:lstStyle xmlns:a="http://schemas.openxmlformats.org/drawingml/2006/main"/>
          <a:p xmlns:a="http://schemas.openxmlformats.org/drawingml/2006/main">
            <a:pPr algn="ctr">
              <a:defRPr sz="2250" b="1">
                <a:solidFill>
                  <a:srgbClr val="168B82"/>
                </a:solidFill>
                <a:latin typeface="프리텐다드"/>
                <a:ea typeface="프리텐다드"/>
                <a:cs typeface="프리텐다드"/>
              </a:defRPr>
            </a:pPr>
            <a:r>
              <a:rPr sz="2250" b="1">
                <a:solidFill>
                  <a:srgbClr val="168B82"/>
                </a:solidFill>
                <a:latin typeface="프리텐다드"/>
                <a:ea typeface="프리텐다드"/>
                <a:cs typeface="프리텐다드"/>
              </a:rPr>
              <a:t>↓</a:t>
            </a:r>
          </a:p>
        </p:txBody>
      </p:sp>
      <p:sp>
        <p:nvSpPr>
          <p:cNvPr id="40" name="">
            <a:extLst xmlns:a="http://schemas.openxmlformats.org/drawingml/2006/main">
              <a:ext uri="{FF2B5EF4-FFF2-40B4-BE49-F238E27FC236}">
                <a16:creationId xmlns:a16="http://schemas.microsoft.com/office/drawing/2014/main" id="{6326DB03-490D-41C2-BE12-55FBF084FFED}"/>
              </a:ext>
            </a:extLst>
          </p:cNvPr>
          <p:cNvSpPr>
            <a:spLocks xmlns:a="http://schemas.openxmlformats.org/drawingml/2006/main" noGrp="1"/>
          </p:cNvSpPr>
          <p:nvPr/>
        </p:nvSpPr>
        <p:spPr>
          <a:xfrm xmlns:a="http://schemas.openxmlformats.org/drawingml/2006/main">
            <a:off x="11353800" y="5448300"/>
            <a:ext cx="5715000" cy="1295400"/>
          </a:xfrm>
          <a:prstGeom xmlns:a="http://schemas.openxmlformats.org/drawingml/2006/main" prst="roundRect">
            <a:avLst>
              <a:gd name="adj" fmla="val 5882"/>
            </a:avLst>
          </a:prstGeom>
          <a:solidFill xmlns:a="http://schemas.openxmlformats.org/drawingml/2006/main">
            <a:srgbClr val="E7F4F1"/>
          </a:solidFill>
          <a:ln xmlns:a="http://schemas.openxmlformats.org/drawingml/2006/main" w="14288">
            <a:solidFill>
              <a:srgbClr val="D8E0E9"/>
            </a:solidFill>
            <a:prstDash val="solid"/>
          </a:ln>
        </p:spPr>
      </p:sp>
      <p:sp>
        <p:nvSpPr>
          <p:cNvPr id="41" name="">
            <a:extLst xmlns:a="http://schemas.openxmlformats.org/drawingml/2006/main">
              <a:ext uri="{FF2B5EF4-FFF2-40B4-BE49-F238E27FC236}">
                <a16:creationId xmlns:a16="http://schemas.microsoft.com/office/drawing/2014/main" id="{21B4EC0A-329C-444F-B89D-3E45608EA64E}"/>
              </a:ext>
            </a:extLst>
          </p:cNvPr>
          <p:cNvSpPr>
            <a:spLocks xmlns:a="http://schemas.openxmlformats.org/drawingml/2006/main" noGrp="1"/>
          </p:cNvSpPr>
          <p:nvPr/>
        </p:nvSpPr>
        <p:spPr>
          <a:xfrm xmlns:a="http://schemas.openxmlformats.org/drawingml/2006/main">
            <a:off x="11525250" y="5534025"/>
            <a:ext cx="5372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168B82"/>
                </a:solidFill>
                <a:latin typeface="프리텐다드"/>
                <a:ea typeface="프리텐다드"/>
                <a:cs typeface="프리텐다드"/>
              </a:defRPr>
            </a:pPr>
            <a:r>
              <a:rPr sz="1650" b="1">
                <a:solidFill>
                  <a:srgbClr val="168B82"/>
                </a:solidFill>
                <a:latin typeface="프리텐다드"/>
                <a:ea typeface="프리텐다드"/>
                <a:cs typeface="프리텐다드"/>
              </a:rPr>
              <a:t>B 병원 · 승인 수신</a:t>
            </a:r>
          </a:p>
        </p:txBody>
      </p:sp>
      <p:sp>
        <p:nvSpPr>
          <p:cNvPr id="42" name="">
            <a:extLst xmlns:a="http://schemas.openxmlformats.org/drawingml/2006/main">
              <a:ext uri="{FF2B5EF4-FFF2-40B4-BE49-F238E27FC236}">
                <a16:creationId xmlns:a16="http://schemas.microsoft.com/office/drawing/2014/main" id="{804EA042-B97C-4F81-9BD3-F8D08C454167}"/>
              </a:ext>
            </a:extLst>
          </p:cNvPr>
          <p:cNvSpPr>
            <a:spLocks xmlns:a="http://schemas.openxmlformats.org/drawingml/2006/main" noGrp="1"/>
          </p:cNvSpPr>
          <p:nvPr/>
        </p:nvSpPr>
        <p:spPr>
          <a:xfrm xmlns:a="http://schemas.openxmlformats.org/drawingml/2006/main">
            <a:off x="11525250" y="5924550"/>
            <a:ext cx="53721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B Portal / Gateway + Orthanc</a:t>
            </a:r>
          </a:p>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실제 합성 영상 수신·독립 재조회는 1건 확인</a:t>
            </a:r>
          </a:p>
        </p:txBody>
      </p:sp>
      <p:sp>
        <p:nvSpPr>
          <p:cNvPr id="43" name="">
            <a:extLst xmlns:a="http://schemas.openxmlformats.org/drawingml/2006/main">
              <a:ext uri="{FF2B5EF4-FFF2-40B4-BE49-F238E27FC236}">
                <a16:creationId xmlns:a16="http://schemas.microsoft.com/office/drawing/2014/main" id="{E0B303E4-A2B6-4AAC-9CE7-6605FD090BA1}"/>
              </a:ext>
            </a:extLst>
          </p:cNvPr>
          <p:cNvSpPr>
            <a:spLocks xmlns:a="http://schemas.openxmlformats.org/drawingml/2006/main" noGrp="1"/>
          </p:cNvSpPr>
          <p:nvPr/>
        </p:nvSpPr>
        <p:spPr>
          <a:xfrm xmlns:a="http://schemas.openxmlformats.org/drawingml/2006/main">
            <a:off x="1028700" y="7372350"/>
            <a:ext cx="7962900" cy="1257300"/>
          </a:xfrm>
          <a:prstGeom xmlns:a="http://schemas.openxmlformats.org/drawingml/2006/main" prst="roundRect">
            <a:avLst>
              <a:gd name="adj" fmla="val 9091"/>
            </a:avLst>
          </a:prstGeom>
          <a:solidFill xmlns:a="http://schemas.openxmlformats.org/drawingml/2006/main">
            <a:srgbClr val="E9F1FC"/>
          </a:solidFill>
          <a:ln xmlns:a="http://schemas.openxmlformats.org/drawingml/2006/main" w="14288">
            <a:solidFill>
              <a:srgbClr val="D8E0E9"/>
            </a:solidFill>
            <a:prstDash val="solid"/>
          </a:ln>
        </p:spPr>
      </p:sp>
      <p:sp>
        <p:nvSpPr>
          <p:cNvPr id="44" name="">
            <a:extLst xmlns:a="http://schemas.openxmlformats.org/drawingml/2006/main">
              <a:ext uri="{FF2B5EF4-FFF2-40B4-BE49-F238E27FC236}">
                <a16:creationId xmlns:a16="http://schemas.microsoft.com/office/drawing/2014/main" id="{A917172A-C1DF-463F-80B3-53DE6164994E}"/>
              </a:ext>
            </a:extLst>
          </p:cNvPr>
          <p:cNvSpPr>
            <a:spLocks xmlns:a="http://schemas.openxmlformats.org/drawingml/2006/main" noGrp="1"/>
          </p:cNvSpPr>
          <p:nvPr/>
        </p:nvSpPr>
        <p:spPr>
          <a:xfrm xmlns:a="http://schemas.openxmlformats.org/drawingml/2006/main">
            <a:off x="1238250" y="7477125"/>
            <a:ext cx="752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2593"/>
          </a:bodyPr>
          <a:lstStyle xmlns:a="http://schemas.openxmlformats.org/drawingml/2006/main"/>
          <a:p xmlns:a="http://schemas.openxmlformats.org/drawingml/2006/main">
            <a:pPr algn="l">
              <a:defRPr sz="1350" b="1">
                <a:solidFill>
                  <a:srgbClr val="2F68B5"/>
                </a:solidFill>
                <a:latin typeface="프리텐다드"/>
                <a:ea typeface="프리텐다드"/>
                <a:cs typeface="프리텐다드"/>
              </a:defRPr>
            </a:pPr>
            <a:r>
              <a:rPr sz="1350" b="1">
                <a:solidFill>
                  <a:srgbClr val="2F68B5"/>
                </a:solidFill>
                <a:latin typeface="프리텐다드"/>
                <a:ea typeface="프리텐다드"/>
                <a:cs typeface="프리텐다드"/>
              </a:rPr>
              <a:t>제어 경로</a:t>
            </a:r>
          </a:p>
        </p:txBody>
      </p:sp>
      <p:sp>
        <p:nvSpPr>
          <p:cNvPr id="45" name="">
            <a:extLst xmlns:a="http://schemas.openxmlformats.org/drawingml/2006/main">
              <a:ext uri="{FF2B5EF4-FFF2-40B4-BE49-F238E27FC236}">
                <a16:creationId xmlns:a16="http://schemas.microsoft.com/office/drawing/2014/main" id="{BB9EB132-5FEC-4130-A93C-5AE86C9EAA51}"/>
              </a:ext>
            </a:extLst>
          </p:cNvPr>
          <p:cNvSpPr>
            <a:spLocks xmlns:a="http://schemas.openxmlformats.org/drawingml/2006/main" noGrp="1"/>
          </p:cNvSpPr>
          <p:nvPr/>
        </p:nvSpPr>
        <p:spPr>
          <a:xfrm xmlns:a="http://schemas.openxmlformats.org/drawingml/2006/main">
            <a:off x="1238250" y="7772400"/>
            <a:ext cx="7524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1">
                <a:solidFill>
                  <a:srgbClr val="0B2342"/>
                </a:solidFill>
                <a:latin typeface="프리텐다드"/>
                <a:ea typeface="프리텐다드"/>
                <a:cs typeface="프리텐다드"/>
              </a:defRPr>
            </a:pPr>
            <a:r>
              <a:rPr sz="1575" b="1">
                <a:solidFill>
                  <a:srgbClr val="0B2342"/>
                </a:solidFill>
                <a:latin typeface="프리텐다드"/>
                <a:ea typeface="프리텐다드"/>
                <a:cs typeface="프리텐다드"/>
              </a:rPr>
              <a:t>Entra → Control → 동의·정책·단기 토큰</a:t>
            </a:r>
          </a:p>
          <a:p xmlns:a="http://schemas.openxmlformats.org/drawingml/2006/main">
            <a:pPr algn="l">
              <a:defRPr sz="1575" b="1">
                <a:solidFill>
                  <a:srgbClr val="0B2342"/>
                </a:solidFill>
                <a:latin typeface="프리텐다드"/>
                <a:ea typeface="프리텐다드"/>
                <a:cs typeface="프리텐다드"/>
              </a:defRPr>
            </a:pPr>
            <a:r>
              <a:rPr sz="1575" b="1">
                <a:solidFill>
                  <a:srgbClr val="0B2342"/>
                </a:solidFill>
                <a:latin typeface="프리텐다드"/>
                <a:ea typeface="프리텐다드"/>
                <a:cs typeface="프리텐다드"/>
              </a:rPr>
              <a:t>Control은 권한을 결정하며 DICOM 픽셀을 중계하지 않습니다.</a:t>
            </a:r>
          </a:p>
        </p:txBody>
      </p:sp>
      <p:sp>
        <p:nvSpPr>
          <p:cNvPr id="46" name="">
            <a:extLst xmlns:a="http://schemas.openxmlformats.org/drawingml/2006/main">
              <a:ext uri="{FF2B5EF4-FFF2-40B4-BE49-F238E27FC236}">
                <a16:creationId xmlns:a16="http://schemas.microsoft.com/office/drawing/2014/main" id="{4BCC007E-60C1-4095-8AF8-8994F90DBD94}"/>
              </a:ext>
            </a:extLst>
          </p:cNvPr>
          <p:cNvSpPr>
            <a:spLocks xmlns:a="http://schemas.openxmlformats.org/drawingml/2006/main" noGrp="1"/>
          </p:cNvSpPr>
          <p:nvPr/>
        </p:nvSpPr>
        <p:spPr>
          <a:xfrm xmlns:a="http://schemas.openxmlformats.org/drawingml/2006/main">
            <a:off x="9258300" y="7372350"/>
            <a:ext cx="8001000" cy="1257300"/>
          </a:xfrm>
          <a:prstGeom xmlns:a="http://schemas.openxmlformats.org/drawingml/2006/main" prst="roundRect">
            <a:avLst>
              <a:gd name="adj" fmla="val 9091"/>
            </a:avLst>
          </a:prstGeom>
          <a:solidFill xmlns:a="http://schemas.openxmlformats.org/drawingml/2006/main">
            <a:srgbClr val="FBF4E5"/>
          </a:solidFill>
          <a:ln xmlns:a="http://schemas.openxmlformats.org/drawingml/2006/main" w="14288">
            <a:solidFill>
              <a:srgbClr val="EAD8B4"/>
            </a:solidFill>
            <a:prstDash val="solid"/>
          </a:ln>
        </p:spPr>
      </p:sp>
      <p:sp>
        <p:nvSpPr>
          <p:cNvPr id="47" name="">
            <a:extLst xmlns:a="http://schemas.openxmlformats.org/drawingml/2006/main">
              <a:ext uri="{FF2B5EF4-FFF2-40B4-BE49-F238E27FC236}">
                <a16:creationId xmlns:a16="http://schemas.microsoft.com/office/drawing/2014/main" id="{4C389997-7766-4AB5-A111-6EFBA39A9B39}"/>
              </a:ext>
            </a:extLst>
          </p:cNvPr>
          <p:cNvSpPr>
            <a:spLocks xmlns:a="http://schemas.openxmlformats.org/drawingml/2006/main" noGrp="1"/>
          </p:cNvSpPr>
          <p:nvPr/>
        </p:nvSpPr>
        <p:spPr>
          <a:xfrm xmlns:a="http://schemas.openxmlformats.org/drawingml/2006/main">
            <a:off x="9467850" y="7477125"/>
            <a:ext cx="7581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2593"/>
          </a:bodyPr>
          <a:lstStyle xmlns:a="http://schemas.openxmlformats.org/drawingml/2006/main"/>
          <a:p xmlns:a="http://schemas.openxmlformats.org/drawingml/2006/main">
            <a:pPr algn="l">
              <a:defRPr sz="1350" b="1">
                <a:solidFill>
                  <a:srgbClr val="DCA83D"/>
                </a:solidFill>
                <a:latin typeface="프리텐다드"/>
                <a:ea typeface="프리텐다드"/>
                <a:cs typeface="프리텐다드"/>
              </a:defRPr>
            </a:pPr>
            <a:r>
              <a:rPr sz="1350" b="1">
                <a:solidFill>
                  <a:srgbClr val="DCA83D"/>
                </a:solidFill>
                <a:latin typeface="프리텐다드"/>
                <a:ea typeface="프리텐다드"/>
                <a:cs typeface="프리텐다드"/>
              </a:rPr>
              <a:t>저장·운영 경계</a:t>
            </a:r>
          </a:p>
        </p:txBody>
      </p:sp>
      <p:sp>
        <p:nvSpPr>
          <p:cNvPr id="48" name="">
            <a:extLst xmlns:a="http://schemas.openxmlformats.org/drawingml/2006/main">
              <a:ext uri="{FF2B5EF4-FFF2-40B4-BE49-F238E27FC236}">
                <a16:creationId xmlns:a16="http://schemas.microsoft.com/office/drawing/2014/main" id="{A1E9275D-2B23-40D2-92D8-46F07450EF69}"/>
              </a:ext>
            </a:extLst>
          </p:cNvPr>
          <p:cNvSpPr>
            <a:spLocks xmlns:a="http://schemas.openxmlformats.org/drawingml/2006/main" noGrp="1"/>
          </p:cNvSpPr>
          <p:nvPr/>
        </p:nvSpPr>
        <p:spPr>
          <a:xfrm xmlns:a="http://schemas.openxmlformats.org/drawingml/2006/main">
            <a:off x="9467850" y="7772400"/>
            <a:ext cx="75819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1">
                <a:solidFill>
                  <a:srgbClr val="0B2342"/>
                </a:solidFill>
                <a:latin typeface="프리텐다드"/>
                <a:ea typeface="프리텐다드"/>
                <a:cs typeface="프리텐다드"/>
              </a:defRPr>
            </a:pPr>
            <a:r>
              <a:rPr sz="1425" b="1">
                <a:solidFill>
                  <a:srgbClr val="0B2342"/>
                </a:solidFill>
                <a:latin typeface="프리텐다드"/>
                <a:ea typeface="프리텐다드"/>
                <a:cs typeface="프리텐다드"/>
              </a:rPr>
              <a:t>단건 수신 PASS · 전체 700장 미검증</a:t>
            </a:r>
          </a:p>
          <a:p xmlns:a="http://schemas.openxmlformats.org/drawingml/2006/main">
            <a:pPr algn="l">
              <a:defRPr sz="1425" b="1">
                <a:solidFill>
                  <a:srgbClr val="0B2342"/>
                </a:solidFill>
                <a:latin typeface="프리텐다드"/>
                <a:ea typeface="프리텐다드"/>
                <a:cs typeface="프리텐다드"/>
              </a:defRPr>
            </a:pPr>
            <a:r>
              <a:rPr sz="1425" b="1">
                <a:solidFill>
                  <a:srgbClr val="0B2342"/>
                </a:solidFill>
                <a:latin typeface="프리텐다드"/>
                <a:ea typeface="프리텐다드"/>
                <a:cs typeface="프리텐다드"/>
              </a:rPr>
              <a:t>B 8GiB LUKS2 시험과 수동 복구는 PASS, Orthanc 결합·재부팅·별도 Vault 복원은 미검증</a:t>
            </a:r>
          </a:p>
        </p:txBody>
      </p:sp>
      <p:sp>
        <p:nvSpPr>
          <p:cNvPr id="49" name="">
            <a:extLst xmlns:a="http://schemas.openxmlformats.org/drawingml/2006/main">
              <a:ext uri="{FF2B5EF4-FFF2-40B4-BE49-F238E27FC236}">
                <a16:creationId xmlns:a16="http://schemas.microsoft.com/office/drawing/2014/main" id="{65ED25DF-AA88-4B22-9A2A-969E086510DF}"/>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561C62AB-4B9B-4DA0-B68B-C2504A4ABA54}"/>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51" name="">
            <a:extLst xmlns:a="http://schemas.openxmlformats.org/drawingml/2006/main">
              <a:ext uri="{FF2B5EF4-FFF2-40B4-BE49-F238E27FC236}">
                <a16:creationId xmlns:a16="http://schemas.microsoft.com/office/drawing/2014/main" id="{61F5E073-ABA7-4653-8E15-C3AA6EA4B696}"/>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12  /  22</a:t>
            </a:r>
          </a:p>
        </p:txBody>
      </p:sp>
    </p:spTree>
    <p:extLst>
      <p:ext uri="{BB962C8B-B14F-4D97-AF65-F5344CB8AC3E}">
        <p14:creationId xmlns:p14="http://schemas.microsoft.com/office/powerpoint/2010/main" val="2395226995"/>
      </p:ext>
    </p:extLst>
  </p:cSld>
</p:sld>
</file>

<file path=ppt/slides/slide13.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AB20A055-8345-4158-8A9F-53A95294D20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D87E863-8329-4CE2-8F50-3CB159509BB9}"/>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DE90F1B-DFEF-4483-B50A-D0DA3BC35516}"/>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E6E3431-2ABD-4E0E-AAD0-4A5ABF3D1EEA}"/>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SYSTEM DESIGN</a:t>
            </a:r>
          </a:p>
        </p:txBody>
      </p:sp>
      <p:sp>
        <p:nvSpPr>
          <p:cNvPr id="5" name="">
            <a:extLst xmlns:a="http://schemas.openxmlformats.org/drawingml/2006/main">
              <a:ext uri="{FF2B5EF4-FFF2-40B4-BE49-F238E27FC236}">
                <a16:creationId xmlns:a16="http://schemas.microsoft.com/office/drawing/2014/main" id="{1785745A-0DDE-4D61-9617-D3B2EA1F7F29}"/>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구현 범위와 목표 운영</a:t>
            </a:r>
          </a:p>
        </p:txBody>
      </p:sp>
      <p:sp>
        <p:nvSpPr>
          <p:cNvPr id="6" name="">
            <a:extLst xmlns:a="http://schemas.openxmlformats.org/drawingml/2006/main">
              <a:ext uri="{FF2B5EF4-FFF2-40B4-BE49-F238E27FC236}">
                <a16:creationId xmlns:a16="http://schemas.microsoft.com/office/drawing/2014/main" id="{E6FA4008-C4D8-4368-8920-CE198604C0F6}"/>
              </a:ext>
            </a:extLst>
          </p:cNvPr>
          <p:cNvSpPr>
            <a:spLocks xmlns:a="http://schemas.openxmlformats.org/drawingml/2006/main" noGrp="1"/>
          </p:cNvSpPr>
          <p:nvPr/>
        </p:nvSpPr>
        <p:spPr>
          <a:xfrm xmlns:a="http://schemas.openxmlformats.org/drawingml/2006/main">
            <a:off x="1028700" y="2638425"/>
            <a:ext cx="162306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현재 배포 기반 · 증거가 확인된 동작 · 향후 운영 목표를 나눠 봅니다.</a:t>
            </a:r>
          </a:p>
        </p:txBody>
      </p:sp>
      <p:sp>
        <p:nvSpPr>
          <p:cNvPr id="7" name="">
            <a:extLst xmlns:a="http://schemas.openxmlformats.org/drawingml/2006/main">
              <a:ext uri="{FF2B5EF4-FFF2-40B4-BE49-F238E27FC236}">
                <a16:creationId xmlns:a16="http://schemas.microsoft.com/office/drawing/2014/main" id="{B07B2A52-46FC-48AF-AD83-E8AD95F8DE22}"/>
              </a:ext>
            </a:extLst>
          </p:cNvPr>
          <p:cNvSpPr>
            <a:spLocks xmlns:a="http://schemas.openxmlformats.org/drawingml/2006/main" noGrp="1"/>
          </p:cNvSpPr>
          <p:nvPr/>
        </p:nvSpPr>
        <p:spPr>
          <a:xfrm xmlns:a="http://schemas.openxmlformats.org/drawingml/2006/main">
            <a:off x="1028700" y="3371850"/>
            <a:ext cx="5048250" cy="4686300"/>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14288">
            <a:solidFill>
              <a:srgbClr val="D8E0E9"/>
            </a:solidFill>
            <a:prstDash val="solid"/>
          </a:ln>
        </p:spPr>
      </p:sp>
      <p:sp>
        <p:nvSpPr>
          <p:cNvPr id="8" name="">
            <a:extLst xmlns:a="http://schemas.openxmlformats.org/drawingml/2006/main">
              <a:ext uri="{FF2B5EF4-FFF2-40B4-BE49-F238E27FC236}">
                <a16:creationId xmlns:a16="http://schemas.microsoft.com/office/drawing/2014/main" id="{126F1B37-03EF-49A4-B003-B1C2C60C86D6}"/>
              </a:ext>
            </a:extLst>
          </p:cNvPr>
          <p:cNvSpPr>
            <a:spLocks xmlns:a="http://schemas.openxmlformats.org/drawingml/2006/main" noGrp="1"/>
          </p:cNvSpPr>
          <p:nvPr/>
        </p:nvSpPr>
        <p:spPr>
          <a:xfrm xmlns:a="http://schemas.openxmlformats.org/drawingml/2006/main">
            <a:off x="1028700" y="3371850"/>
            <a:ext cx="5048250" cy="685800"/>
          </a:xfrm>
          <a:prstGeom xmlns:a="http://schemas.openxmlformats.org/drawingml/2006/main" prst="rect">
            <a:avLst/>
          </a:prstGeom>
          <a:solidFill xmlns:a="http://schemas.openxmlformats.org/drawingml/2006/main">
            <a:srgbClr val="E9F1F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4DDF8FE-7C09-4F95-8CFA-33D87B482152}"/>
              </a:ext>
            </a:extLst>
          </p:cNvPr>
          <p:cNvSpPr>
            <a:spLocks xmlns:a="http://schemas.openxmlformats.org/drawingml/2006/main" noGrp="1"/>
          </p:cNvSpPr>
          <p:nvPr/>
        </p:nvSpPr>
        <p:spPr>
          <a:xfrm xmlns:a="http://schemas.openxmlformats.org/drawingml/2006/main">
            <a:off x="1238250" y="3476625"/>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83333"/>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현재 배포 기반</a:t>
            </a:r>
          </a:p>
        </p:txBody>
      </p:sp>
      <p:sp>
        <p:nvSpPr>
          <p:cNvPr id="10" name="">
            <a:extLst xmlns:a="http://schemas.openxmlformats.org/drawingml/2006/main">
              <a:ext uri="{FF2B5EF4-FFF2-40B4-BE49-F238E27FC236}">
                <a16:creationId xmlns:a16="http://schemas.microsoft.com/office/drawing/2014/main" id="{557EBC4B-CB92-42CD-9672-6A8BCD4E4780}"/>
              </a:ext>
            </a:extLst>
          </p:cNvPr>
          <p:cNvSpPr>
            <a:spLocks xmlns:a="http://schemas.openxmlformats.org/drawingml/2006/main" noGrp="1"/>
          </p:cNvSpPr>
          <p:nvPr/>
        </p:nvSpPr>
        <p:spPr>
          <a:xfrm xmlns:a="http://schemas.openxmlformats.org/drawingml/2006/main">
            <a:off x="1238250" y="3810000"/>
            <a:ext cx="462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7778"/>
          </a:bodyPr>
          <a:lstStyle xmlns:a="http://schemas.openxmlformats.org/drawingml/2006/main"/>
          <a:p xmlns:a="http://schemas.openxmlformats.org/drawingml/2006/main">
            <a:pPr algn="l">
              <a:defRPr sz="1125" b="1">
                <a:solidFill>
                  <a:srgbClr val="2F68B5"/>
                </a:solidFill>
                <a:latin typeface="프리텐다드"/>
                <a:ea typeface="프리텐다드"/>
                <a:cs typeface="프리텐다드"/>
              </a:defRPr>
            </a:pPr>
            <a:r>
              <a:rPr sz="1125" b="1">
                <a:solidFill>
                  <a:srgbClr val="2F68B5"/>
                </a:solidFill>
                <a:latin typeface="프리텐다드"/>
                <a:ea typeface="프리텐다드"/>
                <a:cs typeface="프리텐다드"/>
              </a:rPr>
              <a:t>CURRENT · TEST</a:t>
            </a:r>
          </a:p>
        </p:txBody>
      </p:sp>
      <p:sp>
        <p:nvSpPr>
          <p:cNvPr id="11" name="">
            <a:extLst xmlns:a="http://schemas.openxmlformats.org/drawingml/2006/main">
              <a:ext uri="{FF2B5EF4-FFF2-40B4-BE49-F238E27FC236}">
                <a16:creationId xmlns:a16="http://schemas.microsoft.com/office/drawing/2014/main" id="{CC386604-045C-4838-AF2C-DA1A58E04F62}"/>
              </a:ext>
            </a:extLst>
          </p:cNvPr>
          <p:cNvSpPr>
            <a:spLocks xmlns:a="http://schemas.openxmlformats.org/drawingml/2006/main" noGrp="1"/>
          </p:cNvSpPr>
          <p:nvPr/>
        </p:nvSpPr>
        <p:spPr>
          <a:xfrm xmlns:a="http://schemas.openxmlformats.org/drawingml/2006/main">
            <a:off x="1238250" y="42481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2F68B5"/>
                </a:solidFill>
                <a:latin typeface="프리텐다드"/>
                <a:ea typeface="프리텐다드"/>
                <a:cs typeface="프리텐다드"/>
              </a:defRPr>
            </a:pPr>
            <a:r>
              <a:rPr sz="1650" b="1">
                <a:solidFill>
                  <a:srgbClr val="2F68B5"/>
                </a:solidFill>
                <a:latin typeface="프리텐다드"/>
                <a:ea typeface="프리텐다드"/>
                <a:cs typeface="프리텐다드"/>
              </a:rPr>
              <a:t>Azure HTTPS edge</a:t>
            </a:r>
          </a:p>
        </p:txBody>
      </p:sp>
      <p:sp>
        <p:nvSpPr>
          <p:cNvPr id="12" name="">
            <a:extLst xmlns:a="http://schemas.openxmlformats.org/drawingml/2006/main">
              <a:ext uri="{FF2B5EF4-FFF2-40B4-BE49-F238E27FC236}">
                <a16:creationId xmlns:a16="http://schemas.microsoft.com/office/drawing/2014/main" id="{F00EEE08-145B-44EF-A226-D5D228117916}"/>
              </a:ext>
            </a:extLst>
          </p:cNvPr>
          <p:cNvSpPr>
            <a:spLocks xmlns:a="http://schemas.openxmlformats.org/drawingml/2006/main" noGrp="1"/>
          </p:cNvSpPr>
          <p:nvPr/>
        </p:nvSpPr>
        <p:spPr>
          <a:xfrm xmlns:a="http://schemas.openxmlformats.org/drawingml/2006/main">
            <a:off x="1238250" y="45910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Caddy + Coraza WAF</a:t>
            </a:r>
          </a:p>
        </p:txBody>
      </p:sp>
      <p:sp>
        <p:nvSpPr>
          <p:cNvPr id="13" name="">
            <a:extLst xmlns:a="http://schemas.openxmlformats.org/drawingml/2006/main">
              <a:ext uri="{FF2B5EF4-FFF2-40B4-BE49-F238E27FC236}">
                <a16:creationId xmlns:a16="http://schemas.microsoft.com/office/drawing/2014/main" id="{AF083E51-91BA-425A-8D17-AA0390BC77AE}"/>
              </a:ext>
            </a:extLst>
          </p:cNvPr>
          <p:cNvSpPr>
            <a:spLocks xmlns:a="http://schemas.openxmlformats.org/drawingml/2006/main" noGrp="1"/>
          </p:cNvSpPr>
          <p:nvPr/>
        </p:nvSpPr>
        <p:spPr>
          <a:xfrm xmlns:a="http://schemas.openxmlformats.org/drawingml/2006/main">
            <a:off x="1238250" y="49911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55FE879-E219-4F2F-917D-06407C507FCB}"/>
              </a:ext>
            </a:extLst>
          </p:cNvPr>
          <p:cNvSpPr>
            <a:spLocks xmlns:a="http://schemas.openxmlformats.org/drawingml/2006/main" noGrp="1"/>
          </p:cNvSpPr>
          <p:nvPr/>
        </p:nvSpPr>
        <p:spPr>
          <a:xfrm xmlns:a="http://schemas.openxmlformats.org/drawingml/2006/main">
            <a:off x="1238250" y="50863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2F68B5"/>
                </a:solidFill>
                <a:latin typeface="프리텐다드"/>
                <a:ea typeface="프리텐다드"/>
                <a:cs typeface="프리텐다드"/>
              </a:defRPr>
            </a:pPr>
            <a:r>
              <a:rPr sz="1650" b="1">
                <a:solidFill>
                  <a:srgbClr val="2F68B5"/>
                </a:solidFill>
                <a:latin typeface="프리텐다드"/>
                <a:ea typeface="프리텐다드"/>
                <a:cs typeface="프리텐다드"/>
              </a:rPr>
              <a:t>Medi Q Control</a:t>
            </a:r>
          </a:p>
        </p:txBody>
      </p:sp>
      <p:sp>
        <p:nvSpPr>
          <p:cNvPr id="15" name="">
            <a:extLst xmlns:a="http://schemas.openxmlformats.org/drawingml/2006/main">
              <a:ext uri="{FF2B5EF4-FFF2-40B4-BE49-F238E27FC236}">
                <a16:creationId xmlns:a16="http://schemas.microsoft.com/office/drawing/2014/main" id="{456915B1-4512-4CB2-9E05-2892A661FE20}"/>
              </a:ext>
            </a:extLst>
          </p:cNvPr>
          <p:cNvSpPr>
            <a:spLocks xmlns:a="http://schemas.openxmlformats.org/drawingml/2006/main" noGrp="1"/>
          </p:cNvSpPr>
          <p:nvPr/>
        </p:nvSpPr>
        <p:spPr>
          <a:xfrm xmlns:a="http://schemas.openxmlformats.org/drawingml/2006/main">
            <a:off x="1238250" y="54292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API + PostgreSQL metadata</a:t>
            </a:r>
          </a:p>
        </p:txBody>
      </p:sp>
      <p:sp>
        <p:nvSpPr>
          <p:cNvPr id="16" name="">
            <a:extLst xmlns:a="http://schemas.openxmlformats.org/drawingml/2006/main">
              <a:ext uri="{FF2B5EF4-FFF2-40B4-BE49-F238E27FC236}">
                <a16:creationId xmlns:a16="http://schemas.microsoft.com/office/drawing/2014/main" id="{F655F198-72CD-49CF-A3A0-6D28D2A77828}"/>
              </a:ext>
            </a:extLst>
          </p:cNvPr>
          <p:cNvSpPr>
            <a:spLocks xmlns:a="http://schemas.openxmlformats.org/drawingml/2006/main" noGrp="1"/>
          </p:cNvSpPr>
          <p:nvPr/>
        </p:nvSpPr>
        <p:spPr>
          <a:xfrm xmlns:a="http://schemas.openxmlformats.org/drawingml/2006/main">
            <a:off x="1238250" y="58293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B73390C-EEA0-4620-9C53-A31DAD237A44}"/>
              </a:ext>
            </a:extLst>
          </p:cNvPr>
          <p:cNvSpPr>
            <a:spLocks xmlns:a="http://schemas.openxmlformats.org/drawingml/2006/main" noGrp="1"/>
          </p:cNvSpPr>
          <p:nvPr/>
        </p:nvSpPr>
        <p:spPr>
          <a:xfrm xmlns:a="http://schemas.openxmlformats.org/drawingml/2006/main">
            <a:off x="1238250" y="59245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2F68B5"/>
                </a:solidFill>
                <a:latin typeface="프리텐다드"/>
                <a:ea typeface="프리텐다드"/>
                <a:cs typeface="프리텐다드"/>
              </a:defRPr>
            </a:pPr>
            <a:r>
              <a:rPr sz="1650" b="1">
                <a:solidFill>
                  <a:srgbClr val="2F68B5"/>
                </a:solidFill>
                <a:latin typeface="프리텐다드"/>
                <a:ea typeface="프리텐다드"/>
                <a:cs typeface="프리텐다드"/>
              </a:rPr>
              <a:t>A/B 테스트 병원</a:t>
            </a:r>
          </a:p>
        </p:txBody>
      </p:sp>
      <p:sp>
        <p:nvSpPr>
          <p:cNvPr id="18" name="">
            <a:extLst xmlns:a="http://schemas.openxmlformats.org/drawingml/2006/main">
              <a:ext uri="{FF2B5EF4-FFF2-40B4-BE49-F238E27FC236}">
                <a16:creationId xmlns:a16="http://schemas.microsoft.com/office/drawing/2014/main" id="{31037C21-2EAF-4945-8C2C-25D5C10C3058}"/>
              </a:ext>
            </a:extLst>
          </p:cNvPr>
          <p:cNvSpPr>
            <a:spLocks xmlns:a="http://schemas.openxmlformats.org/drawingml/2006/main" noGrp="1"/>
          </p:cNvSpPr>
          <p:nvPr/>
        </p:nvSpPr>
        <p:spPr>
          <a:xfrm xmlns:a="http://schemas.openxmlformats.org/drawingml/2006/main">
            <a:off x="1238250" y="62674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Gateway + Orthanc 역할</a:t>
            </a:r>
          </a:p>
        </p:txBody>
      </p:sp>
      <p:sp>
        <p:nvSpPr>
          <p:cNvPr id="19" name="">
            <a:extLst xmlns:a="http://schemas.openxmlformats.org/drawingml/2006/main">
              <a:ext uri="{FF2B5EF4-FFF2-40B4-BE49-F238E27FC236}">
                <a16:creationId xmlns:a16="http://schemas.microsoft.com/office/drawing/2014/main" id="{F7229C90-41C1-4134-8902-A91662C1B816}"/>
              </a:ext>
            </a:extLst>
          </p:cNvPr>
          <p:cNvSpPr>
            <a:spLocks xmlns:a="http://schemas.openxmlformats.org/drawingml/2006/main" noGrp="1"/>
          </p:cNvSpPr>
          <p:nvPr/>
        </p:nvSpPr>
        <p:spPr>
          <a:xfrm xmlns:a="http://schemas.openxmlformats.org/drawingml/2006/main">
            <a:off x="1238250" y="66675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6BF2F3E-ECF6-46D2-8295-E587C0B64EC4}"/>
              </a:ext>
            </a:extLst>
          </p:cNvPr>
          <p:cNvSpPr>
            <a:spLocks xmlns:a="http://schemas.openxmlformats.org/drawingml/2006/main" noGrp="1"/>
          </p:cNvSpPr>
          <p:nvPr/>
        </p:nvSpPr>
        <p:spPr>
          <a:xfrm xmlns:a="http://schemas.openxmlformats.org/drawingml/2006/main">
            <a:off x="1238250" y="67627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2F68B5"/>
                </a:solidFill>
                <a:latin typeface="프리텐다드"/>
                <a:ea typeface="프리텐다드"/>
                <a:cs typeface="프리텐다드"/>
              </a:defRPr>
            </a:pPr>
            <a:r>
              <a:rPr sz="1650" b="1">
                <a:solidFill>
                  <a:srgbClr val="2F68B5"/>
                </a:solidFill>
                <a:latin typeface="프리텐다드"/>
                <a:ea typeface="프리텐다드"/>
                <a:cs typeface="프리텐다드"/>
              </a:rPr>
              <a:t>Key Vault</a:t>
            </a:r>
          </a:p>
        </p:txBody>
      </p:sp>
      <p:sp>
        <p:nvSpPr>
          <p:cNvPr id="21" name="">
            <a:extLst xmlns:a="http://schemas.openxmlformats.org/drawingml/2006/main">
              <a:ext uri="{FF2B5EF4-FFF2-40B4-BE49-F238E27FC236}">
                <a16:creationId xmlns:a16="http://schemas.microsoft.com/office/drawing/2014/main" id="{5AA0D62A-B747-4935-8F29-499CCFC82383}"/>
              </a:ext>
            </a:extLst>
          </p:cNvPr>
          <p:cNvSpPr>
            <a:spLocks xmlns:a="http://schemas.openxmlformats.org/drawingml/2006/main" noGrp="1"/>
          </p:cNvSpPr>
          <p:nvPr/>
        </p:nvSpPr>
        <p:spPr>
          <a:xfrm xmlns:a="http://schemas.openxmlformats.org/drawingml/2006/main">
            <a:off x="1238250" y="71056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단건 경로 key operation 사용</a:t>
            </a:r>
          </a:p>
        </p:txBody>
      </p:sp>
      <p:sp>
        <p:nvSpPr>
          <p:cNvPr id="22" name="">
            <a:extLst xmlns:a="http://schemas.openxmlformats.org/drawingml/2006/main">
              <a:ext uri="{FF2B5EF4-FFF2-40B4-BE49-F238E27FC236}">
                <a16:creationId xmlns:a16="http://schemas.microsoft.com/office/drawing/2014/main" id="{C4D68477-C83E-4139-AAF8-816D3B9EBD31}"/>
              </a:ext>
            </a:extLst>
          </p:cNvPr>
          <p:cNvSpPr>
            <a:spLocks xmlns:a="http://schemas.openxmlformats.org/drawingml/2006/main" noGrp="1"/>
          </p:cNvSpPr>
          <p:nvPr/>
        </p:nvSpPr>
        <p:spPr>
          <a:xfrm xmlns:a="http://schemas.openxmlformats.org/drawingml/2006/main">
            <a:off x="6619875" y="3371850"/>
            <a:ext cx="5048250" cy="4686300"/>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14288">
            <a:solidFill>
              <a:srgbClr val="D8E0E9"/>
            </a:solidFill>
            <a:prstDash val="solid"/>
          </a:ln>
        </p:spPr>
      </p:sp>
      <p:sp>
        <p:nvSpPr>
          <p:cNvPr id="23" name="">
            <a:extLst xmlns:a="http://schemas.openxmlformats.org/drawingml/2006/main">
              <a:ext uri="{FF2B5EF4-FFF2-40B4-BE49-F238E27FC236}">
                <a16:creationId xmlns:a16="http://schemas.microsoft.com/office/drawing/2014/main" id="{557AB729-DFB6-4D1E-86F6-A95FDFBF621D}"/>
              </a:ext>
            </a:extLst>
          </p:cNvPr>
          <p:cNvSpPr>
            <a:spLocks xmlns:a="http://schemas.openxmlformats.org/drawingml/2006/main" noGrp="1"/>
          </p:cNvSpPr>
          <p:nvPr/>
        </p:nvSpPr>
        <p:spPr>
          <a:xfrm xmlns:a="http://schemas.openxmlformats.org/drawingml/2006/main">
            <a:off x="6619875" y="3371850"/>
            <a:ext cx="5048250" cy="685800"/>
          </a:xfrm>
          <a:prstGeom xmlns:a="http://schemas.openxmlformats.org/drawingml/2006/main" prst="rect">
            <a:avLst/>
          </a:prstGeom>
          <a:solidFill xmlns:a="http://schemas.openxmlformats.org/drawingml/2006/main">
            <a:srgbClr val="E7F4F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2537BF3-2B71-45B9-ACAB-924A5726B60F}"/>
              </a:ext>
            </a:extLst>
          </p:cNvPr>
          <p:cNvSpPr>
            <a:spLocks xmlns:a="http://schemas.openxmlformats.org/drawingml/2006/main" noGrp="1"/>
          </p:cNvSpPr>
          <p:nvPr/>
        </p:nvSpPr>
        <p:spPr>
          <a:xfrm xmlns:a="http://schemas.openxmlformats.org/drawingml/2006/main">
            <a:off x="6829425" y="3476625"/>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83333"/>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증거가 확인된 동작</a:t>
            </a:r>
          </a:p>
        </p:txBody>
      </p:sp>
      <p:sp>
        <p:nvSpPr>
          <p:cNvPr id="25" name="">
            <a:extLst xmlns:a="http://schemas.openxmlformats.org/drawingml/2006/main">
              <a:ext uri="{FF2B5EF4-FFF2-40B4-BE49-F238E27FC236}">
                <a16:creationId xmlns:a16="http://schemas.microsoft.com/office/drawing/2014/main" id="{D8A2CEA7-BFE4-4728-A78D-211FB222271C}"/>
              </a:ext>
            </a:extLst>
          </p:cNvPr>
          <p:cNvSpPr>
            <a:spLocks xmlns:a="http://schemas.openxmlformats.org/drawingml/2006/main" noGrp="1"/>
          </p:cNvSpPr>
          <p:nvPr/>
        </p:nvSpPr>
        <p:spPr>
          <a:xfrm xmlns:a="http://schemas.openxmlformats.org/drawingml/2006/main">
            <a:off x="6829425" y="3810000"/>
            <a:ext cx="462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7778"/>
          </a:bodyPr>
          <a:lstStyle xmlns:a="http://schemas.openxmlformats.org/drawingml/2006/main"/>
          <a:p xmlns:a="http://schemas.openxmlformats.org/drawingml/2006/main">
            <a:pPr algn="l">
              <a:defRPr sz="1125" b="1">
                <a:solidFill>
                  <a:srgbClr val="168B82"/>
                </a:solidFill>
                <a:latin typeface="프리텐다드"/>
                <a:ea typeface="프리텐다드"/>
                <a:cs typeface="프리텐다드"/>
              </a:defRPr>
            </a:pPr>
            <a:r>
              <a:rPr sz="1125" b="1">
                <a:solidFill>
                  <a:srgbClr val="168B82"/>
                </a:solidFill>
                <a:latin typeface="프리텐다드"/>
                <a:ea typeface="프리텐다드"/>
                <a:cs typeface="프리텐다드"/>
              </a:rPr>
              <a:t>LIVE EVIDENCE</a:t>
            </a:r>
          </a:p>
        </p:txBody>
      </p:sp>
      <p:sp>
        <p:nvSpPr>
          <p:cNvPr id="26" name="">
            <a:extLst xmlns:a="http://schemas.openxmlformats.org/drawingml/2006/main">
              <a:ext uri="{FF2B5EF4-FFF2-40B4-BE49-F238E27FC236}">
                <a16:creationId xmlns:a16="http://schemas.microsoft.com/office/drawing/2014/main" id="{13898125-1A1A-4B61-AA8B-53864B488093}"/>
              </a:ext>
            </a:extLst>
          </p:cNvPr>
          <p:cNvSpPr>
            <a:spLocks xmlns:a="http://schemas.openxmlformats.org/drawingml/2006/main" noGrp="1"/>
          </p:cNvSpPr>
          <p:nvPr/>
        </p:nvSpPr>
        <p:spPr>
          <a:xfrm xmlns:a="http://schemas.openxmlformats.org/drawingml/2006/main">
            <a:off x="6829425" y="42481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168B82"/>
                </a:solidFill>
                <a:latin typeface="프리텐다드"/>
                <a:ea typeface="프리텐다드"/>
                <a:cs typeface="프리텐다드"/>
              </a:defRPr>
            </a:pPr>
            <a:r>
              <a:rPr sz="1650" b="1">
                <a:solidFill>
                  <a:srgbClr val="168B82"/>
                </a:solidFill>
                <a:latin typeface="프리텐다드"/>
                <a:ea typeface="프리텐다드"/>
                <a:cs typeface="프리텐다드"/>
              </a:rPr>
              <a:t>합성 영상 1건</a:t>
            </a:r>
          </a:p>
        </p:txBody>
      </p:sp>
      <p:sp>
        <p:nvSpPr>
          <p:cNvPr id="27" name="">
            <a:extLst xmlns:a="http://schemas.openxmlformats.org/drawingml/2006/main">
              <a:ext uri="{FF2B5EF4-FFF2-40B4-BE49-F238E27FC236}">
                <a16:creationId xmlns:a16="http://schemas.microsoft.com/office/drawing/2014/main" id="{F41EF486-8CC4-418E-8A3C-59B1C188FA8D}"/>
              </a:ext>
            </a:extLst>
          </p:cNvPr>
          <p:cNvSpPr>
            <a:spLocks xmlns:a="http://schemas.openxmlformats.org/drawingml/2006/main" noGrp="1"/>
          </p:cNvSpPr>
          <p:nvPr/>
        </p:nvSpPr>
        <p:spPr>
          <a:xfrm xmlns:a="http://schemas.openxmlformats.org/drawingml/2006/main">
            <a:off x="6829425" y="45910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기존 승인 동의 + Entra/DPoP</a:t>
            </a:r>
          </a:p>
        </p:txBody>
      </p:sp>
      <p:sp>
        <p:nvSpPr>
          <p:cNvPr id="28" name="">
            <a:extLst xmlns:a="http://schemas.openxmlformats.org/drawingml/2006/main">
              <a:ext uri="{FF2B5EF4-FFF2-40B4-BE49-F238E27FC236}">
                <a16:creationId xmlns:a16="http://schemas.microsoft.com/office/drawing/2014/main" id="{01534458-D9D5-4451-9AEE-1DB1DE4FC13B}"/>
              </a:ext>
            </a:extLst>
          </p:cNvPr>
          <p:cNvSpPr>
            <a:spLocks xmlns:a="http://schemas.openxmlformats.org/drawingml/2006/main" noGrp="1"/>
          </p:cNvSpPr>
          <p:nvPr/>
        </p:nvSpPr>
        <p:spPr>
          <a:xfrm xmlns:a="http://schemas.openxmlformats.org/drawingml/2006/main">
            <a:off x="6829425" y="49911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DD8FC25-9433-4D8B-ABB8-93DCC532C08A}"/>
              </a:ext>
            </a:extLst>
          </p:cNvPr>
          <p:cNvSpPr>
            <a:spLocks xmlns:a="http://schemas.openxmlformats.org/drawingml/2006/main" noGrp="1"/>
          </p:cNvSpPr>
          <p:nvPr/>
        </p:nvSpPr>
        <p:spPr>
          <a:xfrm xmlns:a="http://schemas.openxmlformats.org/drawingml/2006/main">
            <a:off x="6829425" y="50863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168B82"/>
                </a:solidFill>
                <a:latin typeface="프리텐다드"/>
                <a:ea typeface="프리텐다드"/>
                <a:cs typeface="프리텐다드"/>
              </a:defRPr>
            </a:pPr>
            <a:r>
              <a:rPr sz="1650" b="1">
                <a:solidFill>
                  <a:srgbClr val="168B82"/>
                </a:solidFill>
                <a:latin typeface="프리텐다드"/>
                <a:ea typeface="프리텐다드"/>
                <a:cs typeface="프리텐다드"/>
              </a:rPr>
              <a:t>B PACS 독립 재조회</a:t>
            </a:r>
          </a:p>
        </p:txBody>
      </p:sp>
      <p:sp>
        <p:nvSpPr>
          <p:cNvPr id="30" name="">
            <a:extLst xmlns:a="http://schemas.openxmlformats.org/drawingml/2006/main">
              <a:ext uri="{FF2B5EF4-FFF2-40B4-BE49-F238E27FC236}">
                <a16:creationId xmlns:a16="http://schemas.microsoft.com/office/drawing/2014/main" id="{CFF82F8E-83EC-4A3D-8AB9-3A734DE8E8AB}"/>
              </a:ext>
            </a:extLst>
          </p:cNvPr>
          <p:cNvSpPr>
            <a:spLocks xmlns:a="http://schemas.openxmlformats.org/drawingml/2006/main" noGrp="1"/>
          </p:cNvSpPr>
          <p:nvPr/>
        </p:nvSpPr>
        <p:spPr>
          <a:xfrm xmlns:a="http://schemas.openxmlformats.org/drawingml/2006/main">
            <a:off x="6829425" y="54292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UID · 크기 · SHA-256 · ID 일치</a:t>
            </a:r>
          </a:p>
        </p:txBody>
      </p:sp>
      <p:sp>
        <p:nvSpPr>
          <p:cNvPr id="31" name="">
            <a:extLst xmlns:a="http://schemas.openxmlformats.org/drawingml/2006/main">
              <a:ext uri="{FF2B5EF4-FFF2-40B4-BE49-F238E27FC236}">
                <a16:creationId xmlns:a16="http://schemas.microsoft.com/office/drawing/2014/main" id="{BCFDDC8B-E735-46CA-AB9C-53EA6CA2496E}"/>
              </a:ext>
            </a:extLst>
          </p:cNvPr>
          <p:cNvSpPr>
            <a:spLocks xmlns:a="http://schemas.openxmlformats.org/drawingml/2006/main" noGrp="1"/>
          </p:cNvSpPr>
          <p:nvPr/>
        </p:nvSpPr>
        <p:spPr>
          <a:xfrm xmlns:a="http://schemas.openxmlformats.org/drawingml/2006/main">
            <a:off x="6829425" y="58293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0B5B092-EA36-42AF-9666-23AF73CFC0A8}"/>
              </a:ext>
            </a:extLst>
          </p:cNvPr>
          <p:cNvSpPr>
            <a:spLocks xmlns:a="http://schemas.openxmlformats.org/drawingml/2006/main" noGrp="1"/>
          </p:cNvSpPr>
          <p:nvPr/>
        </p:nvSpPr>
        <p:spPr>
          <a:xfrm xmlns:a="http://schemas.openxmlformats.org/drawingml/2006/main">
            <a:off x="6829425" y="59245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168B82"/>
                </a:solidFill>
                <a:latin typeface="프리텐다드"/>
                <a:ea typeface="프리텐다드"/>
                <a:cs typeface="프리텐다드"/>
              </a:defRPr>
            </a:pPr>
            <a:r>
              <a:rPr sz="1650" b="1">
                <a:solidFill>
                  <a:srgbClr val="168B82"/>
                </a:solidFill>
                <a:latin typeface="프리텐다드"/>
                <a:ea typeface="프리텐다드"/>
                <a:cs typeface="프리텐다드"/>
              </a:rPr>
              <a:t>감사 이벤트 상관</a:t>
            </a:r>
          </a:p>
        </p:txBody>
      </p:sp>
      <p:sp>
        <p:nvSpPr>
          <p:cNvPr id="33" name="">
            <a:extLst xmlns:a="http://schemas.openxmlformats.org/drawingml/2006/main">
              <a:ext uri="{FF2B5EF4-FFF2-40B4-BE49-F238E27FC236}">
                <a16:creationId xmlns:a16="http://schemas.microsoft.com/office/drawing/2014/main" id="{55C1F28E-FAA6-4D7D-B9DE-B265F8817B96}"/>
              </a:ext>
            </a:extLst>
          </p:cNvPr>
          <p:cNvSpPr>
            <a:spLocks xmlns:a="http://schemas.openxmlformats.org/drawingml/2006/main" noGrp="1"/>
          </p:cNvSpPr>
          <p:nvPr/>
        </p:nvSpPr>
        <p:spPr>
          <a:xfrm xmlns:a="http://schemas.openxmlformats.org/drawingml/2006/main">
            <a:off x="6829425" y="62674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해당 단건 session 범위</a:t>
            </a:r>
          </a:p>
        </p:txBody>
      </p:sp>
      <p:sp>
        <p:nvSpPr>
          <p:cNvPr id="34" name="">
            <a:extLst xmlns:a="http://schemas.openxmlformats.org/drawingml/2006/main">
              <a:ext uri="{FF2B5EF4-FFF2-40B4-BE49-F238E27FC236}">
                <a16:creationId xmlns:a16="http://schemas.microsoft.com/office/drawing/2014/main" id="{71662C4C-7A76-4C13-9DA9-819E1AB8EE3E}"/>
              </a:ext>
            </a:extLst>
          </p:cNvPr>
          <p:cNvSpPr>
            <a:spLocks xmlns:a="http://schemas.openxmlformats.org/drawingml/2006/main" noGrp="1"/>
          </p:cNvSpPr>
          <p:nvPr/>
        </p:nvSpPr>
        <p:spPr>
          <a:xfrm xmlns:a="http://schemas.openxmlformats.org/drawingml/2006/main">
            <a:off x="6829425" y="66675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2E426B60-6153-4B00-A7DB-5DE760FCFDEA}"/>
              </a:ext>
            </a:extLst>
          </p:cNvPr>
          <p:cNvSpPr>
            <a:spLocks xmlns:a="http://schemas.openxmlformats.org/drawingml/2006/main" noGrp="1"/>
          </p:cNvSpPr>
          <p:nvPr/>
        </p:nvSpPr>
        <p:spPr>
          <a:xfrm xmlns:a="http://schemas.openxmlformats.org/drawingml/2006/main">
            <a:off x="6829425" y="67627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168B82"/>
                </a:solidFill>
                <a:latin typeface="프리텐다드"/>
                <a:ea typeface="프리텐다드"/>
                <a:cs typeface="프리텐다드"/>
              </a:defRPr>
            </a:pPr>
            <a:r>
              <a:rPr sz="1650" b="1">
                <a:solidFill>
                  <a:srgbClr val="168B82"/>
                </a:solidFill>
                <a:latin typeface="프리텐다드"/>
                <a:ea typeface="프리텐다드"/>
                <a:cs typeface="프리텐다드"/>
              </a:rPr>
              <a:t>700장 전체 전송</a:t>
            </a:r>
          </a:p>
        </p:txBody>
      </p:sp>
      <p:sp>
        <p:nvSpPr>
          <p:cNvPr id="36" name="">
            <a:extLst xmlns:a="http://schemas.openxmlformats.org/drawingml/2006/main">
              <a:ext uri="{FF2B5EF4-FFF2-40B4-BE49-F238E27FC236}">
                <a16:creationId xmlns:a16="http://schemas.microsoft.com/office/drawing/2014/main" id="{85F1F368-49EB-4073-935B-55AF20F91E74}"/>
              </a:ext>
            </a:extLst>
          </p:cNvPr>
          <p:cNvSpPr>
            <a:spLocks xmlns:a="http://schemas.openxmlformats.org/drawingml/2006/main" noGrp="1"/>
          </p:cNvSpPr>
          <p:nvPr/>
        </p:nvSpPr>
        <p:spPr>
          <a:xfrm xmlns:a="http://schemas.openxmlformats.org/drawingml/2006/main">
            <a:off x="6829425" y="71056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NOT VERIFIED</a:t>
            </a:r>
          </a:p>
        </p:txBody>
      </p:sp>
      <p:sp>
        <p:nvSpPr>
          <p:cNvPr id="37" name="">
            <a:extLst xmlns:a="http://schemas.openxmlformats.org/drawingml/2006/main">
              <a:ext uri="{FF2B5EF4-FFF2-40B4-BE49-F238E27FC236}">
                <a16:creationId xmlns:a16="http://schemas.microsoft.com/office/drawing/2014/main" id="{7CE92491-6E0E-4F0C-BF85-E08A65F261B4}"/>
              </a:ext>
            </a:extLst>
          </p:cNvPr>
          <p:cNvSpPr>
            <a:spLocks xmlns:a="http://schemas.openxmlformats.org/drawingml/2006/main" noGrp="1"/>
          </p:cNvSpPr>
          <p:nvPr/>
        </p:nvSpPr>
        <p:spPr>
          <a:xfrm xmlns:a="http://schemas.openxmlformats.org/drawingml/2006/main">
            <a:off x="12211050" y="3371850"/>
            <a:ext cx="5048250" cy="4686300"/>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14288">
            <a:solidFill>
              <a:srgbClr val="D8E0E9"/>
            </a:solidFill>
            <a:prstDash val="solid"/>
          </a:ln>
        </p:spPr>
      </p:sp>
      <p:sp>
        <p:nvSpPr>
          <p:cNvPr id="38" name="">
            <a:extLst xmlns:a="http://schemas.openxmlformats.org/drawingml/2006/main">
              <a:ext uri="{FF2B5EF4-FFF2-40B4-BE49-F238E27FC236}">
                <a16:creationId xmlns:a16="http://schemas.microsoft.com/office/drawing/2014/main" id="{70CEA2D6-D72D-4110-BA02-B3A0B0A0CF11}"/>
              </a:ext>
            </a:extLst>
          </p:cNvPr>
          <p:cNvSpPr>
            <a:spLocks xmlns:a="http://schemas.openxmlformats.org/drawingml/2006/main" noGrp="1"/>
          </p:cNvSpPr>
          <p:nvPr/>
        </p:nvSpPr>
        <p:spPr>
          <a:xfrm xmlns:a="http://schemas.openxmlformats.org/drawingml/2006/main">
            <a:off x="12211050" y="3371850"/>
            <a:ext cx="5048250" cy="685800"/>
          </a:xfrm>
          <a:prstGeom xmlns:a="http://schemas.openxmlformats.org/drawingml/2006/main" prst="rect">
            <a:avLst/>
          </a:prstGeom>
          <a:solidFill xmlns:a="http://schemas.openxmlformats.org/drawingml/2006/main">
            <a:srgbClr val="FBF4E5"/>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4224B55-6E2B-4F29-A750-D4079D82C7C1}"/>
              </a:ext>
            </a:extLst>
          </p:cNvPr>
          <p:cNvSpPr>
            <a:spLocks xmlns:a="http://schemas.openxmlformats.org/drawingml/2006/main" noGrp="1"/>
          </p:cNvSpPr>
          <p:nvPr/>
        </p:nvSpPr>
        <p:spPr>
          <a:xfrm xmlns:a="http://schemas.openxmlformats.org/drawingml/2006/main">
            <a:off x="12420600" y="3476625"/>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83333"/>
          </a:bodyPr>
          <a:lstStyle xmlns:a="http://schemas.openxmlformats.org/drawingml/2006/main"/>
          <a:p xmlns:a="http://schemas.openxmlformats.org/drawingml/2006/main">
            <a:pPr algn="l">
              <a:defRPr sz="1950" b="1">
                <a:solidFill>
                  <a:srgbClr val="17263A"/>
                </a:solidFill>
                <a:latin typeface="프리텐다드"/>
                <a:ea typeface="프리텐다드"/>
                <a:cs typeface="프리텐다드"/>
              </a:defRPr>
            </a:pPr>
            <a:r>
              <a:rPr sz="1950" b="1">
                <a:solidFill>
                  <a:srgbClr val="17263A"/>
                </a:solidFill>
                <a:latin typeface="프리텐다드"/>
                <a:ea typeface="프리텐다드"/>
                <a:cs typeface="프리텐다드"/>
              </a:rPr>
              <a:t>목표 운영 · 미검증</a:t>
            </a:r>
          </a:p>
        </p:txBody>
      </p:sp>
      <p:sp>
        <p:nvSpPr>
          <p:cNvPr id="40" name="">
            <a:extLst xmlns:a="http://schemas.openxmlformats.org/drawingml/2006/main">
              <a:ext uri="{FF2B5EF4-FFF2-40B4-BE49-F238E27FC236}">
                <a16:creationId xmlns:a16="http://schemas.microsoft.com/office/drawing/2014/main" id="{4485DAD1-5AC9-448B-80C5-A3CB569A2D4A}"/>
              </a:ext>
            </a:extLst>
          </p:cNvPr>
          <p:cNvSpPr>
            <a:spLocks xmlns:a="http://schemas.openxmlformats.org/drawingml/2006/main" noGrp="1"/>
          </p:cNvSpPr>
          <p:nvPr/>
        </p:nvSpPr>
        <p:spPr>
          <a:xfrm xmlns:a="http://schemas.openxmlformats.org/drawingml/2006/main">
            <a:off x="12420600" y="3810000"/>
            <a:ext cx="462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7778"/>
          </a:bodyPr>
          <a:lstStyle xmlns:a="http://schemas.openxmlformats.org/drawingml/2006/main"/>
          <a:p xmlns:a="http://schemas.openxmlformats.org/drawingml/2006/main">
            <a:pPr algn="l">
              <a:defRPr sz="1125" b="1">
                <a:solidFill>
                  <a:srgbClr val="DCA83D"/>
                </a:solidFill>
                <a:latin typeface="프리텐다드"/>
                <a:ea typeface="프리텐다드"/>
                <a:cs typeface="프리텐다드"/>
              </a:defRPr>
            </a:pPr>
            <a:r>
              <a:rPr sz="1125" b="1">
                <a:solidFill>
                  <a:srgbClr val="DCA83D"/>
                </a:solidFill>
                <a:latin typeface="프리텐다드"/>
                <a:ea typeface="프리텐다드"/>
                <a:cs typeface="프리텐다드"/>
              </a:rPr>
              <a:t>FUTURE · NOT DEPLOYED</a:t>
            </a:r>
          </a:p>
        </p:txBody>
      </p:sp>
      <p:sp>
        <p:nvSpPr>
          <p:cNvPr id="41" name="">
            <a:extLst xmlns:a="http://schemas.openxmlformats.org/drawingml/2006/main">
              <a:ext uri="{FF2B5EF4-FFF2-40B4-BE49-F238E27FC236}">
                <a16:creationId xmlns:a16="http://schemas.microsoft.com/office/drawing/2014/main" id="{A4C83BFA-541F-45DA-BABF-F143233020C8}"/>
              </a:ext>
            </a:extLst>
          </p:cNvPr>
          <p:cNvSpPr>
            <a:spLocks xmlns:a="http://schemas.openxmlformats.org/drawingml/2006/main" noGrp="1"/>
          </p:cNvSpPr>
          <p:nvPr/>
        </p:nvSpPr>
        <p:spPr>
          <a:xfrm xmlns:a="http://schemas.openxmlformats.org/drawingml/2006/main">
            <a:off x="12420600" y="42481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DCA83D"/>
                </a:solidFill>
                <a:latin typeface="프리텐다드"/>
                <a:ea typeface="프리텐다드"/>
                <a:cs typeface="프리텐다드"/>
              </a:defRPr>
            </a:pPr>
            <a:r>
              <a:rPr sz="1650" b="1">
                <a:solidFill>
                  <a:srgbClr val="DCA83D"/>
                </a:solidFill>
                <a:latin typeface="프리텐다드"/>
                <a:ea typeface="프리텐다드"/>
                <a:cs typeface="프리텐다드"/>
              </a:rPr>
              <a:t>관리형 실행 환경</a:t>
            </a:r>
          </a:p>
        </p:txBody>
      </p:sp>
      <p:sp>
        <p:nvSpPr>
          <p:cNvPr id="42" name="">
            <a:extLst xmlns:a="http://schemas.openxmlformats.org/drawingml/2006/main">
              <a:ext uri="{FF2B5EF4-FFF2-40B4-BE49-F238E27FC236}">
                <a16:creationId xmlns:a16="http://schemas.microsoft.com/office/drawing/2014/main" id="{06D90714-5435-4A44-931A-85ECA4075ED7}"/>
              </a:ext>
            </a:extLst>
          </p:cNvPr>
          <p:cNvSpPr>
            <a:spLocks xmlns:a="http://schemas.openxmlformats.org/drawingml/2006/main" noGrp="1"/>
          </p:cNvSpPr>
          <p:nvPr/>
        </p:nvSpPr>
        <p:spPr>
          <a:xfrm xmlns:a="http://schemas.openxmlformats.org/drawingml/2006/main">
            <a:off x="12420600" y="45910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App Service / AKS / 관리형 DB</a:t>
            </a:r>
          </a:p>
        </p:txBody>
      </p:sp>
      <p:sp>
        <p:nvSpPr>
          <p:cNvPr id="43" name="">
            <a:extLst xmlns:a="http://schemas.openxmlformats.org/drawingml/2006/main">
              <a:ext uri="{FF2B5EF4-FFF2-40B4-BE49-F238E27FC236}">
                <a16:creationId xmlns:a16="http://schemas.microsoft.com/office/drawing/2014/main" id="{716BAD05-C51B-4880-A57C-F94417125269}"/>
              </a:ext>
            </a:extLst>
          </p:cNvPr>
          <p:cNvSpPr>
            <a:spLocks xmlns:a="http://schemas.openxmlformats.org/drawingml/2006/main" noGrp="1"/>
          </p:cNvSpPr>
          <p:nvPr/>
        </p:nvSpPr>
        <p:spPr>
          <a:xfrm xmlns:a="http://schemas.openxmlformats.org/drawingml/2006/main">
            <a:off x="12420600" y="49911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1FF10D09-BC7B-4FA4-934F-FEBF389350BE}"/>
              </a:ext>
            </a:extLst>
          </p:cNvPr>
          <p:cNvSpPr>
            <a:spLocks xmlns:a="http://schemas.openxmlformats.org/drawingml/2006/main" noGrp="1"/>
          </p:cNvSpPr>
          <p:nvPr/>
        </p:nvSpPr>
        <p:spPr>
          <a:xfrm xmlns:a="http://schemas.openxmlformats.org/drawingml/2006/main">
            <a:off x="12420600" y="50863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DCA83D"/>
                </a:solidFill>
                <a:latin typeface="프리텐다드"/>
                <a:ea typeface="프리텐다드"/>
                <a:cs typeface="프리텐다드"/>
              </a:defRPr>
            </a:pPr>
            <a:r>
              <a:rPr sz="1650" b="1">
                <a:solidFill>
                  <a:srgbClr val="DCA83D"/>
                </a:solidFill>
                <a:latin typeface="프리텐다드"/>
                <a:ea typeface="프리텐다드"/>
                <a:cs typeface="프리텐다드"/>
              </a:rPr>
              <a:t>실병원 연결·통합관제</a:t>
            </a:r>
          </a:p>
        </p:txBody>
      </p:sp>
      <p:sp>
        <p:nvSpPr>
          <p:cNvPr id="45" name="">
            <a:extLst xmlns:a="http://schemas.openxmlformats.org/drawingml/2006/main">
              <a:ext uri="{FF2B5EF4-FFF2-40B4-BE49-F238E27FC236}">
                <a16:creationId xmlns:a16="http://schemas.microsoft.com/office/drawing/2014/main" id="{7F2E1D07-CB02-4598-AEA4-53F1A78786C6}"/>
              </a:ext>
            </a:extLst>
          </p:cNvPr>
          <p:cNvSpPr>
            <a:spLocks xmlns:a="http://schemas.openxmlformats.org/drawingml/2006/main" noGrp="1"/>
          </p:cNvSpPr>
          <p:nvPr/>
        </p:nvSpPr>
        <p:spPr>
          <a:xfrm xmlns:a="http://schemas.openxmlformats.org/drawingml/2006/main">
            <a:off x="12420600" y="54292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PACS·IdP / Monitor·Sentinel</a:t>
            </a:r>
          </a:p>
        </p:txBody>
      </p:sp>
      <p:sp>
        <p:nvSpPr>
          <p:cNvPr id="46" name="">
            <a:extLst xmlns:a="http://schemas.openxmlformats.org/drawingml/2006/main">
              <a:ext uri="{FF2B5EF4-FFF2-40B4-BE49-F238E27FC236}">
                <a16:creationId xmlns:a16="http://schemas.microsoft.com/office/drawing/2014/main" id="{0174E493-6F93-478E-A78C-5B8FE543975C}"/>
              </a:ext>
            </a:extLst>
          </p:cNvPr>
          <p:cNvSpPr>
            <a:spLocks xmlns:a="http://schemas.openxmlformats.org/drawingml/2006/main" noGrp="1"/>
          </p:cNvSpPr>
          <p:nvPr/>
        </p:nvSpPr>
        <p:spPr>
          <a:xfrm xmlns:a="http://schemas.openxmlformats.org/drawingml/2006/main">
            <a:off x="12420600" y="58293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6FE089DC-CC71-4257-8D14-147350B5DEFA}"/>
              </a:ext>
            </a:extLst>
          </p:cNvPr>
          <p:cNvSpPr>
            <a:spLocks xmlns:a="http://schemas.openxmlformats.org/drawingml/2006/main" noGrp="1"/>
          </p:cNvSpPr>
          <p:nvPr/>
        </p:nvSpPr>
        <p:spPr>
          <a:xfrm xmlns:a="http://schemas.openxmlformats.org/drawingml/2006/main">
            <a:off x="12420600" y="59245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DCA83D"/>
                </a:solidFill>
                <a:latin typeface="프리텐다드"/>
                <a:ea typeface="프리텐다드"/>
                <a:cs typeface="프리텐다드"/>
              </a:defRPr>
            </a:pPr>
            <a:r>
              <a:rPr sz="1650" b="1">
                <a:solidFill>
                  <a:srgbClr val="DCA83D"/>
                </a:solidFill>
                <a:latin typeface="프리텐다드"/>
                <a:ea typeface="프리텐다드"/>
                <a:cs typeface="프리텐다드"/>
              </a:rPr>
              <a:t>키·복구 고도화</a:t>
            </a:r>
          </a:p>
        </p:txBody>
      </p:sp>
      <p:sp>
        <p:nvSpPr>
          <p:cNvPr id="48" name="">
            <a:extLst xmlns:a="http://schemas.openxmlformats.org/drawingml/2006/main">
              <a:ext uri="{FF2B5EF4-FFF2-40B4-BE49-F238E27FC236}">
                <a16:creationId xmlns:a16="http://schemas.microsoft.com/office/drawing/2014/main" id="{C1190E12-65DD-49F3-8642-20C3A18E83AB}"/>
              </a:ext>
            </a:extLst>
          </p:cNvPr>
          <p:cNvSpPr>
            <a:spLocks xmlns:a="http://schemas.openxmlformats.org/drawingml/2006/main" noGrp="1"/>
          </p:cNvSpPr>
          <p:nvPr/>
        </p:nvSpPr>
        <p:spPr>
          <a:xfrm xmlns:a="http://schemas.openxmlformats.org/drawingml/2006/main">
            <a:off x="12420600" y="62674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자동 교체 · 재부팅 · DR 복구</a:t>
            </a:r>
          </a:p>
        </p:txBody>
      </p:sp>
      <p:sp>
        <p:nvSpPr>
          <p:cNvPr id="49" name="">
            <a:extLst xmlns:a="http://schemas.openxmlformats.org/drawingml/2006/main">
              <a:ext uri="{FF2B5EF4-FFF2-40B4-BE49-F238E27FC236}">
                <a16:creationId xmlns:a16="http://schemas.microsoft.com/office/drawing/2014/main" id="{0544968E-2BDE-4F36-BCFF-D970E3FA4417}"/>
              </a:ext>
            </a:extLst>
          </p:cNvPr>
          <p:cNvSpPr>
            <a:spLocks xmlns:a="http://schemas.openxmlformats.org/drawingml/2006/main" noGrp="1"/>
          </p:cNvSpPr>
          <p:nvPr/>
        </p:nvSpPr>
        <p:spPr>
          <a:xfrm xmlns:a="http://schemas.openxmlformats.org/drawingml/2006/main">
            <a:off x="12420600" y="6667500"/>
            <a:ext cx="4629150" cy="9525"/>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799674F9-26BB-4E82-A0CF-1AAA629E5C9E}"/>
              </a:ext>
            </a:extLst>
          </p:cNvPr>
          <p:cNvSpPr>
            <a:spLocks xmlns:a="http://schemas.openxmlformats.org/drawingml/2006/main" noGrp="1"/>
          </p:cNvSpPr>
          <p:nvPr/>
        </p:nvSpPr>
        <p:spPr>
          <a:xfrm xmlns:a="http://schemas.openxmlformats.org/drawingml/2006/main">
            <a:off x="12420600" y="67627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98485"/>
          </a:bodyPr>
          <a:lstStyle xmlns:a="http://schemas.openxmlformats.org/drawingml/2006/main"/>
          <a:p xmlns:a="http://schemas.openxmlformats.org/drawingml/2006/main">
            <a:pPr algn="l">
              <a:defRPr sz="1650" b="1">
                <a:solidFill>
                  <a:srgbClr val="DCA83D"/>
                </a:solidFill>
                <a:latin typeface="프리텐다드"/>
                <a:ea typeface="프리텐다드"/>
                <a:cs typeface="프리텐다드"/>
              </a:defRPr>
            </a:pPr>
            <a:r>
              <a:rPr sz="1650" b="1">
                <a:solidFill>
                  <a:srgbClr val="DCA83D"/>
                </a:solidFill>
                <a:latin typeface="프리텐다드"/>
                <a:ea typeface="프리텐다드"/>
                <a:cs typeface="프리텐다드"/>
              </a:rPr>
              <a:t>v3 데이터 도메인</a:t>
            </a:r>
          </a:p>
        </p:txBody>
      </p:sp>
      <p:sp>
        <p:nvSpPr>
          <p:cNvPr id="51" name="">
            <a:extLst xmlns:a="http://schemas.openxmlformats.org/drawingml/2006/main">
              <a:ext uri="{FF2B5EF4-FFF2-40B4-BE49-F238E27FC236}">
                <a16:creationId xmlns:a16="http://schemas.microsoft.com/office/drawing/2014/main" id="{FE1FC4D8-D329-4CE3-94FB-8417C1CF0CF4}"/>
              </a:ext>
            </a:extLst>
          </p:cNvPr>
          <p:cNvSpPr>
            <a:spLocks xmlns:a="http://schemas.openxmlformats.org/drawingml/2006/main" noGrp="1"/>
          </p:cNvSpPr>
          <p:nvPr/>
        </p:nvSpPr>
        <p:spPr>
          <a:xfrm xmlns:a="http://schemas.openxmlformats.org/drawingml/2006/main">
            <a:off x="12420600" y="7105650"/>
            <a:ext cx="4629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versioned consent · transfer grant</a:t>
            </a:r>
          </a:p>
        </p:txBody>
      </p:sp>
      <p:sp>
        <p:nvSpPr>
          <p:cNvPr id="52" name="">
            <a:extLst xmlns:a="http://schemas.openxmlformats.org/drawingml/2006/main">
              <a:ext uri="{FF2B5EF4-FFF2-40B4-BE49-F238E27FC236}">
                <a16:creationId xmlns:a16="http://schemas.microsoft.com/office/drawing/2014/main" id="{107897D8-DC3A-48D7-8EDC-B83F0FCC9A57}"/>
              </a:ext>
            </a:extLst>
          </p:cNvPr>
          <p:cNvSpPr>
            <a:spLocks xmlns:a="http://schemas.openxmlformats.org/drawingml/2006/main" noGrp="1"/>
          </p:cNvSpPr>
          <p:nvPr/>
        </p:nvSpPr>
        <p:spPr>
          <a:xfrm xmlns:a="http://schemas.openxmlformats.org/drawingml/2006/main">
            <a:off x="1028700" y="8286750"/>
            <a:ext cx="16230600" cy="704850"/>
          </a:xfrm>
          <a:prstGeom xmlns:a="http://schemas.openxmlformats.org/drawingml/2006/main" prst="roundRect">
            <a:avLst>
              <a:gd name="adj" fmla="val 10811"/>
            </a:avLst>
          </a:prstGeom>
          <a:solidFill xmlns:a="http://schemas.openxmlformats.org/drawingml/2006/main">
            <a:srgbClr val="F3F6FA"/>
          </a:solidFill>
          <a:ln xmlns:a="http://schemas.openxmlformats.org/drawingml/2006/main" w="14288">
            <a:solidFill>
              <a:srgbClr val="D8E0E9"/>
            </a:solidFill>
            <a:prstDash val="solid"/>
          </a:ln>
        </p:spPr>
      </p:sp>
      <p:sp>
        <p:nvSpPr>
          <p:cNvPr id="53" name="">
            <a:extLst xmlns:a="http://schemas.openxmlformats.org/drawingml/2006/main">
              <a:ext uri="{FF2B5EF4-FFF2-40B4-BE49-F238E27FC236}">
                <a16:creationId xmlns:a16="http://schemas.microsoft.com/office/drawing/2014/main" id="{6054636F-1E97-41BA-9C1F-7043F323D33B}"/>
              </a:ext>
            </a:extLst>
          </p:cNvPr>
          <p:cNvSpPr>
            <a:spLocks xmlns:a="http://schemas.openxmlformats.org/drawingml/2006/main" noGrp="1"/>
          </p:cNvSpPr>
          <p:nvPr/>
        </p:nvSpPr>
        <p:spPr>
          <a:xfrm xmlns:a="http://schemas.openxmlformats.org/drawingml/2006/main">
            <a:off x="1238250" y="8382000"/>
            <a:ext cx="15811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1">
                <a:solidFill>
                  <a:srgbClr val="0B2342"/>
                </a:solidFill>
                <a:latin typeface="프리텐다드"/>
                <a:ea typeface="프리텐다드"/>
                <a:cs typeface="프리텐다드"/>
              </a:defRPr>
            </a:pPr>
            <a:r>
              <a:rPr sz="1650" b="1">
                <a:solidFill>
                  <a:srgbClr val="0B2342"/>
                </a:solidFill>
                <a:latin typeface="프리텐다드"/>
                <a:ea typeface="프리텐다드"/>
                <a:cs typeface="프리텐다드"/>
              </a:rPr>
              <a:t>확장 원칙  동의·권한 검증은 유지하고, 실병원 연계와 운영 인프라는 별도 승인 및 단계별 검증 뒤에 확장합니다.</a:t>
            </a:r>
          </a:p>
        </p:txBody>
      </p:sp>
      <p:sp>
        <p:nvSpPr>
          <p:cNvPr id="54" name="">
            <a:extLst xmlns:a="http://schemas.openxmlformats.org/drawingml/2006/main">
              <a:ext uri="{FF2B5EF4-FFF2-40B4-BE49-F238E27FC236}">
                <a16:creationId xmlns:a16="http://schemas.microsoft.com/office/drawing/2014/main" id="{EACDA6EF-8CDC-453D-AC76-D4BB0ADD9DA2}"/>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55" name="">
            <a:extLst xmlns:a="http://schemas.openxmlformats.org/drawingml/2006/main">
              <a:ext uri="{FF2B5EF4-FFF2-40B4-BE49-F238E27FC236}">
                <a16:creationId xmlns:a16="http://schemas.microsoft.com/office/drawing/2014/main" id="{49E6E4E5-E936-431E-8D7B-2A023A3A2F67}"/>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56" name="">
            <a:extLst xmlns:a="http://schemas.openxmlformats.org/drawingml/2006/main">
              <a:ext uri="{FF2B5EF4-FFF2-40B4-BE49-F238E27FC236}">
                <a16:creationId xmlns:a16="http://schemas.microsoft.com/office/drawing/2014/main" id="{6EE1BF1A-441E-402F-BFAE-D220FF81BA11}"/>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13  /  22</a:t>
            </a:r>
          </a:p>
        </p:txBody>
      </p:sp>
    </p:spTree>
    <p:extLst>
      <p:ext uri="{BB962C8B-B14F-4D97-AF65-F5344CB8AC3E}">
        <p14:creationId xmlns:p14="http://schemas.microsoft.com/office/powerpoint/2010/main" val="2798435781"/>
      </p:ext>
    </p:extLst>
  </p:cSld>
</p:sld>
</file>

<file path=ppt/slides/slide14.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6F0C686-3D6A-4E07-823C-182556C78622}"/>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192E92E-31FF-4FDF-93F8-92E4B02EFEED}"/>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E95C202-D012-4F57-908B-BF12B7CC3116}"/>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D605A0-3A9A-431E-AF61-78D9C9FE93DD}"/>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LIVE EVIDENCE</a:t>
            </a:r>
          </a:p>
        </p:txBody>
      </p:sp>
      <p:sp>
        <p:nvSpPr>
          <p:cNvPr id="5" name="">
            <a:extLst xmlns:a="http://schemas.openxmlformats.org/drawingml/2006/main">
              <a:ext uri="{FF2B5EF4-FFF2-40B4-BE49-F238E27FC236}">
                <a16:creationId xmlns:a16="http://schemas.microsoft.com/office/drawing/2014/main" id="{654B1050-F71A-4FA4-B3E9-A63B978EDE1C}"/>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실제로 통과한 경로: 합성 CT 한 건</a:t>
            </a:r>
          </a:p>
        </p:txBody>
      </p:sp>
      <p:sp>
        <p:nvSpPr>
          <p:cNvPr id="6" name="">
            <a:extLst xmlns:a="http://schemas.openxmlformats.org/drawingml/2006/main">
              <a:ext uri="{FF2B5EF4-FFF2-40B4-BE49-F238E27FC236}">
                <a16:creationId xmlns:a16="http://schemas.microsoft.com/office/drawing/2014/main" id="{170A7A09-CCCF-4647-8986-6FB27F0E79D9}"/>
              </a:ext>
            </a:extLst>
          </p:cNvPr>
          <p:cNvSpPr>
            <a:spLocks xmlns:a="http://schemas.openxmlformats.org/drawingml/2006/main" noGrp="1"/>
          </p:cNvSpPr>
          <p:nvPr/>
        </p:nvSpPr>
        <p:spPr>
          <a:xfrm xmlns:a="http://schemas.openxmlformats.org/drawingml/2006/main">
            <a:off x="1028700" y="2667000"/>
            <a:ext cx="3905250" cy="400050"/>
          </a:xfrm>
          <a:prstGeom xmlns:a="http://schemas.openxmlformats.org/drawingml/2006/main" prst="roundRect">
            <a:avLst>
              <a:gd name="adj" fmla="val 50000"/>
            </a:avLst>
          </a:prstGeom>
          <a:solidFill xmlns:a="http://schemas.openxmlformats.org/drawingml/2006/main">
            <a:srgbClr val="E7F4F1"/>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4D949C0-97E7-4199-82AF-CC08785FB192}"/>
              </a:ext>
            </a:extLst>
          </p:cNvPr>
          <p:cNvSpPr>
            <a:spLocks xmlns:a="http://schemas.openxmlformats.org/drawingml/2006/main" noGrp="1"/>
          </p:cNvSpPr>
          <p:nvPr/>
        </p:nvSpPr>
        <p:spPr>
          <a:xfrm xmlns:a="http://schemas.openxmlformats.org/drawingml/2006/main">
            <a:off x="1085850" y="2676525"/>
            <a:ext cx="3790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2026.10.14 · 08:38 KST · 1 instance</a:t>
            </a:r>
          </a:p>
        </p:txBody>
      </p:sp>
      <p:sp>
        <p:nvSpPr>
          <p:cNvPr id="8" name="">
            <a:extLst xmlns:a="http://schemas.openxmlformats.org/drawingml/2006/main">
              <a:ext uri="{FF2B5EF4-FFF2-40B4-BE49-F238E27FC236}">
                <a16:creationId xmlns:a16="http://schemas.microsoft.com/office/drawing/2014/main" id="{748265D1-D63A-4377-9D8C-193994416352}"/>
              </a:ext>
            </a:extLst>
          </p:cNvPr>
          <p:cNvSpPr>
            <a:spLocks xmlns:a="http://schemas.openxmlformats.org/drawingml/2006/main" noGrp="1"/>
          </p:cNvSpPr>
          <p:nvPr/>
        </p:nvSpPr>
        <p:spPr>
          <a:xfrm xmlns:a="http://schemas.openxmlformats.org/drawingml/2006/main">
            <a:off x="1028700" y="3905250"/>
            <a:ext cx="2857500" cy="29146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0E9"/>
            </a:solidFill>
            <a:prstDash val="solid"/>
          </a:ln>
        </p:spPr>
      </p:sp>
      <p:sp>
        <p:nvSpPr>
          <p:cNvPr id="9" name="">
            <a:extLst xmlns:a="http://schemas.openxmlformats.org/drawingml/2006/main">
              <a:ext uri="{FF2B5EF4-FFF2-40B4-BE49-F238E27FC236}">
                <a16:creationId xmlns:a16="http://schemas.microsoft.com/office/drawing/2014/main" id="{343D559D-BD30-4596-8732-BB9FB1848C4F}"/>
              </a:ext>
            </a:extLst>
          </p:cNvPr>
          <p:cNvSpPr>
            <a:spLocks xmlns:a="http://schemas.openxmlformats.org/drawingml/2006/main" noGrp="1"/>
          </p:cNvSpPr>
          <p:nvPr/>
        </p:nvSpPr>
        <p:spPr>
          <a:xfrm xmlns:a="http://schemas.openxmlformats.org/drawingml/2006/main">
            <a:off x="1257300" y="4133850"/>
            <a:ext cx="6858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8BAA667-B640-4998-AFD4-31F47C6B353B}"/>
              </a:ext>
            </a:extLst>
          </p:cNvPr>
          <p:cNvSpPr>
            <a:spLocks xmlns:a="http://schemas.openxmlformats.org/drawingml/2006/main" noGrp="1"/>
          </p:cNvSpPr>
          <p:nvPr/>
        </p:nvSpPr>
        <p:spPr>
          <a:xfrm xmlns:a="http://schemas.openxmlformats.org/drawingml/2006/main">
            <a:off x="1314450" y="4143375"/>
            <a:ext cx="57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01</a:t>
            </a:r>
          </a:p>
        </p:txBody>
      </p:sp>
      <p:sp>
        <p:nvSpPr>
          <p:cNvPr id="11" name="">
            <a:extLst xmlns:a="http://schemas.openxmlformats.org/drawingml/2006/main">
              <a:ext uri="{FF2B5EF4-FFF2-40B4-BE49-F238E27FC236}">
                <a16:creationId xmlns:a16="http://schemas.microsoft.com/office/drawing/2014/main" id="{4C43880F-DA67-46BE-B908-737AC3CE2492}"/>
              </a:ext>
            </a:extLst>
          </p:cNvPr>
          <p:cNvSpPr>
            <a:spLocks xmlns:a="http://schemas.openxmlformats.org/drawingml/2006/main" noGrp="1"/>
          </p:cNvSpPr>
          <p:nvPr/>
        </p:nvSpPr>
        <p:spPr>
          <a:xfrm xmlns:a="http://schemas.openxmlformats.org/drawingml/2006/main">
            <a:off x="1257300" y="48577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1">
                <a:solidFill>
                  <a:srgbClr val="17263A"/>
                </a:solidFill>
                <a:latin typeface="프리텐다드"/>
                <a:ea typeface="프리텐다드"/>
                <a:cs typeface="프리텐다드"/>
              </a:defRPr>
            </a:pPr>
            <a:r>
              <a:rPr sz="2025" b="1">
                <a:solidFill>
                  <a:srgbClr val="17263A"/>
                </a:solidFill>
                <a:latin typeface="프리텐다드"/>
                <a:ea typeface="프리텐다드"/>
                <a:cs typeface="프리텐다드"/>
              </a:rPr>
              <a:t>기존 환자 동의</a:t>
            </a:r>
          </a:p>
        </p:txBody>
      </p:sp>
      <p:sp>
        <p:nvSpPr>
          <p:cNvPr id="12" name="">
            <a:extLst xmlns:a="http://schemas.openxmlformats.org/drawingml/2006/main">
              <a:ext uri="{FF2B5EF4-FFF2-40B4-BE49-F238E27FC236}">
                <a16:creationId xmlns:a16="http://schemas.microsoft.com/office/drawing/2014/main" id="{9B774305-E183-4269-B1CE-E3FF442E2A09}"/>
              </a:ext>
            </a:extLst>
          </p:cNvPr>
          <p:cNvSpPr>
            <a:spLocks xmlns:a="http://schemas.openxmlformats.org/drawingml/2006/main" noGrp="1"/>
          </p:cNvSpPr>
          <p:nvPr/>
        </p:nvSpPr>
        <p:spPr>
          <a:xfrm xmlns:a="http://schemas.openxmlformats.org/drawingml/2006/main">
            <a:off x="1257300" y="5572125"/>
            <a:ext cx="24003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34A5391-6B6D-4966-AE5D-C6FD58116E22}"/>
              </a:ext>
            </a:extLst>
          </p:cNvPr>
          <p:cNvSpPr>
            <a:spLocks xmlns:a="http://schemas.openxmlformats.org/drawingml/2006/main" noGrp="1"/>
          </p:cNvSpPr>
          <p:nvPr/>
        </p:nvSpPr>
        <p:spPr>
          <a:xfrm xmlns:a="http://schemas.openxmlformats.org/drawingml/2006/main">
            <a:off x="1257300" y="5762625"/>
            <a:ext cx="2400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DOWNLOAD_ALLOWED</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진료 목적</a:t>
            </a:r>
          </a:p>
        </p:txBody>
      </p:sp>
      <p:sp>
        <p:nvSpPr>
          <p:cNvPr id="14" name="">
            <a:extLst xmlns:a="http://schemas.openxmlformats.org/drawingml/2006/main">
              <a:ext uri="{FF2B5EF4-FFF2-40B4-BE49-F238E27FC236}">
                <a16:creationId xmlns:a16="http://schemas.microsoft.com/office/drawing/2014/main" id="{3B9FDC93-29D4-484E-8AA8-4E382C7DAE8E}"/>
              </a:ext>
            </a:extLst>
          </p:cNvPr>
          <p:cNvSpPr>
            <a:spLocks xmlns:a="http://schemas.openxmlformats.org/drawingml/2006/main" noGrp="1"/>
          </p:cNvSpPr>
          <p:nvPr/>
        </p:nvSpPr>
        <p:spPr>
          <a:xfrm xmlns:a="http://schemas.openxmlformats.org/drawingml/2006/main">
            <a:off x="3838575" y="4953000"/>
            <a:ext cx="466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15" name="">
            <a:extLst xmlns:a="http://schemas.openxmlformats.org/drawingml/2006/main">
              <a:ext uri="{FF2B5EF4-FFF2-40B4-BE49-F238E27FC236}">
                <a16:creationId xmlns:a16="http://schemas.microsoft.com/office/drawing/2014/main" id="{BCF89C5E-5529-4283-9B96-F9A27331CFD5}"/>
              </a:ext>
            </a:extLst>
          </p:cNvPr>
          <p:cNvSpPr>
            <a:spLocks xmlns:a="http://schemas.openxmlformats.org/drawingml/2006/main" noGrp="1"/>
          </p:cNvSpPr>
          <p:nvPr/>
        </p:nvSpPr>
        <p:spPr>
          <a:xfrm xmlns:a="http://schemas.openxmlformats.org/drawingml/2006/main">
            <a:off x="4305300" y="3905250"/>
            <a:ext cx="2857500" cy="29146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0E9"/>
            </a:solidFill>
            <a:prstDash val="solid"/>
          </a:ln>
        </p:spPr>
      </p:sp>
      <p:sp>
        <p:nvSpPr>
          <p:cNvPr id="16" name="">
            <a:extLst xmlns:a="http://schemas.openxmlformats.org/drawingml/2006/main">
              <a:ext uri="{FF2B5EF4-FFF2-40B4-BE49-F238E27FC236}">
                <a16:creationId xmlns:a16="http://schemas.microsoft.com/office/drawing/2014/main" id="{A855DD42-242A-4DE6-9F9E-E41DB96B8E77}"/>
              </a:ext>
            </a:extLst>
          </p:cNvPr>
          <p:cNvSpPr>
            <a:spLocks xmlns:a="http://schemas.openxmlformats.org/drawingml/2006/main" noGrp="1"/>
          </p:cNvSpPr>
          <p:nvPr/>
        </p:nvSpPr>
        <p:spPr>
          <a:xfrm xmlns:a="http://schemas.openxmlformats.org/drawingml/2006/main">
            <a:off x="4533900" y="4133850"/>
            <a:ext cx="6858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86BAB9A-FE25-4AA8-B0BF-411FCB212A3A}"/>
              </a:ext>
            </a:extLst>
          </p:cNvPr>
          <p:cNvSpPr>
            <a:spLocks xmlns:a="http://schemas.openxmlformats.org/drawingml/2006/main" noGrp="1"/>
          </p:cNvSpPr>
          <p:nvPr/>
        </p:nvSpPr>
        <p:spPr>
          <a:xfrm xmlns:a="http://schemas.openxmlformats.org/drawingml/2006/main">
            <a:off x="4591050" y="4143375"/>
            <a:ext cx="57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02</a:t>
            </a:r>
          </a:p>
        </p:txBody>
      </p:sp>
      <p:sp>
        <p:nvSpPr>
          <p:cNvPr id="18" name="">
            <a:extLst xmlns:a="http://schemas.openxmlformats.org/drawingml/2006/main">
              <a:ext uri="{FF2B5EF4-FFF2-40B4-BE49-F238E27FC236}">
                <a16:creationId xmlns:a16="http://schemas.microsoft.com/office/drawing/2014/main" id="{2F35E9F6-D7A7-4F4B-A167-3FEDAA3BC3EF}"/>
              </a:ext>
            </a:extLst>
          </p:cNvPr>
          <p:cNvSpPr>
            <a:spLocks xmlns:a="http://schemas.openxmlformats.org/drawingml/2006/main" noGrp="1"/>
          </p:cNvSpPr>
          <p:nvPr/>
        </p:nvSpPr>
        <p:spPr>
          <a:xfrm xmlns:a="http://schemas.openxmlformats.org/drawingml/2006/main">
            <a:off x="4533900" y="48577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1">
                <a:solidFill>
                  <a:srgbClr val="17263A"/>
                </a:solidFill>
                <a:latin typeface="프리텐다드"/>
                <a:ea typeface="프리텐다드"/>
                <a:cs typeface="프리텐다드"/>
              </a:defRPr>
            </a:pPr>
            <a:r>
              <a:rPr sz="2025" b="1">
                <a:solidFill>
                  <a:srgbClr val="17263A"/>
                </a:solidFill>
                <a:latin typeface="프리텐다드"/>
                <a:ea typeface="프리텐다드"/>
                <a:cs typeface="프리텐다드"/>
              </a:rPr>
              <a:t>인증·인가</a:t>
            </a:r>
          </a:p>
        </p:txBody>
      </p:sp>
      <p:sp>
        <p:nvSpPr>
          <p:cNvPr id="19" name="">
            <a:extLst xmlns:a="http://schemas.openxmlformats.org/drawingml/2006/main">
              <a:ext uri="{FF2B5EF4-FFF2-40B4-BE49-F238E27FC236}">
                <a16:creationId xmlns:a16="http://schemas.microsoft.com/office/drawing/2014/main" id="{8C2D745F-6F54-41AA-8F2A-98DEB7C0214A}"/>
              </a:ext>
            </a:extLst>
          </p:cNvPr>
          <p:cNvSpPr>
            <a:spLocks xmlns:a="http://schemas.openxmlformats.org/drawingml/2006/main" noGrp="1"/>
          </p:cNvSpPr>
          <p:nvPr/>
        </p:nvSpPr>
        <p:spPr>
          <a:xfrm xmlns:a="http://schemas.openxmlformats.org/drawingml/2006/main">
            <a:off x="4533900" y="5572125"/>
            <a:ext cx="24003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BC92DF8-5277-49A2-8FEF-01CF2CD6453B}"/>
              </a:ext>
            </a:extLst>
          </p:cNvPr>
          <p:cNvSpPr>
            <a:spLocks xmlns:a="http://schemas.openxmlformats.org/drawingml/2006/main" noGrp="1"/>
          </p:cNvSpPr>
          <p:nvPr/>
        </p:nvSpPr>
        <p:spPr>
          <a:xfrm xmlns:a="http://schemas.openxmlformats.org/drawingml/2006/main">
            <a:off x="4533900" y="5762625"/>
            <a:ext cx="2400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환자 + B 의료진 Entra</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DPoP-bound token</a:t>
            </a:r>
          </a:p>
        </p:txBody>
      </p:sp>
      <p:sp>
        <p:nvSpPr>
          <p:cNvPr id="21" name="">
            <a:extLst xmlns:a="http://schemas.openxmlformats.org/drawingml/2006/main">
              <a:ext uri="{FF2B5EF4-FFF2-40B4-BE49-F238E27FC236}">
                <a16:creationId xmlns:a16="http://schemas.microsoft.com/office/drawing/2014/main" id="{265A6801-1CF3-4E1F-852C-DAAA31E80687}"/>
              </a:ext>
            </a:extLst>
          </p:cNvPr>
          <p:cNvSpPr>
            <a:spLocks xmlns:a="http://schemas.openxmlformats.org/drawingml/2006/main" noGrp="1"/>
          </p:cNvSpPr>
          <p:nvPr/>
        </p:nvSpPr>
        <p:spPr>
          <a:xfrm xmlns:a="http://schemas.openxmlformats.org/drawingml/2006/main">
            <a:off x="7115175" y="4953000"/>
            <a:ext cx="466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22" name="">
            <a:extLst xmlns:a="http://schemas.openxmlformats.org/drawingml/2006/main">
              <a:ext uri="{FF2B5EF4-FFF2-40B4-BE49-F238E27FC236}">
                <a16:creationId xmlns:a16="http://schemas.microsoft.com/office/drawing/2014/main" id="{E515E1B7-7BC6-41AD-A729-AFD7FA80E98A}"/>
              </a:ext>
            </a:extLst>
          </p:cNvPr>
          <p:cNvSpPr>
            <a:spLocks xmlns:a="http://schemas.openxmlformats.org/drawingml/2006/main" noGrp="1"/>
          </p:cNvSpPr>
          <p:nvPr/>
        </p:nvSpPr>
        <p:spPr>
          <a:xfrm xmlns:a="http://schemas.openxmlformats.org/drawingml/2006/main">
            <a:off x="7581900" y="3905250"/>
            <a:ext cx="2857500" cy="29146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0E9"/>
            </a:solidFill>
            <a:prstDash val="solid"/>
          </a:ln>
        </p:spPr>
      </p:sp>
      <p:sp>
        <p:nvSpPr>
          <p:cNvPr id="23" name="">
            <a:extLst xmlns:a="http://schemas.openxmlformats.org/drawingml/2006/main">
              <a:ext uri="{FF2B5EF4-FFF2-40B4-BE49-F238E27FC236}">
                <a16:creationId xmlns:a16="http://schemas.microsoft.com/office/drawing/2014/main" id="{7AB3923A-D047-4744-9DE9-35D1CE1CAEEB}"/>
              </a:ext>
            </a:extLst>
          </p:cNvPr>
          <p:cNvSpPr>
            <a:spLocks xmlns:a="http://schemas.openxmlformats.org/drawingml/2006/main" noGrp="1"/>
          </p:cNvSpPr>
          <p:nvPr/>
        </p:nvSpPr>
        <p:spPr>
          <a:xfrm xmlns:a="http://schemas.openxmlformats.org/drawingml/2006/main">
            <a:off x="7810500" y="4133850"/>
            <a:ext cx="6858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2DE6353-EACF-40F1-94B7-A9862479ECC8}"/>
              </a:ext>
            </a:extLst>
          </p:cNvPr>
          <p:cNvSpPr>
            <a:spLocks xmlns:a="http://schemas.openxmlformats.org/drawingml/2006/main" noGrp="1"/>
          </p:cNvSpPr>
          <p:nvPr/>
        </p:nvSpPr>
        <p:spPr>
          <a:xfrm xmlns:a="http://schemas.openxmlformats.org/drawingml/2006/main">
            <a:off x="7867650" y="4143375"/>
            <a:ext cx="57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03</a:t>
            </a:r>
          </a:p>
        </p:txBody>
      </p:sp>
      <p:sp>
        <p:nvSpPr>
          <p:cNvPr id="25" name="">
            <a:extLst xmlns:a="http://schemas.openxmlformats.org/drawingml/2006/main">
              <a:ext uri="{FF2B5EF4-FFF2-40B4-BE49-F238E27FC236}">
                <a16:creationId xmlns:a16="http://schemas.microsoft.com/office/drawing/2014/main" id="{005B8691-B7A5-4999-94AC-B3514EC151D4}"/>
              </a:ext>
            </a:extLst>
          </p:cNvPr>
          <p:cNvSpPr>
            <a:spLocks xmlns:a="http://schemas.openxmlformats.org/drawingml/2006/main" noGrp="1"/>
          </p:cNvSpPr>
          <p:nvPr/>
        </p:nvSpPr>
        <p:spPr>
          <a:xfrm xmlns:a="http://schemas.openxmlformats.org/drawingml/2006/main">
            <a:off x="7810500" y="48577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1">
                <a:solidFill>
                  <a:srgbClr val="17263A"/>
                </a:solidFill>
                <a:latin typeface="프리텐다드"/>
                <a:ea typeface="프리텐다드"/>
                <a:cs typeface="프리텐다드"/>
              </a:defRPr>
            </a:pPr>
            <a:r>
              <a:rPr sz="2025" b="1">
                <a:solidFill>
                  <a:srgbClr val="17263A"/>
                </a:solidFill>
                <a:latin typeface="프리텐다드"/>
                <a:ea typeface="프리텐다드"/>
                <a:cs typeface="프리텐다드"/>
              </a:rPr>
              <a:t>A → B 전송</a:t>
            </a:r>
          </a:p>
        </p:txBody>
      </p:sp>
      <p:sp>
        <p:nvSpPr>
          <p:cNvPr id="26" name="">
            <a:extLst xmlns:a="http://schemas.openxmlformats.org/drawingml/2006/main">
              <a:ext uri="{FF2B5EF4-FFF2-40B4-BE49-F238E27FC236}">
                <a16:creationId xmlns:a16="http://schemas.microsoft.com/office/drawing/2014/main" id="{219A02D0-40CF-48B7-81B3-CC2894ABFFE9}"/>
              </a:ext>
            </a:extLst>
          </p:cNvPr>
          <p:cNvSpPr>
            <a:spLocks xmlns:a="http://schemas.openxmlformats.org/drawingml/2006/main" noGrp="1"/>
          </p:cNvSpPr>
          <p:nvPr/>
        </p:nvSpPr>
        <p:spPr>
          <a:xfrm xmlns:a="http://schemas.openxmlformats.org/drawingml/2006/main">
            <a:off x="7810500" y="5572125"/>
            <a:ext cx="24003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71019D9-BC1F-4701-AECE-CB00BFE0DA00}"/>
              </a:ext>
            </a:extLst>
          </p:cNvPr>
          <p:cNvSpPr>
            <a:spLocks xmlns:a="http://schemas.openxmlformats.org/drawingml/2006/main" noGrp="1"/>
          </p:cNvSpPr>
          <p:nvPr/>
        </p:nvSpPr>
        <p:spPr>
          <a:xfrm xmlns:a="http://schemas.openxmlformats.org/drawingml/2006/main">
            <a:off x="7810500" y="5762625"/>
            <a:ext cx="2400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선택한 합성 SOP instance</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암호화 경로로 반입</a:t>
            </a:r>
          </a:p>
        </p:txBody>
      </p:sp>
      <p:sp>
        <p:nvSpPr>
          <p:cNvPr id="28" name="">
            <a:extLst xmlns:a="http://schemas.openxmlformats.org/drawingml/2006/main">
              <a:ext uri="{FF2B5EF4-FFF2-40B4-BE49-F238E27FC236}">
                <a16:creationId xmlns:a16="http://schemas.microsoft.com/office/drawing/2014/main" id="{52891758-CEEE-40EB-B836-F97D5A2A8553}"/>
              </a:ext>
            </a:extLst>
          </p:cNvPr>
          <p:cNvSpPr>
            <a:spLocks xmlns:a="http://schemas.openxmlformats.org/drawingml/2006/main" noGrp="1"/>
          </p:cNvSpPr>
          <p:nvPr/>
        </p:nvSpPr>
        <p:spPr>
          <a:xfrm xmlns:a="http://schemas.openxmlformats.org/drawingml/2006/main">
            <a:off x="10391775" y="4953000"/>
            <a:ext cx="466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29" name="">
            <a:extLst xmlns:a="http://schemas.openxmlformats.org/drawingml/2006/main">
              <a:ext uri="{FF2B5EF4-FFF2-40B4-BE49-F238E27FC236}">
                <a16:creationId xmlns:a16="http://schemas.microsoft.com/office/drawing/2014/main" id="{6E41F336-8DFE-4C98-9D2F-1D4B487DA5E4}"/>
              </a:ext>
            </a:extLst>
          </p:cNvPr>
          <p:cNvSpPr>
            <a:spLocks xmlns:a="http://schemas.openxmlformats.org/drawingml/2006/main" noGrp="1"/>
          </p:cNvSpPr>
          <p:nvPr/>
        </p:nvSpPr>
        <p:spPr>
          <a:xfrm xmlns:a="http://schemas.openxmlformats.org/drawingml/2006/main">
            <a:off x="10858500" y="3905250"/>
            <a:ext cx="2857500" cy="2914650"/>
          </a:xfrm>
          <a:prstGeom xmlns:a="http://schemas.openxmlformats.org/drawingml/2006/main" prst="roundRect">
            <a:avLst>
              <a:gd name="adj" fmla="val 8000"/>
            </a:avLst>
          </a:prstGeom>
          <a:solidFill xmlns:a="http://schemas.openxmlformats.org/drawingml/2006/main">
            <a:srgbClr val="0B2342"/>
          </a:solidFill>
          <a:ln xmlns:a="http://schemas.openxmlformats.org/drawingml/2006/main" w="14288">
            <a:solidFill>
              <a:srgbClr val="0B2342"/>
            </a:solidFill>
            <a:prstDash val="solid"/>
          </a:ln>
        </p:spPr>
      </p:sp>
      <p:sp>
        <p:nvSpPr>
          <p:cNvPr id="30" name="">
            <a:extLst xmlns:a="http://schemas.openxmlformats.org/drawingml/2006/main">
              <a:ext uri="{FF2B5EF4-FFF2-40B4-BE49-F238E27FC236}">
                <a16:creationId xmlns:a16="http://schemas.microsoft.com/office/drawing/2014/main" id="{4AF05191-4EA8-4E60-8AAD-1D0B8FB9D239}"/>
              </a:ext>
            </a:extLst>
          </p:cNvPr>
          <p:cNvSpPr>
            <a:spLocks xmlns:a="http://schemas.openxmlformats.org/drawingml/2006/main" noGrp="1"/>
          </p:cNvSpPr>
          <p:nvPr/>
        </p:nvSpPr>
        <p:spPr>
          <a:xfrm xmlns:a="http://schemas.openxmlformats.org/drawingml/2006/main">
            <a:off x="11087100" y="4133850"/>
            <a:ext cx="685800" cy="400050"/>
          </a:xfrm>
          <a:prstGeom xmlns:a="http://schemas.openxmlformats.org/drawingml/2006/main" prst="roundRect">
            <a:avLst>
              <a:gd name="adj" fmla="val 50000"/>
            </a:avLst>
          </a:prstGeom>
          <a:solidFill xmlns:a="http://schemas.openxmlformats.org/drawingml/2006/main">
            <a:srgbClr val="2F68B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79558AA-B3F0-40DA-9176-740BAC7FB4BB}"/>
              </a:ext>
            </a:extLst>
          </p:cNvPr>
          <p:cNvSpPr>
            <a:spLocks xmlns:a="http://schemas.openxmlformats.org/drawingml/2006/main" noGrp="1"/>
          </p:cNvSpPr>
          <p:nvPr/>
        </p:nvSpPr>
        <p:spPr>
          <a:xfrm xmlns:a="http://schemas.openxmlformats.org/drawingml/2006/main">
            <a:off x="11144250" y="4143375"/>
            <a:ext cx="57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FFFFFF"/>
                </a:solidFill>
                <a:latin typeface="프리텐다드"/>
                <a:ea typeface="프리텐다드"/>
                <a:cs typeface="프리텐다드"/>
              </a:defRPr>
            </a:pPr>
            <a:r>
              <a:rPr sz="1500" b="1">
                <a:solidFill>
                  <a:srgbClr val="FFFFFF"/>
                </a:solidFill>
                <a:latin typeface="프리텐다드"/>
                <a:ea typeface="프리텐다드"/>
                <a:cs typeface="프리텐다드"/>
              </a:rPr>
              <a:t>04</a:t>
            </a:r>
          </a:p>
        </p:txBody>
      </p:sp>
      <p:sp>
        <p:nvSpPr>
          <p:cNvPr id="32" name="">
            <a:extLst xmlns:a="http://schemas.openxmlformats.org/drawingml/2006/main">
              <a:ext uri="{FF2B5EF4-FFF2-40B4-BE49-F238E27FC236}">
                <a16:creationId xmlns:a16="http://schemas.microsoft.com/office/drawing/2014/main" id="{0B90E4C2-D3FB-4041-804B-96E6FCDFD7F1}"/>
              </a:ext>
            </a:extLst>
          </p:cNvPr>
          <p:cNvSpPr>
            <a:spLocks xmlns:a="http://schemas.openxmlformats.org/drawingml/2006/main" noGrp="1"/>
          </p:cNvSpPr>
          <p:nvPr/>
        </p:nvSpPr>
        <p:spPr>
          <a:xfrm xmlns:a="http://schemas.openxmlformats.org/drawingml/2006/main">
            <a:off x="11087100" y="48577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1">
                <a:solidFill>
                  <a:srgbClr val="FFFFFF"/>
                </a:solidFill>
                <a:latin typeface="프리텐다드"/>
                <a:ea typeface="프리텐다드"/>
                <a:cs typeface="프리텐다드"/>
              </a:defRPr>
            </a:pPr>
            <a:r>
              <a:rPr sz="2025" b="1">
                <a:solidFill>
                  <a:srgbClr val="FFFFFF"/>
                </a:solidFill>
                <a:latin typeface="프리텐다드"/>
                <a:ea typeface="프리텐다드"/>
                <a:cs typeface="프리텐다드"/>
              </a:rPr>
              <a:t>독립 재조회</a:t>
            </a:r>
          </a:p>
        </p:txBody>
      </p:sp>
      <p:sp>
        <p:nvSpPr>
          <p:cNvPr id="33" name="">
            <a:extLst xmlns:a="http://schemas.openxmlformats.org/drawingml/2006/main">
              <a:ext uri="{FF2B5EF4-FFF2-40B4-BE49-F238E27FC236}">
                <a16:creationId xmlns:a16="http://schemas.microsoft.com/office/drawing/2014/main" id="{DCFC58D0-7CDD-401B-93E9-D08BF96E62BF}"/>
              </a:ext>
            </a:extLst>
          </p:cNvPr>
          <p:cNvSpPr>
            <a:spLocks xmlns:a="http://schemas.openxmlformats.org/drawingml/2006/main" noGrp="1"/>
          </p:cNvSpPr>
          <p:nvPr/>
        </p:nvSpPr>
        <p:spPr>
          <a:xfrm xmlns:a="http://schemas.openxmlformats.org/drawingml/2006/main">
            <a:off x="11087100" y="5572125"/>
            <a:ext cx="2400300" cy="19050"/>
          </a:xfrm>
          <a:prstGeom xmlns:a="http://schemas.openxmlformats.org/drawingml/2006/main" prst="rect">
            <a:avLst/>
          </a:prstGeom>
          <a:solidFill xmlns:a="http://schemas.openxmlformats.org/drawingml/2006/main">
            <a:srgbClr val="38577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D968B76C-F200-4A88-84AE-A083810ED782}"/>
              </a:ext>
            </a:extLst>
          </p:cNvPr>
          <p:cNvSpPr>
            <a:spLocks xmlns:a="http://schemas.openxmlformats.org/drawingml/2006/main" noGrp="1"/>
          </p:cNvSpPr>
          <p:nvPr/>
        </p:nvSpPr>
        <p:spPr>
          <a:xfrm xmlns:a="http://schemas.openxmlformats.org/drawingml/2006/main">
            <a:off x="11087100" y="5762625"/>
            <a:ext cx="2400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DCE8F5"/>
                </a:solidFill>
                <a:latin typeface="프리텐다드"/>
                <a:ea typeface="프리텐다드"/>
                <a:cs typeface="프리텐다드"/>
              </a:defRPr>
            </a:pPr>
            <a:r>
              <a:rPr sz="1575" b="0">
                <a:solidFill>
                  <a:srgbClr val="DCE8F5"/>
                </a:solidFill>
                <a:latin typeface="프리텐다드"/>
                <a:ea typeface="프리텐다드"/>
                <a:cs typeface="프리텐다드"/>
              </a:rPr>
              <a:t>B Orthanc에서 재검색</a:t>
            </a:r>
          </a:p>
          <a:p xmlns:a="http://schemas.openxmlformats.org/drawingml/2006/main">
            <a:pPr algn="l">
              <a:defRPr sz="1575" b="0">
                <a:solidFill>
                  <a:srgbClr val="DCE8F5"/>
                </a:solidFill>
                <a:latin typeface="프리텐다드"/>
                <a:ea typeface="프리텐다드"/>
                <a:cs typeface="프리텐다드"/>
              </a:defRPr>
            </a:pPr>
            <a:r>
              <a:rPr sz="1575" b="0">
                <a:solidFill>
                  <a:srgbClr val="DCE8F5"/>
                </a:solidFill>
                <a:latin typeface="프리텐다드"/>
                <a:ea typeface="프리텐다드"/>
                <a:cs typeface="프리텐다드"/>
              </a:rPr>
              <a:t>UID · 크기 · SHA-256 일치</a:t>
            </a:r>
          </a:p>
        </p:txBody>
      </p:sp>
      <p:sp>
        <p:nvSpPr>
          <p:cNvPr id="35" name="">
            <a:extLst xmlns:a="http://schemas.openxmlformats.org/drawingml/2006/main">
              <a:ext uri="{FF2B5EF4-FFF2-40B4-BE49-F238E27FC236}">
                <a16:creationId xmlns:a16="http://schemas.microsoft.com/office/drawing/2014/main" id="{67346EC8-2847-488E-AABF-02219A422A6E}"/>
              </a:ext>
            </a:extLst>
          </p:cNvPr>
          <p:cNvSpPr>
            <a:spLocks xmlns:a="http://schemas.openxmlformats.org/drawingml/2006/main" noGrp="1"/>
          </p:cNvSpPr>
          <p:nvPr/>
        </p:nvSpPr>
        <p:spPr>
          <a:xfrm xmlns:a="http://schemas.openxmlformats.org/drawingml/2006/main">
            <a:off x="13668375" y="4953000"/>
            <a:ext cx="4667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a:t>
            </a:r>
          </a:p>
        </p:txBody>
      </p:sp>
      <p:sp>
        <p:nvSpPr>
          <p:cNvPr id="36" name="">
            <a:extLst xmlns:a="http://schemas.openxmlformats.org/drawingml/2006/main">
              <a:ext uri="{FF2B5EF4-FFF2-40B4-BE49-F238E27FC236}">
                <a16:creationId xmlns:a16="http://schemas.microsoft.com/office/drawing/2014/main" id="{BD90C7E8-4CAC-45D9-B35F-80CE079CFFA5}"/>
              </a:ext>
            </a:extLst>
          </p:cNvPr>
          <p:cNvSpPr>
            <a:spLocks xmlns:a="http://schemas.openxmlformats.org/drawingml/2006/main" noGrp="1"/>
          </p:cNvSpPr>
          <p:nvPr/>
        </p:nvSpPr>
        <p:spPr>
          <a:xfrm xmlns:a="http://schemas.openxmlformats.org/drawingml/2006/main">
            <a:off x="14135100" y="3905250"/>
            <a:ext cx="2857500" cy="291465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4288">
            <a:solidFill>
              <a:srgbClr val="D8E0E9"/>
            </a:solidFill>
            <a:prstDash val="solid"/>
          </a:ln>
        </p:spPr>
      </p:sp>
      <p:sp>
        <p:nvSpPr>
          <p:cNvPr id="37" name="">
            <a:extLst xmlns:a="http://schemas.openxmlformats.org/drawingml/2006/main">
              <a:ext uri="{FF2B5EF4-FFF2-40B4-BE49-F238E27FC236}">
                <a16:creationId xmlns:a16="http://schemas.microsoft.com/office/drawing/2014/main" id="{A04D2FFB-2CA0-4572-BCC0-C7FD38E942D3}"/>
              </a:ext>
            </a:extLst>
          </p:cNvPr>
          <p:cNvSpPr>
            <a:spLocks xmlns:a="http://schemas.openxmlformats.org/drawingml/2006/main" noGrp="1"/>
          </p:cNvSpPr>
          <p:nvPr/>
        </p:nvSpPr>
        <p:spPr>
          <a:xfrm xmlns:a="http://schemas.openxmlformats.org/drawingml/2006/main">
            <a:off x="14363700" y="4133850"/>
            <a:ext cx="6858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70D2784-21A2-4845-8B12-2C40AF93C386}"/>
              </a:ext>
            </a:extLst>
          </p:cNvPr>
          <p:cNvSpPr>
            <a:spLocks xmlns:a="http://schemas.openxmlformats.org/drawingml/2006/main" noGrp="1"/>
          </p:cNvSpPr>
          <p:nvPr/>
        </p:nvSpPr>
        <p:spPr>
          <a:xfrm xmlns:a="http://schemas.openxmlformats.org/drawingml/2006/main">
            <a:off x="14420850" y="4143375"/>
            <a:ext cx="571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05</a:t>
            </a:r>
          </a:p>
        </p:txBody>
      </p:sp>
      <p:sp>
        <p:nvSpPr>
          <p:cNvPr id="39" name="">
            <a:extLst xmlns:a="http://schemas.openxmlformats.org/drawingml/2006/main">
              <a:ext uri="{FF2B5EF4-FFF2-40B4-BE49-F238E27FC236}">
                <a16:creationId xmlns:a16="http://schemas.microsoft.com/office/drawing/2014/main" id="{7EE93B04-85DD-4B7A-858C-F7C9BD4A2A3D}"/>
              </a:ext>
            </a:extLst>
          </p:cNvPr>
          <p:cNvSpPr>
            <a:spLocks xmlns:a="http://schemas.openxmlformats.org/drawingml/2006/main" noGrp="1"/>
          </p:cNvSpPr>
          <p:nvPr/>
        </p:nvSpPr>
        <p:spPr>
          <a:xfrm xmlns:a="http://schemas.openxmlformats.org/drawingml/2006/main">
            <a:off x="14363700" y="4857750"/>
            <a:ext cx="2400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1">
                <a:solidFill>
                  <a:srgbClr val="17263A"/>
                </a:solidFill>
                <a:latin typeface="프리텐다드"/>
                <a:ea typeface="프리텐다드"/>
                <a:cs typeface="프리텐다드"/>
              </a:defRPr>
            </a:pPr>
            <a:r>
              <a:rPr sz="2025" b="1">
                <a:solidFill>
                  <a:srgbClr val="17263A"/>
                </a:solidFill>
                <a:latin typeface="프리텐다드"/>
                <a:ea typeface="프리텐다드"/>
                <a:cs typeface="프리텐다드"/>
              </a:rPr>
              <a:t>감사 상관</a:t>
            </a:r>
          </a:p>
        </p:txBody>
      </p:sp>
      <p:sp>
        <p:nvSpPr>
          <p:cNvPr id="40" name="">
            <a:extLst xmlns:a="http://schemas.openxmlformats.org/drawingml/2006/main">
              <a:ext uri="{FF2B5EF4-FFF2-40B4-BE49-F238E27FC236}">
                <a16:creationId xmlns:a16="http://schemas.microsoft.com/office/drawing/2014/main" id="{DF9A6702-B53F-45F1-979A-2460DCB4E449}"/>
              </a:ext>
            </a:extLst>
          </p:cNvPr>
          <p:cNvSpPr>
            <a:spLocks xmlns:a="http://schemas.openxmlformats.org/drawingml/2006/main" noGrp="1"/>
          </p:cNvSpPr>
          <p:nvPr/>
        </p:nvSpPr>
        <p:spPr>
          <a:xfrm xmlns:a="http://schemas.openxmlformats.org/drawingml/2006/main">
            <a:off x="14363700" y="5572125"/>
            <a:ext cx="24003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B029D9FA-4BA5-4198-B395-D56E6BFFBDC4}"/>
              </a:ext>
            </a:extLst>
          </p:cNvPr>
          <p:cNvSpPr>
            <a:spLocks xmlns:a="http://schemas.openxmlformats.org/drawingml/2006/main" noGrp="1"/>
          </p:cNvSpPr>
          <p:nvPr/>
        </p:nvSpPr>
        <p:spPr>
          <a:xfrm xmlns:a="http://schemas.openxmlformats.org/drawingml/2006/main">
            <a:off x="14363700" y="5762625"/>
            <a:ext cx="24003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한 audit session에</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발급·반입·검증 이벤트</a:t>
            </a:r>
          </a:p>
        </p:txBody>
      </p:sp>
      <p:sp>
        <p:nvSpPr>
          <p:cNvPr id="42" name="">
            <a:extLst xmlns:a="http://schemas.openxmlformats.org/drawingml/2006/main">
              <a:ext uri="{FF2B5EF4-FFF2-40B4-BE49-F238E27FC236}">
                <a16:creationId xmlns:a16="http://schemas.microsoft.com/office/drawing/2014/main" id="{414E448D-9452-4CF9-B0BE-00E4DAD94ACC}"/>
              </a:ext>
            </a:extLst>
          </p:cNvPr>
          <p:cNvSpPr>
            <a:spLocks xmlns:a="http://schemas.openxmlformats.org/drawingml/2006/main" noGrp="1"/>
          </p:cNvSpPr>
          <p:nvPr/>
        </p:nvSpPr>
        <p:spPr>
          <a:xfrm xmlns:a="http://schemas.openxmlformats.org/drawingml/2006/main">
            <a:off x="1028700" y="7353300"/>
            <a:ext cx="16230600" cy="1238250"/>
          </a:xfrm>
          <a:prstGeom xmlns:a="http://schemas.openxmlformats.org/drawingml/2006/main" prst="roundRect">
            <a:avLst>
              <a:gd name="adj" fmla="val 16923"/>
            </a:avLst>
          </a:prstGeom>
          <a:solidFill xmlns:a="http://schemas.openxmlformats.org/drawingml/2006/main">
            <a:srgbClr val="FBF4E5"/>
          </a:solidFill>
          <a:ln xmlns:a="http://schemas.openxmlformats.org/drawingml/2006/main" w="14288">
            <a:solidFill>
              <a:srgbClr val="EAD8B4"/>
            </a:solidFill>
            <a:prstDash val="solid"/>
          </a:ln>
        </p:spPr>
      </p:sp>
      <p:sp>
        <p:nvSpPr>
          <p:cNvPr id="43" name="">
            <a:extLst xmlns:a="http://schemas.openxmlformats.org/drawingml/2006/main">
              <a:ext uri="{FF2B5EF4-FFF2-40B4-BE49-F238E27FC236}">
                <a16:creationId xmlns:a16="http://schemas.microsoft.com/office/drawing/2014/main" id="{7A929F7E-491A-4064-8382-49CDA3E3E921}"/>
              </a:ext>
            </a:extLst>
          </p:cNvPr>
          <p:cNvSpPr>
            <a:spLocks xmlns:a="http://schemas.openxmlformats.org/drawingml/2006/main" noGrp="1"/>
          </p:cNvSpPr>
          <p:nvPr/>
        </p:nvSpPr>
        <p:spPr>
          <a:xfrm xmlns:a="http://schemas.openxmlformats.org/drawingml/2006/main">
            <a:off x="1314450" y="7515225"/>
            <a:ext cx="15621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950" b="1">
                <a:solidFill>
                  <a:srgbClr val="0B2342"/>
                </a:solidFill>
                <a:latin typeface="프리텐다드"/>
                <a:ea typeface="프리텐다드"/>
                <a:cs typeface="프리텐다드"/>
              </a:defRPr>
            </a:pPr>
            <a:r>
              <a:rPr sz="1950" b="1">
                <a:solidFill>
                  <a:srgbClr val="0B2342"/>
                </a:solidFill>
                <a:latin typeface="프리텐다드"/>
                <a:ea typeface="프리텐다드"/>
                <a:cs typeface="프리텐다드"/>
              </a:rPr>
              <a:t>PASS: 단건 저장·독립 대조·감사 상관   /   NOT VERIFIED: 전체 700장 배치·중단·철회·만료·복구</a:t>
            </a:r>
          </a:p>
        </p:txBody>
      </p:sp>
      <p:sp>
        <p:nvSpPr>
          <p:cNvPr id="44" name="">
            <a:extLst xmlns:a="http://schemas.openxmlformats.org/drawingml/2006/main">
              <a:ext uri="{FF2B5EF4-FFF2-40B4-BE49-F238E27FC236}">
                <a16:creationId xmlns:a16="http://schemas.microsoft.com/office/drawing/2014/main" id="{F2562BA6-0FA0-4E1E-99CC-09CA9F083B42}"/>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7252EDD5-C1F1-4DCB-9B88-A2929E876A76}"/>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46" name="">
            <a:extLst xmlns:a="http://schemas.openxmlformats.org/drawingml/2006/main">
              <a:ext uri="{FF2B5EF4-FFF2-40B4-BE49-F238E27FC236}">
                <a16:creationId xmlns:a16="http://schemas.microsoft.com/office/drawing/2014/main" id="{6BE55D2D-9030-48E6-AC1C-E2685D3062AB}"/>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14  /  22</a:t>
            </a:r>
          </a:p>
        </p:txBody>
      </p:sp>
    </p:spTree>
    <p:extLst>
      <p:ext uri="{BB962C8B-B14F-4D97-AF65-F5344CB8AC3E}">
        <p14:creationId xmlns:p14="http://schemas.microsoft.com/office/powerpoint/2010/main" val="227955986"/>
      </p:ext>
    </p:extLst>
  </p:cSld>
</p:sld>
</file>

<file path=ppt/slides/slide15.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7F28196B-3344-4C4B-B002-B8860DA7B84C}"/>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B5E35A-D85E-4387-9359-431CAB74527B}"/>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36D727F-0A0E-404D-A4FE-AA9BAA5D5603}"/>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2B7451-693A-4CB5-B353-BD682F4247B9}"/>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REAL SCREEN · AZURE</a:t>
            </a:r>
          </a:p>
        </p:txBody>
      </p:sp>
      <p:sp>
        <p:nvSpPr>
          <p:cNvPr id="5" name="">
            <a:extLst xmlns:a="http://schemas.openxmlformats.org/drawingml/2006/main">
              <a:ext uri="{FF2B5EF4-FFF2-40B4-BE49-F238E27FC236}">
                <a16:creationId xmlns:a16="http://schemas.microsoft.com/office/drawing/2014/main" id="{7A1B4C87-CCE3-43A7-B0D0-16C227BBECF9}"/>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실제 배포 화면: B병원 보관 확인</a:t>
            </a:r>
          </a:p>
        </p:txBody>
      </p:sp>
      <p:sp>
        <p:nvSpPr>
          <p:cNvPr id="6" name="">
            <a:extLst xmlns:a="http://schemas.openxmlformats.org/drawingml/2006/main">
              <a:ext uri="{FF2B5EF4-FFF2-40B4-BE49-F238E27FC236}">
                <a16:creationId xmlns:a16="http://schemas.microsoft.com/office/drawing/2014/main" id="{DFC53446-5F6A-43D3-BA1C-C313061D2DFE}"/>
              </a:ext>
            </a:extLst>
          </p:cNvPr>
          <p:cNvSpPr>
            <a:spLocks xmlns:a="http://schemas.openxmlformats.org/drawingml/2006/main" noGrp="1"/>
          </p:cNvSpPr>
          <p:nvPr/>
        </p:nvSpPr>
        <p:spPr>
          <a:xfrm xmlns:a="http://schemas.openxmlformats.org/drawingml/2006/main">
            <a:off x="1028700" y="2657475"/>
            <a:ext cx="356235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91EAE4-973B-439E-8944-A0EC303C0830}"/>
              </a:ext>
            </a:extLst>
          </p:cNvPr>
          <p:cNvSpPr>
            <a:spLocks xmlns:a="http://schemas.openxmlformats.org/drawingml/2006/main" noGrp="1"/>
          </p:cNvSpPr>
          <p:nvPr/>
        </p:nvSpPr>
        <p:spPr>
          <a:xfrm xmlns:a="http://schemas.openxmlformats.org/drawingml/2006/main">
            <a:off x="1085850" y="2667000"/>
            <a:ext cx="34480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실제 캡처 · 2026.10.14</a:t>
            </a:r>
          </a:p>
        </p:txBody>
      </p:sp>
      <p:sp>
        <p:nvSpPr>
          <p:cNvPr id="8" name="">
            <a:extLst xmlns:a="http://schemas.openxmlformats.org/drawingml/2006/main">
              <a:ext uri="{FF2B5EF4-FFF2-40B4-BE49-F238E27FC236}">
                <a16:creationId xmlns:a16="http://schemas.microsoft.com/office/drawing/2014/main" id="{AB4C83CD-9922-4050-97A9-D7B33481E164}"/>
              </a:ext>
            </a:extLst>
          </p:cNvPr>
          <p:cNvSpPr>
            <a:spLocks xmlns:a="http://schemas.openxmlformats.org/drawingml/2006/main" noGrp="1"/>
          </p:cNvSpPr>
          <p:nvPr/>
        </p:nvSpPr>
        <p:spPr>
          <a:xfrm xmlns:a="http://schemas.openxmlformats.org/drawingml/2006/main">
            <a:off x="1028700" y="3286125"/>
            <a:ext cx="72390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73198"/>
          </a:bodyPr>
          <a:lstStyle xmlns:a="http://schemas.openxmlformats.org/drawingml/2006/main"/>
          <a:p xmlns:a="http://schemas.openxmlformats.org/drawingml/2006/main">
            <a:pPr algn="l">
              <a:defRPr sz="2775" b="1">
                <a:solidFill>
                  <a:srgbClr val="0B2342"/>
                </a:solidFill>
                <a:latin typeface="프리텐다드"/>
                <a:ea typeface="프리텐다드"/>
                <a:cs typeface="프리텐다드"/>
              </a:defRPr>
            </a:pPr>
            <a:r>
              <a:rPr sz="2775" b="1">
                <a:solidFill>
                  <a:srgbClr val="0B2342"/>
                </a:solidFill>
                <a:latin typeface="프리텐다드"/>
                <a:ea typeface="프리텐다드"/>
                <a:cs typeface="프리텐다드"/>
              </a:rPr>
              <a:t>저장 결과는</a:t>
            </a:r>
          </a:p>
          <a:p xmlns:a="http://schemas.openxmlformats.org/drawingml/2006/main">
            <a:pPr algn="l">
              <a:defRPr sz="2775" b="1">
                <a:solidFill>
                  <a:srgbClr val="0B2342"/>
                </a:solidFill>
                <a:latin typeface="프리텐다드"/>
                <a:ea typeface="프리텐다드"/>
                <a:cs typeface="프리텐다드"/>
              </a:defRPr>
            </a:pPr>
            <a:r>
              <a:rPr sz="2775" b="1">
                <a:solidFill>
                  <a:srgbClr val="0B2342"/>
                </a:solidFill>
                <a:latin typeface="프리텐다드"/>
                <a:ea typeface="프리텐다드"/>
                <a:cs typeface="프리텐다드"/>
              </a:rPr>
              <a:t>B PACS가 다시 증명합니다.</a:t>
            </a:r>
          </a:p>
        </p:txBody>
      </p:sp>
      <p:sp>
        <p:nvSpPr>
          <p:cNvPr id="9" name="">
            <a:extLst xmlns:a="http://schemas.openxmlformats.org/drawingml/2006/main">
              <a:ext uri="{FF2B5EF4-FFF2-40B4-BE49-F238E27FC236}">
                <a16:creationId xmlns:a16="http://schemas.microsoft.com/office/drawing/2014/main" id="{CC1A5A13-592F-425D-82F4-1FE4AF2A526C}"/>
              </a:ext>
            </a:extLst>
          </p:cNvPr>
          <p:cNvSpPr>
            <a:spLocks xmlns:a="http://schemas.openxmlformats.org/drawingml/2006/main" noGrp="1"/>
          </p:cNvSpPr>
          <p:nvPr/>
        </p:nvSpPr>
        <p:spPr>
          <a:xfrm xmlns:a="http://schemas.openxmlformats.org/drawingml/2006/main">
            <a:off x="1028700" y="4895850"/>
            <a:ext cx="7239000" cy="895350"/>
          </a:xfrm>
          <a:prstGeom xmlns:a="http://schemas.openxmlformats.org/drawingml/2006/main" prst="roundRect">
            <a:avLst>
              <a:gd name="adj" fmla="val 21277"/>
            </a:avLst>
          </a:prstGeom>
          <a:solidFill xmlns:a="http://schemas.openxmlformats.org/drawingml/2006/main">
            <a:srgbClr val="0B2342"/>
          </a:solidFill>
          <a:ln xmlns:a="http://schemas.openxmlformats.org/drawingml/2006/main" w="14288">
            <a:solidFill>
              <a:srgbClr val="0B2342"/>
            </a:solidFill>
            <a:prstDash val="solid"/>
          </a:ln>
        </p:spPr>
      </p:sp>
      <p:sp>
        <p:nvSpPr>
          <p:cNvPr id="10" name="">
            <a:extLst xmlns:a="http://schemas.openxmlformats.org/drawingml/2006/main">
              <a:ext uri="{FF2B5EF4-FFF2-40B4-BE49-F238E27FC236}">
                <a16:creationId xmlns:a16="http://schemas.microsoft.com/office/drawing/2014/main" id="{41495D42-80B6-4080-BB7C-5720B0897FE9}"/>
              </a:ext>
            </a:extLst>
          </p:cNvPr>
          <p:cNvSpPr>
            <a:spLocks xmlns:a="http://schemas.openxmlformats.org/drawingml/2006/main" noGrp="1"/>
          </p:cNvSpPr>
          <p:nvPr/>
        </p:nvSpPr>
        <p:spPr>
          <a:xfrm xmlns:a="http://schemas.openxmlformats.org/drawingml/2006/main">
            <a:off x="1257300" y="4972050"/>
            <a:ext cx="228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75" b="1">
                <a:solidFill>
                  <a:srgbClr val="FFFFFF"/>
                </a:solidFill>
                <a:latin typeface="프리텐다드"/>
                <a:ea typeface="프리텐다드"/>
                <a:cs typeface="프리텐다드"/>
              </a:defRPr>
            </a:pPr>
            <a:r>
              <a:rPr sz="1875" b="1">
                <a:solidFill>
                  <a:srgbClr val="FFFFFF"/>
                </a:solidFill>
                <a:latin typeface="프리텐다드"/>
                <a:ea typeface="프리텐다드"/>
                <a:cs typeface="프리텐다드"/>
              </a:rPr>
              <a:t>1 / 1</a:t>
            </a:r>
          </a:p>
        </p:txBody>
      </p:sp>
      <p:sp>
        <p:nvSpPr>
          <p:cNvPr id="11" name="">
            <a:extLst xmlns:a="http://schemas.openxmlformats.org/drawingml/2006/main">
              <a:ext uri="{FF2B5EF4-FFF2-40B4-BE49-F238E27FC236}">
                <a16:creationId xmlns:a16="http://schemas.microsoft.com/office/drawing/2014/main" id="{2DA3A817-08CC-4C10-BAB7-E659151877CD}"/>
              </a:ext>
            </a:extLst>
          </p:cNvPr>
          <p:cNvSpPr>
            <a:spLocks xmlns:a="http://schemas.openxmlformats.org/drawingml/2006/main" noGrp="1"/>
          </p:cNvSpPr>
          <p:nvPr/>
        </p:nvSpPr>
        <p:spPr>
          <a:xfrm xmlns:a="http://schemas.openxmlformats.org/drawingml/2006/main">
            <a:off x="3581400" y="49720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0">
                <a:solidFill>
                  <a:srgbClr val="DCE8F5"/>
                </a:solidFill>
                <a:latin typeface="프리텐다드"/>
                <a:ea typeface="프리텐다드"/>
                <a:cs typeface="프리텐다드"/>
              </a:defRPr>
            </a:pPr>
            <a:r>
              <a:rPr sz="1650" b="0">
                <a:solidFill>
                  <a:srgbClr val="DCE8F5"/>
                </a:solidFill>
                <a:latin typeface="프리텐다드"/>
                <a:ea typeface="프리텐다드"/>
                <a:cs typeface="프리텐다드"/>
              </a:rPr>
              <a:t>선택한 합성 instance 보관 완료</a:t>
            </a:r>
          </a:p>
        </p:txBody>
      </p:sp>
      <p:sp>
        <p:nvSpPr>
          <p:cNvPr id="12" name="">
            <a:extLst xmlns:a="http://schemas.openxmlformats.org/drawingml/2006/main">
              <a:ext uri="{FF2B5EF4-FFF2-40B4-BE49-F238E27FC236}">
                <a16:creationId xmlns:a16="http://schemas.microsoft.com/office/drawing/2014/main" id="{D76C86AC-A404-4666-99E4-28B4F3158E7B}"/>
              </a:ext>
            </a:extLst>
          </p:cNvPr>
          <p:cNvSpPr>
            <a:spLocks xmlns:a="http://schemas.openxmlformats.org/drawingml/2006/main" noGrp="1"/>
          </p:cNvSpPr>
          <p:nvPr/>
        </p:nvSpPr>
        <p:spPr>
          <a:xfrm xmlns:a="http://schemas.openxmlformats.org/drawingml/2006/main">
            <a:off x="1028700" y="6019800"/>
            <a:ext cx="7239000" cy="895350"/>
          </a:xfrm>
          <a:prstGeom xmlns:a="http://schemas.openxmlformats.org/drawingml/2006/main" prst="roundRect">
            <a:avLst>
              <a:gd name="adj" fmla="val 21277"/>
            </a:avLst>
          </a:prstGeom>
          <a:solidFill xmlns:a="http://schemas.openxmlformats.org/drawingml/2006/main">
            <a:srgbClr val="FFFFFF"/>
          </a:solidFill>
          <a:ln xmlns:a="http://schemas.openxmlformats.org/drawingml/2006/main" w="14288">
            <a:solidFill>
              <a:srgbClr val="D8E0E9"/>
            </a:solidFill>
            <a:prstDash val="solid"/>
          </a:ln>
        </p:spPr>
      </p:sp>
      <p:sp>
        <p:nvSpPr>
          <p:cNvPr id="13" name="">
            <a:extLst xmlns:a="http://schemas.openxmlformats.org/drawingml/2006/main">
              <a:ext uri="{FF2B5EF4-FFF2-40B4-BE49-F238E27FC236}">
                <a16:creationId xmlns:a16="http://schemas.microsoft.com/office/drawing/2014/main" id="{F975B80B-A4E2-4312-AABC-2C575072E188}"/>
              </a:ext>
            </a:extLst>
          </p:cNvPr>
          <p:cNvSpPr>
            <a:spLocks xmlns:a="http://schemas.openxmlformats.org/drawingml/2006/main" noGrp="1"/>
          </p:cNvSpPr>
          <p:nvPr/>
        </p:nvSpPr>
        <p:spPr>
          <a:xfrm xmlns:a="http://schemas.openxmlformats.org/drawingml/2006/main">
            <a:off x="1257300" y="6096000"/>
            <a:ext cx="228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75" b="1">
                <a:solidFill>
                  <a:srgbClr val="2F68B5"/>
                </a:solidFill>
                <a:latin typeface="프리텐다드"/>
                <a:ea typeface="프리텐다드"/>
                <a:cs typeface="프리텐다드"/>
              </a:defRPr>
            </a:pPr>
            <a:r>
              <a:rPr sz="1875" b="1">
                <a:solidFill>
                  <a:srgbClr val="2F68B5"/>
                </a:solidFill>
                <a:latin typeface="프리텐다드"/>
                <a:ea typeface="프리텐다드"/>
                <a:cs typeface="프리텐다드"/>
              </a:rPr>
              <a:t>UID + SHA-256</a:t>
            </a:r>
          </a:p>
        </p:txBody>
      </p:sp>
      <p:sp>
        <p:nvSpPr>
          <p:cNvPr id="14" name="">
            <a:extLst xmlns:a="http://schemas.openxmlformats.org/drawingml/2006/main">
              <a:ext uri="{FF2B5EF4-FFF2-40B4-BE49-F238E27FC236}">
                <a16:creationId xmlns:a16="http://schemas.microsoft.com/office/drawing/2014/main" id="{9F44029E-F519-4933-8EC3-097A0665EECF}"/>
              </a:ext>
            </a:extLst>
          </p:cNvPr>
          <p:cNvSpPr>
            <a:spLocks xmlns:a="http://schemas.openxmlformats.org/drawingml/2006/main" noGrp="1"/>
          </p:cNvSpPr>
          <p:nvPr/>
        </p:nvSpPr>
        <p:spPr>
          <a:xfrm xmlns:a="http://schemas.openxmlformats.org/drawingml/2006/main">
            <a:off x="3581400" y="609600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0">
                <a:solidFill>
                  <a:srgbClr val="17263A"/>
                </a:solidFill>
                <a:latin typeface="프리텐다드"/>
                <a:ea typeface="프리텐다드"/>
                <a:cs typeface="프리텐다드"/>
              </a:defRPr>
            </a:pPr>
            <a:r>
              <a:rPr sz="1650" b="0">
                <a:solidFill>
                  <a:srgbClr val="17263A"/>
                </a:solidFill>
                <a:latin typeface="프리텐다드"/>
                <a:ea typeface="프리텐다드"/>
                <a:cs typeface="프리텐다드"/>
              </a:rPr>
              <a:t>B PACS 재조회 영수증과 대조</a:t>
            </a:r>
          </a:p>
        </p:txBody>
      </p:sp>
      <p:sp>
        <p:nvSpPr>
          <p:cNvPr id="15" name="">
            <a:extLst xmlns:a="http://schemas.openxmlformats.org/drawingml/2006/main">
              <a:ext uri="{FF2B5EF4-FFF2-40B4-BE49-F238E27FC236}">
                <a16:creationId xmlns:a16="http://schemas.microsoft.com/office/drawing/2014/main" id="{CC3C2905-28F4-411C-A363-9797F33E8F24}"/>
              </a:ext>
            </a:extLst>
          </p:cNvPr>
          <p:cNvSpPr>
            <a:spLocks xmlns:a="http://schemas.openxmlformats.org/drawingml/2006/main" noGrp="1"/>
          </p:cNvSpPr>
          <p:nvPr/>
        </p:nvSpPr>
        <p:spPr>
          <a:xfrm xmlns:a="http://schemas.openxmlformats.org/drawingml/2006/main">
            <a:off x="1028700" y="7143750"/>
            <a:ext cx="7239000" cy="895350"/>
          </a:xfrm>
          <a:prstGeom xmlns:a="http://schemas.openxmlformats.org/drawingml/2006/main" prst="roundRect">
            <a:avLst>
              <a:gd name="adj" fmla="val 21277"/>
            </a:avLst>
          </a:prstGeom>
          <a:solidFill xmlns:a="http://schemas.openxmlformats.org/drawingml/2006/main">
            <a:srgbClr val="FFFFFF"/>
          </a:solidFill>
          <a:ln xmlns:a="http://schemas.openxmlformats.org/drawingml/2006/main" w="14288">
            <a:solidFill>
              <a:srgbClr val="D8E0E9"/>
            </a:solidFill>
            <a:prstDash val="solid"/>
          </a:ln>
        </p:spPr>
      </p:sp>
      <p:sp>
        <p:nvSpPr>
          <p:cNvPr id="16" name="">
            <a:extLst xmlns:a="http://schemas.openxmlformats.org/drawingml/2006/main">
              <a:ext uri="{FF2B5EF4-FFF2-40B4-BE49-F238E27FC236}">
                <a16:creationId xmlns:a16="http://schemas.microsoft.com/office/drawing/2014/main" id="{BC543254-6007-4F9A-9F09-44BC06151C04}"/>
              </a:ext>
            </a:extLst>
          </p:cNvPr>
          <p:cNvSpPr>
            <a:spLocks xmlns:a="http://schemas.openxmlformats.org/drawingml/2006/main" noGrp="1"/>
          </p:cNvSpPr>
          <p:nvPr/>
        </p:nvSpPr>
        <p:spPr>
          <a:xfrm xmlns:a="http://schemas.openxmlformats.org/drawingml/2006/main">
            <a:off x="1257300" y="7219950"/>
            <a:ext cx="2286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75" b="1">
                <a:solidFill>
                  <a:srgbClr val="2F68B5"/>
                </a:solidFill>
                <a:latin typeface="프리텐다드"/>
                <a:ea typeface="프리텐다드"/>
                <a:cs typeface="프리텐다드"/>
              </a:defRPr>
            </a:pPr>
            <a:r>
              <a:rPr sz="1875" b="1">
                <a:solidFill>
                  <a:srgbClr val="2F68B5"/>
                </a:solidFill>
                <a:latin typeface="프리텐다드"/>
                <a:ea typeface="프리텐다드"/>
                <a:cs typeface="프리텐다드"/>
              </a:rPr>
              <a:t>PC 다운로드</a:t>
            </a:r>
          </a:p>
        </p:txBody>
      </p:sp>
      <p:sp>
        <p:nvSpPr>
          <p:cNvPr id="17" name="">
            <a:extLst xmlns:a="http://schemas.openxmlformats.org/drawingml/2006/main">
              <a:ext uri="{FF2B5EF4-FFF2-40B4-BE49-F238E27FC236}">
                <a16:creationId xmlns:a16="http://schemas.microsoft.com/office/drawing/2014/main" id="{3F28F182-EB77-489B-B18F-8FFF705BF755}"/>
              </a:ext>
            </a:extLst>
          </p:cNvPr>
          <p:cNvSpPr>
            <a:spLocks xmlns:a="http://schemas.openxmlformats.org/drawingml/2006/main" noGrp="1"/>
          </p:cNvSpPr>
          <p:nvPr/>
        </p:nvSpPr>
        <p:spPr>
          <a:xfrm xmlns:a="http://schemas.openxmlformats.org/drawingml/2006/main">
            <a:off x="3581400" y="7219950"/>
            <a:ext cx="44386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0">
                <a:solidFill>
                  <a:srgbClr val="17263A"/>
                </a:solidFill>
                <a:latin typeface="프리텐다드"/>
                <a:ea typeface="프리텐다드"/>
                <a:cs typeface="프리텐다드"/>
              </a:defRPr>
            </a:pPr>
            <a:r>
              <a:rPr sz="1650" b="0">
                <a:solidFill>
                  <a:srgbClr val="17263A"/>
                </a:solidFill>
                <a:latin typeface="프리텐다드"/>
                <a:ea typeface="프리텐다드"/>
                <a:cs typeface="프리텐다드"/>
              </a:rPr>
              <a:t>공개 경로는 차단</a:t>
            </a:r>
          </a:p>
        </p:txBody>
      </p:sp>
      <p:sp>
        <p:nvSpPr>
          <p:cNvPr id="18" name="">
            <a:extLst xmlns:a="http://schemas.openxmlformats.org/drawingml/2006/main">
              <a:ext uri="{FF2B5EF4-FFF2-40B4-BE49-F238E27FC236}">
                <a16:creationId xmlns:a16="http://schemas.microsoft.com/office/drawing/2014/main" id="{FDEBEFAE-8286-4356-91AE-208ACC0019AF}"/>
              </a:ext>
            </a:extLst>
          </p:cNvPr>
          <p:cNvSpPr>
            <a:spLocks xmlns:a="http://schemas.openxmlformats.org/drawingml/2006/main" noGrp="1"/>
          </p:cNvSpPr>
          <p:nvPr/>
        </p:nvSpPr>
        <p:spPr>
          <a:xfrm xmlns:a="http://schemas.openxmlformats.org/drawingml/2006/main">
            <a:off x="8705850" y="2724150"/>
            <a:ext cx="8553450" cy="5791200"/>
          </a:xfrm>
          <a:prstGeom xmlns:a="http://schemas.openxmlformats.org/drawingml/2006/main" prst="roundRect">
            <a:avLst>
              <a:gd name="adj" fmla="val 3947"/>
            </a:avLst>
          </a:prstGeom>
          <a:solidFill xmlns:a="http://schemas.openxmlformats.org/drawingml/2006/main">
            <a:srgbClr val="FFFFFF"/>
          </a:solidFill>
          <a:ln xmlns:a="http://schemas.openxmlformats.org/drawingml/2006/main" w="14288">
            <a:solidFill>
              <a:srgbClr val="D8E0E9"/>
            </a:solidFill>
            <a:prstDash val="solid"/>
          </a:ln>
        </p:spPr>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440c1ba8e3b148e4"/>
          <a:srcRect xmlns:a="http://schemas.openxmlformats.org/drawingml/2006/main" l="0" t="6440" r="0" b="6440"/>
          <a:stretch xmlns:a="http://schemas.openxmlformats.org/drawingml/2006/main">
            <a:fillRect l="0" t="0" r="0" b="0"/>
          </a:stretch>
        </p:blipFill>
        <p:spPr>
          <a:xfrm xmlns:a="http://schemas.openxmlformats.org/drawingml/2006/main">
            <a:off x="8915400" y="2933700"/>
            <a:ext cx="8134350" cy="4724400"/>
          </a:xfrm>
          <a:prstGeom xmlns:a="http://schemas.openxmlformats.org/drawingml/2006/main" prst="roundRect">
            <a:avLst>
              <a:gd name="adj" fmla="val 3629"/>
            </a:avLst>
          </a:prstGeom>
        </p:spPr>
      </p:pic>
      <p:sp>
        <p:nvSpPr>
          <p:cNvPr id="20" name="">
            <a:extLst xmlns:a="http://schemas.openxmlformats.org/drawingml/2006/main">
              <a:ext uri="{FF2B5EF4-FFF2-40B4-BE49-F238E27FC236}">
                <a16:creationId xmlns:a16="http://schemas.microsoft.com/office/drawing/2014/main" id="{BF523330-4E1A-4750-8936-EB93CC1F6EE6}"/>
              </a:ext>
            </a:extLst>
          </p:cNvPr>
          <p:cNvSpPr>
            <a:spLocks xmlns:a="http://schemas.openxmlformats.org/drawingml/2006/main" noGrp="1"/>
          </p:cNvSpPr>
          <p:nvPr/>
        </p:nvSpPr>
        <p:spPr>
          <a:xfrm xmlns:a="http://schemas.openxmlformats.org/drawingml/2006/main">
            <a:off x="8915400" y="7810500"/>
            <a:ext cx="2762250" cy="400050"/>
          </a:xfrm>
          <a:prstGeom xmlns:a="http://schemas.openxmlformats.org/drawingml/2006/main" prst="roundRect">
            <a:avLst>
              <a:gd name="adj" fmla="val 50000"/>
            </a:avLst>
          </a:prstGeom>
          <a:solidFill xmlns:a="http://schemas.openxmlformats.org/drawingml/2006/main">
            <a:srgbClr val="FBF4E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541450B-1FDB-4582-BE46-857D75CDF9A6}"/>
              </a:ext>
            </a:extLst>
          </p:cNvPr>
          <p:cNvSpPr>
            <a:spLocks xmlns:a="http://schemas.openxmlformats.org/drawingml/2006/main" noGrp="1"/>
          </p:cNvSpPr>
          <p:nvPr/>
        </p:nvSpPr>
        <p:spPr>
          <a:xfrm xmlns:a="http://schemas.openxmlformats.org/drawingml/2006/main">
            <a:off x="8972550" y="7820025"/>
            <a:ext cx="2647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합성 데이터 · 비임상</a:t>
            </a:r>
          </a:p>
        </p:txBody>
      </p:sp>
      <p:sp>
        <p:nvSpPr>
          <p:cNvPr id="22" name="">
            <a:extLst xmlns:a="http://schemas.openxmlformats.org/drawingml/2006/main">
              <a:ext uri="{FF2B5EF4-FFF2-40B4-BE49-F238E27FC236}">
                <a16:creationId xmlns:a16="http://schemas.microsoft.com/office/drawing/2014/main" id="{BCE9D6E3-A8D1-465A-BA31-BCA5A3CC1347}"/>
              </a:ext>
            </a:extLst>
          </p:cNvPr>
          <p:cNvSpPr>
            <a:spLocks xmlns:a="http://schemas.openxmlformats.org/drawingml/2006/main" noGrp="1"/>
          </p:cNvSpPr>
          <p:nvPr/>
        </p:nvSpPr>
        <p:spPr>
          <a:xfrm xmlns:a="http://schemas.openxmlformats.org/drawingml/2006/main">
            <a:off x="11849100" y="7781925"/>
            <a:ext cx="5200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r">
              <a:defRPr sz="1425" b="0">
                <a:solidFill>
                  <a:srgbClr val="53657B"/>
                </a:solidFill>
                <a:latin typeface="프리텐다드"/>
                <a:ea typeface="프리텐다드"/>
                <a:cs typeface="프리텐다드"/>
              </a:defRPr>
            </a:pPr>
            <a:r>
              <a:rPr sz="1425" b="0">
                <a:solidFill>
                  <a:srgbClr val="53657B"/>
                </a:solidFill>
                <a:latin typeface="프리텐다드"/>
                <a:ea typeface="프리텐다드"/>
                <a:cs typeface="프리텐다드"/>
              </a:rPr>
              <a:t>700장 전체 전송과 LUKS mount 결합은 별도 미검증</a:t>
            </a:r>
          </a:p>
        </p:txBody>
      </p:sp>
      <p:sp>
        <p:nvSpPr>
          <p:cNvPr id="23" name="">
            <a:extLst xmlns:a="http://schemas.openxmlformats.org/drawingml/2006/main">
              <a:ext uri="{FF2B5EF4-FFF2-40B4-BE49-F238E27FC236}">
                <a16:creationId xmlns:a16="http://schemas.microsoft.com/office/drawing/2014/main" id="{14E3D437-E590-4561-8BF8-F12BC5AAACB9}"/>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D2951CD-9B0E-4A7F-A4C5-9C239AFA3D9A}"/>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5" name="">
            <a:extLst xmlns:a="http://schemas.openxmlformats.org/drawingml/2006/main">
              <a:ext uri="{FF2B5EF4-FFF2-40B4-BE49-F238E27FC236}">
                <a16:creationId xmlns:a16="http://schemas.microsoft.com/office/drawing/2014/main" id="{B62E6EB9-FDF6-4324-8635-461EEF9134B5}"/>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15  /  22</a:t>
            </a:r>
          </a:p>
        </p:txBody>
      </p:sp>
    </p:spTree>
    <p:extLst>
      <p:ext uri="{BB962C8B-B14F-4D97-AF65-F5344CB8AC3E}">
        <p14:creationId xmlns:p14="http://schemas.microsoft.com/office/powerpoint/2010/main" val="2408177340"/>
      </p:ext>
    </p:extLst>
  </p:cSld>
</p:sld>
</file>

<file path=ppt/slides/slide16.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2018188-F7E7-4FDE-92B2-D657FAA6A89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AF8CF2-36B9-4842-913E-31941BB756D3}"/>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042DF51-A533-4E83-B367-C02401927B75}"/>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F6525D-B3C6-4ACD-A582-9E1C8234FAC9}"/>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SECURITY GATE</a:t>
            </a:r>
          </a:p>
        </p:txBody>
      </p:sp>
      <p:sp>
        <p:nvSpPr>
          <p:cNvPr id="5" name="">
            <a:extLst xmlns:a="http://schemas.openxmlformats.org/drawingml/2006/main">
              <a:ext uri="{FF2B5EF4-FFF2-40B4-BE49-F238E27FC236}">
                <a16:creationId xmlns:a16="http://schemas.microsoft.com/office/drawing/2014/main" id="{4F73382B-4627-4FFA-A71D-78B53EEDB360}"/>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정책은 조건의 교집합, 실패는 기본 거부</a:t>
            </a:r>
          </a:p>
        </p:txBody>
      </p:sp>
      <p:sp>
        <p:nvSpPr>
          <p:cNvPr id="6" name="">
            <a:extLst xmlns:a="http://schemas.openxmlformats.org/drawingml/2006/main">
              <a:ext uri="{FF2B5EF4-FFF2-40B4-BE49-F238E27FC236}">
                <a16:creationId xmlns:a16="http://schemas.microsoft.com/office/drawing/2014/main" id="{B255071F-FBD3-4314-A253-CDF74003A7A6}"/>
              </a:ext>
            </a:extLst>
          </p:cNvPr>
          <p:cNvSpPr>
            <a:spLocks xmlns:a="http://schemas.openxmlformats.org/drawingml/2006/main" noGrp="1"/>
          </p:cNvSpPr>
          <p:nvPr/>
        </p:nvSpPr>
        <p:spPr>
          <a:xfrm xmlns:a="http://schemas.openxmlformats.org/drawingml/2006/main">
            <a:off x="1028700" y="2705100"/>
            <a:ext cx="16230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역할만 맞아도 열리지 않습니다. 서버가 한 요청의 모든 조건을 함께 확인합니다.</a:t>
            </a:r>
          </a:p>
        </p:txBody>
      </p:sp>
      <p:sp>
        <p:nvSpPr>
          <p:cNvPr id="7" name="">
            <a:extLst xmlns:a="http://schemas.openxmlformats.org/drawingml/2006/main">
              <a:ext uri="{FF2B5EF4-FFF2-40B4-BE49-F238E27FC236}">
                <a16:creationId xmlns:a16="http://schemas.microsoft.com/office/drawing/2014/main" id="{D3E05159-6C50-460E-A16B-74586F5448DE}"/>
              </a:ext>
            </a:extLst>
          </p:cNvPr>
          <p:cNvSpPr>
            <a:spLocks xmlns:a="http://schemas.openxmlformats.org/drawingml/2006/main" noGrp="1"/>
          </p:cNvSpPr>
          <p:nvPr/>
        </p:nvSpPr>
        <p:spPr>
          <a:xfrm xmlns:a="http://schemas.openxmlformats.org/drawingml/2006/main">
            <a:off x="1028700" y="3810000"/>
            <a:ext cx="3714750" cy="2724150"/>
          </a:xfrm>
          <a:prstGeom xmlns:a="http://schemas.openxmlformats.org/drawingml/2006/main" prst="roundRect">
            <a:avLst>
              <a:gd name="adj" fmla="val 8392"/>
            </a:avLst>
          </a:prstGeom>
          <a:solidFill xmlns:a="http://schemas.openxmlformats.org/drawingml/2006/main">
            <a:srgbClr val="E9F1FC"/>
          </a:solidFill>
          <a:ln xmlns:a="http://schemas.openxmlformats.org/drawingml/2006/main" w="14288">
            <a:solidFill>
              <a:srgbClr val="D8E0E9"/>
            </a:solidFill>
            <a:prstDash val="solid"/>
          </a:ln>
        </p:spPr>
      </p:sp>
      <p:sp>
        <p:nvSpPr>
          <p:cNvPr id="8" name="">
            <a:extLst xmlns:a="http://schemas.openxmlformats.org/drawingml/2006/main">
              <a:ext uri="{FF2B5EF4-FFF2-40B4-BE49-F238E27FC236}">
                <a16:creationId xmlns:a16="http://schemas.microsoft.com/office/drawing/2014/main" id="{00952457-86FB-4FDC-8634-059F9447C40A}"/>
              </a:ext>
            </a:extLst>
          </p:cNvPr>
          <p:cNvSpPr>
            <a:spLocks xmlns:a="http://schemas.openxmlformats.org/drawingml/2006/main" noGrp="1"/>
          </p:cNvSpPr>
          <p:nvPr/>
        </p:nvSpPr>
        <p:spPr>
          <a:xfrm xmlns:a="http://schemas.openxmlformats.org/drawingml/2006/main">
            <a:off x="1257300" y="4038600"/>
            <a:ext cx="11430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AAD9B28-2AD8-45DB-BCF6-E0397CF14F60}"/>
              </a:ext>
            </a:extLst>
          </p:cNvPr>
          <p:cNvSpPr>
            <a:spLocks xmlns:a="http://schemas.openxmlformats.org/drawingml/2006/main" noGrp="1"/>
          </p:cNvSpPr>
          <p:nvPr/>
        </p:nvSpPr>
        <p:spPr>
          <a:xfrm xmlns:a="http://schemas.openxmlformats.org/drawingml/2006/main">
            <a:off x="1314450" y="4048125"/>
            <a:ext cx="102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WHO</a:t>
            </a:r>
          </a:p>
        </p:txBody>
      </p:sp>
      <p:sp>
        <p:nvSpPr>
          <p:cNvPr id="10" name="">
            <a:extLst xmlns:a="http://schemas.openxmlformats.org/drawingml/2006/main">
              <a:ext uri="{FF2B5EF4-FFF2-40B4-BE49-F238E27FC236}">
                <a16:creationId xmlns:a16="http://schemas.microsoft.com/office/drawing/2014/main" id="{C55C6A77-D392-4C38-B083-59B4FD4D9448}"/>
              </a:ext>
            </a:extLst>
          </p:cNvPr>
          <p:cNvSpPr>
            <a:spLocks xmlns:a="http://schemas.openxmlformats.org/drawingml/2006/main" noGrp="1"/>
          </p:cNvSpPr>
          <p:nvPr/>
        </p:nvSpPr>
        <p:spPr>
          <a:xfrm xmlns:a="http://schemas.openxmlformats.org/drawingml/2006/main">
            <a:off x="1257300" y="4686300"/>
            <a:ext cx="3257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요청 주체</a:t>
            </a:r>
          </a:p>
        </p:txBody>
      </p:sp>
      <p:sp>
        <p:nvSpPr>
          <p:cNvPr id="11" name="">
            <a:extLst xmlns:a="http://schemas.openxmlformats.org/drawingml/2006/main">
              <a:ext uri="{FF2B5EF4-FFF2-40B4-BE49-F238E27FC236}">
                <a16:creationId xmlns:a16="http://schemas.microsoft.com/office/drawing/2014/main" id="{64CF393C-B5F0-4504-A773-3A58FB27A700}"/>
              </a:ext>
            </a:extLst>
          </p:cNvPr>
          <p:cNvSpPr>
            <a:spLocks xmlns:a="http://schemas.openxmlformats.org/drawingml/2006/main" noGrp="1"/>
          </p:cNvSpPr>
          <p:nvPr/>
        </p:nvSpPr>
        <p:spPr>
          <a:xfrm xmlns:a="http://schemas.openxmlformats.org/drawingml/2006/main">
            <a:off x="1257300" y="5314950"/>
            <a:ext cx="3257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환자 / 의료진</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소속 기관·역할</a:t>
            </a:r>
          </a:p>
        </p:txBody>
      </p:sp>
      <p:sp>
        <p:nvSpPr>
          <p:cNvPr id="12" name="">
            <a:extLst xmlns:a="http://schemas.openxmlformats.org/drawingml/2006/main">
              <a:ext uri="{FF2B5EF4-FFF2-40B4-BE49-F238E27FC236}">
                <a16:creationId xmlns:a16="http://schemas.microsoft.com/office/drawing/2014/main" id="{92C56B30-DA1A-441E-BAFC-EDA0C96CCD36}"/>
              </a:ext>
            </a:extLst>
          </p:cNvPr>
          <p:cNvSpPr>
            <a:spLocks xmlns:a="http://schemas.openxmlformats.org/drawingml/2006/main" noGrp="1"/>
          </p:cNvSpPr>
          <p:nvPr/>
        </p:nvSpPr>
        <p:spPr>
          <a:xfrm xmlns:a="http://schemas.openxmlformats.org/drawingml/2006/main">
            <a:off x="5143500" y="3810000"/>
            <a:ext cx="3714750" cy="2724150"/>
          </a:xfrm>
          <a:prstGeom xmlns:a="http://schemas.openxmlformats.org/drawingml/2006/main" prst="roundRect">
            <a:avLst>
              <a:gd name="adj" fmla="val 8392"/>
            </a:avLst>
          </a:prstGeom>
          <a:solidFill xmlns:a="http://schemas.openxmlformats.org/drawingml/2006/main">
            <a:srgbClr val="E7F4F1"/>
          </a:solidFill>
          <a:ln xmlns:a="http://schemas.openxmlformats.org/drawingml/2006/main" w="14288">
            <a:solidFill>
              <a:srgbClr val="D8E0E9"/>
            </a:solidFill>
            <a:prstDash val="solid"/>
          </a:ln>
        </p:spPr>
      </p:sp>
      <p:sp>
        <p:nvSpPr>
          <p:cNvPr id="13" name="">
            <a:extLst xmlns:a="http://schemas.openxmlformats.org/drawingml/2006/main">
              <a:ext uri="{FF2B5EF4-FFF2-40B4-BE49-F238E27FC236}">
                <a16:creationId xmlns:a16="http://schemas.microsoft.com/office/drawing/2014/main" id="{8E0B1622-8BE8-47D5-BF0C-772BEA0DEFD0}"/>
              </a:ext>
            </a:extLst>
          </p:cNvPr>
          <p:cNvSpPr>
            <a:spLocks xmlns:a="http://schemas.openxmlformats.org/drawingml/2006/main" noGrp="1"/>
          </p:cNvSpPr>
          <p:nvPr/>
        </p:nvSpPr>
        <p:spPr>
          <a:xfrm xmlns:a="http://schemas.openxmlformats.org/drawingml/2006/main">
            <a:off x="5372100" y="4038600"/>
            <a:ext cx="11430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748D761-C6F3-47CC-AEBF-EF821F23CC5F}"/>
              </a:ext>
            </a:extLst>
          </p:cNvPr>
          <p:cNvSpPr>
            <a:spLocks xmlns:a="http://schemas.openxmlformats.org/drawingml/2006/main" noGrp="1"/>
          </p:cNvSpPr>
          <p:nvPr/>
        </p:nvSpPr>
        <p:spPr>
          <a:xfrm xmlns:a="http://schemas.openxmlformats.org/drawingml/2006/main">
            <a:off x="5429250" y="4048125"/>
            <a:ext cx="102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WHY</a:t>
            </a:r>
          </a:p>
        </p:txBody>
      </p:sp>
      <p:sp>
        <p:nvSpPr>
          <p:cNvPr id="15" name="">
            <a:extLst xmlns:a="http://schemas.openxmlformats.org/drawingml/2006/main">
              <a:ext uri="{FF2B5EF4-FFF2-40B4-BE49-F238E27FC236}">
                <a16:creationId xmlns:a16="http://schemas.microsoft.com/office/drawing/2014/main" id="{66D8CD29-D907-42E0-BF8E-A76BD500B251}"/>
              </a:ext>
            </a:extLst>
          </p:cNvPr>
          <p:cNvSpPr>
            <a:spLocks xmlns:a="http://schemas.openxmlformats.org/drawingml/2006/main" noGrp="1"/>
          </p:cNvSpPr>
          <p:nvPr/>
        </p:nvSpPr>
        <p:spPr>
          <a:xfrm xmlns:a="http://schemas.openxmlformats.org/drawingml/2006/main">
            <a:off x="5372100" y="4686300"/>
            <a:ext cx="3257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목적</a:t>
            </a:r>
          </a:p>
        </p:txBody>
      </p:sp>
      <p:sp>
        <p:nvSpPr>
          <p:cNvPr id="16" name="">
            <a:extLst xmlns:a="http://schemas.openxmlformats.org/drawingml/2006/main">
              <a:ext uri="{FF2B5EF4-FFF2-40B4-BE49-F238E27FC236}">
                <a16:creationId xmlns:a16="http://schemas.microsoft.com/office/drawing/2014/main" id="{4CFAF361-163D-48B2-AFB4-6F6036FDCFD6}"/>
              </a:ext>
            </a:extLst>
          </p:cNvPr>
          <p:cNvSpPr>
            <a:spLocks xmlns:a="http://schemas.openxmlformats.org/drawingml/2006/main" noGrp="1"/>
          </p:cNvSpPr>
          <p:nvPr/>
        </p:nvSpPr>
        <p:spPr>
          <a:xfrm xmlns:a="http://schemas.openxmlformats.org/drawingml/2006/main">
            <a:off x="5372100" y="5314950"/>
            <a:ext cx="3257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진료 목적이</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동의와 일치</a:t>
            </a:r>
          </a:p>
        </p:txBody>
      </p:sp>
      <p:sp>
        <p:nvSpPr>
          <p:cNvPr id="17" name="">
            <a:extLst xmlns:a="http://schemas.openxmlformats.org/drawingml/2006/main">
              <a:ext uri="{FF2B5EF4-FFF2-40B4-BE49-F238E27FC236}">
                <a16:creationId xmlns:a16="http://schemas.microsoft.com/office/drawing/2014/main" id="{3F1A2DE7-295A-4BA4-9C2E-E255DB2FF640}"/>
              </a:ext>
            </a:extLst>
          </p:cNvPr>
          <p:cNvSpPr>
            <a:spLocks xmlns:a="http://schemas.openxmlformats.org/drawingml/2006/main" noGrp="1"/>
          </p:cNvSpPr>
          <p:nvPr/>
        </p:nvSpPr>
        <p:spPr>
          <a:xfrm xmlns:a="http://schemas.openxmlformats.org/drawingml/2006/main">
            <a:off x="9258300" y="3810000"/>
            <a:ext cx="3714750" cy="2724150"/>
          </a:xfrm>
          <a:prstGeom xmlns:a="http://schemas.openxmlformats.org/drawingml/2006/main" prst="roundRect">
            <a:avLst>
              <a:gd name="adj" fmla="val 8392"/>
            </a:avLst>
          </a:prstGeom>
          <a:solidFill xmlns:a="http://schemas.openxmlformats.org/drawingml/2006/main">
            <a:srgbClr val="FBF4E5"/>
          </a:solidFill>
          <a:ln xmlns:a="http://schemas.openxmlformats.org/drawingml/2006/main" w="14288">
            <a:solidFill>
              <a:srgbClr val="D8E0E9"/>
            </a:solidFill>
            <a:prstDash val="solid"/>
          </a:ln>
        </p:spPr>
      </p:sp>
      <p:sp>
        <p:nvSpPr>
          <p:cNvPr id="18" name="">
            <a:extLst xmlns:a="http://schemas.openxmlformats.org/drawingml/2006/main">
              <a:ext uri="{FF2B5EF4-FFF2-40B4-BE49-F238E27FC236}">
                <a16:creationId xmlns:a16="http://schemas.microsoft.com/office/drawing/2014/main" id="{041C8753-DDA7-46EC-9FA9-D2ADD273E8DC}"/>
              </a:ext>
            </a:extLst>
          </p:cNvPr>
          <p:cNvSpPr>
            <a:spLocks xmlns:a="http://schemas.openxmlformats.org/drawingml/2006/main" noGrp="1"/>
          </p:cNvSpPr>
          <p:nvPr/>
        </p:nvSpPr>
        <p:spPr>
          <a:xfrm xmlns:a="http://schemas.openxmlformats.org/drawingml/2006/main">
            <a:off x="9486900" y="4038600"/>
            <a:ext cx="11430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B90A0E5-6E1A-433E-91E7-2B878B18F1A9}"/>
              </a:ext>
            </a:extLst>
          </p:cNvPr>
          <p:cNvSpPr>
            <a:spLocks xmlns:a="http://schemas.openxmlformats.org/drawingml/2006/main" noGrp="1"/>
          </p:cNvSpPr>
          <p:nvPr/>
        </p:nvSpPr>
        <p:spPr>
          <a:xfrm xmlns:a="http://schemas.openxmlformats.org/drawingml/2006/main">
            <a:off x="9544050" y="4048125"/>
            <a:ext cx="102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WHEN</a:t>
            </a:r>
          </a:p>
        </p:txBody>
      </p:sp>
      <p:sp>
        <p:nvSpPr>
          <p:cNvPr id="20" name="">
            <a:extLst xmlns:a="http://schemas.openxmlformats.org/drawingml/2006/main">
              <a:ext uri="{FF2B5EF4-FFF2-40B4-BE49-F238E27FC236}">
                <a16:creationId xmlns:a16="http://schemas.microsoft.com/office/drawing/2014/main" id="{1F85B0A9-F05D-40F7-BC8B-2F5EB243F4ED}"/>
              </a:ext>
            </a:extLst>
          </p:cNvPr>
          <p:cNvSpPr>
            <a:spLocks xmlns:a="http://schemas.openxmlformats.org/drawingml/2006/main" noGrp="1"/>
          </p:cNvSpPr>
          <p:nvPr/>
        </p:nvSpPr>
        <p:spPr>
          <a:xfrm xmlns:a="http://schemas.openxmlformats.org/drawingml/2006/main">
            <a:off x="9486900" y="4686300"/>
            <a:ext cx="3257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유효 기간</a:t>
            </a:r>
          </a:p>
        </p:txBody>
      </p:sp>
      <p:sp>
        <p:nvSpPr>
          <p:cNvPr id="21" name="">
            <a:extLst xmlns:a="http://schemas.openxmlformats.org/drawingml/2006/main">
              <a:ext uri="{FF2B5EF4-FFF2-40B4-BE49-F238E27FC236}">
                <a16:creationId xmlns:a16="http://schemas.microsoft.com/office/drawing/2014/main" id="{7E823277-269D-4A1B-812F-62129B518966}"/>
              </a:ext>
            </a:extLst>
          </p:cNvPr>
          <p:cNvSpPr>
            <a:spLocks xmlns:a="http://schemas.openxmlformats.org/drawingml/2006/main" noGrp="1"/>
          </p:cNvSpPr>
          <p:nvPr/>
        </p:nvSpPr>
        <p:spPr>
          <a:xfrm xmlns:a="http://schemas.openxmlformats.org/drawingml/2006/main">
            <a:off x="9486900" y="5314950"/>
            <a:ext cx="3257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현재 시각이</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동의 범위 안</a:t>
            </a:r>
          </a:p>
        </p:txBody>
      </p:sp>
      <p:sp>
        <p:nvSpPr>
          <p:cNvPr id="22" name="">
            <a:extLst xmlns:a="http://schemas.openxmlformats.org/drawingml/2006/main">
              <a:ext uri="{FF2B5EF4-FFF2-40B4-BE49-F238E27FC236}">
                <a16:creationId xmlns:a16="http://schemas.microsoft.com/office/drawing/2014/main" id="{56E005CE-B1A8-4D5E-A12A-8648DBF27552}"/>
              </a:ext>
            </a:extLst>
          </p:cNvPr>
          <p:cNvSpPr>
            <a:spLocks xmlns:a="http://schemas.openxmlformats.org/drawingml/2006/main" noGrp="1"/>
          </p:cNvSpPr>
          <p:nvPr/>
        </p:nvSpPr>
        <p:spPr>
          <a:xfrm xmlns:a="http://schemas.openxmlformats.org/drawingml/2006/main">
            <a:off x="13373100" y="3810000"/>
            <a:ext cx="3714750" cy="2724150"/>
          </a:xfrm>
          <a:prstGeom xmlns:a="http://schemas.openxmlformats.org/drawingml/2006/main" prst="roundRect">
            <a:avLst>
              <a:gd name="adj" fmla="val 8392"/>
            </a:avLst>
          </a:prstGeom>
          <a:solidFill xmlns:a="http://schemas.openxmlformats.org/drawingml/2006/main">
            <a:srgbClr val="E9F1FC"/>
          </a:solidFill>
          <a:ln xmlns:a="http://schemas.openxmlformats.org/drawingml/2006/main" w="14288">
            <a:solidFill>
              <a:srgbClr val="D8E0E9"/>
            </a:solidFill>
            <a:prstDash val="solid"/>
          </a:ln>
        </p:spPr>
      </p:sp>
      <p:sp>
        <p:nvSpPr>
          <p:cNvPr id="23" name="">
            <a:extLst xmlns:a="http://schemas.openxmlformats.org/drawingml/2006/main">
              <a:ext uri="{FF2B5EF4-FFF2-40B4-BE49-F238E27FC236}">
                <a16:creationId xmlns:a16="http://schemas.microsoft.com/office/drawing/2014/main" id="{26B6447F-48E9-4428-892A-981B4B8113CC}"/>
              </a:ext>
            </a:extLst>
          </p:cNvPr>
          <p:cNvSpPr>
            <a:spLocks xmlns:a="http://schemas.openxmlformats.org/drawingml/2006/main" noGrp="1"/>
          </p:cNvSpPr>
          <p:nvPr/>
        </p:nvSpPr>
        <p:spPr>
          <a:xfrm xmlns:a="http://schemas.openxmlformats.org/drawingml/2006/main">
            <a:off x="13601700" y="4038600"/>
            <a:ext cx="114300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4AD6A40-7E8E-4790-BDE8-D0ACB4187737}"/>
              </a:ext>
            </a:extLst>
          </p:cNvPr>
          <p:cNvSpPr>
            <a:spLocks xmlns:a="http://schemas.openxmlformats.org/drawingml/2006/main" noGrp="1"/>
          </p:cNvSpPr>
          <p:nvPr/>
        </p:nvSpPr>
        <p:spPr>
          <a:xfrm xmlns:a="http://schemas.openxmlformats.org/drawingml/2006/main">
            <a:off x="13658850" y="4048125"/>
            <a:ext cx="1028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WHAT</a:t>
            </a:r>
          </a:p>
        </p:txBody>
      </p:sp>
      <p:sp>
        <p:nvSpPr>
          <p:cNvPr id="25" name="">
            <a:extLst xmlns:a="http://schemas.openxmlformats.org/drawingml/2006/main">
              <a:ext uri="{FF2B5EF4-FFF2-40B4-BE49-F238E27FC236}">
                <a16:creationId xmlns:a16="http://schemas.microsoft.com/office/drawing/2014/main" id="{6671C5BC-1E2C-4002-B6DC-69E30409724C}"/>
              </a:ext>
            </a:extLst>
          </p:cNvPr>
          <p:cNvSpPr>
            <a:spLocks xmlns:a="http://schemas.openxmlformats.org/drawingml/2006/main" noGrp="1"/>
          </p:cNvSpPr>
          <p:nvPr/>
        </p:nvSpPr>
        <p:spPr>
          <a:xfrm xmlns:a="http://schemas.openxmlformats.org/drawingml/2006/main">
            <a:off x="13601700" y="4686300"/>
            <a:ext cx="32575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325" b="1">
                <a:solidFill>
                  <a:srgbClr val="17263A"/>
                </a:solidFill>
                <a:latin typeface="프리텐다드"/>
                <a:ea typeface="프리텐다드"/>
                <a:cs typeface="프리텐다드"/>
              </a:defRPr>
            </a:pPr>
            <a:r>
              <a:rPr sz="2325" b="1">
                <a:solidFill>
                  <a:srgbClr val="17263A"/>
                </a:solidFill>
                <a:latin typeface="프리텐다드"/>
                <a:ea typeface="프리텐다드"/>
                <a:cs typeface="프리텐다드"/>
              </a:rPr>
              <a:t>영상 범위</a:t>
            </a:r>
          </a:p>
        </p:txBody>
      </p:sp>
      <p:sp>
        <p:nvSpPr>
          <p:cNvPr id="26" name="">
            <a:extLst xmlns:a="http://schemas.openxmlformats.org/drawingml/2006/main">
              <a:ext uri="{FF2B5EF4-FFF2-40B4-BE49-F238E27FC236}">
                <a16:creationId xmlns:a16="http://schemas.microsoft.com/office/drawing/2014/main" id="{70555DAD-58B9-41FF-B557-9217B3743B2C}"/>
              </a:ext>
            </a:extLst>
          </p:cNvPr>
          <p:cNvSpPr>
            <a:spLocks xmlns:a="http://schemas.openxmlformats.org/drawingml/2006/main" noGrp="1"/>
          </p:cNvSpPr>
          <p:nvPr/>
        </p:nvSpPr>
        <p:spPr>
          <a:xfrm xmlns:a="http://schemas.openxmlformats.org/drawingml/2006/main">
            <a:off x="13601700" y="5314950"/>
            <a:ext cx="3257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허용 Study·Series</a:t>
            </a:r>
          </a:p>
          <a:p xmlns:a="http://schemas.openxmlformats.org/drawingml/2006/main">
            <a:pPr algn="l">
              <a:defRPr sz="1800" b="0">
                <a:solidFill>
                  <a:srgbClr val="53657B"/>
                </a:solidFill>
                <a:latin typeface="프리텐다드"/>
                <a:ea typeface="프리텐다드"/>
                <a:cs typeface="프리텐다드"/>
              </a:defRPr>
            </a:pPr>
            <a:r>
              <a:rPr sz="1800" b="0">
                <a:solidFill>
                  <a:srgbClr val="53657B"/>
                </a:solidFill>
                <a:latin typeface="프리텐다드"/>
                <a:ea typeface="프리텐다드"/>
                <a:cs typeface="프리텐다드"/>
              </a:rPr>
              <a:t>권한 VIEW / DOWNLOAD</a:t>
            </a:r>
          </a:p>
        </p:txBody>
      </p:sp>
      <p:sp>
        <p:nvSpPr>
          <p:cNvPr id="27" name="">
            <a:extLst xmlns:a="http://schemas.openxmlformats.org/drawingml/2006/main">
              <a:ext uri="{FF2B5EF4-FFF2-40B4-BE49-F238E27FC236}">
                <a16:creationId xmlns:a16="http://schemas.microsoft.com/office/drawing/2014/main" id="{25DB6F5C-A52A-4ECA-B426-6D8784193FDE}"/>
              </a:ext>
            </a:extLst>
          </p:cNvPr>
          <p:cNvSpPr>
            <a:spLocks xmlns:a="http://schemas.openxmlformats.org/drawingml/2006/main" noGrp="1"/>
          </p:cNvSpPr>
          <p:nvPr/>
        </p:nvSpPr>
        <p:spPr>
          <a:xfrm xmlns:a="http://schemas.openxmlformats.org/drawingml/2006/main">
            <a:off x="1028700" y="7277100"/>
            <a:ext cx="16230600" cy="1314450"/>
          </a:xfrm>
          <a:prstGeom xmlns:a="http://schemas.openxmlformats.org/drawingml/2006/main" prst="roundRect">
            <a:avLst>
              <a:gd name="adj" fmla="val 15942"/>
            </a:avLst>
          </a:prstGeom>
          <a:solidFill xmlns:a="http://schemas.openxmlformats.org/drawingml/2006/main">
            <a:srgbClr val="0B2342"/>
          </a:solidFill>
          <a:ln xmlns:a="http://schemas.openxmlformats.org/drawingml/2006/main" w="14288">
            <a:solidFill>
              <a:srgbClr val="0B2342"/>
            </a:solidFill>
            <a:prstDash val="solid"/>
          </a:ln>
        </p:spPr>
      </p:sp>
      <p:sp>
        <p:nvSpPr>
          <p:cNvPr id="28" name="">
            <a:extLst xmlns:a="http://schemas.openxmlformats.org/drawingml/2006/main">
              <a:ext uri="{FF2B5EF4-FFF2-40B4-BE49-F238E27FC236}">
                <a16:creationId xmlns:a16="http://schemas.microsoft.com/office/drawing/2014/main" id="{07CDE8A9-5E2E-416B-AA70-7499841A2C03}"/>
              </a:ext>
            </a:extLst>
          </p:cNvPr>
          <p:cNvSpPr>
            <a:spLocks xmlns:a="http://schemas.openxmlformats.org/drawingml/2006/main" noGrp="1"/>
          </p:cNvSpPr>
          <p:nvPr/>
        </p:nvSpPr>
        <p:spPr>
          <a:xfrm xmlns:a="http://schemas.openxmlformats.org/drawingml/2006/main">
            <a:off x="1314450" y="7496175"/>
            <a:ext cx="10572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모두 통과하면 허용</a:t>
            </a:r>
          </a:p>
          <a:p xmlns:a="http://schemas.openxmlformats.org/drawingml/2006/main">
            <a:pPr algn="l">
              <a:defRPr sz="2175" b="1">
                <a:solidFill>
                  <a:srgbClr val="FFFFFF"/>
                </a:solidFill>
                <a:latin typeface="프리텐다드"/>
                <a:ea typeface="프리텐다드"/>
                <a:cs typeface="프리텐다드"/>
              </a:defRPr>
            </a:pPr>
            <a:r>
              <a:rPr sz="2175" b="1">
                <a:solidFill>
                  <a:srgbClr val="FFFFFF"/>
                </a:solidFill>
                <a:latin typeface="프리텐다드"/>
                <a:ea typeface="프리텐다드"/>
                <a:cs typeface="프리텐다드"/>
              </a:rPr>
              <a:t>하나라도 다르면 거부하고 사유를 기록</a:t>
            </a:r>
          </a:p>
        </p:txBody>
      </p:sp>
      <p:sp>
        <p:nvSpPr>
          <p:cNvPr id="29" name="">
            <a:extLst xmlns:a="http://schemas.openxmlformats.org/drawingml/2006/main">
              <a:ext uri="{FF2B5EF4-FFF2-40B4-BE49-F238E27FC236}">
                <a16:creationId xmlns:a16="http://schemas.microsoft.com/office/drawing/2014/main" id="{F5C6DF5D-EC04-4646-AACB-CCAD6DEF14F9}"/>
              </a:ext>
            </a:extLst>
          </p:cNvPr>
          <p:cNvSpPr>
            <a:spLocks xmlns:a="http://schemas.openxmlformats.org/drawingml/2006/main" noGrp="1"/>
          </p:cNvSpPr>
          <p:nvPr/>
        </p:nvSpPr>
        <p:spPr>
          <a:xfrm xmlns:a="http://schemas.openxmlformats.org/drawingml/2006/main">
            <a:off x="12611100" y="7743825"/>
            <a:ext cx="4038600" cy="400050"/>
          </a:xfrm>
          <a:prstGeom xmlns:a="http://schemas.openxmlformats.org/drawingml/2006/main" prst="roundRect">
            <a:avLst>
              <a:gd name="adj" fmla="val 50000"/>
            </a:avLst>
          </a:prstGeom>
          <a:solidFill xmlns:a="http://schemas.openxmlformats.org/drawingml/2006/main">
            <a:srgbClr val="FBF4E5"/>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638D202-98DD-4FCD-A27C-06BC2C43806F}"/>
              </a:ext>
            </a:extLst>
          </p:cNvPr>
          <p:cNvSpPr>
            <a:spLocks xmlns:a="http://schemas.openxmlformats.org/drawingml/2006/main" noGrp="1"/>
          </p:cNvSpPr>
          <p:nvPr/>
        </p:nvSpPr>
        <p:spPr>
          <a:xfrm xmlns:a="http://schemas.openxmlformats.org/drawingml/2006/main">
            <a:off x="12668250" y="7753350"/>
            <a:ext cx="39243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C64A4A"/>
                </a:solidFill>
                <a:latin typeface="프리텐다드"/>
                <a:ea typeface="프리텐다드"/>
                <a:cs typeface="프리텐다드"/>
              </a:defRPr>
            </a:pPr>
            <a:r>
              <a:rPr sz="1500" b="1">
                <a:solidFill>
                  <a:srgbClr val="C64A4A"/>
                </a:solidFill>
                <a:latin typeface="프리텐다드"/>
                <a:ea typeface="프리텐다드"/>
                <a:cs typeface="프리텐다드"/>
              </a:rPr>
              <a:t>FAIL CLOSED · SERVER SIDE</a:t>
            </a:r>
          </a:p>
        </p:txBody>
      </p:sp>
      <p:sp>
        <p:nvSpPr>
          <p:cNvPr id="31" name="">
            <a:extLst xmlns:a="http://schemas.openxmlformats.org/drawingml/2006/main">
              <a:ext uri="{FF2B5EF4-FFF2-40B4-BE49-F238E27FC236}">
                <a16:creationId xmlns:a16="http://schemas.microsoft.com/office/drawing/2014/main" id="{E7DFA1C8-D808-48AA-A937-CDA64FDF969D}"/>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487ABE7B-3CEE-4E0B-BF6F-EC7997071C4E}"/>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33" name="">
            <a:extLst xmlns:a="http://schemas.openxmlformats.org/drawingml/2006/main">
              <a:ext uri="{FF2B5EF4-FFF2-40B4-BE49-F238E27FC236}">
                <a16:creationId xmlns:a16="http://schemas.microsoft.com/office/drawing/2014/main" id="{F87D2B8B-468D-4635-BAA2-4B97E1825635}"/>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16  /  22</a:t>
            </a:r>
          </a:p>
        </p:txBody>
      </p:sp>
    </p:spTree>
    <p:extLst>
      <p:ext uri="{BB962C8B-B14F-4D97-AF65-F5344CB8AC3E}">
        <p14:creationId xmlns:p14="http://schemas.microsoft.com/office/powerpoint/2010/main" val="2723875758"/>
      </p:ext>
    </p:extLst>
  </p:cSld>
</p:sld>
</file>

<file path=ppt/slides/slide17.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FA5F28A4-8FAA-403C-92D8-3F95DFC611C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FA2580A-7756-4197-9533-556CDADC21AF}"/>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036BCD-49A1-4EA7-97DA-62B8E6E1C5A3}"/>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6E35FDC-E18B-479A-A58E-50DE6A825044}"/>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CAPSTONE BOUNDARY</a:t>
            </a:r>
          </a:p>
        </p:txBody>
      </p:sp>
      <p:sp>
        <p:nvSpPr>
          <p:cNvPr id="5" name="">
            <a:extLst xmlns:a="http://schemas.openxmlformats.org/drawingml/2006/main">
              <a:ext uri="{FF2B5EF4-FFF2-40B4-BE49-F238E27FC236}">
                <a16:creationId xmlns:a16="http://schemas.microsoft.com/office/drawing/2014/main" id="{1E9ADFAE-2A04-4740-A3BC-5B0E20B97B64}"/>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합성 PoC는 임상·법률·운영 승인이 아니다</a:t>
            </a:r>
          </a:p>
        </p:txBody>
      </p:sp>
      <p:sp>
        <p:nvSpPr>
          <p:cNvPr id="6" name="">
            <a:extLst xmlns:a="http://schemas.openxmlformats.org/drawingml/2006/main">
              <a:ext uri="{FF2B5EF4-FFF2-40B4-BE49-F238E27FC236}">
                <a16:creationId xmlns:a16="http://schemas.microsoft.com/office/drawing/2014/main" id="{AD57B23F-9A46-494F-A2F4-5366FA1B2F59}"/>
              </a:ext>
            </a:extLst>
          </p:cNvPr>
          <p:cNvSpPr>
            <a:spLocks xmlns:a="http://schemas.openxmlformats.org/drawingml/2006/main" noGrp="1"/>
          </p:cNvSpPr>
          <p:nvPr/>
        </p:nvSpPr>
        <p:spPr>
          <a:xfrm xmlns:a="http://schemas.openxmlformats.org/drawingml/2006/main">
            <a:off x="1028700" y="3257550"/>
            <a:ext cx="7924800" cy="4857750"/>
          </a:xfrm>
          <a:prstGeom xmlns:a="http://schemas.openxmlformats.org/drawingml/2006/main" prst="roundRect">
            <a:avLst>
              <a:gd name="adj" fmla="val 4706"/>
            </a:avLst>
          </a:prstGeom>
          <a:solidFill xmlns:a="http://schemas.openxmlformats.org/drawingml/2006/main">
            <a:srgbClr val="E9F1FC"/>
          </a:solidFill>
          <a:ln xmlns:a="http://schemas.openxmlformats.org/drawingml/2006/main" w="14288">
            <a:solidFill>
              <a:srgbClr val="D8E0E9"/>
            </a:solidFill>
            <a:prstDash val="solid"/>
          </a:ln>
        </p:spPr>
      </p:sp>
      <p:sp>
        <p:nvSpPr>
          <p:cNvPr id="7" name="">
            <a:extLst xmlns:a="http://schemas.openxmlformats.org/drawingml/2006/main">
              <a:ext uri="{FF2B5EF4-FFF2-40B4-BE49-F238E27FC236}">
                <a16:creationId xmlns:a16="http://schemas.microsoft.com/office/drawing/2014/main" id="{A5756891-0670-4509-B73A-F7AAC74FC015}"/>
              </a:ext>
            </a:extLst>
          </p:cNvPr>
          <p:cNvSpPr>
            <a:spLocks xmlns:a="http://schemas.openxmlformats.org/drawingml/2006/main" noGrp="1"/>
          </p:cNvSpPr>
          <p:nvPr/>
        </p:nvSpPr>
        <p:spPr>
          <a:xfrm xmlns:a="http://schemas.openxmlformats.org/drawingml/2006/main">
            <a:off x="1352550" y="3524250"/>
            <a:ext cx="723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700" b="1">
                <a:solidFill>
                  <a:srgbClr val="2F68B5"/>
                </a:solidFill>
                <a:latin typeface="프리텐다드"/>
                <a:ea typeface="프리텐다드"/>
                <a:cs typeface="프리텐다드"/>
              </a:defRPr>
            </a:pPr>
            <a:r>
              <a:rPr sz="2700" b="1">
                <a:solidFill>
                  <a:srgbClr val="2F68B5"/>
                </a:solidFill>
                <a:latin typeface="프리텐다드"/>
                <a:ea typeface="프리텐다드"/>
                <a:cs typeface="프리텐다드"/>
              </a:rPr>
              <a:t>포함</a:t>
            </a:r>
          </a:p>
        </p:txBody>
      </p:sp>
      <p:sp>
        <p:nvSpPr>
          <p:cNvPr id="8" name="">
            <a:extLst xmlns:a="http://schemas.openxmlformats.org/drawingml/2006/main">
              <a:ext uri="{FF2B5EF4-FFF2-40B4-BE49-F238E27FC236}">
                <a16:creationId xmlns:a16="http://schemas.microsoft.com/office/drawing/2014/main" id="{2547D07A-6734-466A-956B-11895F8CAC58}"/>
              </a:ext>
            </a:extLst>
          </p:cNvPr>
          <p:cNvSpPr>
            <a:spLocks xmlns:a="http://schemas.openxmlformats.org/drawingml/2006/main" noGrp="1"/>
          </p:cNvSpPr>
          <p:nvPr/>
        </p:nvSpPr>
        <p:spPr>
          <a:xfrm xmlns:a="http://schemas.openxmlformats.org/drawingml/2006/main">
            <a:off x="1390650" y="4552950"/>
            <a:ext cx="228600" cy="228600"/>
          </a:xfrm>
          <a:prstGeom xmlns:a="http://schemas.openxmlformats.org/drawingml/2006/main" prst="ellipse">
            <a:avLst/>
          </a:prstGeom>
          <a:solidFill xmlns:a="http://schemas.openxmlformats.org/drawingml/2006/main">
            <a:srgbClr val="2F68B5"/>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857BC3A-2BE1-4082-B4FC-942277B3B17F}"/>
              </a:ext>
            </a:extLst>
          </p:cNvPr>
          <p:cNvSpPr>
            <a:spLocks xmlns:a="http://schemas.openxmlformats.org/drawingml/2006/main" noGrp="1"/>
          </p:cNvSpPr>
          <p:nvPr/>
        </p:nvSpPr>
        <p:spPr>
          <a:xfrm xmlns:a="http://schemas.openxmlformats.org/drawingml/2006/main">
            <a:off x="1809750" y="44577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가상 환자·가상 병원</a:t>
            </a:r>
          </a:p>
        </p:txBody>
      </p:sp>
      <p:sp>
        <p:nvSpPr>
          <p:cNvPr id="10" name="">
            <a:extLst xmlns:a="http://schemas.openxmlformats.org/drawingml/2006/main">
              <a:ext uri="{FF2B5EF4-FFF2-40B4-BE49-F238E27FC236}">
                <a16:creationId xmlns:a16="http://schemas.microsoft.com/office/drawing/2014/main" id="{32A1392F-0F2F-4184-8CB3-C3F68ED1E6B4}"/>
              </a:ext>
            </a:extLst>
          </p:cNvPr>
          <p:cNvSpPr>
            <a:spLocks xmlns:a="http://schemas.openxmlformats.org/drawingml/2006/main" noGrp="1"/>
          </p:cNvSpPr>
          <p:nvPr/>
        </p:nvSpPr>
        <p:spPr>
          <a:xfrm xmlns:a="http://schemas.openxmlformats.org/drawingml/2006/main">
            <a:off x="1390650" y="5276850"/>
            <a:ext cx="228600" cy="228600"/>
          </a:xfrm>
          <a:prstGeom xmlns:a="http://schemas.openxmlformats.org/drawingml/2006/main" prst="ellipse">
            <a:avLst/>
          </a:prstGeom>
          <a:solidFill xmlns:a="http://schemas.openxmlformats.org/drawingml/2006/main">
            <a:srgbClr val="2F68B5"/>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F9B4E1F-4ED0-4EFF-8485-FDC41C1B2492}"/>
              </a:ext>
            </a:extLst>
          </p:cNvPr>
          <p:cNvSpPr>
            <a:spLocks xmlns:a="http://schemas.openxmlformats.org/drawingml/2006/main" noGrp="1"/>
          </p:cNvSpPr>
          <p:nvPr/>
        </p:nvSpPr>
        <p:spPr>
          <a:xfrm xmlns:a="http://schemas.openxmlformats.org/drawingml/2006/main">
            <a:off x="1809750" y="51816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합성 / de-identified 테스트 영상</a:t>
            </a:r>
          </a:p>
        </p:txBody>
      </p:sp>
      <p:sp>
        <p:nvSpPr>
          <p:cNvPr id="12" name="">
            <a:extLst xmlns:a="http://schemas.openxmlformats.org/drawingml/2006/main">
              <a:ext uri="{FF2B5EF4-FFF2-40B4-BE49-F238E27FC236}">
                <a16:creationId xmlns:a16="http://schemas.microsoft.com/office/drawing/2014/main" id="{CB9F8019-57C1-490F-813A-A951763C0A83}"/>
              </a:ext>
            </a:extLst>
          </p:cNvPr>
          <p:cNvSpPr>
            <a:spLocks xmlns:a="http://schemas.openxmlformats.org/drawingml/2006/main" noGrp="1"/>
          </p:cNvSpPr>
          <p:nvPr/>
        </p:nvSpPr>
        <p:spPr>
          <a:xfrm xmlns:a="http://schemas.openxmlformats.org/drawingml/2006/main">
            <a:off x="1390650" y="6000750"/>
            <a:ext cx="228600" cy="228600"/>
          </a:xfrm>
          <a:prstGeom xmlns:a="http://schemas.openxmlformats.org/drawingml/2006/main" prst="ellipse">
            <a:avLst/>
          </a:prstGeom>
          <a:solidFill xmlns:a="http://schemas.openxmlformats.org/drawingml/2006/main">
            <a:srgbClr val="2F68B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231B256-0638-4AE1-9FA5-F8A2B91DBB74}"/>
              </a:ext>
            </a:extLst>
          </p:cNvPr>
          <p:cNvSpPr>
            <a:spLocks xmlns:a="http://schemas.openxmlformats.org/drawingml/2006/main" noGrp="1"/>
          </p:cNvSpPr>
          <p:nvPr/>
        </p:nvSpPr>
        <p:spPr>
          <a:xfrm xmlns:a="http://schemas.openxmlformats.org/drawingml/2006/main">
            <a:off x="1809750" y="59055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기술 흐름·접근정책 시험</a:t>
            </a:r>
          </a:p>
        </p:txBody>
      </p:sp>
      <p:sp>
        <p:nvSpPr>
          <p:cNvPr id="14" name="">
            <a:extLst xmlns:a="http://schemas.openxmlformats.org/drawingml/2006/main">
              <a:ext uri="{FF2B5EF4-FFF2-40B4-BE49-F238E27FC236}">
                <a16:creationId xmlns:a16="http://schemas.microsoft.com/office/drawing/2014/main" id="{0800A1FB-3613-4B3B-9DB8-AE2F26669EEB}"/>
              </a:ext>
            </a:extLst>
          </p:cNvPr>
          <p:cNvSpPr>
            <a:spLocks xmlns:a="http://schemas.openxmlformats.org/drawingml/2006/main" noGrp="1"/>
          </p:cNvSpPr>
          <p:nvPr/>
        </p:nvSpPr>
        <p:spPr>
          <a:xfrm xmlns:a="http://schemas.openxmlformats.org/drawingml/2006/main">
            <a:off x="1390650" y="6724650"/>
            <a:ext cx="228600" cy="228600"/>
          </a:xfrm>
          <a:prstGeom xmlns:a="http://schemas.openxmlformats.org/drawingml/2006/main" prst="ellipse">
            <a:avLst/>
          </a:prstGeom>
          <a:solidFill xmlns:a="http://schemas.openxmlformats.org/drawingml/2006/main">
            <a:srgbClr val="2F68B5"/>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DD2A625-1A9B-4894-AEE5-4C83D295FBB7}"/>
              </a:ext>
            </a:extLst>
          </p:cNvPr>
          <p:cNvSpPr>
            <a:spLocks xmlns:a="http://schemas.openxmlformats.org/drawingml/2006/main" noGrp="1"/>
          </p:cNvSpPr>
          <p:nvPr/>
        </p:nvSpPr>
        <p:spPr>
          <a:xfrm xmlns:a="http://schemas.openxmlformats.org/drawingml/2006/main">
            <a:off x="1809750" y="66294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테스트용 Azure 배포 확인</a:t>
            </a:r>
          </a:p>
        </p:txBody>
      </p:sp>
      <p:sp>
        <p:nvSpPr>
          <p:cNvPr id="16" name="">
            <a:extLst xmlns:a="http://schemas.openxmlformats.org/drawingml/2006/main">
              <a:ext uri="{FF2B5EF4-FFF2-40B4-BE49-F238E27FC236}">
                <a16:creationId xmlns:a16="http://schemas.microsoft.com/office/drawing/2014/main" id="{1FCA306D-744E-4493-89D2-4D75BFE929C5}"/>
              </a:ext>
            </a:extLst>
          </p:cNvPr>
          <p:cNvSpPr>
            <a:spLocks xmlns:a="http://schemas.openxmlformats.org/drawingml/2006/main" noGrp="1"/>
          </p:cNvSpPr>
          <p:nvPr/>
        </p:nvSpPr>
        <p:spPr>
          <a:xfrm xmlns:a="http://schemas.openxmlformats.org/drawingml/2006/main">
            <a:off x="9334500" y="3257550"/>
            <a:ext cx="7924800" cy="4857750"/>
          </a:xfrm>
          <a:prstGeom xmlns:a="http://schemas.openxmlformats.org/drawingml/2006/main" prst="roundRect">
            <a:avLst>
              <a:gd name="adj" fmla="val 4706"/>
            </a:avLst>
          </a:prstGeom>
          <a:solidFill xmlns:a="http://schemas.openxmlformats.org/drawingml/2006/main">
            <a:srgbClr val="FBF4E5"/>
          </a:solidFill>
          <a:ln xmlns:a="http://schemas.openxmlformats.org/drawingml/2006/main" w="14288">
            <a:solidFill>
              <a:srgbClr val="D8E0E9"/>
            </a:solidFill>
            <a:prstDash val="solid"/>
          </a:ln>
        </p:spPr>
      </p:sp>
      <p:sp>
        <p:nvSpPr>
          <p:cNvPr id="17" name="">
            <a:extLst xmlns:a="http://schemas.openxmlformats.org/drawingml/2006/main">
              <a:ext uri="{FF2B5EF4-FFF2-40B4-BE49-F238E27FC236}">
                <a16:creationId xmlns:a16="http://schemas.microsoft.com/office/drawing/2014/main" id="{194F030F-C271-44F1-8051-0C24DD2B64BD}"/>
              </a:ext>
            </a:extLst>
          </p:cNvPr>
          <p:cNvSpPr>
            <a:spLocks xmlns:a="http://schemas.openxmlformats.org/drawingml/2006/main" noGrp="1"/>
          </p:cNvSpPr>
          <p:nvPr/>
        </p:nvSpPr>
        <p:spPr>
          <a:xfrm xmlns:a="http://schemas.openxmlformats.org/drawingml/2006/main">
            <a:off x="9658350" y="3524250"/>
            <a:ext cx="723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700" b="1">
                <a:solidFill>
                  <a:srgbClr val="DCA83D"/>
                </a:solidFill>
                <a:latin typeface="프리텐다드"/>
                <a:ea typeface="프리텐다드"/>
                <a:cs typeface="프리텐다드"/>
              </a:defRPr>
            </a:pPr>
            <a:r>
              <a:rPr sz="2700" b="1">
                <a:solidFill>
                  <a:srgbClr val="DCA83D"/>
                </a:solidFill>
                <a:latin typeface="프리텐다드"/>
                <a:ea typeface="프리텐다드"/>
                <a:cs typeface="프리텐다드"/>
              </a:rPr>
              <a:t>포함하지 않음</a:t>
            </a:r>
          </a:p>
        </p:txBody>
      </p:sp>
      <p:sp>
        <p:nvSpPr>
          <p:cNvPr id="18" name="">
            <a:extLst xmlns:a="http://schemas.openxmlformats.org/drawingml/2006/main">
              <a:ext uri="{FF2B5EF4-FFF2-40B4-BE49-F238E27FC236}">
                <a16:creationId xmlns:a16="http://schemas.microsoft.com/office/drawing/2014/main" id="{D588D302-4BF7-4285-8F6F-EE18DA29CDAD}"/>
              </a:ext>
            </a:extLst>
          </p:cNvPr>
          <p:cNvSpPr>
            <a:spLocks xmlns:a="http://schemas.openxmlformats.org/drawingml/2006/main" noGrp="1"/>
          </p:cNvSpPr>
          <p:nvPr/>
        </p:nvSpPr>
        <p:spPr>
          <a:xfrm xmlns:a="http://schemas.openxmlformats.org/drawingml/2006/main">
            <a:off x="9696450" y="4552950"/>
            <a:ext cx="228600" cy="228600"/>
          </a:xfrm>
          <a:prstGeom xmlns:a="http://schemas.openxmlformats.org/drawingml/2006/main" prst="ellipse">
            <a:avLst/>
          </a:prstGeom>
          <a:solidFill xmlns:a="http://schemas.openxmlformats.org/drawingml/2006/main">
            <a:srgbClr val="DCA83D"/>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67507B1-D919-465E-8FF3-3BD475D6F348}"/>
              </a:ext>
            </a:extLst>
          </p:cNvPr>
          <p:cNvSpPr>
            <a:spLocks xmlns:a="http://schemas.openxmlformats.org/drawingml/2006/main" noGrp="1"/>
          </p:cNvSpPr>
          <p:nvPr/>
        </p:nvSpPr>
        <p:spPr>
          <a:xfrm xmlns:a="http://schemas.openxmlformats.org/drawingml/2006/main">
            <a:off x="10115550" y="44577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실제 환자정보·실제 운영 PACS</a:t>
            </a:r>
          </a:p>
        </p:txBody>
      </p:sp>
      <p:sp>
        <p:nvSpPr>
          <p:cNvPr id="20" name="">
            <a:extLst xmlns:a="http://schemas.openxmlformats.org/drawingml/2006/main">
              <a:ext uri="{FF2B5EF4-FFF2-40B4-BE49-F238E27FC236}">
                <a16:creationId xmlns:a16="http://schemas.microsoft.com/office/drawing/2014/main" id="{813DCD39-587D-47C1-9721-201A876B1164}"/>
              </a:ext>
            </a:extLst>
          </p:cNvPr>
          <p:cNvSpPr>
            <a:spLocks xmlns:a="http://schemas.openxmlformats.org/drawingml/2006/main" noGrp="1"/>
          </p:cNvSpPr>
          <p:nvPr/>
        </p:nvSpPr>
        <p:spPr>
          <a:xfrm xmlns:a="http://schemas.openxmlformats.org/drawingml/2006/main">
            <a:off x="9696450" y="5276850"/>
            <a:ext cx="228600" cy="228600"/>
          </a:xfrm>
          <a:prstGeom xmlns:a="http://schemas.openxmlformats.org/drawingml/2006/main" prst="ellipse">
            <a:avLst/>
          </a:prstGeom>
          <a:solidFill xmlns:a="http://schemas.openxmlformats.org/drawingml/2006/main">
            <a:srgbClr val="DCA83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91C72EC-22EA-459A-96E0-0E0709341665}"/>
              </a:ext>
            </a:extLst>
          </p:cNvPr>
          <p:cNvSpPr>
            <a:spLocks xmlns:a="http://schemas.openxmlformats.org/drawingml/2006/main" noGrp="1"/>
          </p:cNvSpPr>
          <p:nvPr/>
        </p:nvSpPr>
        <p:spPr>
          <a:xfrm xmlns:a="http://schemas.openxmlformats.org/drawingml/2006/main">
            <a:off x="10115550" y="51816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임상 판단·치료 권고</a:t>
            </a:r>
          </a:p>
        </p:txBody>
      </p:sp>
      <p:sp>
        <p:nvSpPr>
          <p:cNvPr id="22" name="">
            <a:extLst xmlns:a="http://schemas.openxmlformats.org/drawingml/2006/main">
              <a:ext uri="{FF2B5EF4-FFF2-40B4-BE49-F238E27FC236}">
                <a16:creationId xmlns:a16="http://schemas.microsoft.com/office/drawing/2014/main" id="{896A8679-375B-44CA-8E35-B8C7EE3FD84B}"/>
              </a:ext>
            </a:extLst>
          </p:cNvPr>
          <p:cNvSpPr>
            <a:spLocks xmlns:a="http://schemas.openxmlformats.org/drawingml/2006/main" noGrp="1"/>
          </p:cNvSpPr>
          <p:nvPr/>
        </p:nvSpPr>
        <p:spPr>
          <a:xfrm xmlns:a="http://schemas.openxmlformats.org/drawingml/2006/main">
            <a:off x="9696450" y="6000750"/>
            <a:ext cx="228600" cy="228600"/>
          </a:xfrm>
          <a:prstGeom xmlns:a="http://schemas.openxmlformats.org/drawingml/2006/main" prst="ellipse">
            <a:avLst/>
          </a:prstGeom>
          <a:solidFill xmlns:a="http://schemas.openxmlformats.org/drawingml/2006/main">
            <a:srgbClr val="DCA83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AE7153D-4BDF-47A2-A2F1-7AF60A76583A}"/>
              </a:ext>
            </a:extLst>
          </p:cNvPr>
          <p:cNvSpPr>
            <a:spLocks xmlns:a="http://schemas.openxmlformats.org/drawingml/2006/main" noGrp="1"/>
          </p:cNvSpPr>
          <p:nvPr/>
        </p:nvSpPr>
        <p:spPr>
          <a:xfrm xmlns:a="http://schemas.openxmlformats.org/drawingml/2006/main">
            <a:off x="10115550" y="59055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PIPA 법률 적합성 판단</a:t>
            </a:r>
          </a:p>
        </p:txBody>
      </p:sp>
      <p:sp>
        <p:nvSpPr>
          <p:cNvPr id="24" name="">
            <a:extLst xmlns:a="http://schemas.openxmlformats.org/drawingml/2006/main">
              <a:ext uri="{FF2B5EF4-FFF2-40B4-BE49-F238E27FC236}">
                <a16:creationId xmlns:a16="http://schemas.microsoft.com/office/drawing/2014/main" id="{32E37DD4-6D09-436F-B238-34AE1FDABF36}"/>
              </a:ext>
            </a:extLst>
          </p:cNvPr>
          <p:cNvSpPr>
            <a:spLocks xmlns:a="http://schemas.openxmlformats.org/drawingml/2006/main" noGrp="1"/>
          </p:cNvSpPr>
          <p:nvPr/>
        </p:nvSpPr>
        <p:spPr>
          <a:xfrm xmlns:a="http://schemas.openxmlformats.org/drawingml/2006/main">
            <a:off x="9696450" y="6724650"/>
            <a:ext cx="228600" cy="228600"/>
          </a:xfrm>
          <a:prstGeom xmlns:a="http://schemas.openxmlformats.org/drawingml/2006/main" prst="ellipse">
            <a:avLst/>
          </a:prstGeom>
          <a:solidFill xmlns:a="http://schemas.openxmlformats.org/drawingml/2006/main">
            <a:srgbClr val="DCA83D"/>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603B2FB6-30C7-4965-AF89-308B1770F93D}"/>
              </a:ext>
            </a:extLst>
          </p:cNvPr>
          <p:cNvSpPr>
            <a:spLocks xmlns:a="http://schemas.openxmlformats.org/drawingml/2006/main" noGrp="1"/>
          </p:cNvSpPr>
          <p:nvPr/>
        </p:nvSpPr>
        <p:spPr>
          <a:xfrm xmlns:a="http://schemas.openxmlformats.org/drawingml/2006/main">
            <a:off x="10115550" y="6629400"/>
            <a:ext cx="666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800" b="0">
                <a:solidFill>
                  <a:srgbClr val="17263A"/>
                </a:solidFill>
                <a:latin typeface="프리텐다드"/>
                <a:ea typeface="프리텐다드"/>
                <a:cs typeface="프리텐다드"/>
              </a:defRPr>
            </a:pPr>
            <a:r>
              <a:rPr sz="1800" b="0">
                <a:solidFill>
                  <a:srgbClr val="17263A"/>
                </a:solidFill>
                <a:latin typeface="프리텐다드"/>
                <a:ea typeface="프리텐다드"/>
                <a:cs typeface="프리텐다드"/>
              </a:rPr>
              <a:t>ISMS-P / 병원 보안 승인</a:t>
            </a:r>
          </a:p>
        </p:txBody>
      </p:sp>
      <p:sp>
        <p:nvSpPr>
          <p:cNvPr id="26" name="">
            <a:extLst xmlns:a="http://schemas.openxmlformats.org/drawingml/2006/main">
              <a:ext uri="{FF2B5EF4-FFF2-40B4-BE49-F238E27FC236}">
                <a16:creationId xmlns:a16="http://schemas.microsoft.com/office/drawing/2014/main" id="{F5B877A3-2178-4BBF-8D84-E78BFF2BFA85}"/>
              </a:ext>
            </a:extLst>
          </p:cNvPr>
          <p:cNvSpPr>
            <a:spLocks xmlns:a="http://schemas.openxmlformats.org/drawingml/2006/main" noGrp="1"/>
          </p:cNvSpPr>
          <p:nvPr/>
        </p:nvSpPr>
        <p:spPr>
          <a:xfrm xmlns:a="http://schemas.openxmlformats.org/drawingml/2006/main">
            <a:off x="1028700" y="8477250"/>
            <a:ext cx="16230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00" b="1">
                <a:solidFill>
                  <a:srgbClr val="0B2342"/>
                </a:solidFill>
                <a:latin typeface="프리텐다드"/>
                <a:ea typeface="프리텐다드"/>
                <a:cs typeface="프리텐다드"/>
              </a:defRPr>
            </a:pPr>
            <a:r>
              <a:rPr sz="1800" b="1">
                <a:solidFill>
                  <a:srgbClr val="0B2342"/>
                </a:solidFill>
                <a:latin typeface="프리텐다드"/>
                <a:ea typeface="프리텐다드"/>
                <a:cs typeface="프리텐다드"/>
              </a:rPr>
              <a:t>모든 데모 화면·계정·검사기록은 합성 시나리오이며, 실제 진료에 사용하지 마십시오.</a:t>
            </a:r>
          </a:p>
        </p:txBody>
      </p:sp>
      <p:sp>
        <p:nvSpPr>
          <p:cNvPr id="27" name="">
            <a:extLst xmlns:a="http://schemas.openxmlformats.org/drawingml/2006/main">
              <a:ext uri="{FF2B5EF4-FFF2-40B4-BE49-F238E27FC236}">
                <a16:creationId xmlns:a16="http://schemas.microsoft.com/office/drawing/2014/main" id="{CAE1B0DB-961D-4C61-8812-29CC161DD5F6}"/>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D7DB54E-E672-49B0-B60C-98B1C8AD92C4}"/>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9" name="">
            <a:extLst xmlns:a="http://schemas.openxmlformats.org/drawingml/2006/main">
              <a:ext uri="{FF2B5EF4-FFF2-40B4-BE49-F238E27FC236}">
                <a16:creationId xmlns:a16="http://schemas.microsoft.com/office/drawing/2014/main" id="{9D901C20-9A12-47B5-B0A0-0052B4A18B13}"/>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17  /  22</a:t>
            </a:r>
          </a:p>
        </p:txBody>
      </p:sp>
    </p:spTree>
    <p:extLst>
      <p:ext uri="{BB962C8B-B14F-4D97-AF65-F5344CB8AC3E}">
        <p14:creationId xmlns:p14="http://schemas.microsoft.com/office/powerpoint/2010/main" val="376369545"/>
      </p:ext>
    </p:extLst>
  </p:cSld>
</p:sld>
</file>

<file path=ppt/slides/slide18.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6A58E7F7-4425-480C-802A-A86F6D786F7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0325A0A-6226-4A6A-A11F-2C73CE32FAEC}"/>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A07EB93-338C-4BAA-87D5-0F7E2053110F}"/>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6E628E1-E557-488A-B23F-4ECBF3A4D157}"/>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CONTROL STATUS</a:t>
            </a:r>
          </a:p>
        </p:txBody>
      </p:sp>
      <p:sp>
        <p:nvSpPr>
          <p:cNvPr id="5" name="">
            <a:extLst xmlns:a="http://schemas.openxmlformats.org/drawingml/2006/main">
              <a:ext uri="{FF2B5EF4-FFF2-40B4-BE49-F238E27FC236}">
                <a16:creationId xmlns:a16="http://schemas.microsoft.com/office/drawing/2014/main" id="{69909D46-FD47-4CB0-8449-0531C936D8A8}"/>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보안 기능마다 증거의 깊이가 다르다</a:t>
            </a:r>
          </a:p>
        </p:txBody>
      </p:sp>
      <p:sp>
        <p:nvSpPr>
          <p:cNvPr id="6" name="">
            <a:extLst xmlns:a="http://schemas.openxmlformats.org/drawingml/2006/main">
              <a:ext uri="{FF2B5EF4-FFF2-40B4-BE49-F238E27FC236}">
                <a16:creationId xmlns:a16="http://schemas.microsoft.com/office/drawing/2014/main" id="{3F75CB12-501A-496F-B014-C07F1A6D72DE}"/>
              </a:ext>
            </a:extLst>
          </p:cNvPr>
          <p:cNvSpPr>
            <a:spLocks xmlns:a="http://schemas.openxmlformats.org/drawingml/2006/main" noGrp="1"/>
          </p:cNvSpPr>
          <p:nvPr/>
        </p:nvSpPr>
        <p:spPr>
          <a:xfrm xmlns:a="http://schemas.openxmlformats.org/drawingml/2006/main">
            <a:off x="1028700" y="2819400"/>
            <a:ext cx="2971800" cy="571500"/>
          </a:xfrm>
          <a:prstGeom xmlns:a="http://schemas.openxmlformats.org/drawingml/2006/main" prst="rect">
            <a:avLst/>
          </a:prstGeom>
          <a:solidFill xmlns:a="http://schemas.openxmlformats.org/drawingml/2006/main">
            <a:srgbClr val="0B2342"/>
          </a:solidFill>
          <a:ln xmlns:a="http://schemas.openxmlformats.org/drawingml/2006/main" w="0">
            <a:solidFill>
              <a:srgbClr val="0B2342"/>
            </a:solidFill>
            <a:prstDash val="solid"/>
          </a:ln>
        </p:spPr>
      </p:sp>
      <p:sp>
        <p:nvSpPr>
          <p:cNvPr id="7" name="">
            <a:extLst xmlns:a="http://schemas.openxmlformats.org/drawingml/2006/main">
              <a:ext uri="{FF2B5EF4-FFF2-40B4-BE49-F238E27FC236}">
                <a16:creationId xmlns:a16="http://schemas.microsoft.com/office/drawing/2014/main" id="{8EB8850A-0ABC-4690-9AA7-1F2B7D0DC2DE}"/>
              </a:ext>
            </a:extLst>
          </p:cNvPr>
          <p:cNvSpPr>
            <a:spLocks xmlns:a="http://schemas.openxmlformats.org/drawingml/2006/main" noGrp="1"/>
          </p:cNvSpPr>
          <p:nvPr/>
        </p:nvSpPr>
        <p:spPr>
          <a:xfrm xmlns:a="http://schemas.openxmlformats.org/drawingml/2006/main">
            <a:off x="1123950" y="2876550"/>
            <a:ext cx="2781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1">
                <a:solidFill>
                  <a:srgbClr val="FFFFFF"/>
                </a:solidFill>
                <a:latin typeface="프리텐다드"/>
                <a:ea typeface="프리텐다드"/>
                <a:cs typeface="프리텐다드"/>
              </a:defRPr>
            </a:pPr>
            <a:r>
              <a:rPr sz="1650" b="1">
                <a:solidFill>
                  <a:srgbClr val="FFFFFF"/>
                </a:solidFill>
                <a:latin typeface="프리텐다드"/>
                <a:ea typeface="프리텐다드"/>
                <a:cs typeface="프리텐다드"/>
              </a:rPr>
              <a:t>통제</a:t>
            </a:r>
          </a:p>
        </p:txBody>
      </p:sp>
      <p:sp>
        <p:nvSpPr>
          <p:cNvPr id="8" name="">
            <a:extLst xmlns:a="http://schemas.openxmlformats.org/drawingml/2006/main">
              <a:ext uri="{FF2B5EF4-FFF2-40B4-BE49-F238E27FC236}">
                <a16:creationId xmlns:a16="http://schemas.microsoft.com/office/drawing/2014/main" id="{7EA74D2A-D8C9-42E5-BC16-6B793717A71D}"/>
              </a:ext>
            </a:extLst>
          </p:cNvPr>
          <p:cNvSpPr>
            <a:spLocks xmlns:a="http://schemas.openxmlformats.org/drawingml/2006/main" noGrp="1"/>
          </p:cNvSpPr>
          <p:nvPr/>
        </p:nvSpPr>
        <p:spPr>
          <a:xfrm xmlns:a="http://schemas.openxmlformats.org/drawingml/2006/main">
            <a:off x="4000500" y="2819400"/>
            <a:ext cx="5667375" cy="571500"/>
          </a:xfrm>
          <a:prstGeom xmlns:a="http://schemas.openxmlformats.org/drawingml/2006/main" prst="rect">
            <a:avLst/>
          </a:prstGeom>
          <a:solidFill xmlns:a="http://schemas.openxmlformats.org/drawingml/2006/main">
            <a:srgbClr val="0B2342"/>
          </a:solidFill>
          <a:ln xmlns:a="http://schemas.openxmlformats.org/drawingml/2006/main" w="0">
            <a:solidFill>
              <a:srgbClr val="0B2342"/>
            </a:solidFill>
            <a:prstDash val="solid"/>
          </a:ln>
        </p:spPr>
      </p:sp>
      <p:sp>
        <p:nvSpPr>
          <p:cNvPr id="9" name="">
            <a:extLst xmlns:a="http://schemas.openxmlformats.org/drawingml/2006/main">
              <a:ext uri="{FF2B5EF4-FFF2-40B4-BE49-F238E27FC236}">
                <a16:creationId xmlns:a16="http://schemas.microsoft.com/office/drawing/2014/main" id="{5D6DFC02-DBED-4722-B79B-2C7AF895B427}"/>
              </a:ext>
            </a:extLst>
          </p:cNvPr>
          <p:cNvSpPr>
            <a:spLocks xmlns:a="http://schemas.openxmlformats.org/drawingml/2006/main" noGrp="1"/>
          </p:cNvSpPr>
          <p:nvPr/>
        </p:nvSpPr>
        <p:spPr>
          <a:xfrm xmlns:a="http://schemas.openxmlformats.org/drawingml/2006/main">
            <a:off x="4095750" y="2876550"/>
            <a:ext cx="547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1">
                <a:solidFill>
                  <a:srgbClr val="FFFFFF"/>
                </a:solidFill>
                <a:latin typeface="프리텐다드"/>
                <a:ea typeface="프리텐다드"/>
                <a:cs typeface="프리텐다드"/>
              </a:defRPr>
            </a:pPr>
            <a:r>
              <a:rPr sz="1650" b="1">
                <a:solidFill>
                  <a:srgbClr val="FFFFFF"/>
                </a:solidFill>
                <a:latin typeface="프리텐다드"/>
                <a:ea typeface="프리텐다드"/>
                <a:cs typeface="프리텐다드"/>
              </a:rPr>
              <a:t>현재 증거</a:t>
            </a:r>
          </a:p>
        </p:txBody>
      </p:sp>
      <p:sp>
        <p:nvSpPr>
          <p:cNvPr id="10" name="">
            <a:extLst xmlns:a="http://schemas.openxmlformats.org/drawingml/2006/main">
              <a:ext uri="{FF2B5EF4-FFF2-40B4-BE49-F238E27FC236}">
                <a16:creationId xmlns:a16="http://schemas.microsoft.com/office/drawing/2014/main" id="{536BF8BF-E281-48DB-AFC3-ACCCF6D61658}"/>
              </a:ext>
            </a:extLst>
          </p:cNvPr>
          <p:cNvSpPr>
            <a:spLocks xmlns:a="http://schemas.openxmlformats.org/drawingml/2006/main" noGrp="1"/>
          </p:cNvSpPr>
          <p:nvPr/>
        </p:nvSpPr>
        <p:spPr>
          <a:xfrm xmlns:a="http://schemas.openxmlformats.org/drawingml/2006/main">
            <a:off x="9667875" y="2819400"/>
            <a:ext cx="3667125" cy="571500"/>
          </a:xfrm>
          <a:prstGeom xmlns:a="http://schemas.openxmlformats.org/drawingml/2006/main" prst="rect">
            <a:avLst/>
          </a:prstGeom>
          <a:solidFill xmlns:a="http://schemas.openxmlformats.org/drawingml/2006/main">
            <a:srgbClr val="0B2342"/>
          </a:solidFill>
          <a:ln xmlns:a="http://schemas.openxmlformats.org/drawingml/2006/main" w="0">
            <a:solidFill>
              <a:srgbClr val="0B2342"/>
            </a:solidFill>
            <a:prstDash val="solid"/>
          </a:ln>
        </p:spPr>
      </p:sp>
      <p:sp>
        <p:nvSpPr>
          <p:cNvPr id="11" name="">
            <a:extLst xmlns:a="http://schemas.openxmlformats.org/drawingml/2006/main">
              <a:ext uri="{FF2B5EF4-FFF2-40B4-BE49-F238E27FC236}">
                <a16:creationId xmlns:a16="http://schemas.microsoft.com/office/drawing/2014/main" id="{040841D4-D22F-4A24-9C6F-FB370E3E6195}"/>
              </a:ext>
            </a:extLst>
          </p:cNvPr>
          <p:cNvSpPr>
            <a:spLocks xmlns:a="http://schemas.openxmlformats.org/drawingml/2006/main" noGrp="1"/>
          </p:cNvSpPr>
          <p:nvPr/>
        </p:nvSpPr>
        <p:spPr>
          <a:xfrm xmlns:a="http://schemas.openxmlformats.org/drawingml/2006/main">
            <a:off x="9763125" y="2876550"/>
            <a:ext cx="3476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1">
                <a:solidFill>
                  <a:srgbClr val="FFFFFF"/>
                </a:solidFill>
                <a:latin typeface="프리텐다드"/>
                <a:ea typeface="프리텐다드"/>
                <a:cs typeface="프리텐다드"/>
              </a:defRPr>
            </a:pPr>
            <a:r>
              <a:rPr sz="1650" b="1">
                <a:solidFill>
                  <a:srgbClr val="FFFFFF"/>
                </a:solidFill>
                <a:latin typeface="프리텐다드"/>
                <a:ea typeface="프리텐다드"/>
                <a:cs typeface="프리텐다드"/>
              </a:rPr>
              <a:t>판정</a:t>
            </a:r>
          </a:p>
        </p:txBody>
      </p:sp>
      <p:sp>
        <p:nvSpPr>
          <p:cNvPr id="12" name="">
            <a:extLst xmlns:a="http://schemas.openxmlformats.org/drawingml/2006/main">
              <a:ext uri="{FF2B5EF4-FFF2-40B4-BE49-F238E27FC236}">
                <a16:creationId xmlns:a16="http://schemas.microsoft.com/office/drawing/2014/main" id="{5DA48D60-E662-4360-BD35-6A29EDEAC1EC}"/>
              </a:ext>
            </a:extLst>
          </p:cNvPr>
          <p:cNvSpPr>
            <a:spLocks xmlns:a="http://schemas.openxmlformats.org/drawingml/2006/main" noGrp="1"/>
          </p:cNvSpPr>
          <p:nvPr/>
        </p:nvSpPr>
        <p:spPr>
          <a:xfrm xmlns:a="http://schemas.openxmlformats.org/drawingml/2006/main">
            <a:off x="13335000" y="2819400"/>
            <a:ext cx="3924300" cy="571500"/>
          </a:xfrm>
          <a:prstGeom xmlns:a="http://schemas.openxmlformats.org/drawingml/2006/main" prst="rect">
            <a:avLst/>
          </a:prstGeom>
          <a:solidFill xmlns:a="http://schemas.openxmlformats.org/drawingml/2006/main">
            <a:srgbClr val="0B2342"/>
          </a:solidFill>
          <a:ln xmlns:a="http://schemas.openxmlformats.org/drawingml/2006/main" w="0">
            <a:solidFill>
              <a:srgbClr val="0B2342"/>
            </a:solidFill>
            <a:prstDash val="solid"/>
          </a:ln>
        </p:spPr>
      </p:sp>
      <p:sp>
        <p:nvSpPr>
          <p:cNvPr id="13" name="">
            <a:extLst xmlns:a="http://schemas.openxmlformats.org/drawingml/2006/main">
              <a:ext uri="{FF2B5EF4-FFF2-40B4-BE49-F238E27FC236}">
                <a16:creationId xmlns:a16="http://schemas.microsoft.com/office/drawing/2014/main" id="{A6530EF4-3572-456F-A266-1E8A4F6ECAF8}"/>
              </a:ext>
            </a:extLst>
          </p:cNvPr>
          <p:cNvSpPr>
            <a:spLocks xmlns:a="http://schemas.openxmlformats.org/drawingml/2006/main" noGrp="1"/>
          </p:cNvSpPr>
          <p:nvPr/>
        </p:nvSpPr>
        <p:spPr>
          <a:xfrm xmlns:a="http://schemas.openxmlformats.org/drawingml/2006/main">
            <a:off x="13430250" y="2876550"/>
            <a:ext cx="3733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1">
                <a:solidFill>
                  <a:srgbClr val="FFFFFF"/>
                </a:solidFill>
                <a:latin typeface="프리텐다드"/>
                <a:ea typeface="프리텐다드"/>
                <a:cs typeface="프리텐다드"/>
              </a:defRPr>
            </a:pPr>
            <a:r>
              <a:rPr sz="1650" b="1">
                <a:solidFill>
                  <a:srgbClr val="FFFFFF"/>
                </a:solidFill>
                <a:latin typeface="프리텐다드"/>
                <a:ea typeface="프리텐다드"/>
                <a:cs typeface="프리텐다드"/>
              </a:rPr>
              <a:t>경계 / 남은 확인</a:t>
            </a:r>
          </a:p>
        </p:txBody>
      </p:sp>
      <p:sp>
        <p:nvSpPr>
          <p:cNvPr id="14" name="">
            <a:extLst xmlns:a="http://schemas.openxmlformats.org/drawingml/2006/main">
              <a:ext uri="{FF2B5EF4-FFF2-40B4-BE49-F238E27FC236}">
                <a16:creationId xmlns:a16="http://schemas.microsoft.com/office/drawing/2014/main" id="{38551A90-0D0B-4710-8188-6890D6224F55}"/>
              </a:ext>
            </a:extLst>
          </p:cNvPr>
          <p:cNvSpPr>
            <a:spLocks xmlns:a="http://schemas.openxmlformats.org/drawingml/2006/main" noGrp="1"/>
          </p:cNvSpPr>
          <p:nvPr/>
        </p:nvSpPr>
        <p:spPr>
          <a:xfrm xmlns:a="http://schemas.openxmlformats.org/drawingml/2006/main">
            <a:off x="1028700" y="3390900"/>
            <a:ext cx="29718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15" name="">
            <a:extLst xmlns:a="http://schemas.openxmlformats.org/drawingml/2006/main">
              <a:ext uri="{FF2B5EF4-FFF2-40B4-BE49-F238E27FC236}">
                <a16:creationId xmlns:a16="http://schemas.microsoft.com/office/drawing/2014/main" id="{6780E555-5D1E-44BE-8259-E342C388AECE}"/>
              </a:ext>
            </a:extLst>
          </p:cNvPr>
          <p:cNvSpPr>
            <a:spLocks xmlns:a="http://schemas.openxmlformats.org/drawingml/2006/main" noGrp="1"/>
          </p:cNvSpPr>
          <p:nvPr/>
        </p:nvSpPr>
        <p:spPr>
          <a:xfrm xmlns:a="http://schemas.openxmlformats.org/drawingml/2006/main">
            <a:off x="1171575" y="3467100"/>
            <a:ext cx="2686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1">
                <a:solidFill>
                  <a:srgbClr val="17263A"/>
                </a:solidFill>
                <a:latin typeface="프리텐다드"/>
                <a:ea typeface="프리텐다드"/>
                <a:cs typeface="프리텐다드"/>
              </a:defRPr>
            </a:pPr>
            <a:r>
              <a:rPr sz="1650" b="1">
                <a:solidFill>
                  <a:srgbClr val="17263A"/>
                </a:solidFill>
                <a:latin typeface="프리텐다드"/>
                <a:ea typeface="프리텐다드"/>
                <a:cs typeface="프리텐다드"/>
              </a:rPr>
              <a:t>동의·정책·토큰</a:t>
            </a:r>
          </a:p>
        </p:txBody>
      </p:sp>
      <p:sp>
        <p:nvSpPr>
          <p:cNvPr id="16" name="">
            <a:extLst xmlns:a="http://schemas.openxmlformats.org/drawingml/2006/main">
              <a:ext uri="{FF2B5EF4-FFF2-40B4-BE49-F238E27FC236}">
                <a16:creationId xmlns:a16="http://schemas.microsoft.com/office/drawing/2014/main" id="{A4214C97-81C3-470B-A253-BED5A247A885}"/>
              </a:ext>
            </a:extLst>
          </p:cNvPr>
          <p:cNvSpPr>
            <a:spLocks xmlns:a="http://schemas.openxmlformats.org/drawingml/2006/main" noGrp="1"/>
          </p:cNvSpPr>
          <p:nvPr/>
        </p:nvSpPr>
        <p:spPr>
          <a:xfrm xmlns:a="http://schemas.openxmlformats.org/drawingml/2006/main">
            <a:off x="4000500" y="3390900"/>
            <a:ext cx="566737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17" name="">
            <a:extLst xmlns:a="http://schemas.openxmlformats.org/drawingml/2006/main">
              <a:ext uri="{FF2B5EF4-FFF2-40B4-BE49-F238E27FC236}">
                <a16:creationId xmlns:a16="http://schemas.microsoft.com/office/drawing/2014/main" id="{CF96DCDF-B143-43B5-8A6B-7C493AAF091A}"/>
              </a:ext>
            </a:extLst>
          </p:cNvPr>
          <p:cNvSpPr>
            <a:spLocks xmlns:a="http://schemas.openxmlformats.org/drawingml/2006/main" noGrp="1"/>
          </p:cNvSpPr>
          <p:nvPr/>
        </p:nvSpPr>
        <p:spPr>
          <a:xfrm xmlns:a="http://schemas.openxmlformats.org/drawingml/2006/main">
            <a:off x="4143375" y="3467100"/>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실제 단건 import에서 서버·DPoP 재검증</a:t>
            </a:r>
          </a:p>
        </p:txBody>
      </p:sp>
      <p:sp>
        <p:nvSpPr>
          <p:cNvPr id="18" name="">
            <a:extLst xmlns:a="http://schemas.openxmlformats.org/drawingml/2006/main">
              <a:ext uri="{FF2B5EF4-FFF2-40B4-BE49-F238E27FC236}">
                <a16:creationId xmlns:a16="http://schemas.microsoft.com/office/drawing/2014/main" id="{EBA66991-2D7D-4B26-A144-3B8A9A7EB7EE}"/>
              </a:ext>
            </a:extLst>
          </p:cNvPr>
          <p:cNvSpPr>
            <a:spLocks xmlns:a="http://schemas.openxmlformats.org/drawingml/2006/main" noGrp="1"/>
          </p:cNvSpPr>
          <p:nvPr/>
        </p:nvSpPr>
        <p:spPr>
          <a:xfrm xmlns:a="http://schemas.openxmlformats.org/drawingml/2006/main">
            <a:off x="9667875" y="3390900"/>
            <a:ext cx="366712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19" name="">
            <a:extLst xmlns:a="http://schemas.openxmlformats.org/drawingml/2006/main">
              <a:ext uri="{FF2B5EF4-FFF2-40B4-BE49-F238E27FC236}">
                <a16:creationId xmlns:a16="http://schemas.microsoft.com/office/drawing/2014/main" id="{944CAD65-E8EC-4F1D-B771-8A35A48D5571}"/>
              </a:ext>
            </a:extLst>
          </p:cNvPr>
          <p:cNvSpPr>
            <a:spLocks xmlns:a="http://schemas.openxmlformats.org/drawingml/2006/main" noGrp="1"/>
          </p:cNvSpPr>
          <p:nvPr/>
        </p:nvSpPr>
        <p:spPr>
          <a:xfrm xmlns:a="http://schemas.openxmlformats.org/drawingml/2006/main">
            <a:off x="9810750" y="3467100"/>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PASS · scoped</a:t>
            </a:r>
          </a:p>
        </p:txBody>
      </p:sp>
      <p:sp>
        <p:nvSpPr>
          <p:cNvPr id="20" name="">
            <a:extLst xmlns:a="http://schemas.openxmlformats.org/drawingml/2006/main">
              <a:ext uri="{FF2B5EF4-FFF2-40B4-BE49-F238E27FC236}">
                <a16:creationId xmlns:a16="http://schemas.microsoft.com/office/drawing/2014/main" id="{B803319A-7552-4918-800E-7585FD670A79}"/>
              </a:ext>
            </a:extLst>
          </p:cNvPr>
          <p:cNvSpPr>
            <a:spLocks xmlns:a="http://schemas.openxmlformats.org/drawingml/2006/main" noGrp="1"/>
          </p:cNvSpPr>
          <p:nvPr/>
        </p:nvSpPr>
        <p:spPr>
          <a:xfrm xmlns:a="http://schemas.openxmlformats.org/drawingml/2006/main">
            <a:off x="13335000" y="3390900"/>
            <a:ext cx="39243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21" name="">
            <a:extLst xmlns:a="http://schemas.openxmlformats.org/drawingml/2006/main">
              <a:ext uri="{FF2B5EF4-FFF2-40B4-BE49-F238E27FC236}">
                <a16:creationId xmlns:a16="http://schemas.microsoft.com/office/drawing/2014/main" id="{CC2437D7-56DC-42BC-8145-DD775933BA96}"/>
              </a:ext>
            </a:extLst>
          </p:cNvPr>
          <p:cNvSpPr>
            <a:spLocks xmlns:a="http://schemas.openxmlformats.org/drawingml/2006/main" noGrp="1"/>
          </p:cNvSpPr>
          <p:nvPr/>
        </p:nvSpPr>
        <p:spPr>
          <a:xfrm xmlns:a="http://schemas.openxmlformats.org/drawingml/2006/main">
            <a:off x="13477875" y="346710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모든 v3 route / 외부 기관 아님</a:t>
            </a:r>
          </a:p>
        </p:txBody>
      </p:sp>
      <p:sp>
        <p:nvSpPr>
          <p:cNvPr id="22" name="">
            <a:extLst xmlns:a="http://schemas.openxmlformats.org/drawingml/2006/main">
              <a:ext uri="{FF2B5EF4-FFF2-40B4-BE49-F238E27FC236}">
                <a16:creationId xmlns:a16="http://schemas.microsoft.com/office/drawing/2014/main" id="{2644E16D-572D-4EC9-86F0-E947B2AC9BE9}"/>
              </a:ext>
            </a:extLst>
          </p:cNvPr>
          <p:cNvSpPr>
            <a:spLocks xmlns:a="http://schemas.openxmlformats.org/drawingml/2006/main" noGrp="1"/>
          </p:cNvSpPr>
          <p:nvPr/>
        </p:nvSpPr>
        <p:spPr>
          <a:xfrm xmlns:a="http://schemas.openxmlformats.org/drawingml/2006/main">
            <a:off x="1028700" y="4591050"/>
            <a:ext cx="2971800"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23" name="">
            <a:extLst xmlns:a="http://schemas.openxmlformats.org/drawingml/2006/main">
              <a:ext uri="{FF2B5EF4-FFF2-40B4-BE49-F238E27FC236}">
                <a16:creationId xmlns:a16="http://schemas.microsoft.com/office/drawing/2014/main" id="{57D88351-1AC8-428F-A465-12CB4DE3A9CB}"/>
              </a:ext>
            </a:extLst>
          </p:cNvPr>
          <p:cNvSpPr>
            <a:spLocks xmlns:a="http://schemas.openxmlformats.org/drawingml/2006/main" noGrp="1"/>
          </p:cNvSpPr>
          <p:nvPr/>
        </p:nvSpPr>
        <p:spPr>
          <a:xfrm xmlns:a="http://schemas.openxmlformats.org/drawingml/2006/main">
            <a:off x="1171575" y="4667250"/>
            <a:ext cx="2686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1">
                <a:solidFill>
                  <a:srgbClr val="17263A"/>
                </a:solidFill>
                <a:latin typeface="프리텐다드"/>
                <a:ea typeface="프리텐다드"/>
                <a:cs typeface="프리텐다드"/>
              </a:defRPr>
            </a:pPr>
            <a:r>
              <a:rPr sz="1650" b="1">
                <a:solidFill>
                  <a:srgbClr val="17263A"/>
                </a:solidFill>
                <a:latin typeface="프리텐다드"/>
                <a:ea typeface="프리텐다드"/>
                <a:cs typeface="프리텐다드"/>
              </a:rPr>
              <a:t>전송·목적지 무결성</a:t>
            </a:r>
          </a:p>
        </p:txBody>
      </p:sp>
      <p:sp>
        <p:nvSpPr>
          <p:cNvPr id="24" name="">
            <a:extLst xmlns:a="http://schemas.openxmlformats.org/drawingml/2006/main">
              <a:ext uri="{FF2B5EF4-FFF2-40B4-BE49-F238E27FC236}">
                <a16:creationId xmlns:a16="http://schemas.microsoft.com/office/drawing/2014/main" id="{B14C6B25-6DD0-4B54-ABF0-3B60400A7509}"/>
              </a:ext>
            </a:extLst>
          </p:cNvPr>
          <p:cNvSpPr>
            <a:spLocks xmlns:a="http://schemas.openxmlformats.org/drawingml/2006/main" noGrp="1"/>
          </p:cNvSpPr>
          <p:nvPr/>
        </p:nvSpPr>
        <p:spPr>
          <a:xfrm xmlns:a="http://schemas.openxmlformats.org/drawingml/2006/main">
            <a:off x="4000500" y="4591050"/>
            <a:ext cx="5667375"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25" name="">
            <a:extLst xmlns:a="http://schemas.openxmlformats.org/drawingml/2006/main">
              <a:ext uri="{FF2B5EF4-FFF2-40B4-BE49-F238E27FC236}">
                <a16:creationId xmlns:a16="http://schemas.microsoft.com/office/drawing/2014/main" id="{3A8588DD-8861-4D3D-B4DC-D122F12829FE}"/>
              </a:ext>
            </a:extLst>
          </p:cNvPr>
          <p:cNvSpPr>
            <a:spLocks xmlns:a="http://schemas.openxmlformats.org/drawingml/2006/main" noGrp="1"/>
          </p:cNvSpPr>
          <p:nvPr/>
        </p:nvSpPr>
        <p:spPr>
          <a:xfrm xmlns:a="http://schemas.openxmlformats.org/drawingml/2006/main">
            <a:off x="4143375" y="4667250"/>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B PACS 독립 재조회, UID·bytes·SHA-256 일치</a:t>
            </a:r>
          </a:p>
        </p:txBody>
      </p:sp>
      <p:sp>
        <p:nvSpPr>
          <p:cNvPr id="26" name="">
            <a:extLst xmlns:a="http://schemas.openxmlformats.org/drawingml/2006/main">
              <a:ext uri="{FF2B5EF4-FFF2-40B4-BE49-F238E27FC236}">
                <a16:creationId xmlns:a16="http://schemas.microsoft.com/office/drawing/2014/main" id="{AA93E801-726A-42F3-9A6C-B5B1985A2051}"/>
              </a:ext>
            </a:extLst>
          </p:cNvPr>
          <p:cNvSpPr>
            <a:spLocks xmlns:a="http://schemas.openxmlformats.org/drawingml/2006/main" noGrp="1"/>
          </p:cNvSpPr>
          <p:nvPr/>
        </p:nvSpPr>
        <p:spPr>
          <a:xfrm xmlns:a="http://schemas.openxmlformats.org/drawingml/2006/main">
            <a:off x="9667875" y="4591050"/>
            <a:ext cx="3667125"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27" name="">
            <a:extLst xmlns:a="http://schemas.openxmlformats.org/drawingml/2006/main">
              <a:ext uri="{FF2B5EF4-FFF2-40B4-BE49-F238E27FC236}">
                <a16:creationId xmlns:a16="http://schemas.microsoft.com/office/drawing/2014/main" id="{8CE8A0B2-AD37-4BEF-A2D8-EFF4AE6105D8}"/>
              </a:ext>
            </a:extLst>
          </p:cNvPr>
          <p:cNvSpPr>
            <a:spLocks xmlns:a="http://schemas.openxmlformats.org/drawingml/2006/main" noGrp="1"/>
          </p:cNvSpPr>
          <p:nvPr/>
        </p:nvSpPr>
        <p:spPr>
          <a:xfrm xmlns:a="http://schemas.openxmlformats.org/drawingml/2006/main">
            <a:off x="9810750" y="4667250"/>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PASS · 1건</a:t>
            </a:r>
          </a:p>
        </p:txBody>
      </p:sp>
      <p:sp>
        <p:nvSpPr>
          <p:cNvPr id="28" name="">
            <a:extLst xmlns:a="http://schemas.openxmlformats.org/drawingml/2006/main">
              <a:ext uri="{FF2B5EF4-FFF2-40B4-BE49-F238E27FC236}">
                <a16:creationId xmlns:a16="http://schemas.microsoft.com/office/drawing/2014/main" id="{F59E3318-7EA4-4EAB-96D8-922F99CF3761}"/>
              </a:ext>
            </a:extLst>
          </p:cNvPr>
          <p:cNvSpPr>
            <a:spLocks xmlns:a="http://schemas.openxmlformats.org/drawingml/2006/main" noGrp="1"/>
          </p:cNvSpPr>
          <p:nvPr/>
        </p:nvSpPr>
        <p:spPr>
          <a:xfrm xmlns:a="http://schemas.openxmlformats.org/drawingml/2006/main">
            <a:off x="13335000" y="4591050"/>
            <a:ext cx="3924300"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29" name="">
            <a:extLst xmlns:a="http://schemas.openxmlformats.org/drawingml/2006/main">
              <a:ext uri="{FF2B5EF4-FFF2-40B4-BE49-F238E27FC236}">
                <a16:creationId xmlns:a16="http://schemas.microsoft.com/office/drawing/2014/main" id="{E5848072-9E37-4C54-A9BE-C364B22F41D9}"/>
              </a:ext>
            </a:extLst>
          </p:cNvPr>
          <p:cNvSpPr>
            <a:spLocks xmlns:a="http://schemas.openxmlformats.org/drawingml/2006/main" noGrp="1"/>
          </p:cNvSpPr>
          <p:nvPr/>
        </p:nvSpPr>
        <p:spPr>
          <a:xfrm xmlns:a="http://schemas.openxmlformats.org/drawingml/2006/main">
            <a:off x="13477875" y="466725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전체 batch / 단절·재개 미검증</a:t>
            </a:r>
          </a:p>
        </p:txBody>
      </p:sp>
      <p:sp>
        <p:nvSpPr>
          <p:cNvPr id="30" name="">
            <a:extLst xmlns:a="http://schemas.openxmlformats.org/drawingml/2006/main">
              <a:ext uri="{FF2B5EF4-FFF2-40B4-BE49-F238E27FC236}">
                <a16:creationId xmlns:a16="http://schemas.microsoft.com/office/drawing/2014/main" id="{A1D51641-2B0F-4821-8E1A-923DBF62AF51}"/>
              </a:ext>
            </a:extLst>
          </p:cNvPr>
          <p:cNvSpPr>
            <a:spLocks xmlns:a="http://schemas.openxmlformats.org/drawingml/2006/main" noGrp="1"/>
          </p:cNvSpPr>
          <p:nvPr/>
        </p:nvSpPr>
        <p:spPr>
          <a:xfrm xmlns:a="http://schemas.openxmlformats.org/drawingml/2006/main">
            <a:off x="1028700" y="5791200"/>
            <a:ext cx="29718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31" name="">
            <a:extLst xmlns:a="http://schemas.openxmlformats.org/drawingml/2006/main">
              <a:ext uri="{FF2B5EF4-FFF2-40B4-BE49-F238E27FC236}">
                <a16:creationId xmlns:a16="http://schemas.microsoft.com/office/drawing/2014/main" id="{333621B0-9668-4429-9932-73589E48D4F0}"/>
              </a:ext>
            </a:extLst>
          </p:cNvPr>
          <p:cNvSpPr>
            <a:spLocks xmlns:a="http://schemas.openxmlformats.org/drawingml/2006/main" noGrp="1"/>
          </p:cNvSpPr>
          <p:nvPr/>
        </p:nvSpPr>
        <p:spPr>
          <a:xfrm xmlns:a="http://schemas.openxmlformats.org/drawingml/2006/main">
            <a:off x="1171575" y="5867400"/>
            <a:ext cx="2686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1">
                <a:solidFill>
                  <a:srgbClr val="17263A"/>
                </a:solidFill>
                <a:latin typeface="프리텐다드"/>
                <a:ea typeface="프리텐다드"/>
                <a:cs typeface="프리텐다드"/>
              </a:defRPr>
            </a:pPr>
            <a:r>
              <a:rPr sz="1650" b="1">
                <a:solidFill>
                  <a:srgbClr val="17263A"/>
                </a:solidFill>
                <a:latin typeface="프리텐다드"/>
                <a:ea typeface="프리텐다드"/>
                <a:cs typeface="프리텐다드"/>
              </a:rPr>
              <a:t>저장키·복구</a:t>
            </a:r>
          </a:p>
        </p:txBody>
      </p:sp>
      <p:sp>
        <p:nvSpPr>
          <p:cNvPr id="32" name="">
            <a:extLst xmlns:a="http://schemas.openxmlformats.org/drawingml/2006/main">
              <a:ext uri="{FF2B5EF4-FFF2-40B4-BE49-F238E27FC236}">
                <a16:creationId xmlns:a16="http://schemas.microsoft.com/office/drawing/2014/main" id="{04C34B60-1326-403A-81F6-2E9D7F8E1375}"/>
              </a:ext>
            </a:extLst>
          </p:cNvPr>
          <p:cNvSpPr>
            <a:spLocks xmlns:a="http://schemas.openxmlformats.org/drawingml/2006/main" noGrp="1"/>
          </p:cNvSpPr>
          <p:nvPr/>
        </p:nvSpPr>
        <p:spPr>
          <a:xfrm xmlns:a="http://schemas.openxmlformats.org/drawingml/2006/main">
            <a:off x="4000500" y="5791200"/>
            <a:ext cx="566737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33" name="">
            <a:extLst xmlns:a="http://schemas.openxmlformats.org/drawingml/2006/main">
              <a:ext uri="{FF2B5EF4-FFF2-40B4-BE49-F238E27FC236}">
                <a16:creationId xmlns:a16="http://schemas.microsoft.com/office/drawing/2014/main" id="{285C8C3E-06DE-49C8-8FDC-2CF2378BC1B8}"/>
              </a:ext>
            </a:extLst>
          </p:cNvPr>
          <p:cNvSpPr>
            <a:spLocks xmlns:a="http://schemas.openxmlformats.org/drawingml/2006/main" noGrp="1"/>
          </p:cNvSpPr>
          <p:nvPr/>
        </p:nvSpPr>
        <p:spPr>
          <a:xfrm xmlns:a="http://schemas.openxmlformats.org/drawingml/2006/main">
            <a:off x="4143375" y="5867400"/>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8 GiB LUKS2 수동 lock/recover 시험</a:t>
            </a:r>
          </a:p>
        </p:txBody>
      </p:sp>
      <p:sp>
        <p:nvSpPr>
          <p:cNvPr id="34" name="">
            <a:extLst xmlns:a="http://schemas.openxmlformats.org/drawingml/2006/main">
              <a:ext uri="{FF2B5EF4-FFF2-40B4-BE49-F238E27FC236}">
                <a16:creationId xmlns:a16="http://schemas.microsoft.com/office/drawing/2014/main" id="{AD121DAC-E0E8-4AE5-96B1-2D52C0BF3053}"/>
              </a:ext>
            </a:extLst>
          </p:cNvPr>
          <p:cNvSpPr>
            <a:spLocks xmlns:a="http://schemas.openxmlformats.org/drawingml/2006/main" noGrp="1"/>
          </p:cNvSpPr>
          <p:nvPr/>
        </p:nvSpPr>
        <p:spPr>
          <a:xfrm xmlns:a="http://schemas.openxmlformats.org/drawingml/2006/main">
            <a:off x="9667875" y="5791200"/>
            <a:ext cx="3667125"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35" name="">
            <a:extLst xmlns:a="http://schemas.openxmlformats.org/drawingml/2006/main">
              <a:ext uri="{FF2B5EF4-FFF2-40B4-BE49-F238E27FC236}">
                <a16:creationId xmlns:a16="http://schemas.microsoft.com/office/drawing/2014/main" id="{48831423-905A-4820-BB6E-F1378B0F0D66}"/>
              </a:ext>
            </a:extLst>
          </p:cNvPr>
          <p:cNvSpPr>
            <a:spLocks xmlns:a="http://schemas.openxmlformats.org/drawingml/2006/main" noGrp="1"/>
          </p:cNvSpPr>
          <p:nvPr/>
        </p:nvSpPr>
        <p:spPr>
          <a:xfrm xmlns:a="http://schemas.openxmlformats.org/drawingml/2006/main">
            <a:off x="9810750" y="5867400"/>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부분 PASS</a:t>
            </a:r>
          </a:p>
        </p:txBody>
      </p:sp>
      <p:sp>
        <p:nvSpPr>
          <p:cNvPr id="36" name="">
            <a:extLst xmlns:a="http://schemas.openxmlformats.org/drawingml/2006/main">
              <a:ext uri="{FF2B5EF4-FFF2-40B4-BE49-F238E27FC236}">
                <a16:creationId xmlns:a16="http://schemas.microsoft.com/office/drawing/2014/main" id="{7E55D64A-47E7-462D-8A65-BAC24079BB81}"/>
              </a:ext>
            </a:extLst>
          </p:cNvPr>
          <p:cNvSpPr>
            <a:spLocks xmlns:a="http://schemas.openxmlformats.org/drawingml/2006/main" noGrp="1"/>
          </p:cNvSpPr>
          <p:nvPr/>
        </p:nvSpPr>
        <p:spPr>
          <a:xfrm xmlns:a="http://schemas.openxmlformats.org/drawingml/2006/main">
            <a:off x="13335000" y="5791200"/>
            <a:ext cx="3924300" cy="1200150"/>
          </a:xfrm>
          <a:prstGeom xmlns:a="http://schemas.openxmlformats.org/drawingml/2006/main" prst="rect">
            <a:avLst/>
          </a:prstGeom>
          <a:solidFill xmlns:a="http://schemas.openxmlformats.org/drawingml/2006/main">
            <a:srgbClr val="FFFFFF"/>
          </a:solidFill>
          <a:ln xmlns:a="http://schemas.openxmlformats.org/drawingml/2006/main" w="9525">
            <a:solidFill>
              <a:srgbClr val="D8E0E9"/>
            </a:solidFill>
            <a:prstDash val="solid"/>
          </a:ln>
        </p:spPr>
      </p:sp>
      <p:sp>
        <p:nvSpPr>
          <p:cNvPr id="37" name="">
            <a:extLst xmlns:a="http://schemas.openxmlformats.org/drawingml/2006/main">
              <a:ext uri="{FF2B5EF4-FFF2-40B4-BE49-F238E27FC236}">
                <a16:creationId xmlns:a16="http://schemas.microsoft.com/office/drawing/2014/main" id="{86FF79C7-5E0B-4248-8511-EAD51F0D723B}"/>
              </a:ext>
            </a:extLst>
          </p:cNvPr>
          <p:cNvSpPr>
            <a:spLocks xmlns:a="http://schemas.openxmlformats.org/drawingml/2006/main" noGrp="1"/>
          </p:cNvSpPr>
          <p:nvPr/>
        </p:nvSpPr>
        <p:spPr>
          <a:xfrm xmlns:a="http://schemas.openxmlformats.org/drawingml/2006/main">
            <a:off x="13477875" y="586740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이 receipt의 정확한 mount 결합·reboot·Vault backup 미검증</a:t>
            </a:r>
          </a:p>
        </p:txBody>
      </p:sp>
      <p:sp>
        <p:nvSpPr>
          <p:cNvPr id="38" name="">
            <a:extLst xmlns:a="http://schemas.openxmlformats.org/drawingml/2006/main">
              <a:ext uri="{FF2B5EF4-FFF2-40B4-BE49-F238E27FC236}">
                <a16:creationId xmlns:a16="http://schemas.microsoft.com/office/drawing/2014/main" id="{E917F458-2862-40C0-BC69-10C0F7F4ED24}"/>
              </a:ext>
            </a:extLst>
          </p:cNvPr>
          <p:cNvSpPr>
            <a:spLocks xmlns:a="http://schemas.openxmlformats.org/drawingml/2006/main" noGrp="1"/>
          </p:cNvSpPr>
          <p:nvPr/>
        </p:nvSpPr>
        <p:spPr>
          <a:xfrm xmlns:a="http://schemas.openxmlformats.org/drawingml/2006/main">
            <a:off x="1028700" y="6991350"/>
            <a:ext cx="2971800"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39" name="">
            <a:extLst xmlns:a="http://schemas.openxmlformats.org/drawingml/2006/main">
              <a:ext uri="{FF2B5EF4-FFF2-40B4-BE49-F238E27FC236}">
                <a16:creationId xmlns:a16="http://schemas.microsoft.com/office/drawing/2014/main" id="{66EC2821-AB32-43C4-927C-7AE6F99A0B30}"/>
              </a:ext>
            </a:extLst>
          </p:cNvPr>
          <p:cNvSpPr>
            <a:spLocks xmlns:a="http://schemas.openxmlformats.org/drawingml/2006/main" noGrp="1"/>
          </p:cNvSpPr>
          <p:nvPr/>
        </p:nvSpPr>
        <p:spPr>
          <a:xfrm xmlns:a="http://schemas.openxmlformats.org/drawingml/2006/main">
            <a:off x="1171575" y="7067550"/>
            <a:ext cx="26860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650" b="1">
                <a:solidFill>
                  <a:srgbClr val="17263A"/>
                </a:solidFill>
                <a:latin typeface="프리텐다드"/>
                <a:ea typeface="프리텐다드"/>
                <a:cs typeface="프리텐다드"/>
              </a:defRPr>
            </a:pPr>
            <a:r>
              <a:rPr sz="1650" b="1">
                <a:solidFill>
                  <a:srgbClr val="17263A"/>
                </a:solidFill>
                <a:latin typeface="프리텐다드"/>
                <a:ea typeface="프리텐다드"/>
                <a:cs typeface="프리텐다드"/>
              </a:rPr>
              <a:t>감사·관제</a:t>
            </a:r>
          </a:p>
        </p:txBody>
      </p:sp>
      <p:sp>
        <p:nvSpPr>
          <p:cNvPr id="40" name="">
            <a:extLst xmlns:a="http://schemas.openxmlformats.org/drawingml/2006/main">
              <a:ext uri="{FF2B5EF4-FFF2-40B4-BE49-F238E27FC236}">
                <a16:creationId xmlns:a16="http://schemas.microsoft.com/office/drawing/2014/main" id="{DE0B3F7E-CA60-4E55-BF16-4A994D2C4363}"/>
              </a:ext>
            </a:extLst>
          </p:cNvPr>
          <p:cNvSpPr>
            <a:spLocks xmlns:a="http://schemas.openxmlformats.org/drawingml/2006/main" noGrp="1"/>
          </p:cNvSpPr>
          <p:nvPr/>
        </p:nvSpPr>
        <p:spPr>
          <a:xfrm xmlns:a="http://schemas.openxmlformats.org/drawingml/2006/main">
            <a:off x="4000500" y="6991350"/>
            <a:ext cx="5667375"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41" name="">
            <a:extLst xmlns:a="http://schemas.openxmlformats.org/drawingml/2006/main">
              <a:ext uri="{FF2B5EF4-FFF2-40B4-BE49-F238E27FC236}">
                <a16:creationId xmlns:a16="http://schemas.microsoft.com/office/drawing/2014/main" id="{EE3713BE-DFE4-41C8-98C3-EAA918C5E586}"/>
              </a:ext>
            </a:extLst>
          </p:cNvPr>
          <p:cNvSpPr>
            <a:spLocks xmlns:a="http://schemas.openxmlformats.org/drawingml/2006/main" noGrp="1"/>
          </p:cNvSpPr>
          <p:nvPr/>
        </p:nvSpPr>
        <p:spPr>
          <a:xfrm xmlns:a="http://schemas.openxmlformats.org/drawingml/2006/main">
            <a:off x="4143375" y="7067550"/>
            <a:ext cx="5381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1 session 상관, WAF·KV 소스 제한 조회</a:t>
            </a:r>
          </a:p>
        </p:txBody>
      </p:sp>
      <p:sp>
        <p:nvSpPr>
          <p:cNvPr id="42" name="">
            <a:extLst xmlns:a="http://schemas.openxmlformats.org/drawingml/2006/main">
              <a:ext uri="{FF2B5EF4-FFF2-40B4-BE49-F238E27FC236}">
                <a16:creationId xmlns:a16="http://schemas.microsoft.com/office/drawing/2014/main" id="{30E8060E-6799-4842-BC7E-EBC8E083CF6C}"/>
              </a:ext>
            </a:extLst>
          </p:cNvPr>
          <p:cNvSpPr>
            <a:spLocks xmlns:a="http://schemas.openxmlformats.org/drawingml/2006/main" noGrp="1"/>
          </p:cNvSpPr>
          <p:nvPr/>
        </p:nvSpPr>
        <p:spPr>
          <a:xfrm xmlns:a="http://schemas.openxmlformats.org/drawingml/2006/main">
            <a:off x="9667875" y="6991350"/>
            <a:ext cx="3667125"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43" name="">
            <a:extLst xmlns:a="http://schemas.openxmlformats.org/drawingml/2006/main">
              <a:ext uri="{FF2B5EF4-FFF2-40B4-BE49-F238E27FC236}">
                <a16:creationId xmlns:a16="http://schemas.microsoft.com/office/drawing/2014/main" id="{0D79A46B-2294-4245-9896-AE4EA9F891F7}"/>
              </a:ext>
            </a:extLst>
          </p:cNvPr>
          <p:cNvSpPr>
            <a:spLocks xmlns:a="http://schemas.openxmlformats.org/drawingml/2006/main" noGrp="1"/>
          </p:cNvSpPr>
          <p:nvPr/>
        </p:nvSpPr>
        <p:spPr>
          <a:xfrm xmlns:a="http://schemas.openxmlformats.org/drawingml/2006/main">
            <a:off x="9810750" y="7067550"/>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부분 PASS</a:t>
            </a:r>
          </a:p>
        </p:txBody>
      </p:sp>
      <p:sp>
        <p:nvSpPr>
          <p:cNvPr id="44" name="">
            <a:extLst xmlns:a="http://schemas.openxmlformats.org/drawingml/2006/main">
              <a:ext uri="{FF2B5EF4-FFF2-40B4-BE49-F238E27FC236}">
                <a16:creationId xmlns:a16="http://schemas.microsoft.com/office/drawing/2014/main" id="{DDFEAE6D-9777-4D2B-8BE0-28CB5FAC51F5}"/>
              </a:ext>
            </a:extLst>
          </p:cNvPr>
          <p:cNvSpPr>
            <a:spLocks xmlns:a="http://schemas.openxmlformats.org/drawingml/2006/main" noGrp="1"/>
          </p:cNvSpPr>
          <p:nvPr/>
        </p:nvSpPr>
        <p:spPr>
          <a:xfrm xmlns:a="http://schemas.openxmlformats.org/drawingml/2006/main">
            <a:off x="13335000" y="6991350"/>
            <a:ext cx="3924300" cy="1200150"/>
          </a:xfrm>
          <a:prstGeom xmlns:a="http://schemas.openxmlformats.org/drawingml/2006/main" prst="rect">
            <a:avLst/>
          </a:prstGeom>
          <a:solidFill xmlns:a="http://schemas.openxmlformats.org/drawingml/2006/main">
            <a:srgbClr val="F3F6FA"/>
          </a:solidFill>
          <a:ln xmlns:a="http://schemas.openxmlformats.org/drawingml/2006/main" w="9525">
            <a:solidFill>
              <a:srgbClr val="D8E0E9"/>
            </a:solidFill>
            <a:prstDash val="solid"/>
          </a:ln>
        </p:spPr>
      </p:sp>
      <p:sp>
        <p:nvSpPr>
          <p:cNvPr id="45" name="">
            <a:extLst xmlns:a="http://schemas.openxmlformats.org/drawingml/2006/main">
              <a:ext uri="{FF2B5EF4-FFF2-40B4-BE49-F238E27FC236}">
                <a16:creationId xmlns:a16="http://schemas.microsoft.com/office/drawing/2014/main" id="{7B2B24C5-2D49-49BB-B015-724785BB1768}"/>
              </a:ext>
            </a:extLst>
          </p:cNvPr>
          <p:cNvSpPr>
            <a:spLocks xmlns:a="http://schemas.openxmlformats.org/drawingml/2006/main" noGrp="1"/>
          </p:cNvSpPr>
          <p:nvPr/>
        </p:nvSpPr>
        <p:spPr>
          <a:xfrm xmlns:a="http://schemas.openxmlformats.org/drawingml/2006/main">
            <a:off x="13477875" y="7067550"/>
            <a:ext cx="3638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00" b="0">
                <a:solidFill>
                  <a:srgbClr val="17263A"/>
                </a:solidFill>
                <a:latin typeface="프리텐다드"/>
                <a:ea typeface="프리텐다드"/>
                <a:cs typeface="프리텐다드"/>
              </a:defRPr>
            </a:pPr>
            <a:r>
              <a:rPr sz="1500" b="0">
                <a:solidFill>
                  <a:srgbClr val="17263A"/>
                </a:solidFill>
                <a:latin typeface="프리텐다드"/>
                <a:ea typeface="프리텐다드"/>
                <a:cs typeface="프리텐다드"/>
              </a:rPr>
              <a:t>Entra 진단 설정·관리자 실로그인·완전성 미검증</a:t>
            </a:r>
          </a:p>
        </p:txBody>
      </p:sp>
      <p:sp>
        <p:nvSpPr>
          <p:cNvPr id="46" name="">
            <a:extLst xmlns:a="http://schemas.openxmlformats.org/drawingml/2006/main">
              <a:ext uri="{FF2B5EF4-FFF2-40B4-BE49-F238E27FC236}">
                <a16:creationId xmlns:a16="http://schemas.microsoft.com/office/drawing/2014/main" id="{A6B2D141-4793-4B09-B3F5-49EAD5CAAF3C}"/>
              </a:ext>
            </a:extLst>
          </p:cNvPr>
          <p:cNvSpPr>
            <a:spLocks xmlns:a="http://schemas.openxmlformats.org/drawingml/2006/main" noGrp="1"/>
          </p:cNvSpPr>
          <p:nvPr/>
        </p:nvSpPr>
        <p:spPr>
          <a:xfrm xmlns:a="http://schemas.openxmlformats.org/drawingml/2006/main">
            <a:off x="1028700" y="8420100"/>
            <a:ext cx="16230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00" b="1">
                <a:solidFill>
                  <a:srgbClr val="0B2342"/>
                </a:solidFill>
                <a:latin typeface="프리텐다드"/>
                <a:ea typeface="프리텐다드"/>
                <a:cs typeface="프리텐다드"/>
              </a:defRPr>
            </a:pPr>
            <a:r>
              <a:rPr sz="1800" b="1">
                <a:solidFill>
                  <a:srgbClr val="0B2342"/>
                </a:solidFill>
                <a:latin typeface="프리텐다드"/>
                <a:ea typeface="프리텐다드"/>
                <a:cs typeface="프리텐다드"/>
              </a:rPr>
              <a:t>‘코드가 있음’과 ‘실제 클라우드에서 종단 검증됨’은 서로 다른 상태입니다.</a:t>
            </a:r>
          </a:p>
        </p:txBody>
      </p:sp>
      <p:sp>
        <p:nvSpPr>
          <p:cNvPr id="47" name="">
            <a:extLst xmlns:a="http://schemas.openxmlformats.org/drawingml/2006/main">
              <a:ext uri="{FF2B5EF4-FFF2-40B4-BE49-F238E27FC236}">
                <a16:creationId xmlns:a16="http://schemas.microsoft.com/office/drawing/2014/main" id="{DF0B32F5-97CE-4D8D-A8CE-7413273F5342}"/>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0F61ADC7-70A4-401C-A7C0-FCF531256745}"/>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49" name="">
            <a:extLst xmlns:a="http://schemas.openxmlformats.org/drawingml/2006/main">
              <a:ext uri="{FF2B5EF4-FFF2-40B4-BE49-F238E27FC236}">
                <a16:creationId xmlns:a16="http://schemas.microsoft.com/office/drawing/2014/main" id="{ABB521C0-CCA2-4832-943E-4F0DEFF91586}"/>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18  /  22</a:t>
            </a:r>
          </a:p>
        </p:txBody>
      </p:sp>
    </p:spTree>
    <p:extLst>
      <p:ext uri="{BB962C8B-B14F-4D97-AF65-F5344CB8AC3E}">
        <p14:creationId xmlns:p14="http://schemas.microsoft.com/office/powerpoint/2010/main" val="2927594076"/>
      </p:ext>
    </p:extLst>
  </p:cSld>
</p:sld>
</file>

<file path=ppt/slides/slide19.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77ACC13-62F4-409F-9792-6817178A576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B25CE91-73AE-4395-AE0C-6285D6144E65}"/>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D898B0E1-C04B-4381-ACD5-6C0DF0DA8016}"/>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4D1C535-F6B4-46FC-9C43-7890154A2C10}"/>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AUDIT SNAPSHOT</a:t>
            </a:r>
          </a:p>
        </p:txBody>
      </p:sp>
      <p:sp>
        <p:nvSpPr>
          <p:cNvPr id="5" name="">
            <a:extLst xmlns:a="http://schemas.openxmlformats.org/drawingml/2006/main">
              <a:ext uri="{FF2B5EF4-FFF2-40B4-BE49-F238E27FC236}">
                <a16:creationId xmlns:a16="http://schemas.microsoft.com/office/drawing/2014/main" id="{BC5E3634-1BEC-4020-9694-FB6DDB32961F}"/>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관제 출처는 연결, 전체 가시성은 미확인</a:t>
            </a:r>
          </a:p>
        </p:txBody>
      </p:sp>
      <p:sp>
        <p:nvSpPr>
          <p:cNvPr id="6" name="">
            <a:extLst xmlns:a="http://schemas.openxmlformats.org/drawingml/2006/main">
              <a:ext uri="{FF2B5EF4-FFF2-40B4-BE49-F238E27FC236}">
                <a16:creationId xmlns:a16="http://schemas.microsoft.com/office/drawing/2014/main" id="{C986B2CF-5A28-4EE7-8EAA-530B7C18CD20}"/>
              </a:ext>
            </a:extLst>
          </p:cNvPr>
          <p:cNvSpPr>
            <a:spLocks xmlns:a="http://schemas.openxmlformats.org/drawingml/2006/main" noGrp="1"/>
          </p:cNvSpPr>
          <p:nvPr/>
        </p:nvSpPr>
        <p:spPr>
          <a:xfrm xmlns:a="http://schemas.openxmlformats.org/drawingml/2006/main">
            <a:off x="1028700" y="2647950"/>
            <a:ext cx="3105150" cy="400050"/>
          </a:xfrm>
          <a:prstGeom xmlns:a="http://schemas.openxmlformats.org/drawingml/2006/main" prst="roundRect">
            <a:avLst>
              <a:gd name="adj" fmla="val 50000"/>
            </a:avLst>
          </a:prstGeom>
          <a:solidFill xmlns:a="http://schemas.openxmlformats.org/drawingml/2006/main">
            <a:srgbClr val="FBF4E5"/>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07CF574-BC4E-4476-91DA-C1820D6EC503}"/>
              </a:ext>
            </a:extLst>
          </p:cNvPr>
          <p:cNvSpPr>
            <a:spLocks xmlns:a="http://schemas.openxmlformats.org/drawingml/2006/main" noGrp="1"/>
          </p:cNvSpPr>
          <p:nvPr/>
        </p:nvSpPr>
        <p:spPr>
          <a:xfrm xmlns:a="http://schemas.openxmlformats.org/drawingml/2006/main">
            <a:off x="1085850" y="2657475"/>
            <a:ext cx="29908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제한 표본 · 최근 24시간 조회</a:t>
            </a:r>
          </a:p>
        </p:txBody>
      </p:sp>
      <p:sp>
        <p:nvSpPr>
          <p:cNvPr id="8" name="">
            <a:extLst xmlns:a="http://schemas.openxmlformats.org/drawingml/2006/main">
              <a:ext uri="{FF2B5EF4-FFF2-40B4-BE49-F238E27FC236}">
                <a16:creationId xmlns:a16="http://schemas.microsoft.com/office/drawing/2014/main" id="{ADE72140-535E-4B47-9DB7-9A6677E7D59E}"/>
              </a:ext>
            </a:extLst>
          </p:cNvPr>
          <p:cNvSpPr>
            <a:spLocks xmlns:a="http://schemas.openxmlformats.org/drawingml/2006/main" noGrp="1"/>
          </p:cNvSpPr>
          <p:nvPr/>
        </p:nvSpPr>
        <p:spPr>
          <a:xfrm xmlns:a="http://schemas.openxmlformats.org/drawingml/2006/main">
            <a:off x="1028700" y="3429000"/>
            <a:ext cx="5029200" cy="32766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4288">
            <a:solidFill>
              <a:srgbClr val="D8E0E9"/>
            </a:solidFill>
            <a:prstDash val="solid"/>
          </a:ln>
        </p:spPr>
      </p:sp>
      <p:sp>
        <p:nvSpPr>
          <p:cNvPr id="9" name="">
            <a:extLst xmlns:a="http://schemas.openxmlformats.org/drawingml/2006/main">
              <a:ext uri="{FF2B5EF4-FFF2-40B4-BE49-F238E27FC236}">
                <a16:creationId xmlns:a16="http://schemas.microsoft.com/office/drawing/2014/main" id="{E995C206-EA7C-4C9B-9167-7669DEC647DC}"/>
              </a:ext>
            </a:extLst>
          </p:cNvPr>
          <p:cNvSpPr>
            <a:spLocks xmlns:a="http://schemas.openxmlformats.org/drawingml/2006/main" noGrp="1"/>
          </p:cNvSpPr>
          <p:nvPr/>
        </p:nvSpPr>
        <p:spPr>
          <a:xfrm xmlns:a="http://schemas.openxmlformats.org/drawingml/2006/main">
            <a:off x="1276350" y="3676650"/>
            <a:ext cx="22098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1999EC-4521-4326-8AE5-63260EDBCBFC}"/>
              </a:ext>
            </a:extLst>
          </p:cNvPr>
          <p:cNvSpPr>
            <a:spLocks xmlns:a="http://schemas.openxmlformats.org/drawingml/2006/main" noGrp="1"/>
          </p:cNvSpPr>
          <p:nvPr/>
        </p:nvSpPr>
        <p:spPr>
          <a:xfrm xmlns:a="http://schemas.openxmlformats.org/drawingml/2006/main">
            <a:off x="1333500" y="3686175"/>
            <a:ext cx="209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KEY VAULT</a:t>
            </a:r>
          </a:p>
        </p:txBody>
      </p:sp>
      <p:sp>
        <p:nvSpPr>
          <p:cNvPr id="11" name="">
            <a:extLst xmlns:a="http://schemas.openxmlformats.org/drawingml/2006/main">
              <a:ext uri="{FF2B5EF4-FFF2-40B4-BE49-F238E27FC236}">
                <a16:creationId xmlns:a16="http://schemas.microsoft.com/office/drawing/2014/main" id="{7826C21C-3DF7-4479-8D5E-9F865C20BB29}"/>
              </a:ext>
            </a:extLst>
          </p:cNvPr>
          <p:cNvSpPr>
            <a:spLocks xmlns:a="http://schemas.openxmlformats.org/drawingml/2006/main" noGrp="1"/>
          </p:cNvSpPr>
          <p:nvPr/>
        </p:nvSpPr>
        <p:spPr>
          <a:xfrm xmlns:a="http://schemas.openxmlformats.org/drawingml/2006/main">
            <a:off x="1276350" y="4324350"/>
            <a:ext cx="4533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6150" b="1">
                <a:solidFill>
                  <a:srgbClr val="2F68B5"/>
                </a:solidFill>
                <a:latin typeface="프리텐다드"/>
                <a:ea typeface="프리텐다드"/>
                <a:cs typeface="프리텐다드"/>
              </a:defRPr>
            </a:pPr>
            <a:r>
              <a:rPr sz="6150" b="1">
                <a:solidFill>
                  <a:srgbClr val="2F68B5"/>
                </a:solidFill>
                <a:latin typeface="프리텐다드"/>
                <a:ea typeface="프리텐다드"/>
                <a:cs typeface="프리텐다드"/>
              </a:rPr>
              <a:t>68</a:t>
            </a:r>
          </a:p>
        </p:txBody>
      </p:sp>
      <p:sp>
        <p:nvSpPr>
          <p:cNvPr id="12" name="">
            <a:extLst xmlns:a="http://schemas.openxmlformats.org/drawingml/2006/main">
              <a:ext uri="{FF2B5EF4-FFF2-40B4-BE49-F238E27FC236}">
                <a16:creationId xmlns:a16="http://schemas.microsoft.com/office/drawing/2014/main" id="{D1900B8B-26CE-42D5-A330-89AC50EC79BB}"/>
              </a:ext>
            </a:extLst>
          </p:cNvPr>
          <p:cNvSpPr>
            <a:spLocks xmlns:a="http://schemas.openxmlformats.org/drawingml/2006/main" noGrp="1"/>
          </p:cNvSpPr>
          <p:nvPr/>
        </p:nvSpPr>
        <p:spPr>
          <a:xfrm xmlns:a="http://schemas.openxmlformats.org/drawingml/2006/main">
            <a:off x="1314450" y="5467350"/>
            <a:ext cx="4457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0">
                <a:solidFill>
                  <a:srgbClr val="53657B"/>
                </a:solidFill>
                <a:latin typeface="프리텐다드"/>
                <a:ea typeface="프리텐다드"/>
                <a:cs typeface="프리텐다드"/>
              </a:defRPr>
            </a:pPr>
            <a:r>
              <a:rPr sz="1650" b="0">
                <a:solidFill>
                  <a:srgbClr val="53657B"/>
                </a:solidFill>
                <a:latin typeface="프리텐다드"/>
                <a:ea typeface="프리텐다드"/>
                <a:cs typeface="프리텐다드"/>
              </a:rPr>
              <a:t>최대 100건 조회</a:t>
            </a:r>
          </a:p>
          <a:p xmlns:a="http://schemas.openxmlformats.org/drawingml/2006/main">
            <a:pPr algn="ctr">
              <a:defRPr sz="1650" b="0">
                <a:solidFill>
                  <a:srgbClr val="53657B"/>
                </a:solidFill>
                <a:latin typeface="프리텐다드"/>
                <a:ea typeface="프리텐다드"/>
                <a:cs typeface="프리텐다드"/>
              </a:defRPr>
            </a:pPr>
            <a:r>
              <a:rPr sz="1650" b="0">
                <a:solidFill>
                  <a:srgbClr val="53657B"/>
                </a:solidFill>
                <a:latin typeface="프리텐다드"/>
                <a:ea typeface="프리텐다드"/>
                <a:cs typeface="프리텐다드"/>
              </a:rPr>
              <a:t>특정 Vault 범위</a:t>
            </a:r>
          </a:p>
        </p:txBody>
      </p:sp>
      <p:sp>
        <p:nvSpPr>
          <p:cNvPr id="13" name="">
            <a:extLst xmlns:a="http://schemas.openxmlformats.org/drawingml/2006/main">
              <a:ext uri="{FF2B5EF4-FFF2-40B4-BE49-F238E27FC236}">
                <a16:creationId xmlns:a16="http://schemas.microsoft.com/office/drawing/2014/main" id="{99EC369A-C25C-4675-8A31-06B6F2D65C38}"/>
              </a:ext>
            </a:extLst>
          </p:cNvPr>
          <p:cNvSpPr>
            <a:spLocks xmlns:a="http://schemas.openxmlformats.org/drawingml/2006/main" noGrp="1"/>
          </p:cNvSpPr>
          <p:nvPr/>
        </p:nvSpPr>
        <p:spPr>
          <a:xfrm xmlns:a="http://schemas.openxmlformats.org/drawingml/2006/main">
            <a:off x="6515100" y="3429000"/>
            <a:ext cx="5029200" cy="32766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4288">
            <a:solidFill>
              <a:srgbClr val="D8E0E9"/>
            </a:solidFill>
            <a:prstDash val="solid"/>
          </a:ln>
        </p:spPr>
      </p:sp>
      <p:sp>
        <p:nvSpPr>
          <p:cNvPr id="14" name="">
            <a:extLst xmlns:a="http://schemas.openxmlformats.org/drawingml/2006/main">
              <a:ext uri="{FF2B5EF4-FFF2-40B4-BE49-F238E27FC236}">
                <a16:creationId xmlns:a16="http://schemas.microsoft.com/office/drawing/2014/main" id="{C37267B0-BC43-427E-8360-1A7EC2995E6A}"/>
              </a:ext>
            </a:extLst>
          </p:cNvPr>
          <p:cNvSpPr>
            <a:spLocks xmlns:a="http://schemas.openxmlformats.org/drawingml/2006/main" noGrp="1"/>
          </p:cNvSpPr>
          <p:nvPr/>
        </p:nvSpPr>
        <p:spPr>
          <a:xfrm xmlns:a="http://schemas.openxmlformats.org/drawingml/2006/main">
            <a:off x="6762750" y="3676650"/>
            <a:ext cx="2209800" cy="400050"/>
          </a:xfrm>
          <a:prstGeom xmlns:a="http://schemas.openxmlformats.org/drawingml/2006/main" prst="roundRect">
            <a:avLst>
              <a:gd name="adj" fmla="val 50000"/>
            </a:avLst>
          </a:prstGeom>
          <a:solidFill xmlns:a="http://schemas.openxmlformats.org/drawingml/2006/main">
            <a:srgbClr val="E7F4F1"/>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39D6D9FF-27BC-403F-8129-C724C8F18C69}"/>
              </a:ext>
            </a:extLst>
          </p:cNvPr>
          <p:cNvSpPr>
            <a:spLocks xmlns:a="http://schemas.openxmlformats.org/drawingml/2006/main" noGrp="1"/>
          </p:cNvSpPr>
          <p:nvPr/>
        </p:nvSpPr>
        <p:spPr>
          <a:xfrm xmlns:a="http://schemas.openxmlformats.org/drawingml/2006/main">
            <a:off x="6819900" y="3686175"/>
            <a:ext cx="209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WAF / CORAZA</a:t>
            </a:r>
          </a:p>
        </p:txBody>
      </p:sp>
      <p:sp>
        <p:nvSpPr>
          <p:cNvPr id="16" name="">
            <a:extLst xmlns:a="http://schemas.openxmlformats.org/drawingml/2006/main">
              <a:ext uri="{FF2B5EF4-FFF2-40B4-BE49-F238E27FC236}">
                <a16:creationId xmlns:a16="http://schemas.microsoft.com/office/drawing/2014/main" id="{5225CC56-A2C4-4DD7-BC04-A65122EDA656}"/>
              </a:ext>
            </a:extLst>
          </p:cNvPr>
          <p:cNvSpPr>
            <a:spLocks xmlns:a="http://schemas.openxmlformats.org/drawingml/2006/main" noGrp="1"/>
          </p:cNvSpPr>
          <p:nvPr/>
        </p:nvSpPr>
        <p:spPr>
          <a:xfrm xmlns:a="http://schemas.openxmlformats.org/drawingml/2006/main">
            <a:off x="6762750" y="4324350"/>
            <a:ext cx="4533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6150" b="1">
                <a:solidFill>
                  <a:srgbClr val="168B82"/>
                </a:solidFill>
                <a:latin typeface="프리텐다드"/>
                <a:ea typeface="프리텐다드"/>
                <a:cs typeface="프리텐다드"/>
              </a:defRPr>
            </a:pPr>
            <a:r>
              <a:rPr sz="6150" b="1">
                <a:solidFill>
                  <a:srgbClr val="168B82"/>
                </a:solidFill>
                <a:latin typeface="프리텐다드"/>
                <a:ea typeface="프리텐다드"/>
                <a:cs typeface="프리텐다드"/>
              </a:rPr>
              <a:t>298</a:t>
            </a:r>
          </a:p>
        </p:txBody>
      </p:sp>
      <p:sp>
        <p:nvSpPr>
          <p:cNvPr id="17" name="">
            <a:extLst xmlns:a="http://schemas.openxmlformats.org/drawingml/2006/main">
              <a:ext uri="{FF2B5EF4-FFF2-40B4-BE49-F238E27FC236}">
                <a16:creationId xmlns:a16="http://schemas.microsoft.com/office/drawing/2014/main" id="{282E9619-BABB-46DA-99F8-7BEADE7E29A3}"/>
              </a:ext>
            </a:extLst>
          </p:cNvPr>
          <p:cNvSpPr>
            <a:spLocks xmlns:a="http://schemas.openxmlformats.org/drawingml/2006/main" noGrp="1"/>
          </p:cNvSpPr>
          <p:nvPr/>
        </p:nvSpPr>
        <p:spPr>
          <a:xfrm xmlns:a="http://schemas.openxmlformats.org/drawingml/2006/main">
            <a:off x="6800850" y="5467350"/>
            <a:ext cx="4457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0">
                <a:solidFill>
                  <a:srgbClr val="53657B"/>
                </a:solidFill>
                <a:latin typeface="프리텐다드"/>
                <a:ea typeface="프리텐다드"/>
                <a:cs typeface="프리텐다드"/>
              </a:defRPr>
            </a:pPr>
            <a:r>
              <a:rPr sz="1650" b="0">
                <a:solidFill>
                  <a:srgbClr val="53657B"/>
                </a:solidFill>
                <a:latin typeface="프리텐다드"/>
                <a:ea typeface="프리텐다드"/>
                <a:cs typeface="프리텐다드"/>
              </a:rPr>
              <a:t>규칙 매칭 이벤트</a:t>
            </a:r>
          </a:p>
          <a:p xmlns:a="http://schemas.openxmlformats.org/drawingml/2006/main">
            <a:pPr algn="ctr">
              <a:defRPr sz="1650" b="0">
                <a:solidFill>
                  <a:srgbClr val="53657B"/>
                </a:solidFill>
                <a:latin typeface="프리텐다드"/>
                <a:ea typeface="프리텐다드"/>
                <a:cs typeface="프리텐다드"/>
              </a:defRPr>
            </a:pPr>
            <a:r>
              <a:rPr sz="1650" b="0">
                <a:solidFill>
                  <a:srgbClr val="53657B"/>
                </a:solidFill>
                <a:latin typeface="프리텐다드"/>
                <a:ea typeface="프리텐다드"/>
                <a:cs typeface="프리텐다드"/>
              </a:rPr>
              <a:t>명시적 403/406 = 0</a:t>
            </a:r>
          </a:p>
        </p:txBody>
      </p:sp>
      <p:sp>
        <p:nvSpPr>
          <p:cNvPr id="18" name="">
            <a:extLst xmlns:a="http://schemas.openxmlformats.org/drawingml/2006/main">
              <a:ext uri="{FF2B5EF4-FFF2-40B4-BE49-F238E27FC236}">
                <a16:creationId xmlns:a16="http://schemas.microsoft.com/office/drawing/2014/main" id="{7E980630-413E-4112-82E4-36D83F94546F}"/>
              </a:ext>
            </a:extLst>
          </p:cNvPr>
          <p:cNvSpPr>
            <a:spLocks xmlns:a="http://schemas.openxmlformats.org/drawingml/2006/main" noGrp="1"/>
          </p:cNvSpPr>
          <p:nvPr/>
        </p:nvSpPr>
        <p:spPr>
          <a:xfrm xmlns:a="http://schemas.openxmlformats.org/drawingml/2006/main">
            <a:off x="12001500" y="3429000"/>
            <a:ext cx="5029200" cy="32766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4288">
            <a:solidFill>
              <a:srgbClr val="D8E0E9"/>
            </a:solidFill>
            <a:prstDash val="solid"/>
          </a:ln>
        </p:spPr>
      </p:sp>
      <p:sp>
        <p:nvSpPr>
          <p:cNvPr id="19" name="">
            <a:extLst xmlns:a="http://schemas.openxmlformats.org/drawingml/2006/main">
              <a:ext uri="{FF2B5EF4-FFF2-40B4-BE49-F238E27FC236}">
                <a16:creationId xmlns:a16="http://schemas.microsoft.com/office/drawing/2014/main" id="{3F77187D-409A-41E3-A94D-35DCE044D380}"/>
              </a:ext>
            </a:extLst>
          </p:cNvPr>
          <p:cNvSpPr>
            <a:spLocks xmlns:a="http://schemas.openxmlformats.org/drawingml/2006/main" noGrp="1"/>
          </p:cNvSpPr>
          <p:nvPr/>
        </p:nvSpPr>
        <p:spPr>
          <a:xfrm xmlns:a="http://schemas.openxmlformats.org/drawingml/2006/main">
            <a:off x="12249150" y="3676650"/>
            <a:ext cx="2209800" cy="400050"/>
          </a:xfrm>
          <a:prstGeom xmlns:a="http://schemas.openxmlformats.org/drawingml/2006/main" prst="roundRect">
            <a:avLst>
              <a:gd name="adj" fmla="val 50000"/>
            </a:avLst>
          </a:prstGeom>
          <a:solidFill xmlns:a="http://schemas.openxmlformats.org/drawingml/2006/main">
            <a:srgbClr val="FBF4E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7FD29654-4666-4126-BE62-8E6870B7C156}"/>
              </a:ext>
            </a:extLst>
          </p:cNvPr>
          <p:cNvSpPr>
            <a:spLocks xmlns:a="http://schemas.openxmlformats.org/drawingml/2006/main" noGrp="1"/>
          </p:cNvSpPr>
          <p:nvPr/>
        </p:nvSpPr>
        <p:spPr>
          <a:xfrm xmlns:a="http://schemas.openxmlformats.org/drawingml/2006/main">
            <a:off x="12306300" y="3686175"/>
            <a:ext cx="2095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ENTRA SIGN-INS</a:t>
            </a:r>
          </a:p>
        </p:txBody>
      </p:sp>
      <p:sp>
        <p:nvSpPr>
          <p:cNvPr id="21" name="">
            <a:extLst xmlns:a="http://schemas.openxmlformats.org/drawingml/2006/main">
              <a:ext uri="{FF2B5EF4-FFF2-40B4-BE49-F238E27FC236}">
                <a16:creationId xmlns:a16="http://schemas.microsoft.com/office/drawing/2014/main" id="{97837CCE-FF4B-447D-9AA9-1763F9D341B3}"/>
              </a:ext>
            </a:extLst>
          </p:cNvPr>
          <p:cNvSpPr>
            <a:spLocks xmlns:a="http://schemas.openxmlformats.org/drawingml/2006/main" noGrp="1"/>
          </p:cNvSpPr>
          <p:nvPr/>
        </p:nvSpPr>
        <p:spPr>
          <a:xfrm xmlns:a="http://schemas.openxmlformats.org/drawingml/2006/main">
            <a:off x="12249150" y="4324350"/>
            <a:ext cx="45339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6150" b="1">
                <a:solidFill>
                  <a:srgbClr val="DCA83D"/>
                </a:solidFill>
                <a:latin typeface="프리텐다드"/>
                <a:ea typeface="프리텐다드"/>
                <a:cs typeface="프리텐다드"/>
              </a:defRPr>
            </a:pPr>
            <a:r>
              <a:rPr sz="6150" b="1">
                <a:solidFill>
                  <a:srgbClr val="DCA83D"/>
                </a:solidFill>
                <a:latin typeface="프리텐다드"/>
                <a:ea typeface="프리텐다드"/>
                <a:cs typeface="프리텐다드"/>
              </a:rPr>
              <a:t>0</a:t>
            </a:r>
          </a:p>
        </p:txBody>
      </p:sp>
      <p:sp>
        <p:nvSpPr>
          <p:cNvPr id="22" name="">
            <a:extLst xmlns:a="http://schemas.openxmlformats.org/drawingml/2006/main">
              <a:ext uri="{FF2B5EF4-FFF2-40B4-BE49-F238E27FC236}">
                <a16:creationId xmlns:a16="http://schemas.microsoft.com/office/drawing/2014/main" id="{8FECE83B-3540-4FAE-BBA0-7CB8C54E8CF9}"/>
              </a:ext>
            </a:extLst>
          </p:cNvPr>
          <p:cNvSpPr>
            <a:spLocks xmlns:a="http://schemas.openxmlformats.org/drawingml/2006/main" noGrp="1"/>
          </p:cNvSpPr>
          <p:nvPr/>
        </p:nvSpPr>
        <p:spPr>
          <a:xfrm xmlns:a="http://schemas.openxmlformats.org/drawingml/2006/main">
            <a:off x="12287250" y="5467350"/>
            <a:ext cx="44577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650" b="0">
                <a:solidFill>
                  <a:srgbClr val="53657B"/>
                </a:solidFill>
                <a:latin typeface="프리텐다드"/>
                <a:ea typeface="프리텐다드"/>
                <a:cs typeface="프리텐다드"/>
              </a:defRPr>
            </a:pPr>
            <a:r>
              <a:rPr sz="1650" b="0">
                <a:solidFill>
                  <a:srgbClr val="53657B"/>
                </a:solidFill>
                <a:latin typeface="프리텐다드"/>
                <a:ea typeface="프리텐다드"/>
                <a:cs typeface="프리텐다드"/>
              </a:rPr>
              <a:t>지정 앱 2개 표본</a:t>
            </a:r>
          </a:p>
          <a:p xmlns:a="http://schemas.openxmlformats.org/drawingml/2006/main">
            <a:pPr algn="ctr">
              <a:defRPr sz="1650" b="0">
                <a:solidFill>
                  <a:srgbClr val="53657B"/>
                </a:solidFill>
                <a:latin typeface="프리텐다드"/>
                <a:ea typeface="프리텐다드"/>
                <a:cs typeface="프리텐다드"/>
              </a:defRPr>
            </a:pPr>
            <a:r>
              <a:rPr sz="1650" b="0">
                <a:solidFill>
                  <a:srgbClr val="53657B"/>
                </a:solidFill>
                <a:latin typeface="프리텐다드"/>
                <a:ea typeface="프리텐다드"/>
                <a:cs typeface="프리텐다드"/>
              </a:rPr>
              <a:t>진단 설정은 미확인</a:t>
            </a:r>
          </a:p>
        </p:txBody>
      </p:sp>
      <p:sp>
        <p:nvSpPr>
          <p:cNvPr id="23" name="">
            <a:extLst xmlns:a="http://schemas.openxmlformats.org/drawingml/2006/main">
              <a:ext uri="{FF2B5EF4-FFF2-40B4-BE49-F238E27FC236}">
                <a16:creationId xmlns:a16="http://schemas.microsoft.com/office/drawing/2014/main" id="{5728B202-3FEE-4925-9264-923C25D092DE}"/>
              </a:ext>
            </a:extLst>
          </p:cNvPr>
          <p:cNvSpPr>
            <a:spLocks xmlns:a="http://schemas.openxmlformats.org/drawingml/2006/main" noGrp="1"/>
          </p:cNvSpPr>
          <p:nvPr/>
        </p:nvSpPr>
        <p:spPr>
          <a:xfrm xmlns:a="http://schemas.openxmlformats.org/drawingml/2006/main">
            <a:off x="1028700" y="7162800"/>
            <a:ext cx="16230600" cy="1466850"/>
          </a:xfrm>
          <a:prstGeom xmlns:a="http://schemas.openxmlformats.org/drawingml/2006/main" prst="roundRect">
            <a:avLst>
              <a:gd name="adj" fmla="val 14286"/>
            </a:avLst>
          </a:prstGeom>
          <a:solidFill xmlns:a="http://schemas.openxmlformats.org/drawingml/2006/main">
            <a:srgbClr val="0B2342"/>
          </a:solidFill>
          <a:ln xmlns:a="http://schemas.openxmlformats.org/drawingml/2006/main" w="14288">
            <a:solidFill>
              <a:srgbClr val="0B2342"/>
            </a:solidFill>
            <a:prstDash val="solid"/>
          </a:ln>
        </p:spPr>
      </p:sp>
      <p:sp>
        <p:nvSpPr>
          <p:cNvPr id="24" name="">
            <a:extLst xmlns:a="http://schemas.openxmlformats.org/drawingml/2006/main">
              <a:ext uri="{FF2B5EF4-FFF2-40B4-BE49-F238E27FC236}">
                <a16:creationId xmlns:a16="http://schemas.microsoft.com/office/drawing/2014/main" id="{597CCDD3-8B49-47E6-BB85-0EC5047AF407}"/>
              </a:ext>
            </a:extLst>
          </p:cNvPr>
          <p:cNvSpPr>
            <a:spLocks xmlns:a="http://schemas.openxmlformats.org/drawingml/2006/main" noGrp="1"/>
          </p:cNvSpPr>
          <p:nvPr/>
        </p:nvSpPr>
        <p:spPr>
          <a:xfrm xmlns:a="http://schemas.openxmlformats.org/drawingml/2006/main">
            <a:off x="1314450" y="7353300"/>
            <a:ext cx="156591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100" b="1">
                <a:solidFill>
                  <a:srgbClr val="FFFFFF"/>
                </a:solidFill>
                <a:latin typeface="프리텐다드"/>
                <a:ea typeface="프리텐다드"/>
                <a:cs typeface="프리텐다드"/>
              </a:defRPr>
            </a:pPr>
            <a:r>
              <a:rPr sz="2100" b="1">
                <a:solidFill>
                  <a:srgbClr val="FFFFFF"/>
                </a:solidFill>
                <a:latin typeface="프리텐다드"/>
                <a:ea typeface="프리텐다드"/>
                <a:cs typeface="프리텐다드"/>
              </a:rPr>
              <a:t>298은 전체 요청 수나 차단 수가 아닙니다.</a:t>
            </a:r>
          </a:p>
          <a:p xmlns:a="http://schemas.openxmlformats.org/drawingml/2006/main">
            <a:pPr algn="ctr">
              <a:defRPr sz="2100" b="1">
                <a:solidFill>
                  <a:srgbClr val="FFFFFF"/>
                </a:solidFill>
                <a:latin typeface="프리텐다드"/>
                <a:ea typeface="프리텐다드"/>
                <a:cs typeface="프리텐다드"/>
              </a:defRPr>
            </a:pPr>
            <a:r>
              <a:rPr sz="2100" b="1">
                <a:solidFill>
                  <a:srgbClr val="FFFFFF"/>
                </a:solidFill>
                <a:latin typeface="프리텐다드"/>
                <a:ea typeface="프리텐다드"/>
                <a:cs typeface="프리텐다드"/>
              </a:rPr>
              <a:t>WAF·Key Vault·Entra는 서로 다른 조회 한계와 수집 완전성을 가집니다.</a:t>
            </a:r>
          </a:p>
        </p:txBody>
      </p:sp>
      <p:sp>
        <p:nvSpPr>
          <p:cNvPr id="25" name="">
            <a:extLst xmlns:a="http://schemas.openxmlformats.org/drawingml/2006/main">
              <a:ext uri="{FF2B5EF4-FFF2-40B4-BE49-F238E27FC236}">
                <a16:creationId xmlns:a16="http://schemas.microsoft.com/office/drawing/2014/main" id="{582BAAA5-E0DC-43A5-BC99-E838DA451A86}"/>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80FC8ADE-AEB9-47EE-8F19-EAA0397249C2}"/>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27" name="">
            <a:extLst xmlns:a="http://schemas.openxmlformats.org/drawingml/2006/main">
              <a:ext uri="{FF2B5EF4-FFF2-40B4-BE49-F238E27FC236}">
                <a16:creationId xmlns:a16="http://schemas.microsoft.com/office/drawing/2014/main" id="{780A813E-234E-4DC9-BB96-A83E08371E2C}"/>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19  /  22</a:t>
            </a:r>
          </a:p>
        </p:txBody>
      </p:sp>
      <p:pic xmlns:a="http://schemas.openxmlformats.org/drawingml/2006/main" xmlns:r="http://schemas.openxmlformats.org/officeDocument/2006/relationships">
        <p:nvPicPr>
          <p:cNvPr id="29" name="Picture 28" descr="08_security_audit_console.png"/>
          <p:cNvPicPr>
            <a:picLocks noChangeAspect="1"/>
          </p:cNvPicPr>
          <p:nvPr/>
        </p:nvPicPr>
        <p:blipFill>
          <a:blip r:embed="rId3"/>
          <a:stretch>
            <a:fillRect/>
          </a:stretch>
        </p:blipFill>
        <p:spPr>
          <a:xfrm>
            <a:off x="3200400" y="6858000"/>
            <a:ext cx="11887200" cy="18154996"/>
          </a:xfrm>
          <a:prstGeom prst="rect">
            <a:avLst/>
          </a:prstGeom>
        </p:spPr>
      </p:pic>
    </p:spTree>
    <p:extLst>
      <p:ext uri="{BB962C8B-B14F-4D97-AF65-F5344CB8AC3E}">
        <p14:creationId xmlns:p14="http://schemas.microsoft.com/office/powerpoint/2010/main" val="96166734"/>
      </p:ext>
    </p:extLst>
  </p:cSld>
</p:sld>
</file>

<file path=ppt/slides/slide20.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4E273B26-1744-4EDB-AABB-0F45629F6E35}"/>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5A4640-8270-4EB7-A133-A04182187136}"/>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B630C67-07F3-434F-BB15-FACE0595A313}"/>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A843FD9-CC3C-42F2-83EA-C48C035FA335}"/>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VALIDATION</a:t>
            </a:r>
          </a:p>
        </p:txBody>
      </p:sp>
      <p:sp>
        <p:nvSpPr>
          <p:cNvPr id="5" name="">
            <a:extLst xmlns:a="http://schemas.openxmlformats.org/drawingml/2006/main">
              <a:ext uri="{FF2B5EF4-FFF2-40B4-BE49-F238E27FC236}">
                <a16:creationId xmlns:a16="http://schemas.microsoft.com/office/drawing/2014/main" id="{639F7CAE-433F-49B9-BA26-AB6CB012E2F0}"/>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확인된 실적과 미검증을 함께 본다</a:t>
            </a:r>
          </a:p>
        </p:txBody>
      </p:sp>
      <p:sp>
        <p:nvSpPr>
          <p:cNvPr id="6" name="">
            <a:extLst xmlns:a="http://schemas.openxmlformats.org/drawingml/2006/main">
              <a:ext uri="{FF2B5EF4-FFF2-40B4-BE49-F238E27FC236}">
                <a16:creationId xmlns:a16="http://schemas.microsoft.com/office/drawing/2014/main" id="{75C88042-5BE4-40E1-820C-175EC6B29403}"/>
              </a:ext>
            </a:extLst>
          </p:cNvPr>
          <p:cNvSpPr>
            <a:spLocks xmlns:a="http://schemas.openxmlformats.org/drawingml/2006/main" noGrp="1"/>
          </p:cNvSpPr>
          <p:nvPr/>
        </p:nvSpPr>
        <p:spPr>
          <a:xfrm xmlns:a="http://schemas.openxmlformats.org/drawingml/2006/main">
            <a:off x="1028700" y="3162300"/>
            <a:ext cx="7924800" cy="2038350"/>
          </a:xfrm>
          <a:prstGeom xmlns:a="http://schemas.openxmlformats.org/drawingml/2006/main" prst="roundRect">
            <a:avLst>
              <a:gd name="adj" fmla="val 11215"/>
            </a:avLst>
          </a:prstGeom>
          <a:solidFill xmlns:a="http://schemas.openxmlformats.org/drawingml/2006/main">
            <a:srgbClr val="E7F4F1"/>
          </a:solidFill>
          <a:ln xmlns:a="http://schemas.openxmlformats.org/drawingml/2006/main" w="14288">
            <a:solidFill>
              <a:srgbClr val="D8E0E9"/>
            </a:solidFill>
            <a:prstDash val="solid"/>
          </a:ln>
        </p:spPr>
      </p:sp>
      <p:sp>
        <p:nvSpPr>
          <p:cNvPr id="7" name="">
            <a:extLst xmlns:a="http://schemas.openxmlformats.org/drawingml/2006/main">
              <a:ext uri="{FF2B5EF4-FFF2-40B4-BE49-F238E27FC236}">
                <a16:creationId xmlns:a16="http://schemas.microsoft.com/office/drawing/2014/main" id="{E3970DB2-4372-4C98-AD44-F9BF638D272B}"/>
              </a:ext>
            </a:extLst>
          </p:cNvPr>
          <p:cNvSpPr>
            <a:spLocks xmlns:a="http://schemas.openxmlformats.org/drawingml/2006/main" noGrp="1"/>
          </p:cNvSpPr>
          <p:nvPr/>
        </p:nvSpPr>
        <p:spPr>
          <a:xfrm xmlns:a="http://schemas.openxmlformats.org/drawingml/2006/main">
            <a:off x="1295400" y="3409950"/>
            <a:ext cx="19621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6A4E566-59FB-48F3-8491-446A6BA148E4}"/>
              </a:ext>
            </a:extLst>
          </p:cNvPr>
          <p:cNvSpPr>
            <a:spLocks xmlns:a="http://schemas.openxmlformats.org/drawingml/2006/main" noGrp="1"/>
          </p:cNvSpPr>
          <p:nvPr/>
        </p:nvSpPr>
        <p:spPr>
          <a:xfrm xmlns:a="http://schemas.openxmlformats.org/drawingml/2006/main">
            <a:off x="1352550" y="3419475"/>
            <a:ext cx="18478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LIVE EVIDENCE</a:t>
            </a:r>
          </a:p>
        </p:txBody>
      </p:sp>
      <p:sp>
        <p:nvSpPr>
          <p:cNvPr id="9" name="">
            <a:extLst xmlns:a="http://schemas.openxmlformats.org/drawingml/2006/main">
              <a:ext uri="{FF2B5EF4-FFF2-40B4-BE49-F238E27FC236}">
                <a16:creationId xmlns:a16="http://schemas.microsoft.com/office/drawing/2014/main" id="{F19B0DE2-3EA3-4E8C-85A2-C8F24BAC50E5}"/>
              </a:ext>
            </a:extLst>
          </p:cNvPr>
          <p:cNvSpPr>
            <a:spLocks xmlns:a="http://schemas.openxmlformats.org/drawingml/2006/main" noGrp="1"/>
          </p:cNvSpPr>
          <p:nvPr/>
        </p:nvSpPr>
        <p:spPr>
          <a:xfrm xmlns:a="http://schemas.openxmlformats.org/drawingml/2006/main">
            <a:off x="1295400" y="4000500"/>
            <a:ext cx="739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75" b="1">
                <a:solidFill>
                  <a:srgbClr val="17263A"/>
                </a:solidFill>
                <a:latin typeface="프리텐다드"/>
                <a:ea typeface="프리텐다드"/>
                <a:cs typeface="프리텐다드"/>
              </a:defRPr>
            </a:pPr>
            <a:r>
              <a:rPr sz="2175" b="1">
                <a:solidFill>
                  <a:srgbClr val="17263A"/>
                </a:solidFill>
                <a:latin typeface="프리텐다드"/>
                <a:ea typeface="프리텐다드"/>
                <a:cs typeface="프리텐다드"/>
              </a:rPr>
              <a:t>실제 A → B</a:t>
            </a:r>
          </a:p>
        </p:txBody>
      </p:sp>
      <p:sp>
        <p:nvSpPr>
          <p:cNvPr id="10" name="">
            <a:extLst xmlns:a="http://schemas.openxmlformats.org/drawingml/2006/main">
              <a:ext uri="{FF2B5EF4-FFF2-40B4-BE49-F238E27FC236}">
                <a16:creationId xmlns:a16="http://schemas.microsoft.com/office/drawing/2014/main" id="{68B88382-5209-4B24-B767-6615CC8A2B5C}"/>
              </a:ext>
            </a:extLst>
          </p:cNvPr>
          <p:cNvSpPr>
            <a:spLocks xmlns:a="http://schemas.openxmlformats.org/drawingml/2006/main" noGrp="1"/>
          </p:cNvSpPr>
          <p:nvPr/>
        </p:nvSpPr>
        <p:spPr>
          <a:xfrm xmlns:a="http://schemas.openxmlformats.org/drawingml/2006/main">
            <a:off x="1295400" y="4495800"/>
            <a:ext cx="7391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1 합성 instance</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저장·독립 재조회 PASS</a:t>
            </a:r>
          </a:p>
        </p:txBody>
      </p:sp>
      <p:sp>
        <p:nvSpPr>
          <p:cNvPr id="11" name="">
            <a:extLst xmlns:a="http://schemas.openxmlformats.org/drawingml/2006/main">
              <a:ext uri="{FF2B5EF4-FFF2-40B4-BE49-F238E27FC236}">
                <a16:creationId xmlns:a16="http://schemas.microsoft.com/office/drawing/2014/main" id="{77A5E17D-32F6-4516-BCE8-B97EEEFDEAE1}"/>
              </a:ext>
            </a:extLst>
          </p:cNvPr>
          <p:cNvSpPr>
            <a:spLocks xmlns:a="http://schemas.openxmlformats.org/drawingml/2006/main" noGrp="1"/>
          </p:cNvSpPr>
          <p:nvPr/>
        </p:nvSpPr>
        <p:spPr>
          <a:xfrm xmlns:a="http://schemas.openxmlformats.org/drawingml/2006/main">
            <a:off x="9334500" y="3162300"/>
            <a:ext cx="7924800" cy="2038350"/>
          </a:xfrm>
          <a:prstGeom xmlns:a="http://schemas.openxmlformats.org/drawingml/2006/main" prst="roundRect">
            <a:avLst>
              <a:gd name="adj" fmla="val 11215"/>
            </a:avLst>
          </a:prstGeom>
          <a:solidFill xmlns:a="http://schemas.openxmlformats.org/drawingml/2006/main">
            <a:srgbClr val="E9F1FC"/>
          </a:solidFill>
          <a:ln xmlns:a="http://schemas.openxmlformats.org/drawingml/2006/main" w="14288">
            <a:solidFill>
              <a:srgbClr val="D8E0E9"/>
            </a:solidFill>
            <a:prstDash val="solid"/>
          </a:ln>
        </p:spPr>
      </p:sp>
      <p:sp>
        <p:nvSpPr>
          <p:cNvPr id="12" name="">
            <a:extLst xmlns:a="http://schemas.openxmlformats.org/drawingml/2006/main">
              <a:ext uri="{FF2B5EF4-FFF2-40B4-BE49-F238E27FC236}">
                <a16:creationId xmlns:a16="http://schemas.microsoft.com/office/drawing/2014/main" id="{AFCB1558-87E8-41A8-A849-642CA66626D6}"/>
              </a:ext>
            </a:extLst>
          </p:cNvPr>
          <p:cNvSpPr>
            <a:spLocks xmlns:a="http://schemas.openxmlformats.org/drawingml/2006/main" noGrp="1"/>
          </p:cNvSpPr>
          <p:nvPr/>
        </p:nvSpPr>
        <p:spPr>
          <a:xfrm xmlns:a="http://schemas.openxmlformats.org/drawingml/2006/main">
            <a:off x="9601200" y="3409950"/>
            <a:ext cx="19621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8B44030-9093-4E20-9964-61306559E9EF}"/>
              </a:ext>
            </a:extLst>
          </p:cNvPr>
          <p:cNvSpPr>
            <a:spLocks xmlns:a="http://schemas.openxmlformats.org/drawingml/2006/main" noGrp="1"/>
          </p:cNvSpPr>
          <p:nvPr/>
        </p:nvSpPr>
        <p:spPr>
          <a:xfrm xmlns:a="http://schemas.openxmlformats.org/drawingml/2006/main">
            <a:off x="9658350" y="3419475"/>
            <a:ext cx="18478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VIEWER TEST</a:t>
            </a:r>
          </a:p>
        </p:txBody>
      </p:sp>
      <p:sp>
        <p:nvSpPr>
          <p:cNvPr id="14" name="">
            <a:extLst xmlns:a="http://schemas.openxmlformats.org/drawingml/2006/main">
              <a:ext uri="{FF2B5EF4-FFF2-40B4-BE49-F238E27FC236}">
                <a16:creationId xmlns:a16="http://schemas.microsoft.com/office/drawing/2014/main" id="{D546A24A-A4B3-4C08-A508-C05695A55729}"/>
              </a:ext>
            </a:extLst>
          </p:cNvPr>
          <p:cNvSpPr>
            <a:spLocks xmlns:a="http://schemas.openxmlformats.org/drawingml/2006/main" noGrp="1"/>
          </p:cNvSpPr>
          <p:nvPr/>
        </p:nvSpPr>
        <p:spPr>
          <a:xfrm xmlns:a="http://schemas.openxmlformats.org/drawingml/2006/main">
            <a:off x="9601200" y="4000500"/>
            <a:ext cx="739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75" b="1">
                <a:solidFill>
                  <a:srgbClr val="17263A"/>
                </a:solidFill>
                <a:latin typeface="프리텐다드"/>
                <a:ea typeface="프리텐다드"/>
                <a:cs typeface="프리텐다드"/>
              </a:defRPr>
            </a:pPr>
            <a:r>
              <a:rPr sz="2175" b="1">
                <a:solidFill>
                  <a:srgbClr val="17263A"/>
                </a:solidFill>
                <a:latin typeface="프리텐다드"/>
                <a:ea typeface="프리텐다드"/>
                <a:cs typeface="프리텐다드"/>
              </a:rPr>
              <a:t>영상 목록 조회</a:t>
            </a:r>
          </a:p>
        </p:txBody>
      </p:sp>
      <p:sp>
        <p:nvSpPr>
          <p:cNvPr id="15" name="">
            <a:extLst xmlns:a="http://schemas.openxmlformats.org/drawingml/2006/main">
              <a:ext uri="{FF2B5EF4-FFF2-40B4-BE49-F238E27FC236}">
                <a16:creationId xmlns:a16="http://schemas.microsoft.com/office/drawing/2014/main" id="{BC1BD27A-21A0-4E53-B1C8-74E53417FCB0}"/>
              </a:ext>
            </a:extLst>
          </p:cNvPr>
          <p:cNvSpPr>
            <a:spLocks xmlns:a="http://schemas.openxmlformats.org/drawingml/2006/main" noGrp="1"/>
          </p:cNvSpPr>
          <p:nvPr/>
        </p:nvSpPr>
        <p:spPr>
          <a:xfrm xmlns:a="http://schemas.openxmlformats.org/drawingml/2006/main">
            <a:off x="9601200" y="4495800"/>
            <a:ext cx="7391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700 synthetic instances 목록</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Viewer slice 1 표시 PASS</a:t>
            </a:r>
          </a:p>
        </p:txBody>
      </p:sp>
      <p:sp>
        <p:nvSpPr>
          <p:cNvPr id="16" name="">
            <a:extLst xmlns:a="http://schemas.openxmlformats.org/drawingml/2006/main">
              <a:ext uri="{FF2B5EF4-FFF2-40B4-BE49-F238E27FC236}">
                <a16:creationId xmlns:a16="http://schemas.microsoft.com/office/drawing/2014/main" id="{703D8501-0A66-42CA-AFE7-45984A3024F0}"/>
              </a:ext>
            </a:extLst>
          </p:cNvPr>
          <p:cNvSpPr>
            <a:spLocks xmlns:a="http://schemas.openxmlformats.org/drawingml/2006/main" noGrp="1"/>
          </p:cNvSpPr>
          <p:nvPr/>
        </p:nvSpPr>
        <p:spPr>
          <a:xfrm xmlns:a="http://schemas.openxmlformats.org/drawingml/2006/main">
            <a:off x="1028700" y="5562600"/>
            <a:ext cx="7924800" cy="2038350"/>
          </a:xfrm>
          <a:prstGeom xmlns:a="http://schemas.openxmlformats.org/drawingml/2006/main" prst="roundRect">
            <a:avLst>
              <a:gd name="adj" fmla="val 11215"/>
            </a:avLst>
          </a:prstGeom>
          <a:solidFill xmlns:a="http://schemas.openxmlformats.org/drawingml/2006/main">
            <a:srgbClr val="FFFFFF"/>
          </a:solidFill>
          <a:ln xmlns:a="http://schemas.openxmlformats.org/drawingml/2006/main" w="14288">
            <a:solidFill>
              <a:srgbClr val="D8E0E9"/>
            </a:solidFill>
            <a:prstDash val="solid"/>
          </a:ln>
        </p:spPr>
      </p:sp>
      <p:sp>
        <p:nvSpPr>
          <p:cNvPr id="17" name="">
            <a:extLst xmlns:a="http://schemas.openxmlformats.org/drawingml/2006/main">
              <a:ext uri="{FF2B5EF4-FFF2-40B4-BE49-F238E27FC236}">
                <a16:creationId xmlns:a16="http://schemas.microsoft.com/office/drawing/2014/main" id="{17EFD035-E5E6-4D99-96BA-64225F9891AB}"/>
              </a:ext>
            </a:extLst>
          </p:cNvPr>
          <p:cNvSpPr>
            <a:spLocks xmlns:a="http://schemas.openxmlformats.org/drawingml/2006/main" noGrp="1"/>
          </p:cNvSpPr>
          <p:nvPr/>
        </p:nvSpPr>
        <p:spPr>
          <a:xfrm xmlns:a="http://schemas.openxmlformats.org/drawingml/2006/main">
            <a:off x="1295400" y="5810250"/>
            <a:ext cx="19621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CD3D1EB-1E95-46AA-8B46-BCCC6BFBAAD3}"/>
              </a:ext>
            </a:extLst>
          </p:cNvPr>
          <p:cNvSpPr>
            <a:spLocks xmlns:a="http://schemas.openxmlformats.org/drawingml/2006/main" noGrp="1"/>
          </p:cNvSpPr>
          <p:nvPr/>
        </p:nvSpPr>
        <p:spPr>
          <a:xfrm xmlns:a="http://schemas.openxmlformats.org/drawingml/2006/main">
            <a:off x="1352550" y="5819775"/>
            <a:ext cx="18478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AUTOMATION</a:t>
            </a:r>
          </a:p>
        </p:txBody>
      </p:sp>
      <p:sp>
        <p:nvSpPr>
          <p:cNvPr id="19" name="">
            <a:extLst xmlns:a="http://schemas.openxmlformats.org/drawingml/2006/main">
              <a:ext uri="{FF2B5EF4-FFF2-40B4-BE49-F238E27FC236}">
                <a16:creationId xmlns:a16="http://schemas.microsoft.com/office/drawing/2014/main" id="{A096A675-7D04-4005-A44D-D38F935A4EF2}"/>
              </a:ext>
            </a:extLst>
          </p:cNvPr>
          <p:cNvSpPr>
            <a:spLocks xmlns:a="http://schemas.openxmlformats.org/drawingml/2006/main" noGrp="1"/>
          </p:cNvSpPr>
          <p:nvPr/>
        </p:nvSpPr>
        <p:spPr>
          <a:xfrm xmlns:a="http://schemas.openxmlformats.org/drawingml/2006/main">
            <a:off x="1295400" y="6400800"/>
            <a:ext cx="739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75" b="1">
                <a:solidFill>
                  <a:srgbClr val="17263A"/>
                </a:solidFill>
                <a:latin typeface="프리텐다드"/>
                <a:ea typeface="프리텐다드"/>
                <a:cs typeface="프리텐다드"/>
              </a:defRPr>
            </a:pPr>
            <a:r>
              <a:rPr sz="2175" b="1">
                <a:solidFill>
                  <a:srgbClr val="17263A"/>
                </a:solidFill>
                <a:latin typeface="프리텐다드"/>
                <a:ea typeface="프리텐다드"/>
                <a:cs typeface="프리텐다드"/>
              </a:rPr>
              <a:t>단건 검증 자동화</a:t>
            </a:r>
          </a:p>
        </p:txBody>
      </p:sp>
      <p:sp>
        <p:nvSpPr>
          <p:cNvPr id="20" name="">
            <a:extLst xmlns:a="http://schemas.openxmlformats.org/drawingml/2006/main">
              <a:ext uri="{FF2B5EF4-FFF2-40B4-BE49-F238E27FC236}">
                <a16:creationId xmlns:a16="http://schemas.microsoft.com/office/drawing/2014/main" id="{37955E44-2227-4DBF-95FD-56F9B06FC798}"/>
              </a:ext>
            </a:extLst>
          </p:cNvPr>
          <p:cNvSpPr>
            <a:spLocks xmlns:a="http://schemas.openxmlformats.org/drawingml/2006/main" noGrp="1"/>
          </p:cNvSpPr>
          <p:nvPr/>
        </p:nvSpPr>
        <p:spPr>
          <a:xfrm xmlns:a="http://schemas.openxmlformats.org/drawingml/2006/main">
            <a:off x="1295400" y="6896100"/>
            <a:ext cx="7391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Node 55/55</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검증·증거 테스트 13/13 PASS</a:t>
            </a:r>
          </a:p>
        </p:txBody>
      </p:sp>
      <p:sp>
        <p:nvSpPr>
          <p:cNvPr id="21" name="">
            <a:extLst xmlns:a="http://schemas.openxmlformats.org/drawingml/2006/main">
              <a:ext uri="{FF2B5EF4-FFF2-40B4-BE49-F238E27FC236}">
                <a16:creationId xmlns:a16="http://schemas.microsoft.com/office/drawing/2014/main" id="{E9A74F3C-5334-4EEE-B39C-8132DAECDB8D}"/>
              </a:ext>
            </a:extLst>
          </p:cNvPr>
          <p:cNvSpPr>
            <a:spLocks xmlns:a="http://schemas.openxmlformats.org/drawingml/2006/main" noGrp="1"/>
          </p:cNvSpPr>
          <p:nvPr/>
        </p:nvSpPr>
        <p:spPr>
          <a:xfrm xmlns:a="http://schemas.openxmlformats.org/drawingml/2006/main">
            <a:off x="9334500" y="5562600"/>
            <a:ext cx="7924800" cy="2038350"/>
          </a:xfrm>
          <a:prstGeom xmlns:a="http://schemas.openxmlformats.org/drawingml/2006/main" prst="roundRect">
            <a:avLst>
              <a:gd name="adj" fmla="val 11215"/>
            </a:avLst>
          </a:prstGeom>
          <a:solidFill xmlns:a="http://schemas.openxmlformats.org/drawingml/2006/main">
            <a:srgbClr val="FBF4E5"/>
          </a:solidFill>
          <a:ln xmlns:a="http://schemas.openxmlformats.org/drawingml/2006/main" w="14288">
            <a:solidFill>
              <a:srgbClr val="D8E0E9"/>
            </a:solidFill>
            <a:prstDash val="solid"/>
          </a:ln>
        </p:spPr>
      </p:sp>
      <p:sp>
        <p:nvSpPr>
          <p:cNvPr id="22" name="">
            <a:extLst xmlns:a="http://schemas.openxmlformats.org/drawingml/2006/main">
              <a:ext uri="{FF2B5EF4-FFF2-40B4-BE49-F238E27FC236}">
                <a16:creationId xmlns:a16="http://schemas.microsoft.com/office/drawing/2014/main" id="{1BA113CB-EE95-431E-B8DA-893EC597D7C4}"/>
              </a:ext>
            </a:extLst>
          </p:cNvPr>
          <p:cNvSpPr>
            <a:spLocks xmlns:a="http://schemas.openxmlformats.org/drawingml/2006/main" noGrp="1"/>
          </p:cNvSpPr>
          <p:nvPr/>
        </p:nvSpPr>
        <p:spPr>
          <a:xfrm xmlns:a="http://schemas.openxmlformats.org/drawingml/2006/main">
            <a:off x="9601200" y="5810250"/>
            <a:ext cx="1962150" cy="40005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992D17E-E43B-412B-9549-987D7B95D1F6}"/>
              </a:ext>
            </a:extLst>
          </p:cNvPr>
          <p:cNvSpPr>
            <a:spLocks xmlns:a="http://schemas.openxmlformats.org/drawingml/2006/main" noGrp="1"/>
          </p:cNvSpPr>
          <p:nvPr/>
        </p:nvSpPr>
        <p:spPr>
          <a:xfrm xmlns:a="http://schemas.openxmlformats.org/drawingml/2006/main">
            <a:off x="9658350" y="5819775"/>
            <a:ext cx="18478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STORE WORKFLOW</a:t>
            </a:r>
          </a:p>
        </p:txBody>
      </p:sp>
      <p:sp>
        <p:nvSpPr>
          <p:cNvPr id="24" name="">
            <a:extLst xmlns:a="http://schemas.openxmlformats.org/drawingml/2006/main">
              <a:ext uri="{FF2B5EF4-FFF2-40B4-BE49-F238E27FC236}">
                <a16:creationId xmlns:a16="http://schemas.microsoft.com/office/drawing/2014/main" id="{88504652-B9A2-4B7E-B7D1-1058D62D7EEE}"/>
              </a:ext>
            </a:extLst>
          </p:cNvPr>
          <p:cNvSpPr>
            <a:spLocks xmlns:a="http://schemas.openxmlformats.org/drawingml/2006/main" noGrp="1"/>
          </p:cNvSpPr>
          <p:nvPr/>
        </p:nvSpPr>
        <p:spPr>
          <a:xfrm xmlns:a="http://schemas.openxmlformats.org/drawingml/2006/main">
            <a:off x="9601200" y="6400800"/>
            <a:ext cx="739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175" b="1">
                <a:solidFill>
                  <a:srgbClr val="17263A"/>
                </a:solidFill>
                <a:latin typeface="프리텐다드"/>
                <a:ea typeface="프리텐다드"/>
                <a:cs typeface="프리텐다드"/>
              </a:defRPr>
            </a:pPr>
            <a:r>
              <a:rPr sz="2175" b="1">
                <a:solidFill>
                  <a:srgbClr val="17263A"/>
                </a:solidFill>
                <a:latin typeface="프리텐다드"/>
                <a:ea typeface="프리텐다드"/>
                <a:cs typeface="프리텐다드"/>
              </a:rPr>
              <a:t>보관 UI 검증</a:t>
            </a:r>
          </a:p>
        </p:txBody>
      </p:sp>
      <p:sp>
        <p:nvSpPr>
          <p:cNvPr id="25" name="">
            <a:extLst xmlns:a="http://schemas.openxmlformats.org/drawingml/2006/main">
              <a:ext uri="{FF2B5EF4-FFF2-40B4-BE49-F238E27FC236}">
                <a16:creationId xmlns:a16="http://schemas.microsoft.com/office/drawing/2014/main" id="{644847FC-3200-4BCD-A486-E98870B237E7}"/>
              </a:ext>
            </a:extLst>
          </p:cNvPr>
          <p:cNvSpPr>
            <a:spLocks xmlns:a="http://schemas.openxmlformats.org/drawingml/2006/main" noGrp="1"/>
          </p:cNvSpPr>
          <p:nvPr/>
        </p:nvSpPr>
        <p:spPr>
          <a:xfrm xmlns:a="http://schemas.openxmlformats.org/drawingml/2006/main">
            <a:off x="9601200" y="6896100"/>
            <a:ext cx="7391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14개 파일 · 93 tests PASS</a:t>
            </a:r>
          </a:p>
          <a:p xmlns:a="http://schemas.openxmlformats.org/drawingml/2006/main">
            <a:pPr algn="l">
              <a:defRPr sz="1575" b="0">
                <a:solidFill>
                  <a:srgbClr val="53657B"/>
                </a:solidFill>
                <a:latin typeface="프리텐다드"/>
                <a:ea typeface="프리텐다드"/>
                <a:cs typeface="프리텐다드"/>
              </a:defRPr>
            </a:pPr>
            <a:r>
              <a:rPr sz="1575" b="0">
                <a:solidFill>
                  <a:srgbClr val="53657B"/>
                </a:solidFill>
                <a:latin typeface="프리텐다드"/>
                <a:ea typeface="프리텐다드"/>
                <a:cs typeface="프리텐다드"/>
              </a:rPr>
              <a:t>1/1 PACS job receipt 확인</a:t>
            </a:r>
          </a:p>
        </p:txBody>
      </p:sp>
      <p:sp>
        <p:nvSpPr>
          <p:cNvPr id="26" name="">
            <a:extLst xmlns:a="http://schemas.openxmlformats.org/drawingml/2006/main">
              <a:ext uri="{FF2B5EF4-FFF2-40B4-BE49-F238E27FC236}">
                <a16:creationId xmlns:a16="http://schemas.microsoft.com/office/drawing/2014/main" id="{C2D81BB3-DA67-49CA-B2E7-4C1775001898}"/>
              </a:ext>
            </a:extLst>
          </p:cNvPr>
          <p:cNvSpPr>
            <a:spLocks xmlns:a="http://schemas.openxmlformats.org/drawingml/2006/main" noGrp="1"/>
          </p:cNvSpPr>
          <p:nvPr/>
        </p:nvSpPr>
        <p:spPr>
          <a:xfrm xmlns:a="http://schemas.openxmlformats.org/drawingml/2006/main">
            <a:off x="1028700" y="8058150"/>
            <a:ext cx="16230600" cy="819150"/>
          </a:xfrm>
          <a:prstGeom xmlns:a="http://schemas.openxmlformats.org/drawingml/2006/main" prst="roundRect">
            <a:avLst>
              <a:gd name="adj" fmla="val 23256"/>
            </a:avLst>
          </a:prstGeom>
          <a:solidFill xmlns:a="http://schemas.openxmlformats.org/drawingml/2006/main">
            <a:srgbClr val="0B2342"/>
          </a:solidFill>
          <a:ln xmlns:a="http://schemas.openxmlformats.org/drawingml/2006/main" w="14288">
            <a:solidFill>
              <a:srgbClr val="0B2342"/>
            </a:solidFill>
            <a:prstDash val="solid"/>
          </a:ln>
        </p:spPr>
      </p:sp>
      <p:sp>
        <p:nvSpPr>
          <p:cNvPr id="27" name="">
            <a:extLst xmlns:a="http://schemas.openxmlformats.org/drawingml/2006/main">
              <a:ext uri="{FF2B5EF4-FFF2-40B4-BE49-F238E27FC236}">
                <a16:creationId xmlns:a16="http://schemas.microsoft.com/office/drawing/2014/main" id="{09B5007E-1182-45AC-B2CC-AFCE99A64C85}"/>
              </a:ext>
            </a:extLst>
          </p:cNvPr>
          <p:cNvSpPr>
            <a:spLocks xmlns:a="http://schemas.openxmlformats.org/drawingml/2006/main" noGrp="1"/>
          </p:cNvSpPr>
          <p:nvPr/>
        </p:nvSpPr>
        <p:spPr>
          <a:xfrm xmlns:a="http://schemas.openxmlformats.org/drawingml/2006/main">
            <a:off x="1257300" y="8162925"/>
            <a:ext cx="15773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1800" b="1">
                <a:solidFill>
                  <a:srgbClr val="FFFFFF"/>
                </a:solidFill>
                <a:latin typeface="프리텐다드"/>
                <a:ea typeface="프리텐다드"/>
                <a:cs typeface="프리텐다드"/>
              </a:defRPr>
            </a:pPr>
            <a:r>
              <a:rPr sz="1800" b="1">
                <a:solidFill>
                  <a:srgbClr val="FFFFFF"/>
                </a:solidFill>
                <a:latin typeface="프리텐다드"/>
                <a:ea typeface="프리텐다드"/>
                <a:cs typeface="프리텐다드"/>
              </a:rPr>
              <a:t>각 결과는 서로 다른 시험 범위입니다. 숫자를 합산하지 않습니다. 700장 실제 전송은 아직 NOT VERIFIED.</a:t>
            </a:r>
          </a:p>
        </p:txBody>
      </p:sp>
      <p:sp>
        <p:nvSpPr>
          <p:cNvPr id="28" name="">
            <a:extLst xmlns:a="http://schemas.openxmlformats.org/drawingml/2006/main">
              <a:ext uri="{FF2B5EF4-FFF2-40B4-BE49-F238E27FC236}">
                <a16:creationId xmlns:a16="http://schemas.microsoft.com/office/drawing/2014/main" id="{81285445-F8D2-48CE-A5CD-1F2AD0A3E179}"/>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41CA174-AD27-4F8F-A5B0-958F0BA880FB}"/>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30" name="">
            <a:extLst xmlns:a="http://schemas.openxmlformats.org/drawingml/2006/main">
              <a:ext uri="{FF2B5EF4-FFF2-40B4-BE49-F238E27FC236}">
                <a16:creationId xmlns:a16="http://schemas.microsoft.com/office/drawing/2014/main" id="{81593D6D-C970-4F43-8A98-C446300BBBCB}"/>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20  /  22</a:t>
            </a:r>
          </a:p>
        </p:txBody>
      </p:sp>
      <p:pic xmlns:a="http://schemas.openxmlformats.org/drawingml/2006/main" xmlns:r="http://schemas.openxmlformats.org/officeDocument/2006/relationships">
        <p:nvPicPr>
          <p:cNvPr id="32" name="Picture 31" descr="07_clinician_dicom_viewer.png"/>
          <p:cNvPicPr>
            <a:picLocks noChangeAspect="1"/>
          </p:cNvPicPr>
          <p:nvPr/>
        </p:nvPicPr>
        <p:blipFill>
          <a:blip r:embed="rId3"/>
          <a:stretch>
            <a:fillRect/>
          </a:stretch>
        </p:blipFill>
        <p:spPr>
          <a:xfrm>
            <a:off x="11430000" y="3017520"/>
            <a:ext cx="5669280" cy="4034933"/>
          </a:xfrm>
          <a:prstGeom prst="rect">
            <a:avLst/>
          </a:prstGeom>
        </p:spPr>
      </p:pic>
      <p:pic xmlns:a="http://schemas.openxmlformats.org/drawingml/2006/main" xmlns:r="http://schemas.openxmlformats.org/officeDocument/2006/relationships">
        <p:nvPicPr>
          <p:cNvPr id="33" name="Picture 32" descr="05_health_helper_rag.png"/>
          <p:cNvPicPr>
            <a:picLocks noChangeAspect="1"/>
          </p:cNvPicPr>
          <p:nvPr/>
        </p:nvPicPr>
        <p:blipFill>
          <a:blip r:embed="rId4"/>
          <a:stretch>
            <a:fillRect/>
          </a:stretch>
        </p:blipFill>
        <p:spPr>
          <a:xfrm>
            <a:off x="12618720" y="5486400"/>
            <a:ext cx="4114800" cy="4243388"/>
          </a:xfrm>
          <a:prstGeom prst="rect">
            <a:avLst/>
          </a:prstGeom>
        </p:spPr>
      </p:pic>
    </p:spTree>
    <p:extLst>
      <p:ext uri="{BB962C8B-B14F-4D97-AF65-F5344CB8AC3E}">
        <p14:creationId xmlns:p14="http://schemas.microsoft.com/office/powerpoint/2010/main" val="3627457002"/>
      </p:ext>
    </p:extLst>
  </p:cSld>
</p:sld>
</file>

<file path=ppt/slides/slide21.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95E18820-712F-4394-99B9-44E151E36134}"/>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727444B-BDAB-4C16-A318-C9A03766E380}"/>
              </a:ext>
            </a:extLst>
          </p:cNvPr>
          <p:cNvSpPr>
            <a:spLocks xmlns:a="http://schemas.openxmlformats.org/drawingml/2006/main" noGrp="1"/>
          </p:cNvSpPr>
          <p:nvPr/>
        </p:nvSpPr>
        <p:spPr>
          <a:xfrm xmlns:a="http://schemas.openxmlformats.org/drawingml/2006/main">
            <a:off x="0" y="0"/>
            <a:ext cx="18288000" cy="2457450"/>
          </a:xfrm>
          <a:prstGeom xmlns:a="http://schemas.openxmlformats.org/drawingml/2006/main" prst="rect">
            <a:avLst/>
          </a:prstGeom>
          <a:solidFill xmlns:a="http://schemas.openxmlformats.org/drawingml/2006/main">
            <a:srgbClr val="F3F6FA"/>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221F33-C12C-4EAF-90AF-991C9F24DB13}"/>
              </a:ext>
            </a:extLst>
          </p:cNvPr>
          <p:cNvSpPr>
            <a:spLocks xmlns:a="http://schemas.openxmlformats.org/drawingml/2006/main" noGrp="1"/>
          </p:cNvSpPr>
          <p:nvPr/>
        </p:nvSpPr>
        <p:spPr>
          <a:xfrm xmlns:a="http://schemas.openxmlformats.org/drawingml/2006/main">
            <a:off x="1028700" y="723900"/>
            <a:ext cx="76200" cy="1257300"/>
          </a:xfrm>
          <a:prstGeom xmlns:a="http://schemas.openxmlformats.org/drawingml/2006/main" prst="rect">
            <a:avLst/>
          </a:prstGeom>
          <a:solidFill xmlns:a="http://schemas.openxmlformats.org/drawingml/2006/main">
            <a:srgbClr val="2F68B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3FC6984-89A4-4F22-97E5-6EBE388877D6}"/>
              </a:ext>
            </a:extLst>
          </p:cNvPr>
          <p:cNvSpPr>
            <a:spLocks xmlns:a="http://schemas.openxmlformats.org/drawingml/2006/main" noGrp="1"/>
          </p:cNvSpPr>
          <p:nvPr/>
        </p:nvSpPr>
        <p:spPr>
          <a:xfrm xmlns:a="http://schemas.openxmlformats.org/drawingml/2006/main">
            <a:off x="1428750" y="590550"/>
            <a:ext cx="1524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575" b="1">
                <a:solidFill>
                  <a:srgbClr val="2F68B5"/>
                </a:solidFill>
                <a:latin typeface="프리텐다드"/>
                <a:ea typeface="프리텐다드"/>
                <a:cs typeface="프리텐다드"/>
              </a:defRPr>
            </a:pPr>
            <a:r>
              <a:rPr sz="1575" b="1">
                <a:solidFill>
                  <a:srgbClr val="2F68B5"/>
                </a:solidFill>
                <a:latin typeface="프리텐다드"/>
                <a:ea typeface="프리텐다드"/>
                <a:cs typeface="프리텐다드"/>
              </a:rPr>
              <a:t>NEXT GATES</a:t>
            </a:r>
          </a:p>
        </p:txBody>
      </p:sp>
      <p:sp>
        <p:nvSpPr>
          <p:cNvPr id="5" name="">
            <a:extLst xmlns:a="http://schemas.openxmlformats.org/drawingml/2006/main">
              <a:ext uri="{FF2B5EF4-FFF2-40B4-BE49-F238E27FC236}">
                <a16:creationId xmlns:a16="http://schemas.microsoft.com/office/drawing/2014/main" id="{7899FFAE-F9F8-416C-A706-5292B182947A}"/>
              </a:ext>
            </a:extLst>
          </p:cNvPr>
          <p:cNvSpPr>
            <a:spLocks xmlns:a="http://schemas.openxmlformats.org/drawingml/2006/main" noGrp="1"/>
          </p:cNvSpPr>
          <p:nvPr/>
        </p:nvSpPr>
        <p:spPr>
          <a:xfrm xmlns:a="http://schemas.openxmlformats.org/drawingml/2006/main">
            <a:off x="1428750" y="962025"/>
            <a:ext cx="15716250" cy="1314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4200" b="1">
                <a:solidFill>
                  <a:srgbClr val="17263A"/>
                </a:solidFill>
                <a:latin typeface="프리텐다드"/>
                <a:ea typeface="프리텐다드"/>
                <a:cs typeface="프리텐다드"/>
              </a:defRPr>
            </a:pPr>
            <a:r>
              <a:rPr sz="4200" b="1">
                <a:solidFill>
                  <a:srgbClr val="17263A"/>
                </a:solidFill>
                <a:latin typeface="프리텐다드"/>
                <a:ea typeface="프리텐다드"/>
                <a:cs typeface="프리텐다드"/>
              </a:rPr>
              <a:t>다음은 더 큰 주장보다, 더 넓은 검증</a:t>
            </a:r>
          </a:p>
        </p:txBody>
      </p:sp>
      <p:sp>
        <p:nvSpPr>
          <p:cNvPr id="6" name="">
            <a:extLst xmlns:a="http://schemas.openxmlformats.org/drawingml/2006/main">
              <a:ext uri="{FF2B5EF4-FFF2-40B4-BE49-F238E27FC236}">
                <a16:creationId xmlns:a16="http://schemas.microsoft.com/office/drawing/2014/main" id="{B033A9F0-BE6F-44D7-B996-5272584A0086}"/>
              </a:ext>
            </a:extLst>
          </p:cNvPr>
          <p:cNvSpPr>
            <a:spLocks xmlns:a="http://schemas.openxmlformats.org/drawingml/2006/main" noGrp="1"/>
          </p:cNvSpPr>
          <p:nvPr/>
        </p:nvSpPr>
        <p:spPr>
          <a:xfrm xmlns:a="http://schemas.openxmlformats.org/drawingml/2006/main">
            <a:off x="1028700" y="3676650"/>
            <a:ext cx="3714750" cy="3429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8E0E9"/>
            </a:solidFill>
            <a:prstDash val="solid"/>
          </a:ln>
        </p:spPr>
      </p:sp>
      <p:sp>
        <p:nvSpPr>
          <p:cNvPr id="7" name="">
            <a:extLst xmlns:a="http://schemas.openxmlformats.org/drawingml/2006/main">
              <a:ext uri="{FF2B5EF4-FFF2-40B4-BE49-F238E27FC236}">
                <a16:creationId xmlns:a16="http://schemas.microsoft.com/office/drawing/2014/main" id="{094BB749-E023-42A5-B8DC-95B3E669FDC4}"/>
              </a:ext>
            </a:extLst>
          </p:cNvPr>
          <p:cNvSpPr>
            <a:spLocks xmlns:a="http://schemas.openxmlformats.org/drawingml/2006/main" noGrp="1"/>
          </p:cNvSpPr>
          <p:nvPr/>
        </p:nvSpPr>
        <p:spPr>
          <a:xfrm xmlns:a="http://schemas.openxmlformats.org/drawingml/2006/main">
            <a:off x="1257300" y="3905250"/>
            <a:ext cx="15240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0942798-51C2-4A44-8BB2-1A1C7BC44AEE}"/>
              </a:ext>
            </a:extLst>
          </p:cNvPr>
          <p:cNvSpPr>
            <a:spLocks xmlns:a="http://schemas.openxmlformats.org/drawingml/2006/main" noGrp="1"/>
          </p:cNvSpPr>
          <p:nvPr/>
        </p:nvSpPr>
        <p:spPr>
          <a:xfrm xmlns:a="http://schemas.openxmlformats.org/drawingml/2006/main">
            <a:off x="1314450" y="3914775"/>
            <a:ext cx="140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2F68B5"/>
                </a:solidFill>
                <a:latin typeface="프리텐다드"/>
                <a:ea typeface="프리텐다드"/>
                <a:cs typeface="프리텐다드"/>
              </a:defRPr>
            </a:pPr>
            <a:r>
              <a:rPr sz="1500" b="1">
                <a:solidFill>
                  <a:srgbClr val="2F68B5"/>
                </a:solidFill>
                <a:latin typeface="프리텐다드"/>
                <a:ea typeface="프리텐다드"/>
                <a:cs typeface="프리텐다드"/>
              </a:rPr>
              <a:t>GATE 01</a:t>
            </a:r>
          </a:p>
        </p:txBody>
      </p:sp>
      <p:sp>
        <p:nvSpPr>
          <p:cNvPr id="9" name="">
            <a:extLst xmlns:a="http://schemas.openxmlformats.org/drawingml/2006/main">
              <a:ext uri="{FF2B5EF4-FFF2-40B4-BE49-F238E27FC236}">
                <a16:creationId xmlns:a16="http://schemas.microsoft.com/office/drawing/2014/main" id="{639397C3-587D-420A-A2DD-D032134D1196}"/>
              </a:ext>
            </a:extLst>
          </p:cNvPr>
          <p:cNvSpPr>
            <a:spLocks xmlns:a="http://schemas.openxmlformats.org/drawingml/2006/main" noGrp="1"/>
          </p:cNvSpPr>
          <p:nvPr/>
        </p:nvSpPr>
        <p:spPr>
          <a:xfrm xmlns:a="http://schemas.openxmlformats.org/drawingml/2006/main">
            <a:off x="1257300" y="4572000"/>
            <a:ext cx="3257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250" b="1">
                <a:solidFill>
                  <a:srgbClr val="17263A"/>
                </a:solidFill>
                <a:latin typeface="프리텐다드"/>
                <a:ea typeface="프리텐다드"/>
                <a:cs typeface="프리텐다드"/>
              </a:defRPr>
            </a:pPr>
            <a:r>
              <a:rPr sz="2250" b="1">
                <a:solidFill>
                  <a:srgbClr val="17263A"/>
                </a:solidFill>
                <a:latin typeface="프리텐다드"/>
                <a:ea typeface="프리텐다드"/>
                <a:cs typeface="프리텐다드"/>
              </a:rPr>
              <a:t>700장 batch</a:t>
            </a:r>
          </a:p>
        </p:txBody>
      </p:sp>
      <p:sp>
        <p:nvSpPr>
          <p:cNvPr id="10" name="">
            <a:extLst xmlns:a="http://schemas.openxmlformats.org/drawingml/2006/main">
              <a:ext uri="{FF2B5EF4-FFF2-40B4-BE49-F238E27FC236}">
                <a16:creationId xmlns:a16="http://schemas.microsoft.com/office/drawing/2014/main" id="{68ADF9DD-5FA2-4F47-8B2B-C7E52FE8D627}"/>
              </a:ext>
            </a:extLst>
          </p:cNvPr>
          <p:cNvSpPr>
            <a:spLocks xmlns:a="http://schemas.openxmlformats.org/drawingml/2006/main" noGrp="1"/>
          </p:cNvSpPr>
          <p:nvPr/>
        </p:nvSpPr>
        <p:spPr>
          <a:xfrm xmlns:a="http://schemas.openxmlformats.org/drawingml/2006/main">
            <a:off x="1257300" y="5334000"/>
            <a:ext cx="3257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resume · idempotency</a:t>
            </a:r>
          </a:p>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중단 · 철회 · 만료</a:t>
            </a:r>
          </a:p>
        </p:txBody>
      </p:sp>
      <p:sp>
        <p:nvSpPr>
          <p:cNvPr id="11" name="">
            <a:extLst xmlns:a="http://schemas.openxmlformats.org/drawingml/2006/main">
              <a:ext uri="{FF2B5EF4-FFF2-40B4-BE49-F238E27FC236}">
                <a16:creationId xmlns:a16="http://schemas.microsoft.com/office/drawing/2014/main" id="{13BCB25C-46A2-4283-98E2-EEE2BF3B301A}"/>
              </a:ext>
            </a:extLst>
          </p:cNvPr>
          <p:cNvSpPr>
            <a:spLocks xmlns:a="http://schemas.openxmlformats.org/drawingml/2006/main" noGrp="1"/>
          </p:cNvSpPr>
          <p:nvPr/>
        </p:nvSpPr>
        <p:spPr>
          <a:xfrm xmlns:a="http://schemas.openxmlformats.org/drawingml/2006/main">
            <a:off x="5143500" y="3676650"/>
            <a:ext cx="3714750" cy="3429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8E0E9"/>
            </a:solidFill>
            <a:prstDash val="solid"/>
          </a:ln>
        </p:spPr>
      </p:sp>
      <p:sp>
        <p:nvSpPr>
          <p:cNvPr id="12" name="">
            <a:extLst xmlns:a="http://schemas.openxmlformats.org/drawingml/2006/main">
              <a:ext uri="{FF2B5EF4-FFF2-40B4-BE49-F238E27FC236}">
                <a16:creationId xmlns:a16="http://schemas.microsoft.com/office/drawing/2014/main" id="{570F6A64-EB1D-4EA7-99AC-2654C03E2BA9}"/>
              </a:ext>
            </a:extLst>
          </p:cNvPr>
          <p:cNvSpPr>
            <a:spLocks xmlns:a="http://schemas.openxmlformats.org/drawingml/2006/main" noGrp="1"/>
          </p:cNvSpPr>
          <p:nvPr/>
        </p:nvSpPr>
        <p:spPr>
          <a:xfrm xmlns:a="http://schemas.openxmlformats.org/drawingml/2006/main">
            <a:off x="5372100" y="3905250"/>
            <a:ext cx="15240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8D69D31D-4B96-4B33-9594-ABD94AEE0B1D}"/>
              </a:ext>
            </a:extLst>
          </p:cNvPr>
          <p:cNvSpPr>
            <a:spLocks xmlns:a="http://schemas.openxmlformats.org/drawingml/2006/main" noGrp="1"/>
          </p:cNvSpPr>
          <p:nvPr/>
        </p:nvSpPr>
        <p:spPr>
          <a:xfrm xmlns:a="http://schemas.openxmlformats.org/drawingml/2006/main">
            <a:off x="5429250" y="3914775"/>
            <a:ext cx="140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DCA83D"/>
                </a:solidFill>
                <a:latin typeface="프리텐다드"/>
                <a:ea typeface="프리텐다드"/>
                <a:cs typeface="프리텐다드"/>
              </a:defRPr>
            </a:pPr>
            <a:r>
              <a:rPr sz="1500" b="1">
                <a:solidFill>
                  <a:srgbClr val="DCA83D"/>
                </a:solidFill>
                <a:latin typeface="프리텐다드"/>
                <a:ea typeface="프리텐다드"/>
                <a:cs typeface="프리텐다드"/>
              </a:rPr>
              <a:t>GATE 02</a:t>
            </a:r>
          </a:p>
        </p:txBody>
      </p:sp>
      <p:sp>
        <p:nvSpPr>
          <p:cNvPr id="14" name="">
            <a:extLst xmlns:a="http://schemas.openxmlformats.org/drawingml/2006/main">
              <a:ext uri="{FF2B5EF4-FFF2-40B4-BE49-F238E27FC236}">
                <a16:creationId xmlns:a16="http://schemas.microsoft.com/office/drawing/2014/main" id="{6393539D-76D1-4B79-B6FA-E616E04A1CBC}"/>
              </a:ext>
            </a:extLst>
          </p:cNvPr>
          <p:cNvSpPr>
            <a:spLocks xmlns:a="http://schemas.openxmlformats.org/drawingml/2006/main" noGrp="1"/>
          </p:cNvSpPr>
          <p:nvPr/>
        </p:nvSpPr>
        <p:spPr>
          <a:xfrm xmlns:a="http://schemas.openxmlformats.org/drawingml/2006/main">
            <a:off x="5372100" y="4572000"/>
            <a:ext cx="3257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250" b="1">
                <a:solidFill>
                  <a:srgbClr val="17263A"/>
                </a:solidFill>
                <a:latin typeface="프리텐다드"/>
                <a:ea typeface="프리텐다드"/>
                <a:cs typeface="프리텐다드"/>
              </a:defRPr>
            </a:pPr>
            <a:r>
              <a:rPr sz="2250" b="1">
                <a:solidFill>
                  <a:srgbClr val="17263A"/>
                </a:solidFill>
                <a:latin typeface="프리텐다드"/>
                <a:ea typeface="프리텐다드"/>
                <a:cs typeface="프리텐다드"/>
              </a:rPr>
              <a:t>저장·복구</a:t>
            </a:r>
          </a:p>
        </p:txBody>
      </p:sp>
      <p:sp>
        <p:nvSpPr>
          <p:cNvPr id="15" name="">
            <a:extLst xmlns:a="http://schemas.openxmlformats.org/drawingml/2006/main">
              <a:ext uri="{FF2B5EF4-FFF2-40B4-BE49-F238E27FC236}">
                <a16:creationId xmlns:a16="http://schemas.microsoft.com/office/drawing/2014/main" id="{A84E7454-0CD2-417F-AEE6-2200E7ADA603}"/>
              </a:ext>
            </a:extLst>
          </p:cNvPr>
          <p:cNvSpPr>
            <a:spLocks xmlns:a="http://schemas.openxmlformats.org/drawingml/2006/main" noGrp="1"/>
          </p:cNvSpPr>
          <p:nvPr/>
        </p:nvSpPr>
        <p:spPr>
          <a:xfrm xmlns:a="http://schemas.openxmlformats.org/drawingml/2006/main">
            <a:off x="5372100" y="5334000"/>
            <a:ext cx="3257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LUKS↔PACS 경계</a:t>
            </a:r>
          </a:p>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재부팅 · 독립 Vault 복원</a:t>
            </a:r>
          </a:p>
        </p:txBody>
      </p:sp>
      <p:sp>
        <p:nvSpPr>
          <p:cNvPr id="16" name="">
            <a:extLst xmlns:a="http://schemas.openxmlformats.org/drawingml/2006/main">
              <a:ext uri="{FF2B5EF4-FFF2-40B4-BE49-F238E27FC236}">
                <a16:creationId xmlns:a16="http://schemas.microsoft.com/office/drawing/2014/main" id="{488E863B-45DD-4CAD-BFB0-24A7C58B6809}"/>
              </a:ext>
            </a:extLst>
          </p:cNvPr>
          <p:cNvSpPr>
            <a:spLocks xmlns:a="http://schemas.openxmlformats.org/drawingml/2006/main" noGrp="1"/>
          </p:cNvSpPr>
          <p:nvPr/>
        </p:nvSpPr>
        <p:spPr>
          <a:xfrm xmlns:a="http://schemas.openxmlformats.org/drawingml/2006/main">
            <a:off x="9258300" y="3676650"/>
            <a:ext cx="3714750" cy="3429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8E0E9"/>
            </a:solidFill>
            <a:prstDash val="solid"/>
          </a:ln>
        </p:spPr>
      </p:sp>
      <p:sp>
        <p:nvSpPr>
          <p:cNvPr id="17" name="">
            <a:extLst xmlns:a="http://schemas.openxmlformats.org/drawingml/2006/main">
              <a:ext uri="{FF2B5EF4-FFF2-40B4-BE49-F238E27FC236}">
                <a16:creationId xmlns:a16="http://schemas.microsoft.com/office/drawing/2014/main" id="{CD904941-6877-4B3D-A8AB-6371F218F4F2}"/>
              </a:ext>
            </a:extLst>
          </p:cNvPr>
          <p:cNvSpPr>
            <a:spLocks xmlns:a="http://schemas.openxmlformats.org/drawingml/2006/main" noGrp="1"/>
          </p:cNvSpPr>
          <p:nvPr/>
        </p:nvSpPr>
        <p:spPr>
          <a:xfrm xmlns:a="http://schemas.openxmlformats.org/drawingml/2006/main">
            <a:off x="9486900" y="3905250"/>
            <a:ext cx="15240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FFFCE3D-A5FB-4CC7-B3D1-F0F0A7462DFC}"/>
              </a:ext>
            </a:extLst>
          </p:cNvPr>
          <p:cNvSpPr>
            <a:spLocks xmlns:a="http://schemas.openxmlformats.org/drawingml/2006/main" noGrp="1"/>
          </p:cNvSpPr>
          <p:nvPr/>
        </p:nvSpPr>
        <p:spPr>
          <a:xfrm xmlns:a="http://schemas.openxmlformats.org/drawingml/2006/main">
            <a:off x="9544050" y="3914775"/>
            <a:ext cx="140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168B82"/>
                </a:solidFill>
                <a:latin typeface="프리텐다드"/>
                <a:ea typeface="프리텐다드"/>
                <a:cs typeface="프리텐다드"/>
              </a:defRPr>
            </a:pPr>
            <a:r>
              <a:rPr sz="1500" b="1">
                <a:solidFill>
                  <a:srgbClr val="168B82"/>
                </a:solidFill>
                <a:latin typeface="프리텐다드"/>
                <a:ea typeface="프리텐다드"/>
                <a:cs typeface="프리텐다드"/>
              </a:rPr>
              <a:t>GATE 03</a:t>
            </a:r>
          </a:p>
        </p:txBody>
      </p:sp>
      <p:sp>
        <p:nvSpPr>
          <p:cNvPr id="19" name="">
            <a:extLst xmlns:a="http://schemas.openxmlformats.org/drawingml/2006/main">
              <a:ext uri="{FF2B5EF4-FFF2-40B4-BE49-F238E27FC236}">
                <a16:creationId xmlns:a16="http://schemas.microsoft.com/office/drawing/2014/main" id="{70D3BF08-33C0-43EB-8F07-023D08C5D393}"/>
              </a:ext>
            </a:extLst>
          </p:cNvPr>
          <p:cNvSpPr>
            <a:spLocks xmlns:a="http://schemas.openxmlformats.org/drawingml/2006/main" noGrp="1"/>
          </p:cNvSpPr>
          <p:nvPr/>
        </p:nvSpPr>
        <p:spPr>
          <a:xfrm xmlns:a="http://schemas.openxmlformats.org/drawingml/2006/main">
            <a:off x="9486900" y="4572000"/>
            <a:ext cx="3257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250" b="1">
                <a:solidFill>
                  <a:srgbClr val="17263A"/>
                </a:solidFill>
                <a:latin typeface="프리텐다드"/>
                <a:ea typeface="프리텐다드"/>
                <a:cs typeface="프리텐다드"/>
              </a:defRPr>
            </a:pPr>
            <a:r>
              <a:rPr sz="2250" b="1">
                <a:solidFill>
                  <a:srgbClr val="17263A"/>
                </a:solidFill>
                <a:latin typeface="프리텐다드"/>
                <a:ea typeface="프리텐다드"/>
                <a:cs typeface="프리텐다드"/>
              </a:rPr>
              <a:t>관제 완성도</a:t>
            </a:r>
          </a:p>
        </p:txBody>
      </p:sp>
      <p:sp>
        <p:nvSpPr>
          <p:cNvPr id="20" name="">
            <a:extLst xmlns:a="http://schemas.openxmlformats.org/drawingml/2006/main">
              <a:ext uri="{FF2B5EF4-FFF2-40B4-BE49-F238E27FC236}">
                <a16:creationId xmlns:a16="http://schemas.microsoft.com/office/drawing/2014/main" id="{52B0C517-3A93-4280-BF67-52B6E52F07ED}"/>
              </a:ext>
            </a:extLst>
          </p:cNvPr>
          <p:cNvSpPr>
            <a:spLocks xmlns:a="http://schemas.openxmlformats.org/drawingml/2006/main" noGrp="1"/>
          </p:cNvSpPr>
          <p:nvPr/>
        </p:nvSpPr>
        <p:spPr>
          <a:xfrm xmlns:a="http://schemas.openxmlformats.org/drawingml/2006/main">
            <a:off x="9486900" y="5334000"/>
            <a:ext cx="3257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Entra 진단 설정</a:t>
            </a:r>
          </a:p>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운영자 인증 · 검색·보고</a:t>
            </a:r>
          </a:p>
        </p:txBody>
      </p:sp>
      <p:sp>
        <p:nvSpPr>
          <p:cNvPr id="21" name="">
            <a:extLst xmlns:a="http://schemas.openxmlformats.org/drawingml/2006/main">
              <a:ext uri="{FF2B5EF4-FFF2-40B4-BE49-F238E27FC236}">
                <a16:creationId xmlns:a16="http://schemas.microsoft.com/office/drawing/2014/main" id="{A35D48E8-2162-4DF7-99C1-9EC36227EB7F}"/>
              </a:ext>
            </a:extLst>
          </p:cNvPr>
          <p:cNvSpPr>
            <a:spLocks xmlns:a="http://schemas.openxmlformats.org/drawingml/2006/main" noGrp="1"/>
          </p:cNvSpPr>
          <p:nvPr/>
        </p:nvSpPr>
        <p:spPr>
          <a:xfrm xmlns:a="http://schemas.openxmlformats.org/drawingml/2006/main">
            <a:off x="13373100" y="3676650"/>
            <a:ext cx="3714750" cy="3429000"/>
          </a:xfrm>
          <a:prstGeom xmlns:a="http://schemas.openxmlformats.org/drawingml/2006/main" prst="roundRect">
            <a:avLst>
              <a:gd name="adj" fmla="val 6667"/>
            </a:avLst>
          </a:prstGeom>
          <a:solidFill xmlns:a="http://schemas.openxmlformats.org/drawingml/2006/main">
            <a:srgbClr val="FFFFFF"/>
          </a:solidFill>
          <a:ln xmlns:a="http://schemas.openxmlformats.org/drawingml/2006/main" w="14288">
            <a:solidFill>
              <a:srgbClr val="D8E0E9"/>
            </a:solidFill>
            <a:prstDash val="solid"/>
          </a:ln>
        </p:spPr>
      </p:sp>
      <p:sp>
        <p:nvSpPr>
          <p:cNvPr id="22" name="">
            <a:extLst xmlns:a="http://schemas.openxmlformats.org/drawingml/2006/main">
              <a:ext uri="{FF2B5EF4-FFF2-40B4-BE49-F238E27FC236}">
                <a16:creationId xmlns:a16="http://schemas.microsoft.com/office/drawing/2014/main" id="{A96C9588-2299-4E0B-9104-BA310B5A2513}"/>
              </a:ext>
            </a:extLst>
          </p:cNvPr>
          <p:cNvSpPr>
            <a:spLocks xmlns:a="http://schemas.openxmlformats.org/drawingml/2006/main" noGrp="1"/>
          </p:cNvSpPr>
          <p:nvPr/>
        </p:nvSpPr>
        <p:spPr>
          <a:xfrm xmlns:a="http://schemas.openxmlformats.org/drawingml/2006/main">
            <a:off x="13601700" y="3905250"/>
            <a:ext cx="1524000" cy="400050"/>
          </a:xfrm>
          <a:prstGeom xmlns:a="http://schemas.openxmlformats.org/drawingml/2006/main" prst="roundRect">
            <a:avLst>
              <a:gd name="adj" fmla="val 50000"/>
            </a:avLst>
          </a:prstGeom>
          <a:solidFill xmlns:a="http://schemas.openxmlformats.org/drawingml/2006/main">
            <a:srgbClr val="E9F1FC"/>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5793E2A-8E6C-4B9A-910F-A98D75D17225}"/>
              </a:ext>
            </a:extLst>
          </p:cNvPr>
          <p:cNvSpPr>
            <a:spLocks xmlns:a="http://schemas.openxmlformats.org/drawingml/2006/main" noGrp="1"/>
          </p:cNvSpPr>
          <p:nvPr/>
        </p:nvSpPr>
        <p:spPr>
          <a:xfrm xmlns:a="http://schemas.openxmlformats.org/drawingml/2006/main">
            <a:off x="13658850" y="3914775"/>
            <a:ext cx="14097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19050" tIns="38100" rIns="19050" bIns="38100" anchor="ctr">
            <a:normAutofit fontScale="100000"/>
          </a:bodyPr>
          <a:lstStyle xmlns:a="http://schemas.openxmlformats.org/drawingml/2006/main"/>
          <a:p xmlns:a="http://schemas.openxmlformats.org/drawingml/2006/main">
            <a:pPr algn="ctr">
              <a:defRPr sz="1500" b="1">
                <a:solidFill>
                  <a:srgbClr val="0B2342"/>
                </a:solidFill>
                <a:latin typeface="프리텐다드"/>
                <a:ea typeface="프리텐다드"/>
                <a:cs typeface="프리텐다드"/>
              </a:defRPr>
            </a:pPr>
            <a:r>
              <a:rPr sz="1500" b="1">
                <a:solidFill>
                  <a:srgbClr val="0B2342"/>
                </a:solidFill>
                <a:latin typeface="프리텐다드"/>
                <a:ea typeface="프리텐다드"/>
                <a:cs typeface="프리텐다드"/>
              </a:rPr>
              <a:t>GATE 04</a:t>
            </a:r>
          </a:p>
        </p:txBody>
      </p:sp>
      <p:sp>
        <p:nvSpPr>
          <p:cNvPr id="24" name="">
            <a:extLst xmlns:a="http://schemas.openxmlformats.org/drawingml/2006/main">
              <a:ext uri="{FF2B5EF4-FFF2-40B4-BE49-F238E27FC236}">
                <a16:creationId xmlns:a16="http://schemas.microsoft.com/office/drawing/2014/main" id="{08C8BDE3-04E8-4F04-B040-FB0A201CD178}"/>
              </a:ext>
            </a:extLst>
          </p:cNvPr>
          <p:cNvSpPr>
            <a:spLocks xmlns:a="http://schemas.openxmlformats.org/drawingml/2006/main" noGrp="1"/>
          </p:cNvSpPr>
          <p:nvPr/>
        </p:nvSpPr>
        <p:spPr>
          <a:xfrm xmlns:a="http://schemas.openxmlformats.org/drawingml/2006/main">
            <a:off x="13601700" y="4572000"/>
            <a:ext cx="32575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2250" b="1">
                <a:solidFill>
                  <a:srgbClr val="17263A"/>
                </a:solidFill>
                <a:latin typeface="프리텐다드"/>
                <a:ea typeface="프리텐다드"/>
                <a:cs typeface="프리텐다드"/>
              </a:defRPr>
            </a:pPr>
            <a:r>
              <a:rPr sz="2250" b="1">
                <a:solidFill>
                  <a:srgbClr val="17263A"/>
                </a:solidFill>
                <a:latin typeface="프리텐다드"/>
                <a:ea typeface="프리텐다드"/>
                <a:cs typeface="프리텐다드"/>
              </a:rPr>
              <a:t>운영 준비</a:t>
            </a:r>
          </a:p>
        </p:txBody>
      </p:sp>
      <p:sp>
        <p:nvSpPr>
          <p:cNvPr id="25" name="">
            <a:extLst xmlns:a="http://schemas.openxmlformats.org/drawingml/2006/main">
              <a:ext uri="{FF2B5EF4-FFF2-40B4-BE49-F238E27FC236}">
                <a16:creationId xmlns:a16="http://schemas.microsoft.com/office/drawing/2014/main" id="{FBB89D58-D10A-43B2-A4F0-6062DA3BB74E}"/>
              </a:ext>
            </a:extLst>
          </p:cNvPr>
          <p:cNvSpPr>
            <a:spLocks xmlns:a="http://schemas.openxmlformats.org/drawingml/2006/main" noGrp="1"/>
          </p:cNvSpPr>
          <p:nvPr/>
        </p:nvSpPr>
        <p:spPr>
          <a:xfrm xmlns:a="http://schemas.openxmlformats.org/drawingml/2006/main">
            <a:off x="13601700" y="5334000"/>
            <a:ext cx="32575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실병원 PACS·법무·보안</a:t>
            </a:r>
          </a:p>
          <a:p xmlns:a="http://schemas.openxmlformats.org/drawingml/2006/main">
            <a:pPr algn="l">
              <a:defRPr sz="1725" b="0">
                <a:solidFill>
                  <a:srgbClr val="53657B"/>
                </a:solidFill>
                <a:latin typeface="프리텐다드"/>
                <a:ea typeface="프리텐다드"/>
                <a:cs typeface="프리텐다드"/>
              </a:defRPr>
            </a:pPr>
            <a:r>
              <a:rPr sz="1725" b="0">
                <a:solidFill>
                  <a:srgbClr val="53657B"/>
                </a:solidFill>
                <a:latin typeface="프리텐다드"/>
                <a:ea typeface="프리텐다드"/>
                <a:cs typeface="프리텐다드"/>
              </a:rPr>
              <a:t>별도 승인·현장 평가</a:t>
            </a:r>
          </a:p>
        </p:txBody>
      </p:sp>
      <p:sp>
        <p:nvSpPr>
          <p:cNvPr id="26" name="">
            <a:extLst xmlns:a="http://schemas.openxmlformats.org/drawingml/2006/main">
              <a:ext uri="{FF2B5EF4-FFF2-40B4-BE49-F238E27FC236}">
                <a16:creationId xmlns:a16="http://schemas.microsoft.com/office/drawing/2014/main" id="{F0745E8D-7B79-4A45-8FE5-111A21CB76A8}"/>
              </a:ext>
            </a:extLst>
          </p:cNvPr>
          <p:cNvSpPr>
            <a:spLocks xmlns:a="http://schemas.openxmlformats.org/drawingml/2006/main" noGrp="1"/>
          </p:cNvSpPr>
          <p:nvPr/>
        </p:nvSpPr>
        <p:spPr>
          <a:xfrm xmlns:a="http://schemas.openxmlformats.org/drawingml/2006/main">
            <a:off x="1028700" y="7677150"/>
            <a:ext cx="16230600" cy="1066800"/>
          </a:xfrm>
          <a:prstGeom xmlns:a="http://schemas.openxmlformats.org/drawingml/2006/main" prst="roundRect">
            <a:avLst>
              <a:gd name="adj" fmla="val 19643"/>
            </a:avLst>
          </a:prstGeom>
          <a:solidFill xmlns:a="http://schemas.openxmlformats.org/drawingml/2006/main">
            <a:srgbClr val="0B2342"/>
          </a:solidFill>
          <a:ln xmlns:a="http://schemas.openxmlformats.org/drawingml/2006/main" w="14288">
            <a:solidFill>
              <a:srgbClr val="0B2342"/>
            </a:solidFill>
            <a:prstDash val="solid"/>
          </a:ln>
        </p:spPr>
      </p:sp>
      <p:sp>
        <p:nvSpPr>
          <p:cNvPr id="27" name="">
            <a:extLst xmlns:a="http://schemas.openxmlformats.org/drawingml/2006/main">
              <a:ext uri="{FF2B5EF4-FFF2-40B4-BE49-F238E27FC236}">
                <a16:creationId xmlns:a16="http://schemas.microsoft.com/office/drawing/2014/main" id="{2EE5DE06-CE3A-4AD5-A7A1-8D92AA1221A3}"/>
              </a:ext>
            </a:extLst>
          </p:cNvPr>
          <p:cNvSpPr>
            <a:spLocks xmlns:a="http://schemas.openxmlformats.org/drawingml/2006/main" noGrp="1"/>
          </p:cNvSpPr>
          <p:nvPr/>
        </p:nvSpPr>
        <p:spPr>
          <a:xfrm xmlns:a="http://schemas.openxmlformats.org/drawingml/2006/main">
            <a:off x="1314450" y="7867650"/>
            <a:ext cx="15659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76200" tIns="38100" rIns="76200" bIns="38100" anchor="ctr">
            <a:normAutofit fontScale="100000"/>
          </a:bodyPr>
          <a:lstStyle xmlns:a="http://schemas.openxmlformats.org/drawingml/2006/main"/>
          <a:p xmlns:a="http://schemas.openxmlformats.org/drawingml/2006/main">
            <a:pPr algn="ctr">
              <a:defRPr sz="2250" b="1">
                <a:solidFill>
                  <a:srgbClr val="FFFFFF"/>
                </a:solidFill>
                <a:latin typeface="프리텐다드"/>
                <a:ea typeface="프리텐다드"/>
                <a:cs typeface="프리텐다드"/>
              </a:defRPr>
            </a:pPr>
            <a:r>
              <a:rPr sz="2250" b="1">
                <a:solidFill>
                  <a:srgbClr val="FFFFFF"/>
                </a:solidFill>
                <a:latin typeface="프리텐다드"/>
                <a:ea typeface="프리텐다드"/>
                <a:cs typeface="프리텐다드"/>
              </a:rPr>
              <a:t>이 관문 전에는 ‘운영 가능’·‘재촬영 감소’·‘완전한 보안’을 말하지 않습니다.</a:t>
            </a:r>
          </a:p>
        </p:txBody>
      </p:sp>
      <p:sp>
        <p:nvSpPr>
          <p:cNvPr id="28" name="">
            <a:extLst xmlns:a="http://schemas.openxmlformats.org/drawingml/2006/main">
              <a:ext uri="{FF2B5EF4-FFF2-40B4-BE49-F238E27FC236}">
                <a16:creationId xmlns:a16="http://schemas.microsoft.com/office/drawing/2014/main" id="{57AE524D-AEBA-4A28-9A69-3426632EFC42}"/>
              </a:ext>
            </a:extLst>
          </p:cNvPr>
          <p:cNvSpPr>
            <a:spLocks xmlns:a="http://schemas.openxmlformats.org/drawingml/2006/main" noGrp="1"/>
          </p:cNvSpPr>
          <p:nvPr/>
        </p:nvSpPr>
        <p:spPr>
          <a:xfrm xmlns:a="http://schemas.openxmlformats.org/drawingml/2006/main">
            <a:off x="1028700" y="9582150"/>
            <a:ext cx="16230600" cy="19050"/>
          </a:xfrm>
          <a:prstGeom xmlns:a="http://schemas.openxmlformats.org/drawingml/2006/main" prst="rect">
            <a:avLst/>
          </a:prstGeom>
          <a:solidFill xmlns:a="http://schemas.openxmlformats.org/drawingml/2006/main">
            <a:srgbClr val="D8E0E9"/>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7FFEA6E-2011-4CF1-BCE1-E81729CEC260}"/>
              </a:ext>
            </a:extLst>
          </p:cNvPr>
          <p:cNvSpPr>
            <a:spLocks xmlns:a="http://schemas.openxmlformats.org/drawingml/2006/main" noGrp="1"/>
          </p:cNvSpPr>
          <p:nvPr/>
        </p:nvSpPr>
        <p:spPr>
          <a:xfrm xmlns:a="http://schemas.openxmlformats.org/drawingml/2006/main">
            <a:off x="1028700" y="9639300"/>
            <a:ext cx="11430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Medi Q  /  합성 데이터 · 비임상 기술 PoC</a:t>
            </a:r>
          </a:p>
        </p:txBody>
      </p:sp>
      <p:sp>
        <p:nvSpPr>
          <p:cNvPr id="30" name="">
            <a:extLst xmlns:a="http://schemas.openxmlformats.org/drawingml/2006/main">
              <a:ext uri="{FF2B5EF4-FFF2-40B4-BE49-F238E27FC236}">
                <a16:creationId xmlns:a16="http://schemas.microsoft.com/office/drawing/2014/main" id="{37B49138-2207-437B-BB95-1F2A81C5543E}"/>
              </a:ext>
            </a:extLst>
          </p:cNvPr>
          <p:cNvSpPr>
            <a:spLocks xmlns:a="http://schemas.openxmlformats.org/drawingml/2006/main" noGrp="1"/>
          </p:cNvSpPr>
          <p:nvPr/>
        </p:nvSpPr>
        <p:spPr>
          <a:xfrm xmlns:a="http://schemas.openxmlformats.org/drawingml/2006/main">
            <a:off x="15240000" y="9639300"/>
            <a:ext cx="2019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r">
              <a:defRPr sz="1275" b="0">
                <a:solidFill>
                  <a:srgbClr val="7B8A9B"/>
                </a:solidFill>
                <a:latin typeface="프리텐다드"/>
                <a:ea typeface="프리텐다드"/>
                <a:cs typeface="프리텐다드"/>
              </a:defRPr>
            </a:pPr>
            <a:r>
              <a:rPr sz="1275" b="0">
                <a:solidFill>
                  <a:srgbClr val="7B8A9B"/>
                </a:solidFill>
                <a:latin typeface="프리텐다드"/>
                <a:ea typeface="프리텐다드"/>
                <a:cs typeface="프리텐다드"/>
              </a:rPr>
              <a:t>21  /  22</a:t>
            </a:r>
          </a:p>
        </p:txBody>
      </p:sp>
    </p:spTree>
    <p:extLst>
      <p:ext uri="{BB962C8B-B14F-4D97-AF65-F5344CB8AC3E}">
        <p14:creationId xmlns:p14="http://schemas.microsoft.com/office/powerpoint/2010/main" val="2915227681"/>
      </p:ext>
    </p:extLst>
  </p:cSld>
</p:sld>
</file>

<file path=ppt/slides/slide22.xml><?xml version="1.0" encoding="utf-8"?>
<p:sld xmlns:p="http://schemas.openxmlformats.org/presentationml/2006/main">
  <p:cSld>
    <p:bg>
      <p:bgPr>
        <a:solidFill xmlns:a="http://schemas.openxmlformats.org/drawingml/2006/main">
          <a:srgbClr val="F6F6F6"/>
        </a:solidFill>
      </p:bgPr>
    </p:bg>
    <p:spTree>
      <p:nvGrpSpPr>
        <p:cNvPr id="1" name=""/>
        <p:cNvGrpSpPr/>
        <p:nvPr/>
      </p:nvGrpSpPr>
      <p:grpSpPr>
        <a:xfrm xmlns:a="http://schemas.openxmlformats.org/drawingml/2006/main"/>
      </p:grpSpPr>
      <p:sp>
        <p:nvSpPr>
          <p:cNvPr id="3" name="Freeform 3">
            <a:extLst xmlns:a="http://schemas.openxmlformats.org/drawingml/2006/main">
              <a:ext uri="{FF2B5EF4-FFF2-40B4-BE49-F238E27FC236}">
                <a16:creationId xmlns:a16="http://schemas.microsoft.com/office/drawing/2014/main" id="{2D9C0858-3064-4C01-BDE4-DE79EC16EB7B}"/>
              </a:ext>
            </a:extLst>
          </p:cNvPr>
          <p:cNvSpPr>
            <a:spLocks xmlns:a="http://schemas.openxmlformats.org/drawingml/2006/main" noGrp="1"/>
          </p:cNvSpPr>
          <p:nvPr/>
        </p:nvSpPr>
        <p:spPr>
          <a:xfrm xmlns:a="http://schemas.openxmlformats.org/drawingml/2006/main" rot="0" flipH="0" flipV="0">
            <a:off x="15278433" y="-189268"/>
            <a:ext cx="3268199" cy="7739024"/>
          </a:xfrm>
          <a:custGeom xmlns:a="http://schemas.openxmlformats.org/drawingml/2006/main">
            <a:rect l="l" t="t" r="r" b="b"/>
            <a:pathLst>
              <a:path w="860760" h="2038262">
                <a:moveTo>
                  <a:pt x="0" y="0"/>
                </a:moveTo>
                <a:lnTo>
                  <a:pt x="860760" y="0"/>
                </a:lnTo>
                <a:lnTo>
                  <a:pt x="860760" y="2038262"/>
                </a:lnTo>
                <a:lnTo>
                  <a:pt x="0" y="2038262"/>
                </a:lnTo>
                <a:close/>
              </a:path>
            </a:pathLst>
          </a:custGeom>
          <a:solidFill xmlns:a="http://schemas.openxmlformats.org/drawingml/2006/main">
            <a:srgbClr val="E9E9E9"/>
          </a:solidFill>
          <a:ln xmlns:a="http://schemas.openxmlformats.org/drawingml/2006/main">
            <a:noFill/>
            <a:prstDash val="solid"/>
          </a:ln>
        </p:spPr>
        <p:txBody>
          <a:bodyPr xmlns:a="http://schemas.openxmlformats.org/drawingml/2006/main"/>
          <a:lstStyle xmlns:a="http://schemas.openxmlformats.org/drawingml/2006/main"/>
          <a:p xmlns:a="http://schemas.openxmlformats.org/drawingml/2006/main">
            <a:endParaRPr/>
          </a:p>
        </p:txBody>
      </p:sp>
      <p:sp>
        <p:nvSpPr>
          <p:cNvPr id="4" name="TextBox 4">
            <a:extLst xmlns:a="http://schemas.openxmlformats.org/drawingml/2006/main">
              <a:ext uri="{FF2B5EF4-FFF2-40B4-BE49-F238E27FC236}">
                <a16:creationId xmlns:a16="http://schemas.microsoft.com/office/drawing/2014/main" id="{288E34DD-A9D2-4D33-A253-B295D4CD3D8A}"/>
              </a:ext>
            </a:extLst>
          </p:cNvPr>
          <p:cNvSpPr>
            <a:spLocks xmlns:a="http://schemas.openxmlformats.org/drawingml/2006/main" noGrp="1"/>
          </p:cNvSpPr>
          <p:nvPr/>
        </p:nvSpPr>
        <p:spPr>
          <a:xfrm xmlns:a="http://schemas.openxmlformats.org/drawingml/2006/main" rot="0" flipH="0" flipV="0">
            <a:off x="15278433" y="-370094"/>
            <a:ext cx="3268199" cy="7919850"/>
          </a:xfrm>
          <a:prstGeom xmlns:a="http://schemas.openxmlformats.org/drawingml/2006/main" prst="rect">
            <a:avLst/>
          </a:prstGeom>
        </p:spPr>
        <p:txBody>
          <a:bodyPr xmlns:a="http://schemas.openxmlformats.org/drawingml/2006/main" lIns="50800" tIns="50800" rIns="50800" bIns="50800" anchor="ctr"/>
          <a:lstStyle xmlns:a="http://schemas.openxmlformats.org/drawingml/2006/main"/>
          <a:p xmlns:a="http://schemas.openxmlformats.org/drawingml/2006/main">
            <a:pPr algn="ctr">
              <a:lnSpc>
                <a:spcPts val="3156"/>
              </a:lnSpc>
              <a:buNone/>
            </a:pPr>
            <a:endParaRPr/>
          </a:p>
        </p:txBody>
      </p:sp>
      <p:sp>
        <p:nvSpPr>
          <p:cNvPr id="5" name="Freeform 5">
            <a:extLst xmlns:a="http://schemas.openxmlformats.org/drawingml/2006/main">
              <a:ext uri="{FF2B5EF4-FFF2-40B4-BE49-F238E27FC236}">
                <a16:creationId xmlns:a16="http://schemas.microsoft.com/office/drawing/2014/main" id="{73257C33-0135-49A6-8F4F-DE34BFFE8893}"/>
              </a:ext>
            </a:extLst>
          </p:cNvPr>
          <p:cNvSpPr>
            <a:spLocks xmlns:a="http://schemas.openxmlformats.org/drawingml/2006/main" noGrp="1"/>
          </p:cNvSpPr>
          <p:nvPr/>
        </p:nvSpPr>
        <p:spPr>
          <a:xfrm xmlns:a="http://schemas.openxmlformats.org/drawingml/2006/main">
            <a:off x="0" y="7075598"/>
            <a:ext cx="18288000" cy="5818426"/>
          </a:xfrm>
          <a:custGeom xmlns:a="http://schemas.openxmlformats.org/drawingml/2006/main">
            <a:rect l="l" t="t" r="r" b="b"/>
            <a:pathLst>
              <a:path w="18288000" h="5818426">
                <a:moveTo>
                  <a:pt x="0" y="0"/>
                </a:moveTo>
                <a:lnTo>
                  <a:pt x="18288000" y="0"/>
                </a:lnTo>
                <a:lnTo>
                  <a:pt x="18288000" y="5818426"/>
                </a:lnTo>
                <a:lnTo>
                  <a:pt x="0" y="5818426"/>
                </a:lnTo>
                <a:lnTo>
                  <a:pt x="0" y="0"/>
                </a:lnTo>
                <a:close/>
              </a:path>
            </a:pathLst>
          </a:custGeom>
          <a:blipFill xmlns:a="http://schemas.openxmlformats.org/drawingml/2006/main">
            <a:blip xmlns:r="http://schemas.openxmlformats.org/officeDocument/2006/relationships" r:embed="R57c6980ce5b74029"/>
            <a:stretch>
              <a:fillRect l="0" t="0" r="0" b="-4705"/>
            </a:stretch>
          </a:blipFill>
        </p:spPr>
        <p:txBody>
          <a:bodyPr xmlns:a="http://schemas.openxmlformats.org/drawingml/2006/main"/>
          <a:lstStyle xmlns:a="http://schemas.openxmlformats.org/drawingml/2006/main"/>
          <a:p xmlns:a="http://schemas.openxmlformats.org/drawingml/2006/main">
            <a:endParaRPr/>
          </a:p>
        </p:txBody>
      </p:sp>
      <p:sp>
        <p:nvSpPr>
          <p:cNvPr id="6" name="">
            <a:extLst xmlns:a="http://schemas.openxmlformats.org/drawingml/2006/main">
              <a:ext uri="{FF2B5EF4-FFF2-40B4-BE49-F238E27FC236}">
                <a16:creationId xmlns:a16="http://schemas.microsoft.com/office/drawing/2014/main" id="{77B99715-E97B-4B59-8375-CA989BB374D9}"/>
              </a:ext>
            </a:extLst>
          </p:cNvPr>
          <p:cNvSpPr>
            <a:spLocks xmlns:a="http://schemas.openxmlformats.org/drawingml/2006/main" noGrp="1"/>
          </p:cNvSpPr>
          <p:nvPr/>
        </p:nvSpPr>
        <p:spPr>
          <a:xfrm xmlns:a="http://schemas.openxmlformats.org/drawingml/2006/main">
            <a:off x="1028700" y="156210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1950" b="0">
                <a:solidFill>
                  <a:srgbClr val="53657B"/>
                </a:solidFill>
                <a:latin typeface="프리텐다드"/>
                <a:ea typeface="프리텐다드"/>
                <a:cs typeface="프리텐다드"/>
              </a:defRPr>
            </a:pPr>
            <a:r>
              <a:rPr sz="1950" b="0">
                <a:solidFill>
                  <a:srgbClr val="53657B"/>
                </a:solidFill>
                <a:latin typeface="프리텐다드"/>
                <a:ea typeface="프리텐다드"/>
                <a:cs typeface="프리텐다드"/>
              </a:rPr>
              <a:t>CAPSTONE MVP</a:t>
            </a:r>
          </a:p>
        </p:txBody>
      </p:sp>
      <p:sp>
        <p:nvSpPr>
          <p:cNvPr id="7" name="">
            <a:extLst xmlns:a="http://schemas.openxmlformats.org/drawingml/2006/main">
              <a:ext uri="{FF2B5EF4-FFF2-40B4-BE49-F238E27FC236}">
                <a16:creationId xmlns:a16="http://schemas.microsoft.com/office/drawing/2014/main" id="{17174B67-2BBD-4F2A-AD2B-18451A14CD0A}"/>
              </a:ext>
            </a:extLst>
          </p:cNvPr>
          <p:cNvSpPr>
            <a:spLocks xmlns:a="http://schemas.openxmlformats.org/drawingml/2006/main" noGrp="1"/>
          </p:cNvSpPr>
          <p:nvPr/>
        </p:nvSpPr>
        <p:spPr>
          <a:xfrm xmlns:a="http://schemas.openxmlformats.org/drawingml/2006/main">
            <a:off x="1028700" y="2381250"/>
            <a:ext cx="7239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94203"/>
          </a:bodyPr>
          <a:lstStyle xmlns:a="http://schemas.openxmlformats.org/drawingml/2006/main"/>
          <a:p xmlns:a="http://schemas.openxmlformats.org/drawingml/2006/main">
            <a:pPr algn="l">
              <a:defRPr sz="6900" b="1">
                <a:solidFill>
                  <a:srgbClr val="2F68B5"/>
                </a:solidFill>
                <a:latin typeface="프리텐다드"/>
                <a:ea typeface="프리텐다드"/>
                <a:cs typeface="프리텐다드"/>
              </a:defRPr>
            </a:pPr>
            <a:r>
              <a:rPr sz="6900" b="1">
                <a:solidFill>
                  <a:srgbClr val="2F68B5"/>
                </a:solidFill>
                <a:latin typeface="프리텐다드"/>
                <a:ea typeface="프리텐다드"/>
                <a:cs typeface="프리텐다드"/>
              </a:rPr>
              <a:t>Q&amp;A</a:t>
            </a:r>
          </a:p>
        </p:txBody>
      </p:sp>
      <p:sp>
        <p:nvSpPr>
          <p:cNvPr id="8" name="">
            <a:extLst xmlns:a="http://schemas.openxmlformats.org/drawingml/2006/main">
              <a:ext uri="{FF2B5EF4-FFF2-40B4-BE49-F238E27FC236}">
                <a16:creationId xmlns:a16="http://schemas.microsoft.com/office/drawing/2014/main" id="{11AFF366-CAD1-48FC-A1CA-C4AD1E8E8382}"/>
              </a:ext>
            </a:extLst>
          </p:cNvPr>
          <p:cNvSpPr>
            <a:spLocks xmlns:a="http://schemas.openxmlformats.org/drawingml/2006/main" noGrp="1"/>
          </p:cNvSpPr>
          <p:nvPr/>
        </p:nvSpPr>
        <p:spPr>
          <a:xfrm xmlns:a="http://schemas.openxmlformats.org/drawingml/2006/main">
            <a:off x="1028700" y="3562350"/>
            <a:ext cx="13811250" cy="1962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5025" b="1">
                <a:solidFill>
                  <a:srgbClr val="17263A"/>
                </a:solidFill>
                <a:latin typeface="프리텐다드"/>
                <a:ea typeface="프리텐다드"/>
                <a:cs typeface="프리텐다드"/>
              </a:defRPr>
            </a:pPr>
            <a:r>
              <a:rPr sz="5025" b="1">
                <a:solidFill>
                  <a:srgbClr val="17263A"/>
                </a:solidFill>
                <a:latin typeface="프리텐다드"/>
                <a:ea typeface="프리텐다드"/>
                <a:cs typeface="프리텐다드"/>
              </a:rPr>
              <a:t>환자 동의로 열고,</a:t>
            </a:r>
          </a:p>
          <a:p xmlns:a="http://schemas.openxmlformats.org/drawingml/2006/main">
            <a:pPr algn="l">
              <a:defRPr sz="5025" b="1">
                <a:solidFill>
                  <a:srgbClr val="17263A"/>
                </a:solidFill>
                <a:latin typeface="프리텐다드"/>
                <a:ea typeface="프리텐다드"/>
                <a:cs typeface="프리텐다드"/>
              </a:defRPr>
            </a:pPr>
            <a:r>
              <a:rPr sz="5025" b="1">
                <a:solidFill>
                  <a:srgbClr val="17263A"/>
                </a:solidFill>
                <a:latin typeface="프리텐다드"/>
                <a:ea typeface="프리텐다드"/>
                <a:cs typeface="프리텐다드"/>
              </a:rPr>
              <a:t>증거와 감사로 닫는다</a:t>
            </a:r>
          </a:p>
        </p:txBody>
      </p:sp>
      <p:sp>
        <p:nvSpPr>
          <p:cNvPr id="9" name="">
            <a:extLst xmlns:a="http://schemas.openxmlformats.org/drawingml/2006/main">
              <a:ext uri="{FF2B5EF4-FFF2-40B4-BE49-F238E27FC236}">
                <a16:creationId xmlns:a16="http://schemas.microsoft.com/office/drawing/2014/main" id="{5A42B99E-E0A6-43F5-8E0A-CB6EEF4E3F67}"/>
              </a:ext>
            </a:extLst>
          </p:cNvPr>
          <p:cNvSpPr>
            <a:spLocks xmlns:a="http://schemas.openxmlformats.org/drawingml/2006/main" noGrp="1"/>
          </p:cNvSpPr>
          <p:nvPr/>
        </p:nvSpPr>
        <p:spPr>
          <a:xfrm xmlns:a="http://schemas.openxmlformats.org/drawingml/2006/main">
            <a:off x="1028700" y="5857875"/>
            <a:ext cx="13811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38100" rIns="0" bIns="38100" anchor="ctr">
            <a:normAutofit fontScale="100000"/>
          </a:bodyPr>
          <a:lstStyle xmlns:a="http://schemas.openxmlformats.org/drawingml/2006/main"/>
          <a:p xmlns:a="http://schemas.openxmlformats.org/drawingml/2006/main">
            <a:pPr algn="l">
              <a:defRPr sz="2025" b="0">
                <a:solidFill>
                  <a:srgbClr val="53657B"/>
                </a:solidFill>
                <a:latin typeface="프리텐다드"/>
                <a:ea typeface="프리텐다드"/>
                <a:cs typeface="프리텐다드"/>
              </a:defRPr>
            </a:pPr>
            <a:r>
              <a:rPr sz="2025" b="0">
                <a:solidFill>
                  <a:srgbClr val="53657B"/>
                </a:solidFill>
                <a:latin typeface="프리텐다드"/>
                <a:ea typeface="프리텐다드"/>
                <a:cs typeface="프리텐다드"/>
              </a:rPr>
              <a:t>합성 데이터 기반 기술 PoC  ·  실제 임상서비스가 아닙니다</a:t>
            </a:r>
          </a:p>
        </p:txBody>
      </p:sp>
    </p:spTree>
    <p:extLst>
      <p:ext uri="{BB962C8B-B14F-4D97-AF65-F5344CB8AC3E}">
        <p14:creationId xmlns:p14="http://schemas.microsoft.com/office/powerpoint/2010/main" val="4159744921"/>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2026-10-14T13:54:03.1520000Z</dcterms:created>
  <dcterms:modified xsi:type="dcterms:W3CDTF">2026-10-14T13:54:03.1520000Z</dcterms:modified>
</coreProperties>
</file>