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61ff71617d405e" /><Relationship Type="http://schemas.openxmlformats.org/officeDocument/2006/relationships/extended-properties" Target="/docProps/app.xml" Id="R3dc14a3bdc104de7" /><Relationship Type="http://schemas.openxmlformats.org/officeDocument/2006/relationships/officeDocument" Target="/ppt/presentation.xml" Id="Rb06e0176bac5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fe258ccc8745c1"/>
  </p:sldMasterIdLst>
  <p:notesMasterIdLst>
    <p:notesMasterId xmlns:r="http://schemas.openxmlformats.org/officeDocument/2006/relationships" r:id="Rc61b40f376f94803"/>
  </p:notesMasterIdLst>
  <p:sldIdLst>
    <p:sldId xmlns:r="http://schemas.openxmlformats.org/officeDocument/2006/relationships" id="256" r:id="R584631c30fd44c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12fc1c754f421a" /><Relationship Type="http://schemas.openxmlformats.org/officeDocument/2006/relationships/slideMaster" Target="/ppt/slideMasters/slideMaster1.xml" Id="Rdafe258ccc8745c1" /><Relationship Type="http://schemas.openxmlformats.org/officeDocument/2006/relationships/notesMaster" Target="/ppt/notesMasters/notesMaster1.xml" Id="Rc61b40f376f94803" /><Relationship Type="http://schemas.openxmlformats.org/officeDocument/2006/relationships/presProps" Target="/ppt/presProps.xml" Id="R475eb284c8694801" /><Relationship Type="http://schemas.openxmlformats.org/officeDocument/2006/relationships/tableStyles" Target="/ppt/tableStyles.xml" Id="Re0a794fa57da4d00" /><Relationship Type="http://schemas.openxmlformats.org/officeDocument/2006/relationships/slide" Target="/ppt/slides/slide1.xml" Id="R584631c30fd4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82d5d2e11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83e7de032416c" /><Relationship Type="http://schemas.openxmlformats.org/officeDocument/2006/relationships/notesMaster" Target="/ppt/notesMasters/notesMaster1.xml" Id="R0b8bcb5c826547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핵심: 환자가 허용한 동의 범위가 있어도 매 요청에서 사용자·병원·목적·기간·Study/Series를 확인한다. Control Plane은 정책과 토큰을 관리하고, 병원 Gateway는 단기 DPoP 토큰을 다시 확인한 뒤 승인 범위의 DICOM만 PACS에서 조회한다. 주요 허용·거부 결과는 감사 흐름에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증거 기준: 합성 데이터 기반 로컬 및 분산 프로토콜 시험은 동의·정책·단기 DPoP/범위 제한·WADO 조회·거부·감사 hash chain을 확인했다. 2026-10-15 Azure 기간 보고서 기능의 배포, 복구 후 재배포, 실행 파일 해시 확인은 기록되어 있다. 실제 Entra SECURITY_ADMIN 세션에서 보고서를 생성·출력하는 브라우저 흐름, 실병원 운영 PACS/IdP/KMS, 전체 v3 운영 준비도는 NOT VERIFIED다. 이 슬라이드는 의료 임상 서비스나 운영 보안 인증을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docs/SECURITY.md; docs/ARCHITECTURE.md; docs/SECURITY-PERIOD-REPORT-20261015.md; docs/implementation/b-pacs-phase1-readiness-plan-2026-10-14.md.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Artwork: public/assets/security-journey/ticket-v1.webp, existing synthetic concept illustration. The QR pattern is not an operational ticket or credential.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ba0322bcc4e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30fe2bdd384352" /><Relationship Type="http://schemas.openxmlformats.org/officeDocument/2006/relationships/slideLayout" Target="/ppt/slideLayouts/slideLayout1.xml" Id="Rf54dac9b43ea40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dac9b43ea40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3239e8bc43f0" /><Relationship Type="http://schemas.openxmlformats.org/officeDocument/2006/relationships/image" Target="/ppt/media/image.png" Id="R74e3a7aa12a04f88" /><Relationship Type="http://schemas.openxmlformats.org/officeDocument/2006/relationships/notesSlide" Target="/ppt/notesSlides/notesSlide1.xml" Id="R3d74796646e748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C94F70-5CE5-4DD2-A2E6-AF2F003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37350-EA9D-4865-B161-BECAF2F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Medi Q  /  SECURITY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702A9-9136-4D13-B511-BC743551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rPr>
              <a:t>영상 접근 8개 보안 관문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6DC4F-A444-4EA3-B44F-5209796A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환자 동의가 있어도 요청마다 병원·목적·범위를 다시 확인합니다</a:t>
            </a:r>
          </a:p>
        </p:txBody>
      </p:sp>
      <p:sp>
        <p:nvSpPr>
          <p:cNvPr id="5" name="Eight gates">
            <a:extLst xmlns:a="http://schemas.openxmlformats.org/drawingml/2006/main">
              <a:ext uri="{FF2B5EF4-FFF2-40B4-BE49-F238E27FC236}">
                <a16:creationId xmlns:a16="http://schemas.microsoft.com/office/drawing/2014/main" id="{669D762F-8199-420C-8A32-85714959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52425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9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Concept illustration frame">
            <a:extLst xmlns:a="http://schemas.openxmlformats.org/drawingml/2006/main">
              <a:ext uri="{FF2B5EF4-FFF2-40B4-BE49-F238E27FC236}">
                <a16:creationId xmlns:a16="http://schemas.microsoft.com/office/drawing/2014/main" id="{5A06C30B-E5A9-44BD-81DD-1F5F8889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19250"/>
            <a:ext cx="33718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7E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3a7aa12a04f88"/>
          <a:srcRect xmlns:a="http://schemas.openxmlformats.org/drawingml/2006/main" l="2260" t="0" r="2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1695450"/>
            <a:ext cx="3219450" cy="2247900"/>
          </a:xfrm>
          <a:prstGeom xmlns:a="http://schemas.openxmlformats.org/drawingml/2006/main" prst="roundRect">
            <a:avLst>
              <a:gd name="adj" fmla="val 63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5715E-C3FA-43F0-B5CD-D47FA2A4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94A"/>
                </a:solidFill>
                <a:latin typeface="Malgun Gothic"/>
                <a:ea typeface="Malgun Gothic"/>
                <a:cs typeface="Malgun Gothic"/>
              </a:rPr>
              <a:t>티켓은 접수의 시작점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0AD6F-2FED-4C08-82AB-0E75F64F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권한은 서버와 병원 Gateway가 다시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6AA85-AC9F-4820-83E3-8A2FEF88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335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개념 일러스트 · 실제 QR/인증정보 아님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13E1D-FB4F-43BB-9AB7-620BFA4B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049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01–06   CONTROL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97F4D-223E-46B6-993B-A39B2F1A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71650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4E5"/>
          </a:solidFill>
          <a:ln xmlns:a="http://schemas.openxmlformats.org/drawingml/2006/main" w="0">
            <a:noFill/>
          </a:ln>
        </p:spPr>
      </p:sp>
      <p:sp>
        <p:nvSpPr>
          <p:cNvPr id="13" name="Gate 1">
            <a:extLst xmlns:a="http://schemas.openxmlformats.org/drawingml/2006/main">
              <a:ext uri="{FF2B5EF4-FFF2-40B4-BE49-F238E27FC236}">
                <a16:creationId xmlns:a16="http://schemas.microsoft.com/office/drawing/2014/main" id="{BF70C050-3B55-4934-8B5F-98B19641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5FFE0-CDCC-4154-B134-4EF359A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573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요청 사용자·역할 인증</a:t>
            </a:r>
          </a:p>
        </p:txBody>
      </p:sp>
      <p:sp>
        <p:nvSpPr>
          <p:cNvPr id="15" name="Gate 2">
            <a:extLst xmlns:a="http://schemas.openxmlformats.org/drawingml/2006/main">
              <a:ext uri="{FF2B5EF4-FFF2-40B4-BE49-F238E27FC236}">
                <a16:creationId xmlns:a16="http://schemas.microsoft.com/office/drawing/2014/main" id="{E00F82FF-DC0E-4E08-9B03-D8F51FF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06636-70DC-4C38-B3CD-926D8A9B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193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요청 병원·의료진 소속 일치</a:t>
            </a:r>
          </a:p>
        </p:txBody>
      </p:sp>
      <p:sp>
        <p:nvSpPr>
          <p:cNvPr id="17" name="Gate 3">
            <a:extLst xmlns:a="http://schemas.openxmlformats.org/drawingml/2006/main">
              <a:ext uri="{FF2B5EF4-FFF2-40B4-BE49-F238E27FC236}">
                <a16:creationId xmlns:a16="http://schemas.microsoft.com/office/drawing/2014/main" id="{1FCCCBD3-C911-4B3C-8519-254DAB9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A6868-4DD5-4D75-979E-FAEA8074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812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환자 동의 활성·유효기간 확인</a:t>
            </a:r>
          </a:p>
        </p:txBody>
      </p:sp>
      <p:sp>
        <p:nvSpPr>
          <p:cNvPr id="19" name="Gate 4">
            <a:extLst xmlns:a="http://schemas.openxmlformats.org/drawingml/2006/main">
              <a:ext uri="{FF2B5EF4-FFF2-40B4-BE49-F238E27FC236}">
                <a16:creationId xmlns:a16="http://schemas.microsoft.com/office/drawing/2014/main" id="{9514F7EB-36D7-4439-B882-80D3D030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19CB0-3498-4EF7-8FE5-088FBC9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432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목적·허용 작업 확인</a:t>
            </a:r>
          </a:p>
        </p:txBody>
      </p:sp>
      <p:sp>
        <p:nvSpPr>
          <p:cNvPr id="21" name="Gate 5">
            <a:extLst xmlns:a="http://schemas.openxmlformats.org/drawingml/2006/main">
              <a:ext uri="{FF2B5EF4-FFF2-40B4-BE49-F238E27FC236}">
                <a16:creationId xmlns:a16="http://schemas.microsoft.com/office/drawing/2014/main" id="{AE32E33A-BB7A-4CF5-895C-4E3FB06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AC494-7F59-4117-82AE-BB3D4D9A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0517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Study·Series 범위 확인</a:t>
            </a:r>
          </a:p>
        </p:txBody>
      </p:sp>
      <p:sp>
        <p:nvSpPr>
          <p:cNvPr id="23" name="Gate 6">
            <a:extLst xmlns:a="http://schemas.openxmlformats.org/drawingml/2006/main">
              <a:ext uri="{FF2B5EF4-FFF2-40B4-BE49-F238E27FC236}">
                <a16:creationId xmlns:a16="http://schemas.microsoft.com/office/drawing/2014/main" id="{7AEB976E-9775-4151-AC70-670B694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C2080-38D2-498E-B5EA-F1030EA2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67125"/>
            <a:ext cx="649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서버 RBAC + ABAC 정책 판정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97699-FE98-48D1-91C3-DADD3BA3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67175"/>
            <a:ext cx="708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A1F5E-E9F8-4BE7-8D6E-C4D0E59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9D9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9D9A"/>
                </a:solidFill>
                <a:latin typeface="Malgun Gothic"/>
                <a:ea typeface="Malgun Gothic"/>
                <a:cs typeface="Malgun Gothic"/>
              </a:rPr>
              <a:t>07–08   HOSPITAL DATA PLANE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665614-8B55-40A1-8AE6-76AA60D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708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C9D1"/>
          </a:solidFill>
          <a:ln xmlns:a="http://schemas.openxmlformats.org/drawingml/2006/main" w="0">
            <a:noFill/>
          </a:ln>
        </p:spPr>
      </p:sp>
      <p:sp>
        <p:nvSpPr>
          <p:cNvPr id="28" name="Gate 7">
            <a:extLst xmlns:a="http://schemas.openxmlformats.org/drawingml/2006/main">
              <a:ext uri="{FF2B5EF4-FFF2-40B4-BE49-F238E27FC236}">
                <a16:creationId xmlns:a16="http://schemas.microsoft.com/office/drawing/2014/main" id="{FA0DB270-B121-4DAA-A7D0-5FCB7325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05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9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F8658F-17F3-45E3-BC10-7CD26D6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단기 DPoP 토큰의 만료·증명·범위를 Gateway가 재검증</a:t>
            </a:r>
          </a:p>
        </p:txBody>
      </p:sp>
      <p:sp>
        <p:nvSpPr>
          <p:cNvPr id="30" name="Gate 8">
            <a:extLst xmlns:a="http://schemas.openxmlformats.org/drawingml/2006/main">
              <a:ext uri="{FF2B5EF4-FFF2-40B4-BE49-F238E27FC236}">
                <a16:creationId xmlns:a16="http://schemas.microsoft.com/office/drawing/2014/main" id="{B19E45C3-3650-4278-A6C4-321C79C3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9D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9149F-CDEA-40AE-8723-6F423973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649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승인 범위만 PACS에서 조회하고 접근 결과를 감사 기록</a:t>
            </a:r>
          </a:p>
        </p:txBody>
      </p:sp>
      <p:sp>
        <p:nvSpPr>
          <p:cNvPr id="32" name="Fail closed rule">
            <a:extLst xmlns:a="http://schemas.openxmlformats.org/drawingml/2006/main">
              <a:ext uri="{FF2B5EF4-FFF2-40B4-BE49-F238E27FC236}">
                <a16:creationId xmlns:a16="http://schemas.microsoft.com/office/drawing/2014/main" id="{EAFC48CC-5A5F-4278-B314-B60E79B7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29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F9705A-90FC-4AC1-8421-EC84A57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443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BDBFA-CBF0-4A0C-B200-BD63264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344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3443D"/>
                </a:solidFill>
                <a:latin typeface="Malgun Gothic"/>
                <a:ea typeface="Malgun Gothic"/>
                <a:cs typeface="Malgun Gothic"/>
              </a:rPr>
              <a:t>철회 · 만료 · 병원/범위 불일치  =  접근 거부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D152E-ACDB-4E5B-BAA7-652BEFB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3190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증거 상태  /  2026.10.15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C0C0E8-8E7A-41F5-AB01-562CCCED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9E97B6-0AD6-4944-BCAA-58D11F66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3F3E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54E86E-EB06-497C-8856-4D5AE6F2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7B6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7B64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9242C5-12CF-4F67-99B8-77C15508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00750"/>
            <a:ext cx="2466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합성 로컬·분산 시험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토큰·범위·거부·감사 체인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5C12BC-2D8A-447A-BD9D-26D63C2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AFDD1D-78A3-4F41-B722-8A015150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2E63C7"/>
                </a:solidFill>
                <a:latin typeface="Malgun Gothic"/>
                <a:ea typeface="Malgun Gothic"/>
                <a:cs typeface="Malgun Gothic"/>
              </a:rPr>
              <a:t>AZURE 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FAC947-C9BC-4AF4-A34A-987C40DB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000750"/>
            <a:ext cx="2390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기간 보고서 기능 배포·복구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실행 환경 파일 지문 확인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D146DE-B0D8-409E-B048-4037196D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048375"/>
            <a:ext cx="86677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A09464-5357-4E8D-A568-D57CE88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60579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A75A12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A75A12"/>
                </a:solidFill>
                <a:latin typeface="Malgun Gothic"/>
                <a:ea typeface="Malgun Gothic"/>
                <a:cs typeface="Malgun Gothic"/>
              </a:rPr>
              <a:t>미검증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3E27F6-ED54-49DF-9DF0-0032EF24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007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실병원 운영 · 보안관리자 실계정 출력</a:t>
            </a:r>
          </a:p>
          <a:p xmlns:a="http://schemas.openxmlformats.org/drawingml/2006/main">
            <a:pPr algn="l">
              <a:def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>
                <a:solidFill>
                  <a:srgbClr val="18324F"/>
                </a:solidFill>
                <a:latin typeface="Malgun Gothic"/>
                <a:ea typeface="Malgun Gothic"/>
                <a:cs typeface="Malgun Gothic"/>
              </a:rPr>
              <a:t>전체 v3 운영 완료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F5B2C4-264F-4AF0-8274-39BE2929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604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2A38A-3F5E-4043-BADA-5D9F584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48375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107B8B-0C14-409A-82CA-6C126FE7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15100"/>
            <a:ext cx="3752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defRPr sz="938">
                <a:solidFill>
                  <a:srgbClr val="5D7089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5D7089"/>
                </a:solidFill>
                <a:latin typeface="Malgun Gothic"/>
                <a:ea typeface="Malgun Gothic"/>
                <a:cs typeface="Malgun Gothic"/>
              </a:rPr>
              <a:t>합성 데이터 기반 MVP/PoC · 실제 임상 서비스 아님</a:t>
            </a:r>
          </a:p>
        </p:txBody>
      </p:sp>
    </p:spTree>
    <p:extLst>
      <p:ext uri="{BB962C8B-B14F-4D97-AF65-F5344CB8AC3E}">
        <p14:creationId xmlns:p14="http://schemas.microsoft.com/office/powerpoint/2010/main" val="396346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2026-10-15T01:50:17.8670000Z</dcterms:created>
  <dcterms:modified xsi:type="dcterms:W3CDTF">2026-10-15T01:50:17.8670000Z</dcterms:modified>
</coreProperties>
</file>