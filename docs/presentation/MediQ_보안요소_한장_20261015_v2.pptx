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f5df06fd5f4bd9" /><Relationship Type="http://schemas.openxmlformats.org/officeDocument/2006/relationships/extended-properties" Target="/docProps/app.xml" Id="R2ba64b5f9297410e" /><Relationship Type="http://schemas.openxmlformats.org/officeDocument/2006/relationships/officeDocument" Target="/ppt/presentation.xml" Id="R71770afd2eff45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1d8466920b4f83"/>
  </p:sldMasterIdLst>
  <p:notesMasterIdLst>
    <p:notesMasterId xmlns:r="http://schemas.openxmlformats.org/officeDocument/2006/relationships" r:id="R11a15ea12c584461"/>
  </p:notesMasterIdLst>
  <p:sldIdLst>
    <p:sldId xmlns:r="http://schemas.openxmlformats.org/officeDocument/2006/relationships" id="256" r:id="R964096112b6649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3ee7cfe6214cc6" /><Relationship Type="http://schemas.openxmlformats.org/officeDocument/2006/relationships/slideMaster" Target="/ppt/slideMasters/slideMaster1.xml" Id="Rd81d8466920b4f83" /><Relationship Type="http://schemas.openxmlformats.org/officeDocument/2006/relationships/notesMaster" Target="/ppt/notesMasters/notesMaster1.xml" Id="R11a15ea12c584461" /><Relationship Type="http://schemas.openxmlformats.org/officeDocument/2006/relationships/presProps" Target="/ppt/presProps.xml" Id="R5731212fbe654521" /><Relationship Type="http://schemas.openxmlformats.org/officeDocument/2006/relationships/tableStyles" Target="/ppt/tableStyles.xml" Id="R641ff730a2d4433b" /><Relationship Type="http://schemas.openxmlformats.org/officeDocument/2006/relationships/slide" Target="/ppt/slides/slide1.xml" Id="R964096112b6649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48b0b1adb143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5e674687f14870" /><Relationship Type="http://schemas.openxmlformats.org/officeDocument/2006/relationships/notesMaster" Target="/ppt/notesMasters/notesMaster1.xml" Id="R831eedbd16144a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핵심: 환자가 허용한 동의 범위가 있어도 매 요청에서 사용자·병원·목적·기간·Study/Series를 확인한다. Control Plane은 정책과 토큰을 관리하고, 병원 Gateway는 단기 DPoP 토큰을 다시 확인한 뒤 승인 범위의 DICOM만 PACS에서 조회한다. 주요 허용·거부 결과는 감사 흐름에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증거 기준: 합성 데이터 기반 로컬 및 분산 프로토콜 시험은 동의·정책·단기 DPoP/범위 제한·WADO 조회·거부·감사 hash chain을 확인했다. 2026-10-15 Azure 기간 보고서 기능의 배포, 복구 후 재배포, 실행 파일 해시 확인은 기록되어 있다. 실제 Entra SECURITY_ADMIN 세션에서 보고서를 생성·출력하는 브라우저 흐름, 실병원 운영 PACS/IdP/KMS, 전체 v3 운영 준비도는 NOT VERIFIED다. 이 슬라이드는 의료 임상 서비스나 운영 보안 인증을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docs/SECURITY.md; docs/ARCHITECTURE.md; docs/SECURITY-PERIOD-REPORT-20261015.md; docs/implementation/b-pacs-phase1-readiness-plan-2026-10-14.md.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Artwork: public/assets/security-journey/ticket-v1.webp, existing synthetic concept illustration. The QR pattern is not an operational ticket or credential.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741a391974a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0801675dd54cb3" /><Relationship Type="http://schemas.openxmlformats.org/officeDocument/2006/relationships/slideLayout" Target="/ppt/slideLayouts/slideLayout1.xml" Id="Ra72f258114a946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2f258114a946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e38a3b77944d6" /><Relationship Type="http://schemas.openxmlformats.org/officeDocument/2006/relationships/image" Target="/ppt/media/image.png" Id="R5289616eecf143e9" /><Relationship Type="http://schemas.openxmlformats.org/officeDocument/2006/relationships/notesSlide" Target="/ppt/notesSlides/notesSlide1.xml" Id="R457ac7fbb17f4c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B0103A-6E53-46FB-BBF0-6C41F523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A5CE4-4246-43FD-BDCE-09FB9DCE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rPr>
              <a:t>Medi Q  /  SECURITY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07783-AC13-4A9A-AD3B-FE63F30F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771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94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94A"/>
                </a:solidFill>
                <a:latin typeface="Malgun Gothic"/>
                <a:ea typeface="Malgun Gothic"/>
                <a:cs typeface="Malgun Gothic"/>
              </a:rPr>
              <a:t>영상 접근 8개 보안 관문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5B45E-4033-4A1E-A40C-6373F9FB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D708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5D7089"/>
                </a:solidFill>
                <a:latin typeface="Malgun Gothic"/>
                <a:ea typeface="Malgun Gothic"/>
                <a:cs typeface="Malgun Gothic"/>
              </a:rPr>
              <a:t>Control은 권한을 판정하고, 병원 Gateway는 승인된 영상만 조회합니다</a:t>
            </a:r>
          </a:p>
        </p:txBody>
      </p:sp>
      <p:sp>
        <p:nvSpPr>
          <p:cNvPr id="5" name="Eight gates">
            <a:extLst xmlns:a="http://schemas.openxmlformats.org/drawingml/2006/main">
              <a:ext uri="{FF2B5EF4-FFF2-40B4-BE49-F238E27FC236}">
                <a16:creationId xmlns:a16="http://schemas.microsoft.com/office/drawing/2014/main" id="{7A05D777-693B-480A-8169-A92DAEB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5242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9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Concept illustration frame">
            <a:extLst xmlns:a="http://schemas.openxmlformats.org/drawingml/2006/main">
              <a:ext uri="{FF2B5EF4-FFF2-40B4-BE49-F238E27FC236}">
                <a16:creationId xmlns:a16="http://schemas.microsoft.com/office/drawing/2014/main" id="{5B34247A-FEC7-46E0-8FFD-A365BA94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19250"/>
            <a:ext cx="33718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9616eecf143e9"/>
          <a:srcRect xmlns:a="http://schemas.openxmlformats.org/drawingml/2006/main" l="2260" t="0" r="22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" y="1695450"/>
            <a:ext cx="3219450" cy="2247900"/>
          </a:xfrm>
          <a:prstGeom xmlns:a="http://schemas.openxmlformats.org/drawingml/2006/main" prst="roundRect">
            <a:avLst>
              <a:gd name="adj" fmla="val 635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DEF72-F60B-4493-808B-22D4C66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9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94A"/>
                </a:solidFill>
                <a:latin typeface="Malgun Gothic"/>
                <a:ea typeface="Malgun Gothic"/>
                <a:cs typeface="Malgun Gothic"/>
              </a:rPr>
              <a:t>티켓은 접수의 시작점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CCFB3-41E9-40A5-A71D-65DB0261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D70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D7089"/>
                </a:solidFill>
                <a:latin typeface="Malgun Gothic"/>
                <a:ea typeface="Malgun Gothic"/>
                <a:cs typeface="Malgun Gothic"/>
              </a:rPr>
              <a:t>권한은 서버와 병원 Gateway가 다시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908A4-31CC-44B9-8FCA-5026AD2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335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D70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5D7089"/>
                </a:solidFill>
                <a:latin typeface="Malgun Gothic"/>
                <a:ea typeface="Malgun Gothic"/>
                <a:cs typeface="Malgun Gothic"/>
              </a:rPr>
              <a:t>개념 일러스트 · 실제 QR/인증정보 아님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7C902-110B-4662-83B4-2AD53A5C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049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rPr>
              <a:t>01–06   CONTROL PLANE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CA9E8-EB6B-436B-9BC9-451A436C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71650"/>
            <a:ext cx="708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4E5"/>
          </a:solidFill>
          <a:ln xmlns:a="http://schemas.openxmlformats.org/drawingml/2006/main" w="0">
            <a:noFill/>
          </a:ln>
        </p:spPr>
      </p:sp>
      <p:sp>
        <p:nvSpPr>
          <p:cNvPr id="13" name="Gate 1">
            <a:extLst xmlns:a="http://schemas.openxmlformats.org/drawingml/2006/main">
              <a:ext uri="{FF2B5EF4-FFF2-40B4-BE49-F238E27FC236}">
                <a16:creationId xmlns:a16="http://schemas.microsoft.com/office/drawing/2014/main" id="{29B29270-551E-4E8F-8111-05D8AA58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B6C57-A792-4088-A60E-DAFF8922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5737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요청 사용자·역할 인증</a:t>
            </a:r>
          </a:p>
        </p:txBody>
      </p:sp>
      <p:sp>
        <p:nvSpPr>
          <p:cNvPr id="15" name="Gate 2">
            <a:extLst xmlns:a="http://schemas.openxmlformats.org/drawingml/2006/main">
              <a:ext uri="{FF2B5EF4-FFF2-40B4-BE49-F238E27FC236}">
                <a16:creationId xmlns:a16="http://schemas.microsoft.com/office/drawing/2014/main" id="{FFC851AB-F8C0-4C61-895D-54DF4274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17468-A64F-4A03-B30F-A1FD82A1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1932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요청 병원·의료진 소속 일치</a:t>
            </a:r>
          </a:p>
        </p:txBody>
      </p:sp>
      <p:sp>
        <p:nvSpPr>
          <p:cNvPr id="17" name="Gate 3">
            <a:extLst xmlns:a="http://schemas.openxmlformats.org/drawingml/2006/main">
              <a:ext uri="{FF2B5EF4-FFF2-40B4-BE49-F238E27FC236}">
                <a16:creationId xmlns:a16="http://schemas.microsoft.com/office/drawing/2014/main" id="{3F7A8DA7-1E4F-4AD5-BA2B-1E83C190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E0722-0B4E-4007-815E-9B2A949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8127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환자 동의 활성·유효기간 확인</a:t>
            </a:r>
          </a:p>
        </p:txBody>
      </p:sp>
      <p:sp>
        <p:nvSpPr>
          <p:cNvPr id="19" name="Gate 4">
            <a:extLst xmlns:a="http://schemas.openxmlformats.org/drawingml/2006/main">
              <a:ext uri="{FF2B5EF4-FFF2-40B4-BE49-F238E27FC236}">
                <a16:creationId xmlns:a16="http://schemas.microsoft.com/office/drawing/2014/main" id="{6A3DC958-DAE9-4CE5-AACF-6FC03E9B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34A01-8012-4E98-BF94-FF6FE70C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4322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목적·허용 작업 확인</a:t>
            </a:r>
          </a:p>
        </p:txBody>
      </p:sp>
      <p:sp>
        <p:nvSpPr>
          <p:cNvPr id="21" name="Gate 5">
            <a:extLst xmlns:a="http://schemas.openxmlformats.org/drawingml/2006/main">
              <a:ext uri="{FF2B5EF4-FFF2-40B4-BE49-F238E27FC236}">
                <a16:creationId xmlns:a16="http://schemas.microsoft.com/office/drawing/2014/main" id="{A998E0AA-4D7D-4C64-A112-E0AA3441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754AB-DE5F-4FFB-9A60-71A96584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0517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Study·Series 범위 확인</a:t>
            </a:r>
          </a:p>
        </p:txBody>
      </p:sp>
      <p:sp>
        <p:nvSpPr>
          <p:cNvPr id="23" name="Gate 6">
            <a:extLst xmlns:a="http://schemas.openxmlformats.org/drawingml/2006/main">
              <a:ext uri="{FF2B5EF4-FFF2-40B4-BE49-F238E27FC236}">
                <a16:creationId xmlns:a16="http://schemas.microsoft.com/office/drawing/2014/main" id="{A0CD9EDA-041D-42B8-9CE5-8C1DB508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701F0-AD43-4D1E-98B8-D6A0E78A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6712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서버 RBAC + ABAC 정책 판정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FFDD7-7C35-4158-9B8E-51A608CC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67175"/>
            <a:ext cx="708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75736-E768-443B-93F6-2B04A05F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433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9D9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9D9A"/>
                </a:solidFill>
                <a:latin typeface="Malgun Gothic"/>
                <a:ea typeface="Malgun Gothic"/>
                <a:cs typeface="Malgun Gothic"/>
              </a:rPr>
              <a:t>07–08   GATEWAY ACCESS + AUDIT TRAIL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A2EB1B-67D1-44CB-839E-2B9AA950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00550"/>
            <a:ext cx="708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C9D1"/>
          </a:solidFill>
          <a:ln xmlns:a="http://schemas.openxmlformats.org/drawingml/2006/main" w="0">
            <a:noFill/>
          </a:ln>
        </p:spPr>
      </p:sp>
      <p:sp>
        <p:nvSpPr>
          <p:cNvPr id="28" name="Gate 7">
            <a:extLst xmlns:a="http://schemas.openxmlformats.org/drawingml/2006/main">
              <a:ext uri="{FF2B5EF4-FFF2-40B4-BE49-F238E27FC236}">
                <a16:creationId xmlns:a16="http://schemas.microsoft.com/office/drawing/2014/main" id="{9BCA9FF5-DD7C-4FAD-9A4E-49AF536E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05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9D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B8E769-83AD-40E1-AF33-AFE07038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76750"/>
            <a:ext cx="649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Gateway가 단기 DPoP 토큰을 재검증하고 허용 범위만 PACS 조회</a:t>
            </a:r>
          </a:p>
        </p:txBody>
      </p:sp>
      <p:sp>
        <p:nvSpPr>
          <p:cNvPr id="30" name="Gate 8">
            <a:extLst xmlns:a="http://schemas.openxmlformats.org/drawingml/2006/main">
              <a:ext uri="{FF2B5EF4-FFF2-40B4-BE49-F238E27FC236}">
                <a16:creationId xmlns:a16="http://schemas.microsoft.com/office/drawing/2014/main" id="{BAFDCDA6-521F-47A9-90E7-0E6C143B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76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9D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849816-04EB-409B-AFB8-43DF144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48225"/>
            <a:ext cx="649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접근 허용·거부 결과를 감사 이력에 기록</a:t>
            </a:r>
          </a:p>
        </p:txBody>
      </p:sp>
      <p:sp>
        <p:nvSpPr>
          <p:cNvPr id="32" name="Fail closed rule">
            <a:extLst xmlns:a="http://schemas.openxmlformats.org/drawingml/2006/main">
              <a:ext uri="{FF2B5EF4-FFF2-40B4-BE49-F238E27FC236}">
                <a16:creationId xmlns:a16="http://schemas.microsoft.com/office/drawing/2014/main" id="{DA38A785-E3A8-4E27-B668-59A3F953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29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78DEA4-0CF3-4C5E-B6D5-D1A1DBB1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44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2A672E-3085-4EAB-8E04-55D59BF2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53025"/>
            <a:ext cx="995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344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3443D"/>
                </a:solidFill>
                <a:latin typeface="Malgun Gothic"/>
                <a:ea typeface="Malgun Gothic"/>
                <a:cs typeface="Malgun Gothic"/>
              </a:rPr>
              <a:t>철회 · 만료 · 병원/범위 불일치  =  접근 거부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9DFB07-8CA7-4D1C-A392-E23C4E23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319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70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7089"/>
                </a:solidFill>
                <a:latin typeface="Malgun Gothic"/>
                <a:ea typeface="Malgun Gothic"/>
                <a:cs typeface="Malgun Gothic"/>
              </a:rPr>
              <a:t>증거 상태  /  2026.10.15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6714FD-061A-4405-853F-883616E8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14AC5D-F2B3-403A-A8F6-7675EE25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8667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3F3E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98D83F-2843-4461-9515-76450584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579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7B64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177B64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44CABD-4CEA-4164-9E9C-6B19EE7B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00750"/>
            <a:ext cx="2466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합성 로컬·분산 시험</a:t>
            </a:r>
          </a:p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토큰·범위·거부·감사 체인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8A13A9-0F30-49C7-BB7C-A5098FD1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48375"/>
            <a:ext cx="8667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C68EB3-AE91-4845-8167-E8F8F9E2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0579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rPr>
              <a:t>AZURE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4BD0A2-883D-4A41-8090-8F2965F1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000750"/>
            <a:ext cx="2390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기간 보고서 배포·복구 PASS</a:t>
            </a:r>
          </a:p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실행 환경 파일 지문 확인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1E4CE5-0466-4F70-B1C0-D21E809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048375"/>
            <a:ext cx="8667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341AF7-1E3F-45E6-842F-22F559AF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60579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A75A12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A75A12"/>
                </a:solidFill>
                <a:latin typeface="Malgun Gothic"/>
                <a:ea typeface="Malgun Gothic"/>
                <a:cs typeface="Malgun Gothic"/>
              </a:rPr>
              <a:t>미검증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2A4FB9-A268-4DE9-AD88-AA777B62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007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실병원 PACS · 운영 IdP/KMS</a:t>
            </a:r>
          </a:p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실계정 관제 실행 · v3 전체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CFE390-B56E-466A-A338-3B019D5C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60483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086F17-6143-4959-A7BA-7A1F87FA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0483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241EB3-AF6E-426C-928E-D7517BC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15100"/>
            <a:ext cx="3752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38">
                <a:solidFill>
                  <a:srgbClr val="5D7089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5D7089"/>
                </a:solidFill>
                <a:latin typeface="Malgun Gothic"/>
                <a:ea typeface="Malgun Gothic"/>
                <a:cs typeface="Malgun Gothic"/>
              </a:rPr>
              <a:t>합성 데이터 기반 MVP/PoC · 실제 임상 서비스 아님</a:t>
            </a:r>
          </a:p>
        </p:txBody>
      </p:sp>
    </p:spTree>
    <p:extLst>
      <p:ext uri="{BB962C8B-B14F-4D97-AF65-F5344CB8AC3E}">
        <p14:creationId xmlns:p14="http://schemas.microsoft.com/office/powerpoint/2010/main" val="2105387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2026-10-15T01:52:20.8260000Z</dcterms:created>
  <dcterms:modified xsi:type="dcterms:W3CDTF">2026-10-15T01:52:20.8270000Z</dcterms:modified>
</coreProperties>
</file>