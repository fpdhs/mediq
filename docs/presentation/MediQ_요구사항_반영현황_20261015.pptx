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bca0364ee948cb" /><Relationship Type="http://schemas.openxmlformats.org/officeDocument/2006/relationships/extended-properties" Target="/docProps/app.xml" Id="R3efc8ff7e9c64bde" /><Relationship Type="http://schemas.openxmlformats.org/officeDocument/2006/relationships/officeDocument" Target="/ppt/presentation.xml" Id="R032cf69f91044e5f" /></Relationships>
</file>

<file path=ppt/presentation.xml><?xml version="1.0" encoding="utf-8"?>
<p:presentation xmlns:p="http://schemas.openxmlformats.org/presentationml/2006/main">
  <p:sldMasterIdLst>
    <p:sldMasterId xmlns:r="http://schemas.openxmlformats.org/officeDocument/2006/relationships" id="2147483648" r:id="R1757f138bad244fb"/>
  </p:sldMasterIdLst>
  <p:notesMasterIdLst>
    <p:notesMasterId xmlns:r="http://schemas.openxmlformats.org/officeDocument/2006/relationships" r:id="R54c77cb87f1b41cf"/>
  </p:notesMasterIdLst>
  <p:sldIdLst>
    <p:sldId xmlns:r="http://schemas.openxmlformats.org/officeDocument/2006/relationships" id="256" r:id="R95d096d2c5084b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edf700af204d75" /><Relationship Type="http://schemas.openxmlformats.org/officeDocument/2006/relationships/slideMaster" Target="/ppt/slideMasters/slideMaster1.xml" Id="R1757f138bad244fb" /><Relationship Type="http://schemas.openxmlformats.org/officeDocument/2006/relationships/notesMaster" Target="/ppt/notesMasters/notesMaster1.xml" Id="R54c77cb87f1b41cf" /><Relationship Type="http://schemas.openxmlformats.org/officeDocument/2006/relationships/presProps" Target="/ppt/presProps.xml" Id="R5893ecf508774eeb" /><Relationship Type="http://schemas.openxmlformats.org/officeDocument/2006/relationships/tableStyles" Target="/ppt/tableStyles.xml" Id="Rfcbc377044ab4553" /><Relationship Type="http://schemas.openxmlformats.org/officeDocument/2006/relationships/slide" Target="/ppt/slides/slide1.xml" Id="R95d096d2c5084b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8553b358ef45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14413a52124639" /><Relationship Type="http://schemas.openxmlformats.org/officeDocument/2006/relationships/notesMaster" Target="/ppt/notesMasters/notesMaster1.xml" Id="Rf5d4dcca3ff046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목적: 하이패스 요구사항의 핵심 흐름과 저장소 문서에 기록된 v3 P0 기능요구사항 상태를 한 장에서 보여준다.</a:t>
            </a:r>
          </a:p>
          <a:p xmlns:a="http://schemas.openxmlformats.org/drawingml/2006/main">
            <a:r>
              <a:t>요구사항 출처: docs/REQUIREMENTS.md (v3 목표 기준선과 현행 v2.1 실행 기준 구분), docs/requirements/highpass-v3-requirements-definition.md (v3.0-DRAFT-BASELINE, 기준일 2026-09-12, lifecycle refinement 2026-10-08), docs/traceability/highpass-v3-traceability-matrix.md.</a:t>
            </a:r>
          </a:p>
          <a:p xmlns:a="http://schemas.openxmlformats.org/drawingml/2006/main">
            <a:r>
              <a:t>집계 방법: 요구사항 정의서의 V3-FR ID 행을 우선순위 P0로 필터링했다. 75개 P0 기능요구사항의 Current 열을 IMPLEMENTED-LOCAL 10, PARTIAL 45, NOT IMPLEMENTED 19, NOT VERIFIED 1로 세었다. 이는 문서상의 구현 상태 분포이며 최근 전체 테스트를 다시 실행한 결과나 Azure 종단 검증률이 아니다. P1 7개와 P2 1개는 그래프에 포함하지 않았다.</a:t>
            </a:r>
          </a:p>
          <a:p xmlns:a="http://schemas.openxmlformats.org/drawingml/2006/main">
            <a:r>
              <a:t>추적성 표의 Coverage summary는 P0 기능요구사항 ID가 모두 표에 연결되었다고 기록하지만, reviewer confirmation이 남아 있고 전체 판정은 PARTIAL이며 통합 검토가 pending이다. 따라서 추적표에 등재된 상태와 요구사항 구현 완료 상태를 분리해 설명한다.</a:t>
            </a:r>
          </a:p>
          <a:p xmlns:a="http://schemas.openxmlformats.org/drawingml/2006/main">
            <a:r>
              <a:t>v2.1 legacy 상태는 별도 현행 실행 기준이다. docs/traceability/requirements-to-tests.md의 2026-09-07 요약은 FR-001~046을 8개 기능군으로 집계해 7개 군은 로컬 PASS, 가명화 군은 PARTIAL로 기록한다. 이 오래된 legacy 요약을 v3 카운트에 합치거나 v3 PASS로 승격하지 않았다.</a:t>
            </a:r>
          </a:p>
          <a:p xmlns:a="http://schemas.openxmlformats.org/drawingml/2006/main">
            <a:r>
              <a:t>최신 추가 사례: docs/SECURITY-PERIOD-REPORT-20261015.md는 기간 단위 보안보고서 Azure 배포와 서버/웹 파일 검증을 PASS로 기록한다. 실제 Entra SECURITY_ADMIN 브라우저 세션을 이용한 보고서 생성과 최종 인쇄/PDF는 NOT VERIFIED로 기록한다.</a:t>
            </a:r>
          </a:p>
          <a:p xmlns:a="http://schemas.openxmlformats.org/drawingml/2006/main">
            <a:r>
              <a:t>범위 한계: CAPSTONE MVP / Synthetic-Test 전용이다. 실환자·운영 PACS·법률 적합성·ISMS-P 인증·실제 임상효과·production readiness 주장을 하지 않는다. v3 전체 완료, 실제 IdP/KMS 및 종단 병원연동은 문서상 미완료 또는 미검증이다.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3ee5154c194e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f80b582b73496f" /><Relationship Type="http://schemas.openxmlformats.org/officeDocument/2006/relationships/slideLayout" Target="/ppt/slideLayouts/slideLayout1.xml" Id="Rc156aa06cb3149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56aa06cb3149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362d82c2da4252" /><Relationship Type="http://schemas.openxmlformats.org/officeDocument/2006/relationships/chart" Target="/ppt/slides/charts/chart1.xml" Id="R15a1f00191cc4628" /><Relationship Type="http://schemas.openxmlformats.org/officeDocument/2006/relationships/notesSlide" Target="/ppt/notesSlides/notesSlide1.xml" Id="R26586cf05e80402c" /></Relationships>
</file>

<file path=ppt/slides/charts/chart1.xml><?xml version="1.0" encoding="utf-8"?>
<c:chartSpace xmlns:c="http://schemas.openxmlformats.org/drawingml/2006/chart">
  <c:lang val="en-US"/>
  <c:chart>
    <c:plotArea>
      <c:barChart>
        <c:barDir val="bar"/>
        <c:grouping val="clustered"/>
        <c:varyColors val="0"/>
        <c:ser>
          <c:idx val="0"/>
          <c:order val="0"/>
          <c:tx>
            <c:v>P0 functional requirement IDs</c:v>
          </c:tx>
          <c:spPr>
            <a:solidFill xmlns:a="http://schemas.openxmlformats.org/drawingml/2006/main">
              <a:srgbClr val="2E63C8"/>
            </a:solidFill>
          </c:spPr>
          <c:dPt>
            <c:idx val="0"/>
            <c:invertIfNegative val="0"/>
            <c:spPr>
              <a:solidFill xmlns:a="http://schemas.openxmlformats.org/drawingml/2006/main">
                <a:srgbClr val="99A4B1"/>
              </a:solidFill>
            </c:spPr>
          </c:dPt>
          <c:dPt>
            <c:idx val="1"/>
            <c:invertIfNegative val="0"/>
            <c:spPr>
              <a:solidFill xmlns:a="http://schemas.openxmlformats.org/drawingml/2006/main">
                <a:srgbClr val="C48939"/>
              </a:solidFill>
            </c:spPr>
          </c:dPt>
          <c:dPt>
            <c:idx val="2"/>
            <c:invertIfNegative val="0"/>
            <c:spPr>
              <a:solidFill xmlns:a="http://schemas.openxmlformats.org/drawingml/2006/main">
                <a:srgbClr val="4D8D84"/>
              </a:solidFill>
            </c:spPr>
          </c:dPt>
          <c:dPt>
            <c:idx val="3"/>
            <c:invertIfNegative val="0"/>
            <c:spPr>
              <a:solidFill xmlns:a="http://schemas.openxmlformats.org/drawingml/2006/main">
                <a:srgbClr val="2E63C8"/>
              </a:solidFill>
            </c:spPr>
          </c:dPt>
          <c:cat>
            <c:strLit>
              <c:ptCount val="4"/>
              <c:pt idx="0">
                <c:v>NOT VERIFIED</c:v>
              </c:pt>
              <c:pt idx="1">
                <c:v>NOT IMPLEMENTED</c:v>
              </c:pt>
              <c:pt idx="2">
                <c:v>PARTIAL</c:v>
              </c:pt>
              <c:pt idx="3">
                <c:v>IMPLEMENTED-LOCAL</c:v>
              </c:pt>
            </c:strLit>
          </c:cat>
          <c:val>
            <c:numLit>
              <c:formatCode>General</c:formatCode>
              <c:ptCount val="4"/>
              <c:pt idx="0">
                <c:v>1</c:v>
              </c:pt>
              <c:pt idx="1">
                <c:v>19</c:v>
              </c:pt>
              <c:pt idx="2">
                <c:v>45</c:v>
              </c:pt>
              <c:pt idx="3">
                <c:v>10</c:v>
              </c:pt>
            </c:numLit>
          </c:val>
        </c:ser>
        <c:dLbls>
          <c:txPr>
            <a:bodyPr xmlns:a="http://schemas.openxmlformats.org/drawingml/2006/main" anchorCtr="1"/>
            <a:lstStyle xmlns:a="http://schemas.openxmlformats.org/drawingml/2006/main"/>
            <a:p xmlns:a="http://schemas.openxmlformats.org/drawingml/2006/main">
              <a:pPr>
                <a:defRPr sz="1350" b="1">
                  <a:solidFill>
                    <a:srgbClr val="16294A"/>
                  </a:solidFill>
                  <a:latin typeface="Calibri"/>
                  <a:ea typeface="Calibri"/>
                  <a:cs typeface="Calibri"/>
                </a:defRPr>
              </a:pPr>
            </a:p>
          </c:txPr>
          <c:dLblPos val="outEnd"/>
          <c:showLegendKey val="0"/>
          <c:showVal val="1"/>
          <c:showCatName val="0"/>
          <c:showSerName val="0"/>
          <c:showPercent val="0"/>
          <c:showBubbleSize val="0"/>
          <c:showLeaderLines val="0"/>
        </c:dLbls>
        <c:gapWidth val="7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tickLblPos val="nextTo"/>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75">
                <a:solidFill>
                  <a:srgbClr val="172536"/>
                </a:solidFill>
                <a:latin typeface="Calibri"/>
                <a:ea typeface="Calibri"/>
                <a:cs typeface="Calibri"/>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9" name="brand-rule">
            <a:extLst xmlns:a="http://schemas.openxmlformats.org/drawingml/2006/main">
              <a:ext uri="{FF2B5EF4-FFF2-40B4-BE49-F238E27FC236}">
                <a16:creationId xmlns:a16="http://schemas.microsoft.com/office/drawing/2014/main" id="{0727EF38-090E-4265-BA68-BE1FFAEA4972}"/>
              </a:ext>
            </a:extLst>
          </p:cNvPr>
          <p:cNvSpPr>
            <a:spLocks xmlns:a="http://schemas.openxmlformats.org/drawingml/2006/main" noGrp="1"/>
          </p:cNvSpPr>
          <p:nvPr/>
        </p:nvSpPr>
        <p:spPr>
          <a:xfrm xmlns:a="http://schemas.openxmlformats.org/drawingml/2006/main">
            <a:off x="514350" y="361950"/>
            <a:ext cx="57150" cy="542925"/>
          </a:xfrm>
          <a:prstGeom xmlns:a="http://schemas.openxmlformats.org/drawingml/2006/main" prst="rect">
            <a:avLst/>
          </a:prstGeom>
          <a:solidFill xmlns:a="http://schemas.openxmlformats.org/drawingml/2006/main">
            <a:srgbClr val="2E63C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0834E707-0B28-4E24-AFF0-494E9060C21A}"/>
              </a:ext>
            </a:extLst>
          </p:cNvPr>
          <p:cNvSpPr>
            <a:spLocks xmlns:a="http://schemas.openxmlformats.org/drawingml/2006/main" noGrp="1"/>
          </p:cNvSpPr>
          <p:nvPr/>
        </p:nvSpPr>
        <p:spPr>
          <a:xfrm xmlns:a="http://schemas.openxmlformats.org/drawingml/2006/main">
            <a:off x="723900" y="323850"/>
            <a:ext cx="809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3750" b="1">
                <a:solidFill>
                  <a:srgbClr val="16294A"/>
                </a:solidFill>
                <a:latin typeface="Noto Sans KR"/>
                <a:ea typeface="Noto Sans KR"/>
                <a:cs typeface="Noto Sans KR"/>
              </a:defRPr>
            </a:pPr>
            <a:r>
              <a:rPr sz="3750" b="1">
                <a:solidFill>
                  <a:srgbClr val="16294A"/>
                </a:solidFill>
                <a:latin typeface="Noto Sans KR"/>
                <a:ea typeface="Noto Sans KR"/>
                <a:cs typeface="Noto Sans KR"/>
              </a:rPr>
              <a:t>요구사항 범위와 반영 현황</a:t>
            </a:r>
          </a:p>
        </p:txBody>
      </p:sp>
      <p:sp>
        <p:nvSpPr>
          <p:cNvPr id="3" name="slide-subtitle">
            <a:extLst xmlns:a="http://schemas.openxmlformats.org/drawingml/2006/main">
              <a:ext uri="{FF2B5EF4-FFF2-40B4-BE49-F238E27FC236}">
                <a16:creationId xmlns:a16="http://schemas.microsoft.com/office/drawing/2014/main" id="{93B57FAB-0FFF-4184-A5F0-1AF84A1A0CA0}"/>
              </a:ext>
            </a:extLst>
          </p:cNvPr>
          <p:cNvSpPr>
            <a:spLocks xmlns:a="http://schemas.openxmlformats.org/drawingml/2006/main" noGrp="1"/>
          </p:cNvSpPr>
          <p:nvPr/>
        </p:nvSpPr>
        <p:spPr>
          <a:xfrm xmlns:a="http://schemas.openxmlformats.org/drawingml/2006/main">
            <a:off x="733425" y="91440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650">
                <a:solidFill>
                  <a:srgbClr val="59697D"/>
                </a:solidFill>
                <a:latin typeface="Noto Sans KR"/>
                <a:ea typeface="Noto Sans KR"/>
                <a:cs typeface="Noto Sans KR"/>
              </a:defRPr>
            </a:pPr>
            <a:r>
              <a:rPr sz="1650">
                <a:solidFill>
                  <a:srgbClr val="59697D"/>
                </a:solidFill>
                <a:latin typeface="Noto Sans KR"/>
                <a:ea typeface="Noto Sans KR"/>
                <a:cs typeface="Noto Sans KR"/>
              </a:rPr>
              <a:t>환자 동의에서 승인된 영상 접근과 감사까지, 목표 흐름과 현재 근거를 함께 봅니다</a:t>
            </a:r>
          </a:p>
        </p:txBody>
      </p:sp>
      <p:sp>
        <p:nvSpPr>
          <p:cNvPr id="4" name="header-rule">
            <a:extLst xmlns:a="http://schemas.openxmlformats.org/drawingml/2006/main">
              <a:ext uri="{FF2B5EF4-FFF2-40B4-BE49-F238E27FC236}">
                <a16:creationId xmlns:a16="http://schemas.microsoft.com/office/drawing/2014/main" id="{85FB9A33-C81F-4C9E-A1A6-4EFE75A99750}"/>
              </a:ext>
            </a:extLst>
          </p:cNvPr>
          <p:cNvSpPr>
            <a:spLocks xmlns:a="http://schemas.openxmlformats.org/drawingml/2006/main" noGrp="1"/>
          </p:cNvSpPr>
          <p:nvPr/>
        </p:nvSpPr>
        <p:spPr>
          <a:xfrm xmlns:a="http://schemas.openxmlformats.org/drawingml/2006/main">
            <a:off x="514350" y="1304925"/>
            <a:ext cx="11163300" cy="14288"/>
          </a:xfrm>
          <a:prstGeom xmlns:a="http://schemas.openxmlformats.org/drawingml/2006/main" prst="rect">
            <a:avLst/>
          </a:prstGeom>
          <a:solidFill xmlns:a="http://schemas.openxmlformats.org/drawingml/2006/main">
            <a:srgbClr val="D8DEE7"/>
          </a:solidFill>
          <a:ln xmlns:a="http://schemas.openxmlformats.org/drawingml/2006/main" w="0">
            <a:noFill/>
            <a:prstDash val="solid"/>
          </a:ln>
        </p:spPr>
      </p:sp>
      <p:sp>
        <p:nvSpPr>
          <p:cNvPr id="5" name="target-flow-label">
            <a:extLst xmlns:a="http://schemas.openxmlformats.org/drawingml/2006/main">
              <a:ext uri="{FF2B5EF4-FFF2-40B4-BE49-F238E27FC236}">
                <a16:creationId xmlns:a16="http://schemas.microsoft.com/office/drawing/2014/main" id="{CC096E45-64A4-4D87-A692-49A86532D910}"/>
              </a:ext>
            </a:extLst>
          </p:cNvPr>
          <p:cNvSpPr>
            <a:spLocks xmlns:a="http://schemas.openxmlformats.org/drawingml/2006/main" noGrp="1"/>
          </p:cNvSpPr>
          <p:nvPr/>
        </p:nvSpPr>
        <p:spPr>
          <a:xfrm xmlns:a="http://schemas.openxmlformats.org/drawingml/2006/main">
            <a:off x="552450" y="13906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7222"/>
          </a:bodyPr>
          <a:lstStyle xmlns:a="http://schemas.openxmlformats.org/drawingml/2006/main"/>
          <a:p xmlns:a="http://schemas.openxmlformats.org/drawingml/2006/main">
            <a:pPr>
              <a:defRPr sz="1800" b="1">
                <a:solidFill>
                  <a:srgbClr val="16294A"/>
                </a:solidFill>
                <a:latin typeface="Noto Sans KR"/>
                <a:ea typeface="Noto Sans KR"/>
                <a:cs typeface="Noto Sans KR"/>
              </a:defRPr>
            </a:pPr>
            <a:r>
              <a:rPr sz="1800" b="1">
                <a:solidFill>
                  <a:srgbClr val="16294A"/>
                </a:solidFill>
                <a:latin typeface="Noto Sans KR"/>
                <a:ea typeface="Noto Sans KR"/>
                <a:cs typeface="Noto Sans KR"/>
              </a:rPr>
              <a:t>v3 목표 요구사항 흐름</a:t>
            </a:r>
          </a:p>
        </p:txBody>
      </p:sp>
      <p:sp>
        <p:nvSpPr>
          <p:cNvPr id="6" name="target-flow-caption">
            <a:extLst xmlns:a="http://schemas.openxmlformats.org/drawingml/2006/main">
              <a:ext uri="{FF2B5EF4-FFF2-40B4-BE49-F238E27FC236}">
                <a16:creationId xmlns:a16="http://schemas.microsoft.com/office/drawing/2014/main" id="{9DF92B29-B4F7-463E-AAFA-89BF8971CA15}"/>
              </a:ext>
            </a:extLst>
          </p:cNvPr>
          <p:cNvSpPr>
            <a:spLocks xmlns:a="http://schemas.openxmlformats.org/drawingml/2006/main" noGrp="1"/>
          </p:cNvSpPr>
          <p:nvPr/>
        </p:nvSpPr>
        <p:spPr>
          <a:xfrm xmlns:a="http://schemas.openxmlformats.org/drawingml/2006/main">
            <a:off x="6572250" y="139065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350">
                <a:solidFill>
                  <a:srgbClr val="59697D"/>
                </a:solidFill>
                <a:latin typeface="Noto Sans KR"/>
                <a:ea typeface="Noto Sans KR"/>
                <a:cs typeface="Noto Sans KR"/>
              </a:defRPr>
            </a:pPr>
            <a:r>
              <a:rPr sz="1350">
                <a:solidFill>
                  <a:srgbClr val="59697D"/>
                </a:solidFill>
                <a:latin typeface="Noto Sans KR"/>
                <a:ea typeface="Noto Sans KR"/>
                <a:cs typeface="Noto Sans KR"/>
              </a:rPr>
              <a:t>원본은 출처 병원에 유지하고, 권한이 확인된 범위만 교류합니다</a:t>
            </a:r>
          </a:p>
        </p:txBody>
      </p:sp>
      <p:sp>
        <p:nvSpPr>
          <p:cNvPr id="7" name="journey-node-1">
            <a:extLst xmlns:a="http://schemas.openxmlformats.org/drawingml/2006/main">
              <a:ext uri="{FF2B5EF4-FFF2-40B4-BE49-F238E27FC236}">
                <a16:creationId xmlns:a16="http://schemas.microsoft.com/office/drawing/2014/main" id="{5FB70582-A186-4FCA-A130-3C7ABC003956}"/>
              </a:ext>
            </a:extLst>
          </p:cNvPr>
          <p:cNvSpPr>
            <a:spLocks xmlns:a="http://schemas.openxmlformats.org/drawingml/2006/main" noGrp="1"/>
          </p:cNvSpPr>
          <p:nvPr/>
        </p:nvSpPr>
        <p:spPr>
          <a:xfrm xmlns:a="http://schemas.openxmlformats.org/drawingml/2006/main">
            <a:off x="514350" y="1752600"/>
            <a:ext cx="169545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906">
            <a:solidFill>
              <a:srgbClr val="B7C9E9"/>
            </a:solidFill>
            <a:prstDash val="solid"/>
          </a:ln>
        </p:spPr>
      </p:sp>
      <p:sp>
        <p:nvSpPr>
          <p:cNvPr id="8" name="journey-node-accent-1">
            <a:extLst xmlns:a="http://schemas.openxmlformats.org/drawingml/2006/main">
              <a:ext uri="{FF2B5EF4-FFF2-40B4-BE49-F238E27FC236}">
                <a16:creationId xmlns:a16="http://schemas.microsoft.com/office/drawing/2014/main" id="{A0BC728A-792B-460B-9FEF-59C2A957B3E1}"/>
              </a:ext>
            </a:extLst>
          </p:cNvPr>
          <p:cNvSpPr>
            <a:spLocks xmlns:a="http://schemas.openxmlformats.org/drawingml/2006/main" noGrp="1"/>
          </p:cNvSpPr>
          <p:nvPr/>
        </p:nvSpPr>
        <p:spPr>
          <a:xfrm xmlns:a="http://schemas.openxmlformats.org/drawingml/2006/main">
            <a:off x="514350" y="1752600"/>
            <a:ext cx="47625" cy="1123950"/>
          </a:xfrm>
          <a:prstGeom xmlns:a="http://schemas.openxmlformats.org/drawingml/2006/main" prst="rect">
            <a:avLst/>
          </a:prstGeom>
          <a:solidFill xmlns:a="http://schemas.openxmlformats.org/drawingml/2006/main">
            <a:srgbClr val="2E63C8"/>
          </a:solidFill>
          <a:ln xmlns:a="http://schemas.openxmlformats.org/drawingml/2006/main" w="0">
            <a:noFill/>
            <a:prstDash val="solid"/>
          </a:ln>
        </p:spPr>
      </p:sp>
      <p:sp>
        <p:nvSpPr>
          <p:cNvPr id="9" name="journey-step-1">
            <a:extLst xmlns:a="http://schemas.openxmlformats.org/drawingml/2006/main">
              <a:ext uri="{FF2B5EF4-FFF2-40B4-BE49-F238E27FC236}">
                <a16:creationId xmlns:a16="http://schemas.microsoft.com/office/drawing/2014/main" id="{59CB1F34-04B1-4F5E-BD9F-F86C6BF6C16D}"/>
              </a:ext>
            </a:extLst>
          </p:cNvPr>
          <p:cNvSpPr>
            <a:spLocks xmlns:a="http://schemas.openxmlformats.org/drawingml/2006/main" noGrp="1"/>
          </p:cNvSpPr>
          <p:nvPr/>
        </p:nvSpPr>
        <p:spPr>
          <a:xfrm xmlns:a="http://schemas.openxmlformats.org/drawingml/2006/main">
            <a:off x="647700" y="18288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00" b="1">
                <a:solidFill>
                  <a:srgbClr val="2E63C8"/>
                </a:solidFill>
                <a:latin typeface="Noto Sans KR"/>
                <a:ea typeface="Noto Sans KR"/>
                <a:cs typeface="Noto Sans KR"/>
              </a:defRPr>
            </a:pPr>
            <a:r>
              <a:rPr sz="1200" b="1">
                <a:solidFill>
                  <a:srgbClr val="2E63C8"/>
                </a:solidFill>
                <a:latin typeface="Noto Sans KR"/>
                <a:ea typeface="Noto Sans KR"/>
                <a:cs typeface="Noto Sans KR"/>
              </a:rPr>
              <a:t>01</a:t>
            </a:r>
          </a:p>
        </p:txBody>
      </p:sp>
      <p:sp>
        <p:nvSpPr>
          <p:cNvPr id="10" name="journey-title-1">
            <a:extLst xmlns:a="http://schemas.openxmlformats.org/drawingml/2006/main">
              <a:ext uri="{FF2B5EF4-FFF2-40B4-BE49-F238E27FC236}">
                <a16:creationId xmlns:a16="http://schemas.microsoft.com/office/drawing/2014/main" id="{9E7318F2-824C-4B6D-8EA8-9EB7F298DD19}"/>
              </a:ext>
            </a:extLst>
          </p:cNvPr>
          <p:cNvSpPr>
            <a:spLocks xmlns:a="http://schemas.openxmlformats.org/drawingml/2006/main" noGrp="1"/>
          </p:cNvSpPr>
          <p:nvPr/>
        </p:nvSpPr>
        <p:spPr>
          <a:xfrm xmlns:a="http://schemas.openxmlformats.org/drawingml/2006/main">
            <a:off x="647700" y="20574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650" b="1">
                <a:solidFill>
                  <a:srgbClr val="16294A"/>
                </a:solidFill>
                <a:latin typeface="Noto Sans KR"/>
                <a:ea typeface="Noto Sans KR"/>
                <a:cs typeface="Noto Sans KR"/>
              </a:defRPr>
            </a:pPr>
            <a:r>
              <a:rPr sz="1650" b="1">
                <a:solidFill>
                  <a:srgbClr val="16294A"/>
                </a:solidFill>
                <a:latin typeface="Noto Sans KR"/>
                <a:ea typeface="Noto Sans KR"/>
                <a:cs typeface="Noto Sans KR"/>
              </a:rPr>
              <a:t>환자·기관 식별</a:t>
            </a:r>
          </a:p>
        </p:txBody>
      </p:sp>
      <p:sp>
        <p:nvSpPr>
          <p:cNvPr id="11" name="journey-body-1">
            <a:extLst xmlns:a="http://schemas.openxmlformats.org/drawingml/2006/main">
              <a:ext uri="{FF2B5EF4-FFF2-40B4-BE49-F238E27FC236}">
                <a16:creationId xmlns:a16="http://schemas.microsoft.com/office/drawing/2014/main" id="{DFD14179-720F-406D-AF6E-42CCF09D89E8}"/>
              </a:ext>
            </a:extLst>
          </p:cNvPr>
          <p:cNvSpPr>
            <a:spLocks xmlns:a="http://schemas.openxmlformats.org/drawingml/2006/main" noGrp="1"/>
          </p:cNvSpPr>
          <p:nvPr/>
        </p:nvSpPr>
        <p:spPr>
          <a:xfrm xmlns:a="http://schemas.openxmlformats.org/drawingml/2006/main">
            <a:off x="647700" y="236220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PatientRef</a:t>
            </a:r>
          </a:p>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기관별 Mapping</a:t>
            </a:r>
          </a:p>
        </p:txBody>
      </p:sp>
      <p:sp>
        <p:nvSpPr>
          <p:cNvPr id="12" name="journey-node-2">
            <a:extLst xmlns:a="http://schemas.openxmlformats.org/drawingml/2006/main">
              <a:ext uri="{FF2B5EF4-FFF2-40B4-BE49-F238E27FC236}">
                <a16:creationId xmlns:a16="http://schemas.microsoft.com/office/drawing/2014/main" id="{3F578B66-2E4D-41BF-8E9D-35BF6994C72D}"/>
              </a:ext>
            </a:extLst>
          </p:cNvPr>
          <p:cNvSpPr>
            <a:spLocks xmlns:a="http://schemas.openxmlformats.org/drawingml/2006/main" noGrp="1"/>
          </p:cNvSpPr>
          <p:nvPr/>
        </p:nvSpPr>
        <p:spPr>
          <a:xfrm xmlns:a="http://schemas.openxmlformats.org/drawingml/2006/main">
            <a:off x="2381250" y="1752600"/>
            <a:ext cx="169545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906">
            <a:solidFill>
              <a:srgbClr val="B7C9E9"/>
            </a:solidFill>
            <a:prstDash val="solid"/>
          </a:ln>
        </p:spPr>
      </p:sp>
      <p:sp>
        <p:nvSpPr>
          <p:cNvPr id="13" name="journey-node-accent-2">
            <a:extLst xmlns:a="http://schemas.openxmlformats.org/drawingml/2006/main">
              <a:ext uri="{FF2B5EF4-FFF2-40B4-BE49-F238E27FC236}">
                <a16:creationId xmlns:a16="http://schemas.microsoft.com/office/drawing/2014/main" id="{FC199809-9F22-45C6-BD2C-F3AEEEADE077}"/>
              </a:ext>
            </a:extLst>
          </p:cNvPr>
          <p:cNvSpPr>
            <a:spLocks xmlns:a="http://schemas.openxmlformats.org/drawingml/2006/main" noGrp="1"/>
          </p:cNvSpPr>
          <p:nvPr/>
        </p:nvSpPr>
        <p:spPr>
          <a:xfrm xmlns:a="http://schemas.openxmlformats.org/drawingml/2006/main">
            <a:off x="2381250" y="1752600"/>
            <a:ext cx="47625" cy="1123950"/>
          </a:xfrm>
          <a:prstGeom xmlns:a="http://schemas.openxmlformats.org/drawingml/2006/main" prst="rect">
            <a:avLst/>
          </a:prstGeom>
          <a:solidFill xmlns:a="http://schemas.openxmlformats.org/drawingml/2006/main">
            <a:srgbClr val="2E63C8"/>
          </a:solidFill>
          <a:ln xmlns:a="http://schemas.openxmlformats.org/drawingml/2006/main" w="0">
            <a:noFill/>
            <a:prstDash val="solid"/>
          </a:ln>
        </p:spPr>
      </p:sp>
      <p:sp>
        <p:nvSpPr>
          <p:cNvPr id="14" name="journey-step-2">
            <a:extLst xmlns:a="http://schemas.openxmlformats.org/drawingml/2006/main">
              <a:ext uri="{FF2B5EF4-FFF2-40B4-BE49-F238E27FC236}">
                <a16:creationId xmlns:a16="http://schemas.microsoft.com/office/drawing/2014/main" id="{D176458B-C505-4C24-BB3C-DE48937DE999}"/>
              </a:ext>
            </a:extLst>
          </p:cNvPr>
          <p:cNvSpPr>
            <a:spLocks xmlns:a="http://schemas.openxmlformats.org/drawingml/2006/main" noGrp="1"/>
          </p:cNvSpPr>
          <p:nvPr/>
        </p:nvSpPr>
        <p:spPr>
          <a:xfrm xmlns:a="http://schemas.openxmlformats.org/drawingml/2006/main">
            <a:off x="2514600" y="18288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00" b="1">
                <a:solidFill>
                  <a:srgbClr val="2E63C8"/>
                </a:solidFill>
                <a:latin typeface="Noto Sans KR"/>
                <a:ea typeface="Noto Sans KR"/>
                <a:cs typeface="Noto Sans KR"/>
              </a:defRPr>
            </a:pPr>
            <a:r>
              <a:rPr sz="1200" b="1">
                <a:solidFill>
                  <a:srgbClr val="2E63C8"/>
                </a:solidFill>
                <a:latin typeface="Noto Sans KR"/>
                <a:ea typeface="Noto Sans KR"/>
                <a:cs typeface="Noto Sans KR"/>
              </a:rPr>
              <a:t>02</a:t>
            </a:r>
          </a:p>
        </p:txBody>
      </p:sp>
      <p:sp>
        <p:nvSpPr>
          <p:cNvPr id="15" name="journey-title-2">
            <a:extLst xmlns:a="http://schemas.openxmlformats.org/drawingml/2006/main">
              <a:ext uri="{FF2B5EF4-FFF2-40B4-BE49-F238E27FC236}">
                <a16:creationId xmlns:a16="http://schemas.microsoft.com/office/drawing/2014/main" id="{B4837B53-834A-421A-A3C1-DAC2FF9BE4D2}"/>
              </a:ext>
            </a:extLst>
          </p:cNvPr>
          <p:cNvSpPr>
            <a:spLocks xmlns:a="http://schemas.openxmlformats.org/drawingml/2006/main" noGrp="1"/>
          </p:cNvSpPr>
          <p:nvPr/>
        </p:nvSpPr>
        <p:spPr>
          <a:xfrm xmlns:a="http://schemas.openxmlformats.org/drawingml/2006/main">
            <a:off x="2514600" y="20574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650" b="1">
                <a:solidFill>
                  <a:srgbClr val="16294A"/>
                </a:solidFill>
                <a:latin typeface="Noto Sans KR"/>
                <a:ea typeface="Noto Sans KR"/>
                <a:cs typeface="Noto Sans KR"/>
              </a:defRPr>
            </a:pPr>
            <a:r>
              <a:rPr sz="1650" b="1">
                <a:solidFill>
                  <a:srgbClr val="16294A"/>
                </a:solidFill>
                <a:latin typeface="Noto Sans KR"/>
                <a:ea typeface="Noto Sans KR"/>
                <a:cs typeface="Noto Sans KR"/>
              </a:rPr>
              <a:t>세션·동의</a:t>
            </a:r>
          </a:p>
        </p:txBody>
      </p:sp>
      <p:sp>
        <p:nvSpPr>
          <p:cNvPr id="16" name="journey-body-2">
            <a:extLst xmlns:a="http://schemas.openxmlformats.org/drawingml/2006/main">
              <a:ext uri="{FF2B5EF4-FFF2-40B4-BE49-F238E27FC236}">
                <a16:creationId xmlns:a16="http://schemas.microsoft.com/office/drawing/2014/main" id="{5507BA89-5FE1-4BEA-8AFF-E3209F3869BA}"/>
              </a:ext>
            </a:extLst>
          </p:cNvPr>
          <p:cNvSpPr>
            <a:spLocks xmlns:a="http://schemas.openxmlformats.org/drawingml/2006/main" noGrp="1"/>
          </p:cNvSpPr>
          <p:nvPr/>
        </p:nvSpPr>
        <p:spPr>
          <a:xfrm xmlns:a="http://schemas.openxmlformats.org/drawingml/2006/main">
            <a:off x="2514600" y="236220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대상·목적·기간</a:t>
            </a:r>
          </a:p>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Study/Series 범위</a:t>
            </a:r>
          </a:p>
        </p:txBody>
      </p:sp>
      <p:sp>
        <p:nvSpPr>
          <p:cNvPr id="17" name="journey-node-3">
            <a:extLst xmlns:a="http://schemas.openxmlformats.org/drawingml/2006/main">
              <a:ext uri="{FF2B5EF4-FFF2-40B4-BE49-F238E27FC236}">
                <a16:creationId xmlns:a16="http://schemas.microsoft.com/office/drawing/2014/main" id="{506B026B-9452-4035-9996-B11411E2EE17}"/>
              </a:ext>
            </a:extLst>
          </p:cNvPr>
          <p:cNvSpPr>
            <a:spLocks xmlns:a="http://schemas.openxmlformats.org/drawingml/2006/main" noGrp="1"/>
          </p:cNvSpPr>
          <p:nvPr/>
        </p:nvSpPr>
        <p:spPr>
          <a:xfrm xmlns:a="http://schemas.openxmlformats.org/drawingml/2006/main">
            <a:off x="4248150" y="1752600"/>
            <a:ext cx="169545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906">
            <a:solidFill>
              <a:srgbClr val="B7C9E9"/>
            </a:solidFill>
            <a:prstDash val="solid"/>
          </a:ln>
        </p:spPr>
      </p:sp>
      <p:sp>
        <p:nvSpPr>
          <p:cNvPr id="18" name="journey-node-accent-3">
            <a:extLst xmlns:a="http://schemas.openxmlformats.org/drawingml/2006/main">
              <a:ext uri="{FF2B5EF4-FFF2-40B4-BE49-F238E27FC236}">
                <a16:creationId xmlns:a16="http://schemas.microsoft.com/office/drawing/2014/main" id="{7477E9A3-05A8-4363-9211-87B59BFDDB6A}"/>
              </a:ext>
            </a:extLst>
          </p:cNvPr>
          <p:cNvSpPr>
            <a:spLocks xmlns:a="http://schemas.openxmlformats.org/drawingml/2006/main" noGrp="1"/>
          </p:cNvSpPr>
          <p:nvPr/>
        </p:nvSpPr>
        <p:spPr>
          <a:xfrm xmlns:a="http://schemas.openxmlformats.org/drawingml/2006/main">
            <a:off x="4248150" y="1752600"/>
            <a:ext cx="47625" cy="1123950"/>
          </a:xfrm>
          <a:prstGeom xmlns:a="http://schemas.openxmlformats.org/drawingml/2006/main" prst="rect">
            <a:avLst/>
          </a:prstGeom>
          <a:solidFill xmlns:a="http://schemas.openxmlformats.org/drawingml/2006/main">
            <a:srgbClr val="2E63C8"/>
          </a:solidFill>
          <a:ln xmlns:a="http://schemas.openxmlformats.org/drawingml/2006/main" w="0">
            <a:noFill/>
            <a:prstDash val="solid"/>
          </a:ln>
        </p:spPr>
      </p:sp>
      <p:sp>
        <p:nvSpPr>
          <p:cNvPr id="19" name="journey-step-3">
            <a:extLst xmlns:a="http://schemas.openxmlformats.org/drawingml/2006/main">
              <a:ext uri="{FF2B5EF4-FFF2-40B4-BE49-F238E27FC236}">
                <a16:creationId xmlns:a16="http://schemas.microsoft.com/office/drawing/2014/main" id="{209B98FA-5182-4EE9-9BA6-FCFFE0F6BF58}"/>
              </a:ext>
            </a:extLst>
          </p:cNvPr>
          <p:cNvSpPr>
            <a:spLocks xmlns:a="http://schemas.openxmlformats.org/drawingml/2006/main" noGrp="1"/>
          </p:cNvSpPr>
          <p:nvPr/>
        </p:nvSpPr>
        <p:spPr>
          <a:xfrm xmlns:a="http://schemas.openxmlformats.org/drawingml/2006/main">
            <a:off x="4381500" y="18288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00" b="1">
                <a:solidFill>
                  <a:srgbClr val="2E63C8"/>
                </a:solidFill>
                <a:latin typeface="Noto Sans KR"/>
                <a:ea typeface="Noto Sans KR"/>
                <a:cs typeface="Noto Sans KR"/>
              </a:defRPr>
            </a:pPr>
            <a:r>
              <a:rPr sz="1200" b="1">
                <a:solidFill>
                  <a:srgbClr val="2E63C8"/>
                </a:solidFill>
                <a:latin typeface="Noto Sans KR"/>
                <a:ea typeface="Noto Sans KR"/>
                <a:cs typeface="Noto Sans KR"/>
              </a:rPr>
              <a:t>03</a:t>
            </a:r>
          </a:p>
        </p:txBody>
      </p:sp>
      <p:sp>
        <p:nvSpPr>
          <p:cNvPr id="20" name="journey-title-3">
            <a:extLst xmlns:a="http://schemas.openxmlformats.org/drawingml/2006/main">
              <a:ext uri="{FF2B5EF4-FFF2-40B4-BE49-F238E27FC236}">
                <a16:creationId xmlns:a16="http://schemas.microsoft.com/office/drawing/2014/main" id="{D6D2CD2E-39EC-4941-9101-672167D61B3E}"/>
              </a:ext>
            </a:extLst>
          </p:cNvPr>
          <p:cNvSpPr>
            <a:spLocks xmlns:a="http://schemas.openxmlformats.org/drawingml/2006/main" noGrp="1"/>
          </p:cNvSpPr>
          <p:nvPr/>
        </p:nvSpPr>
        <p:spPr>
          <a:xfrm xmlns:a="http://schemas.openxmlformats.org/drawingml/2006/main">
            <a:off x="4381500" y="20574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650" b="1">
                <a:solidFill>
                  <a:srgbClr val="16294A"/>
                </a:solidFill>
                <a:latin typeface="Noto Sans KR"/>
                <a:ea typeface="Noto Sans KR"/>
                <a:cs typeface="Noto Sans KR"/>
              </a:defRPr>
            </a:pPr>
            <a:r>
              <a:rPr sz="1650" b="1">
                <a:solidFill>
                  <a:srgbClr val="16294A"/>
                </a:solidFill>
                <a:latin typeface="Noto Sans KR"/>
                <a:ea typeface="Noto Sans KR"/>
                <a:cs typeface="Noto Sans KR"/>
              </a:rPr>
              <a:t>권한 결정</a:t>
            </a:r>
          </a:p>
        </p:txBody>
      </p:sp>
      <p:sp>
        <p:nvSpPr>
          <p:cNvPr id="21" name="journey-body-3">
            <a:extLst xmlns:a="http://schemas.openxmlformats.org/drawingml/2006/main">
              <a:ext uri="{FF2B5EF4-FFF2-40B4-BE49-F238E27FC236}">
                <a16:creationId xmlns:a16="http://schemas.microsoft.com/office/drawing/2014/main" id="{13166C15-E56C-4DB3-BD2A-3CDC39CFF28B}"/>
              </a:ext>
            </a:extLst>
          </p:cNvPr>
          <p:cNvSpPr>
            <a:spLocks xmlns:a="http://schemas.openxmlformats.org/drawingml/2006/main" noGrp="1"/>
          </p:cNvSpPr>
          <p:nvPr/>
        </p:nvSpPr>
        <p:spPr>
          <a:xfrm xmlns:a="http://schemas.openxmlformats.org/drawingml/2006/main">
            <a:off x="4381500" y="236220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RBAC + ABAC</a:t>
            </a:r>
          </a:p>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불일치면 차단</a:t>
            </a:r>
          </a:p>
        </p:txBody>
      </p:sp>
      <p:sp>
        <p:nvSpPr>
          <p:cNvPr id="22" name="journey-node-4">
            <a:extLst xmlns:a="http://schemas.openxmlformats.org/drawingml/2006/main">
              <a:ext uri="{FF2B5EF4-FFF2-40B4-BE49-F238E27FC236}">
                <a16:creationId xmlns:a16="http://schemas.microsoft.com/office/drawing/2014/main" id="{D966CEAF-21B3-4388-8FA1-B9C8F7E541BA}"/>
              </a:ext>
            </a:extLst>
          </p:cNvPr>
          <p:cNvSpPr>
            <a:spLocks xmlns:a="http://schemas.openxmlformats.org/drawingml/2006/main" noGrp="1"/>
          </p:cNvSpPr>
          <p:nvPr/>
        </p:nvSpPr>
        <p:spPr>
          <a:xfrm xmlns:a="http://schemas.openxmlformats.org/drawingml/2006/main">
            <a:off x="6115050" y="1752600"/>
            <a:ext cx="169545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906">
            <a:solidFill>
              <a:srgbClr val="B7C9E9"/>
            </a:solidFill>
            <a:prstDash val="solid"/>
          </a:ln>
        </p:spPr>
      </p:sp>
      <p:sp>
        <p:nvSpPr>
          <p:cNvPr id="23" name="journey-node-accent-4">
            <a:extLst xmlns:a="http://schemas.openxmlformats.org/drawingml/2006/main">
              <a:ext uri="{FF2B5EF4-FFF2-40B4-BE49-F238E27FC236}">
                <a16:creationId xmlns:a16="http://schemas.microsoft.com/office/drawing/2014/main" id="{06A0FBCF-6DF7-4555-A3D3-D10BB42B74E0}"/>
              </a:ext>
            </a:extLst>
          </p:cNvPr>
          <p:cNvSpPr>
            <a:spLocks xmlns:a="http://schemas.openxmlformats.org/drawingml/2006/main" noGrp="1"/>
          </p:cNvSpPr>
          <p:nvPr/>
        </p:nvSpPr>
        <p:spPr>
          <a:xfrm xmlns:a="http://schemas.openxmlformats.org/drawingml/2006/main">
            <a:off x="6115050" y="1752600"/>
            <a:ext cx="47625" cy="1123950"/>
          </a:xfrm>
          <a:prstGeom xmlns:a="http://schemas.openxmlformats.org/drawingml/2006/main" prst="rect">
            <a:avLst/>
          </a:prstGeom>
          <a:solidFill xmlns:a="http://schemas.openxmlformats.org/drawingml/2006/main">
            <a:srgbClr val="4D8D84"/>
          </a:solidFill>
          <a:ln xmlns:a="http://schemas.openxmlformats.org/drawingml/2006/main" w="0">
            <a:noFill/>
            <a:prstDash val="solid"/>
          </a:ln>
        </p:spPr>
      </p:sp>
      <p:sp>
        <p:nvSpPr>
          <p:cNvPr id="24" name="journey-step-4">
            <a:extLst xmlns:a="http://schemas.openxmlformats.org/drawingml/2006/main">
              <a:ext uri="{FF2B5EF4-FFF2-40B4-BE49-F238E27FC236}">
                <a16:creationId xmlns:a16="http://schemas.microsoft.com/office/drawing/2014/main" id="{B5BDF94F-16A5-4461-B958-515ED57CCDD2}"/>
              </a:ext>
            </a:extLst>
          </p:cNvPr>
          <p:cNvSpPr>
            <a:spLocks xmlns:a="http://schemas.openxmlformats.org/drawingml/2006/main" noGrp="1"/>
          </p:cNvSpPr>
          <p:nvPr/>
        </p:nvSpPr>
        <p:spPr>
          <a:xfrm xmlns:a="http://schemas.openxmlformats.org/drawingml/2006/main">
            <a:off x="6248400" y="18288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00" b="1">
                <a:solidFill>
                  <a:srgbClr val="4D8D84"/>
                </a:solidFill>
                <a:latin typeface="Noto Sans KR"/>
                <a:ea typeface="Noto Sans KR"/>
                <a:cs typeface="Noto Sans KR"/>
              </a:defRPr>
            </a:pPr>
            <a:r>
              <a:rPr sz="1200" b="1">
                <a:solidFill>
                  <a:srgbClr val="4D8D84"/>
                </a:solidFill>
                <a:latin typeface="Noto Sans KR"/>
                <a:ea typeface="Noto Sans KR"/>
                <a:cs typeface="Noto Sans KR"/>
              </a:rPr>
              <a:t>04</a:t>
            </a:r>
          </a:p>
        </p:txBody>
      </p:sp>
      <p:sp>
        <p:nvSpPr>
          <p:cNvPr id="25" name="journey-title-4">
            <a:extLst xmlns:a="http://schemas.openxmlformats.org/drawingml/2006/main">
              <a:ext uri="{FF2B5EF4-FFF2-40B4-BE49-F238E27FC236}">
                <a16:creationId xmlns:a16="http://schemas.microsoft.com/office/drawing/2014/main" id="{877432CC-3B02-4035-A5A7-10049F26BC52}"/>
              </a:ext>
            </a:extLst>
          </p:cNvPr>
          <p:cNvSpPr>
            <a:spLocks xmlns:a="http://schemas.openxmlformats.org/drawingml/2006/main" noGrp="1"/>
          </p:cNvSpPr>
          <p:nvPr/>
        </p:nvSpPr>
        <p:spPr>
          <a:xfrm xmlns:a="http://schemas.openxmlformats.org/drawingml/2006/main">
            <a:off x="6248400" y="20574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650" b="1">
                <a:solidFill>
                  <a:srgbClr val="16294A"/>
                </a:solidFill>
                <a:latin typeface="Noto Sans KR"/>
                <a:ea typeface="Noto Sans KR"/>
                <a:cs typeface="Noto Sans KR"/>
              </a:defRPr>
            </a:pPr>
            <a:r>
              <a:rPr sz="1650" b="1">
                <a:solidFill>
                  <a:srgbClr val="16294A"/>
                </a:solidFill>
                <a:latin typeface="Noto Sans KR"/>
                <a:ea typeface="Noto Sans KR"/>
                <a:cs typeface="Noto Sans KR"/>
              </a:rPr>
              <a:t>실행 권한</a:t>
            </a:r>
          </a:p>
        </p:txBody>
      </p:sp>
      <p:sp>
        <p:nvSpPr>
          <p:cNvPr id="26" name="journey-body-4">
            <a:extLst xmlns:a="http://schemas.openxmlformats.org/drawingml/2006/main">
              <a:ext uri="{FF2B5EF4-FFF2-40B4-BE49-F238E27FC236}">
                <a16:creationId xmlns:a16="http://schemas.microsoft.com/office/drawing/2014/main" id="{998193CA-4741-4738-A4EA-205CA069B49C}"/>
              </a:ext>
            </a:extLst>
          </p:cNvPr>
          <p:cNvSpPr>
            <a:spLocks xmlns:a="http://schemas.openxmlformats.org/drawingml/2006/main" noGrp="1"/>
          </p:cNvSpPr>
          <p:nvPr/>
        </p:nvSpPr>
        <p:spPr>
          <a:xfrm xmlns:a="http://schemas.openxmlformats.org/drawingml/2006/main">
            <a:off x="6248400" y="236220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병원·행위·영상 범위</a:t>
            </a:r>
          </a:p>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짧은 TTL</a:t>
            </a:r>
          </a:p>
        </p:txBody>
      </p:sp>
      <p:sp>
        <p:nvSpPr>
          <p:cNvPr id="27" name="journey-node-5">
            <a:extLst xmlns:a="http://schemas.openxmlformats.org/drawingml/2006/main">
              <a:ext uri="{FF2B5EF4-FFF2-40B4-BE49-F238E27FC236}">
                <a16:creationId xmlns:a16="http://schemas.microsoft.com/office/drawing/2014/main" id="{57DF14DE-771D-4195-89D4-D1373D8F5B88}"/>
              </a:ext>
            </a:extLst>
          </p:cNvPr>
          <p:cNvSpPr>
            <a:spLocks xmlns:a="http://schemas.openxmlformats.org/drawingml/2006/main" noGrp="1"/>
          </p:cNvSpPr>
          <p:nvPr/>
        </p:nvSpPr>
        <p:spPr>
          <a:xfrm xmlns:a="http://schemas.openxmlformats.org/drawingml/2006/main">
            <a:off x="7981950" y="1752600"/>
            <a:ext cx="169545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906">
            <a:solidFill>
              <a:srgbClr val="B7C9E9"/>
            </a:solidFill>
            <a:prstDash val="solid"/>
          </a:ln>
        </p:spPr>
      </p:sp>
      <p:sp>
        <p:nvSpPr>
          <p:cNvPr id="28" name="journey-node-accent-5">
            <a:extLst xmlns:a="http://schemas.openxmlformats.org/drawingml/2006/main">
              <a:ext uri="{FF2B5EF4-FFF2-40B4-BE49-F238E27FC236}">
                <a16:creationId xmlns:a16="http://schemas.microsoft.com/office/drawing/2014/main" id="{AD1A443E-749E-4D2B-B0D5-882F220EEF99}"/>
              </a:ext>
            </a:extLst>
          </p:cNvPr>
          <p:cNvSpPr>
            <a:spLocks xmlns:a="http://schemas.openxmlformats.org/drawingml/2006/main" noGrp="1"/>
          </p:cNvSpPr>
          <p:nvPr/>
        </p:nvSpPr>
        <p:spPr>
          <a:xfrm xmlns:a="http://schemas.openxmlformats.org/drawingml/2006/main">
            <a:off x="7981950" y="1752600"/>
            <a:ext cx="47625" cy="1123950"/>
          </a:xfrm>
          <a:prstGeom xmlns:a="http://schemas.openxmlformats.org/drawingml/2006/main" prst="rect">
            <a:avLst/>
          </a:prstGeom>
          <a:solidFill xmlns:a="http://schemas.openxmlformats.org/drawingml/2006/main">
            <a:srgbClr val="4D8D84"/>
          </a:solidFill>
          <a:ln xmlns:a="http://schemas.openxmlformats.org/drawingml/2006/main" w="0">
            <a:noFill/>
            <a:prstDash val="solid"/>
          </a:ln>
        </p:spPr>
      </p:sp>
      <p:sp>
        <p:nvSpPr>
          <p:cNvPr id="29" name="journey-step-5">
            <a:extLst xmlns:a="http://schemas.openxmlformats.org/drawingml/2006/main">
              <a:ext uri="{FF2B5EF4-FFF2-40B4-BE49-F238E27FC236}">
                <a16:creationId xmlns:a16="http://schemas.microsoft.com/office/drawing/2014/main" id="{F873CB53-0BEF-4638-8594-E1302F6481E3}"/>
              </a:ext>
            </a:extLst>
          </p:cNvPr>
          <p:cNvSpPr>
            <a:spLocks xmlns:a="http://schemas.openxmlformats.org/drawingml/2006/main" noGrp="1"/>
          </p:cNvSpPr>
          <p:nvPr/>
        </p:nvSpPr>
        <p:spPr>
          <a:xfrm xmlns:a="http://schemas.openxmlformats.org/drawingml/2006/main">
            <a:off x="8115300" y="18288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00" b="1">
                <a:solidFill>
                  <a:srgbClr val="4D8D84"/>
                </a:solidFill>
                <a:latin typeface="Noto Sans KR"/>
                <a:ea typeface="Noto Sans KR"/>
                <a:cs typeface="Noto Sans KR"/>
              </a:defRPr>
            </a:pPr>
            <a:r>
              <a:rPr sz="1200" b="1">
                <a:solidFill>
                  <a:srgbClr val="4D8D84"/>
                </a:solidFill>
                <a:latin typeface="Noto Sans KR"/>
                <a:ea typeface="Noto Sans KR"/>
                <a:cs typeface="Noto Sans KR"/>
              </a:rPr>
              <a:t>05</a:t>
            </a:r>
          </a:p>
        </p:txBody>
      </p:sp>
      <p:sp>
        <p:nvSpPr>
          <p:cNvPr id="30" name="journey-title-5">
            <a:extLst xmlns:a="http://schemas.openxmlformats.org/drawingml/2006/main">
              <a:ext uri="{FF2B5EF4-FFF2-40B4-BE49-F238E27FC236}">
                <a16:creationId xmlns:a16="http://schemas.microsoft.com/office/drawing/2014/main" id="{5C702C93-46E8-4384-B8B0-761709C4B6BC}"/>
              </a:ext>
            </a:extLst>
          </p:cNvPr>
          <p:cNvSpPr>
            <a:spLocks xmlns:a="http://schemas.openxmlformats.org/drawingml/2006/main" noGrp="1"/>
          </p:cNvSpPr>
          <p:nvPr/>
        </p:nvSpPr>
        <p:spPr>
          <a:xfrm xmlns:a="http://schemas.openxmlformats.org/drawingml/2006/main">
            <a:off x="8115300" y="20574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650" b="1">
                <a:solidFill>
                  <a:srgbClr val="16294A"/>
                </a:solidFill>
                <a:latin typeface="Noto Sans KR"/>
                <a:ea typeface="Noto Sans KR"/>
                <a:cs typeface="Noto Sans KR"/>
              </a:defRPr>
            </a:pPr>
            <a:r>
              <a:rPr sz="1650" b="1">
                <a:solidFill>
                  <a:srgbClr val="16294A"/>
                </a:solidFill>
                <a:latin typeface="Noto Sans KR"/>
                <a:ea typeface="Noto Sans KR"/>
                <a:cs typeface="Noto Sans KR"/>
              </a:rPr>
              <a:t>영상 접근</a:t>
            </a:r>
          </a:p>
        </p:txBody>
      </p:sp>
      <p:sp>
        <p:nvSpPr>
          <p:cNvPr id="31" name="journey-body-5">
            <a:extLst xmlns:a="http://schemas.openxmlformats.org/drawingml/2006/main">
              <a:ext uri="{FF2B5EF4-FFF2-40B4-BE49-F238E27FC236}">
                <a16:creationId xmlns:a16="http://schemas.microsoft.com/office/drawing/2014/main" id="{79D0B6FA-D609-4264-BD1D-263B1405FAC2}"/>
              </a:ext>
            </a:extLst>
          </p:cNvPr>
          <p:cNvSpPr>
            <a:spLocks xmlns:a="http://schemas.openxmlformats.org/drawingml/2006/main" noGrp="1"/>
          </p:cNvSpPr>
          <p:nvPr/>
        </p:nvSpPr>
        <p:spPr>
          <a:xfrm xmlns:a="http://schemas.openxmlformats.org/drawingml/2006/main">
            <a:off x="8115300" y="236220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81797"/>
          </a:bodyPr>
          <a:lstStyle xmlns:a="http://schemas.openxmlformats.org/drawingml/2006/main"/>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Gateway · QIDO/WADO</a:t>
            </a:r>
          </a:p>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Viewer · B PACS</a:t>
            </a:r>
          </a:p>
        </p:txBody>
      </p:sp>
      <p:sp>
        <p:nvSpPr>
          <p:cNvPr id="32" name="journey-node-6">
            <a:extLst xmlns:a="http://schemas.openxmlformats.org/drawingml/2006/main">
              <a:ext uri="{FF2B5EF4-FFF2-40B4-BE49-F238E27FC236}">
                <a16:creationId xmlns:a16="http://schemas.microsoft.com/office/drawing/2014/main" id="{8608A49A-A0A2-415F-AD18-A655CB6AEB47}"/>
              </a:ext>
            </a:extLst>
          </p:cNvPr>
          <p:cNvSpPr>
            <a:spLocks xmlns:a="http://schemas.openxmlformats.org/drawingml/2006/main" noGrp="1"/>
          </p:cNvSpPr>
          <p:nvPr/>
        </p:nvSpPr>
        <p:spPr>
          <a:xfrm xmlns:a="http://schemas.openxmlformats.org/drawingml/2006/main">
            <a:off x="9848850" y="1752600"/>
            <a:ext cx="169545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906">
            <a:solidFill>
              <a:srgbClr val="B7C9E9"/>
            </a:solidFill>
            <a:prstDash val="solid"/>
          </a:ln>
        </p:spPr>
      </p:sp>
      <p:sp>
        <p:nvSpPr>
          <p:cNvPr id="33" name="journey-node-accent-6">
            <a:extLst xmlns:a="http://schemas.openxmlformats.org/drawingml/2006/main">
              <a:ext uri="{FF2B5EF4-FFF2-40B4-BE49-F238E27FC236}">
                <a16:creationId xmlns:a16="http://schemas.microsoft.com/office/drawing/2014/main" id="{3209F1E0-E1DF-428B-8C67-957250F65DA6}"/>
              </a:ext>
            </a:extLst>
          </p:cNvPr>
          <p:cNvSpPr>
            <a:spLocks xmlns:a="http://schemas.openxmlformats.org/drawingml/2006/main" noGrp="1"/>
          </p:cNvSpPr>
          <p:nvPr/>
        </p:nvSpPr>
        <p:spPr>
          <a:xfrm xmlns:a="http://schemas.openxmlformats.org/drawingml/2006/main">
            <a:off x="9848850" y="1752600"/>
            <a:ext cx="47625" cy="1123950"/>
          </a:xfrm>
          <a:prstGeom xmlns:a="http://schemas.openxmlformats.org/drawingml/2006/main" prst="rect">
            <a:avLst/>
          </a:prstGeom>
          <a:solidFill xmlns:a="http://schemas.openxmlformats.org/drawingml/2006/main">
            <a:srgbClr val="4D8D84"/>
          </a:solidFill>
          <a:ln xmlns:a="http://schemas.openxmlformats.org/drawingml/2006/main" w="0">
            <a:noFill/>
            <a:prstDash val="solid"/>
          </a:ln>
        </p:spPr>
      </p:sp>
      <p:sp>
        <p:nvSpPr>
          <p:cNvPr id="34" name="journey-step-6">
            <a:extLst xmlns:a="http://schemas.openxmlformats.org/drawingml/2006/main">
              <a:ext uri="{FF2B5EF4-FFF2-40B4-BE49-F238E27FC236}">
                <a16:creationId xmlns:a16="http://schemas.microsoft.com/office/drawing/2014/main" id="{898A1D2E-7CF8-44B6-95F9-4F573A65065E}"/>
              </a:ext>
            </a:extLst>
          </p:cNvPr>
          <p:cNvSpPr>
            <a:spLocks xmlns:a="http://schemas.openxmlformats.org/drawingml/2006/main" noGrp="1"/>
          </p:cNvSpPr>
          <p:nvPr/>
        </p:nvSpPr>
        <p:spPr>
          <a:xfrm xmlns:a="http://schemas.openxmlformats.org/drawingml/2006/main">
            <a:off x="9982200" y="18288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00" b="1">
                <a:solidFill>
                  <a:srgbClr val="4D8D84"/>
                </a:solidFill>
                <a:latin typeface="Noto Sans KR"/>
                <a:ea typeface="Noto Sans KR"/>
                <a:cs typeface="Noto Sans KR"/>
              </a:defRPr>
            </a:pPr>
            <a:r>
              <a:rPr sz="1200" b="1">
                <a:solidFill>
                  <a:srgbClr val="4D8D84"/>
                </a:solidFill>
                <a:latin typeface="Noto Sans KR"/>
                <a:ea typeface="Noto Sans KR"/>
                <a:cs typeface="Noto Sans KR"/>
              </a:rPr>
              <a:t>06</a:t>
            </a:r>
          </a:p>
        </p:txBody>
      </p:sp>
      <p:sp>
        <p:nvSpPr>
          <p:cNvPr id="35" name="journey-title-6">
            <a:extLst xmlns:a="http://schemas.openxmlformats.org/drawingml/2006/main">
              <a:ext uri="{FF2B5EF4-FFF2-40B4-BE49-F238E27FC236}">
                <a16:creationId xmlns:a16="http://schemas.microsoft.com/office/drawing/2014/main" id="{E78EBD70-67CB-4C32-A53C-75C7CFF6A3DE}"/>
              </a:ext>
            </a:extLst>
          </p:cNvPr>
          <p:cNvSpPr>
            <a:spLocks xmlns:a="http://schemas.openxmlformats.org/drawingml/2006/main" noGrp="1"/>
          </p:cNvSpPr>
          <p:nvPr/>
        </p:nvSpPr>
        <p:spPr>
          <a:xfrm xmlns:a="http://schemas.openxmlformats.org/drawingml/2006/main">
            <a:off x="9982200" y="20574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650" b="1">
                <a:solidFill>
                  <a:srgbClr val="16294A"/>
                </a:solidFill>
                <a:latin typeface="Noto Sans KR"/>
                <a:ea typeface="Noto Sans KR"/>
                <a:cs typeface="Noto Sans KR"/>
              </a:defRPr>
            </a:pPr>
            <a:r>
              <a:rPr sz="1650" b="1">
                <a:solidFill>
                  <a:srgbClr val="16294A"/>
                </a:solidFill>
                <a:latin typeface="Noto Sans KR"/>
                <a:ea typeface="Noto Sans KR"/>
                <a:cs typeface="Noto Sans KR"/>
              </a:rPr>
              <a:t>증거·감사</a:t>
            </a:r>
          </a:p>
        </p:txBody>
      </p:sp>
      <p:sp>
        <p:nvSpPr>
          <p:cNvPr id="36" name="journey-body-6">
            <a:extLst xmlns:a="http://schemas.openxmlformats.org/drawingml/2006/main">
              <a:ext uri="{FF2B5EF4-FFF2-40B4-BE49-F238E27FC236}">
                <a16:creationId xmlns:a16="http://schemas.microsoft.com/office/drawing/2014/main" id="{CA929786-CA4A-4E12-9E06-3B879C9AE5DF}"/>
              </a:ext>
            </a:extLst>
          </p:cNvPr>
          <p:cNvSpPr>
            <a:spLocks xmlns:a="http://schemas.openxmlformats.org/drawingml/2006/main" noGrp="1"/>
          </p:cNvSpPr>
          <p:nvPr/>
        </p:nvSpPr>
        <p:spPr>
          <a:xfrm xmlns:a="http://schemas.openxmlformats.org/drawingml/2006/main">
            <a:off x="9982200" y="236220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출처·무결성 확인</a:t>
            </a:r>
          </a:p>
          <a:p xmlns:a="http://schemas.openxmlformats.org/drawingml/2006/main">
            <a:pPr>
              <a:lnSpc>
                <a:spcPct val="100000"/>
              </a:lnSpc>
              <a:buNone/>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감사·이상탐지</a:t>
            </a:r>
          </a:p>
        </p:txBody>
      </p:sp>
      <p:cxnSp>
        <p:nvCxnSpPr>
          <p:cNvPr id="95" name=""/>
          <p:cNvCxnSpPr>
            <a:stCxn xmlns:a="http://schemas.openxmlformats.org/drawingml/2006/main" id="7" idx="3"/>
            <a:endCxn xmlns:a="http://schemas.openxmlformats.org/drawingml/2006/main" id="12" idx="1"/>
          </p:cNvCxnSpPr>
          <p:nvPr/>
        </p:nvCxnSpPr>
        <p:spPr>
          <a:xfrm xmlns:a="http://schemas.openxmlformats.org/drawingml/2006/main">
            <a:off x="2209800" y="2314575"/>
            <a:ext cx="171450" cy="0"/>
          </a:xfrm>
          <a:prstGeom xmlns:a="http://schemas.openxmlformats.org/drawingml/2006/main" prst="straightConnector1">
            <a:avLst/>
          </a:prstGeom>
          <a:ln xmlns:a="http://schemas.openxmlformats.org/drawingml/2006/main" w="19050">
            <a:solidFill>
              <a:srgbClr val="2E63C8"/>
            </a:solidFill>
            <a:prstDash val="solid"/>
            <a:tailEnd type="arrow" w="sm" len="sm"/>
          </a:ln>
        </p:spPr>
      </p:cxnSp>
      <p:cxnSp>
        <p:nvCxnSpPr>
          <p:cNvPr id="96" name=""/>
          <p:cNvCxnSpPr>
            <a:stCxn xmlns:a="http://schemas.openxmlformats.org/drawingml/2006/main" id="12" idx="3"/>
            <a:endCxn xmlns:a="http://schemas.openxmlformats.org/drawingml/2006/main" id="17" idx="1"/>
          </p:cNvCxnSpPr>
          <p:nvPr/>
        </p:nvCxnSpPr>
        <p:spPr>
          <a:xfrm xmlns:a="http://schemas.openxmlformats.org/drawingml/2006/main">
            <a:off x="4076700" y="2314575"/>
            <a:ext cx="171450" cy="0"/>
          </a:xfrm>
          <a:prstGeom xmlns:a="http://schemas.openxmlformats.org/drawingml/2006/main" prst="straightConnector1">
            <a:avLst/>
          </a:prstGeom>
          <a:ln xmlns:a="http://schemas.openxmlformats.org/drawingml/2006/main" w="19050">
            <a:solidFill>
              <a:srgbClr val="2E63C8"/>
            </a:solidFill>
            <a:prstDash val="solid"/>
            <a:tailEnd type="arrow" w="sm" len="sm"/>
          </a:ln>
        </p:spPr>
      </p:cxnSp>
      <p:cxnSp>
        <p:nvCxnSpPr>
          <p:cNvPr id="97" name=""/>
          <p:cNvCxnSpPr>
            <a:stCxn xmlns:a="http://schemas.openxmlformats.org/drawingml/2006/main" id="17" idx="3"/>
            <a:endCxn xmlns:a="http://schemas.openxmlformats.org/drawingml/2006/main" id="22" idx="1"/>
          </p:cNvCxnSpPr>
          <p:nvPr/>
        </p:nvCxnSpPr>
        <p:spPr>
          <a:xfrm xmlns:a="http://schemas.openxmlformats.org/drawingml/2006/main">
            <a:off x="5943600" y="2314575"/>
            <a:ext cx="171450" cy="0"/>
          </a:xfrm>
          <a:prstGeom xmlns:a="http://schemas.openxmlformats.org/drawingml/2006/main" prst="straightConnector1">
            <a:avLst/>
          </a:prstGeom>
          <a:ln xmlns:a="http://schemas.openxmlformats.org/drawingml/2006/main" w="19050">
            <a:solidFill>
              <a:srgbClr val="2E63C8"/>
            </a:solidFill>
            <a:prstDash val="solid"/>
            <a:tailEnd type="arrow" w="sm" len="sm"/>
          </a:ln>
        </p:spPr>
      </p:cxnSp>
      <p:cxnSp>
        <p:nvCxnSpPr>
          <p:cNvPr id="98" name=""/>
          <p:cNvCxnSpPr>
            <a:stCxn xmlns:a="http://schemas.openxmlformats.org/drawingml/2006/main" id="22" idx="3"/>
            <a:endCxn xmlns:a="http://schemas.openxmlformats.org/drawingml/2006/main" id="27" idx="1"/>
          </p:cNvCxnSpPr>
          <p:nvPr/>
        </p:nvCxnSpPr>
        <p:spPr>
          <a:xfrm xmlns:a="http://schemas.openxmlformats.org/drawingml/2006/main">
            <a:off x="7810500" y="2314575"/>
            <a:ext cx="171450" cy="0"/>
          </a:xfrm>
          <a:prstGeom xmlns:a="http://schemas.openxmlformats.org/drawingml/2006/main" prst="straightConnector1">
            <a:avLst/>
          </a:prstGeom>
          <a:ln xmlns:a="http://schemas.openxmlformats.org/drawingml/2006/main" w="19050">
            <a:solidFill>
              <a:srgbClr val="2E63C8"/>
            </a:solidFill>
            <a:prstDash val="solid"/>
            <a:tailEnd type="arrow" w="sm" len="sm"/>
          </a:ln>
        </p:spPr>
      </p:cxnSp>
      <p:cxnSp>
        <p:nvCxnSpPr>
          <p:cNvPr id="99" name=""/>
          <p:cNvCxnSpPr>
            <a:stCxn xmlns:a="http://schemas.openxmlformats.org/drawingml/2006/main" id="27" idx="3"/>
            <a:endCxn xmlns:a="http://schemas.openxmlformats.org/drawingml/2006/main" id="32" idx="1"/>
          </p:cNvCxnSpPr>
          <p:nvPr/>
        </p:nvCxnSpPr>
        <p:spPr>
          <a:xfrm xmlns:a="http://schemas.openxmlformats.org/drawingml/2006/main">
            <a:off x="9677400" y="2314575"/>
            <a:ext cx="171450" cy="0"/>
          </a:xfrm>
          <a:prstGeom xmlns:a="http://schemas.openxmlformats.org/drawingml/2006/main" prst="straightConnector1">
            <a:avLst/>
          </a:prstGeom>
          <a:ln xmlns:a="http://schemas.openxmlformats.org/drawingml/2006/main" w="19050">
            <a:solidFill>
              <a:srgbClr val="2E63C8"/>
            </a:solidFill>
            <a:prstDash val="solid"/>
            <a:tailEnd type="arrow" w="sm" len="sm"/>
          </a:ln>
        </p:spPr>
      </p:cxnSp>
      <p:sp>
        <p:nvSpPr>
          <p:cNvPr id="42" name="legacy-band">
            <a:extLst xmlns:a="http://schemas.openxmlformats.org/drawingml/2006/main">
              <a:ext uri="{FF2B5EF4-FFF2-40B4-BE49-F238E27FC236}">
                <a16:creationId xmlns:a16="http://schemas.microsoft.com/office/drawing/2014/main" id="{E227A320-92BC-4C88-AEA4-521ABDAF08D0}"/>
              </a:ext>
            </a:extLst>
          </p:cNvPr>
          <p:cNvSpPr>
            <a:spLocks xmlns:a="http://schemas.openxmlformats.org/drawingml/2006/main" noGrp="1"/>
          </p:cNvSpPr>
          <p:nvPr/>
        </p:nvSpPr>
        <p:spPr>
          <a:xfrm xmlns:a="http://schemas.openxmlformats.org/drawingml/2006/main">
            <a:off x="514350" y="3009900"/>
            <a:ext cx="11163300" cy="428625"/>
          </a:xfrm>
          <a:prstGeom xmlns:a="http://schemas.openxmlformats.org/drawingml/2006/main" prst="roundRect">
            <a:avLst>
              <a:gd name="adj" fmla="val 13333"/>
            </a:avLst>
          </a:prstGeom>
          <a:solidFill xmlns:a="http://schemas.openxmlformats.org/drawingml/2006/main">
            <a:srgbClr val="E9F0FC"/>
          </a:solidFill>
          <a:ln xmlns:a="http://schemas.openxmlformats.org/drawingml/2006/main" w="0">
            <a:noFill/>
            <a:prstDash val="solid"/>
          </a:ln>
        </p:spPr>
      </p:sp>
      <p:sp>
        <p:nvSpPr>
          <p:cNvPr id="43" name="legacy-label">
            <a:extLst xmlns:a="http://schemas.openxmlformats.org/drawingml/2006/main">
              <a:ext uri="{FF2B5EF4-FFF2-40B4-BE49-F238E27FC236}">
                <a16:creationId xmlns:a16="http://schemas.microsoft.com/office/drawing/2014/main" id="{91CB903A-A7B0-4BC5-8E0C-17CFB5AD5F62}"/>
              </a:ext>
            </a:extLst>
          </p:cNvPr>
          <p:cNvSpPr>
            <a:spLocks xmlns:a="http://schemas.openxmlformats.org/drawingml/2006/main" noGrp="1"/>
          </p:cNvSpPr>
          <p:nvPr/>
        </p:nvSpPr>
        <p:spPr>
          <a:xfrm xmlns:a="http://schemas.openxmlformats.org/drawingml/2006/main">
            <a:off x="666750" y="306705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350" b="1">
                <a:solidFill>
                  <a:srgbClr val="2E63C8"/>
                </a:solidFill>
                <a:latin typeface="Noto Sans KR"/>
                <a:ea typeface="Noto Sans KR"/>
                <a:cs typeface="Noto Sans KR"/>
              </a:defRPr>
            </a:pPr>
            <a:r>
              <a:rPr sz="1350" b="1">
                <a:solidFill>
                  <a:srgbClr val="2E63C8"/>
                </a:solidFill>
                <a:latin typeface="Noto Sans KR"/>
                <a:ea typeface="Noto Sans KR"/>
                <a:cs typeface="Noto Sans KR"/>
              </a:rPr>
              <a:t>현행 v2.1</a:t>
            </a:r>
          </a:p>
        </p:txBody>
      </p:sp>
      <p:sp>
        <p:nvSpPr>
          <p:cNvPr id="44" name="legacy-detail">
            <a:extLst xmlns:a="http://schemas.openxmlformats.org/drawingml/2006/main">
              <a:ext uri="{FF2B5EF4-FFF2-40B4-BE49-F238E27FC236}">
                <a16:creationId xmlns:a16="http://schemas.microsoft.com/office/drawing/2014/main" id="{AB6773CB-8803-4F40-89D2-5AA578DB9EB5}"/>
              </a:ext>
            </a:extLst>
          </p:cNvPr>
          <p:cNvSpPr>
            <a:spLocks xmlns:a="http://schemas.openxmlformats.org/drawingml/2006/main" noGrp="1"/>
          </p:cNvSpPr>
          <p:nvPr/>
        </p:nvSpPr>
        <p:spPr>
          <a:xfrm xmlns:a="http://schemas.openxmlformats.org/drawingml/2006/main">
            <a:off x="1952625" y="30670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75">
                <a:solidFill>
                  <a:srgbClr val="172536"/>
                </a:solidFill>
                <a:latin typeface="Noto Sans KR"/>
                <a:ea typeface="Noto Sans KR"/>
                <a:cs typeface="Noto Sans KR"/>
              </a:defRPr>
            </a:pPr>
            <a:r>
              <a:rPr sz="1275">
                <a:solidFill>
                  <a:srgbClr val="172536"/>
                </a:solidFill>
                <a:latin typeface="Noto Sans KR"/>
                <a:ea typeface="Noto Sans KR"/>
                <a:cs typeface="Noto Sans KR"/>
              </a:rPr>
              <a:t>동의 · RBAC/ABAC · 단기 토큰 · QIDO/WADO · Viewer의 로컬 MVP 증거를 보존합니다. 이 결과는 v3 P0 완료로 계산하지 않습니다.</a:t>
            </a:r>
          </a:p>
        </p:txBody>
      </p:sp>
      <p:sp>
        <p:nvSpPr>
          <p:cNvPr id="45" name="coverage-rule">
            <a:extLst xmlns:a="http://schemas.openxmlformats.org/drawingml/2006/main">
              <a:ext uri="{FF2B5EF4-FFF2-40B4-BE49-F238E27FC236}">
                <a16:creationId xmlns:a16="http://schemas.microsoft.com/office/drawing/2014/main" id="{1405F554-8CD3-4BDA-8616-3D0AD2955A0B}"/>
              </a:ext>
            </a:extLst>
          </p:cNvPr>
          <p:cNvSpPr>
            <a:spLocks xmlns:a="http://schemas.openxmlformats.org/drawingml/2006/main" noGrp="1"/>
          </p:cNvSpPr>
          <p:nvPr/>
        </p:nvSpPr>
        <p:spPr>
          <a:xfrm xmlns:a="http://schemas.openxmlformats.org/drawingml/2006/main">
            <a:off x="514350" y="3629025"/>
            <a:ext cx="11163300" cy="14288"/>
          </a:xfrm>
          <a:prstGeom xmlns:a="http://schemas.openxmlformats.org/drawingml/2006/main" prst="rect">
            <a:avLst/>
          </a:prstGeom>
          <a:solidFill xmlns:a="http://schemas.openxmlformats.org/drawingml/2006/main">
            <a:srgbClr val="D8DEE7"/>
          </a:solidFill>
          <a:ln xmlns:a="http://schemas.openxmlformats.org/drawingml/2006/main" w="0">
            <a:noFill/>
            <a:prstDash val="solid"/>
          </a:ln>
        </p:spPr>
      </p:sp>
      <p:sp>
        <p:nvSpPr>
          <p:cNvPr id="46" name="coverage-title">
            <a:extLst xmlns:a="http://schemas.openxmlformats.org/drawingml/2006/main">
              <a:ext uri="{FF2B5EF4-FFF2-40B4-BE49-F238E27FC236}">
                <a16:creationId xmlns:a16="http://schemas.microsoft.com/office/drawing/2014/main" id="{EF732A68-DBC9-4DCF-8E81-03E92318A8B5}"/>
              </a:ext>
            </a:extLst>
          </p:cNvPr>
          <p:cNvSpPr>
            <a:spLocks xmlns:a="http://schemas.openxmlformats.org/drawingml/2006/main" noGrp="1"/>
          </p:cNvSpPr>
          <p:nvPr/>
        </p:nvSpPr>
        <p:spPr>
          <a:xfrm xmlns:a="http://schemas.openxmlformats.org/drawingml/2006/main">
            <a:off x="552450" y="37528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2100" b="1">
                <a:solidFill>
                  <a:srgbClr val="16294A"/>
                </a:solidFill>
                <a:latin typeface="Noto Sans KR"/>
                <a:ea typeface="Noto Sans KR"/>
                <a:cs typeface="Noto Sans KR"/>
              </a:defRPr>
            </a:pPr>
            <a:r>
              <a:rPr sz="2100" b="1">
                <a:solidFill>
                  <a:srgbClr val="16294A"/>
                </a:solidFill>
                <a:latin typeface="Noto Sans KR"/>
                <a:ea typeface="Noto Sans KR"/>
                <a:cs typeface="Noto Sans KR"/>
              </a:rPr>
              <a:t>v3 P0 기능 요구사항 75개</a:t>
            </a:r>
          </a:p>
        </p:txBody>
      </p:sp>
      <p:sp>
        <p:nvSpPr>
          <p:cNvPr id="47" name="coverage-subtitle">
            <a:extLst xmlns:a="http://schemas.openxmlformats.org/drawingml/2006/main">
              <a:ext uri="{FF2B5EF4-FFF2-40B4-BE49-F238E27FC236}">
                <a16:creationId xmlns:a16="http://schemas.microsoft.com/office/drawing/2014/main" id="{8EB0EEDC-DF13-4409-B4DA-AE2FA97C16F9}"/>
              </a:ext>
            </a:extLst>
          </p:cNvPr>
          <p:cNvSpPr>
            <a:spLocks xmlns:a="http://schemas.openxmlformats.org/drawingml/2006/main" noGrp="1"/>
          </p:cNvSpPr>
          <p:nvPr/>
        </p:nvSpPr>
        <p:spPr>
          <a:xfrm xmlns:a="http://schemas.openxmlformats.org/drawingml/2006/main">
            <a:off x="552450" y="40862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요구사항 문서의 Current 상태 분포 · ID 단위</a:t>
            </a:r>
          </a:p>
        </p:txBody>
      </p:sp>
      <p:graphicFrame>
        <p:nvGraphicFramePr>
          <p:cNvPr id="106" name="Chart"/>
          <p:cNvGraphicFramePr/>
          <p:nvPr/>
        </p:nvGraphicFramePr>
        <p:xfrm>
          <a:off xmlns:a="http://schemas.openxmlformats.org/drawingml/2006/main" x="457200" y="4286250"/>
          <a:ext xmlns:a="http://schemas.openxmlformats.org/drawingml/2006/main" cx="5638800" cy="1657350"/>
        </p:xfrm>
        <a:graphic xmlns:a="http://schemas.openxmlformats.org/drawingml/2006/main">
          <a:graphicData uri="http://schemas.openxmlformats.org/drawingml/2006/chart">
            <c:chart xmlns:r="http://schemas.openxmlformats.org/officeDocument/2006/relationships" xmlns:c="http://schemas.openxmlformats.org/drawingml/2006/chart" r:id="R15a1f00191cc4628"/>
          </a:graphicData>
        </a:graphic>
      </p:graphicFrame>
      <p:sp>
        <p:nvSpPr>
          <p:cNvPr id="49" name="summary-divider">
            <a:extLst xmlns:a="http://schemas.openxmlformats.org/drawingml/2006/main">
              <a:ext uri="{FF2B5EF4-FFF2-40B4-BE49-F238E27FC236}">
                <a16:creationId xmlns:a16="http://schemas.microsoft.com/office/drawing/2014/main" id="{7B9AED83-E2BA-4DC3-8E06-4A924E1EC3CE}"/>
              </a:ext>
            </a:extLst>
          </p:cNvPr>
          <p:cNvSpPr>
            <a:spLocks xmlns:a="http://schemas.openxmlformats.org/drawingml/2006/main" noGrp="1"/>
          </p:cNvSpPr>
          <p:nvPr/>
        </p:nvSpPr>
        <p:spPr>
          <a:xfrm xmlns:a="http://schemas.openxmlformats.org/drawingml/2006/main">
            <a:off x="6343650" y="3800475"/>
            <a:ext cx="14288" cy="2143125"/>
          </a:xfrm>
          <a:prstGeom xmlns:a="http://schemas.openxmlformats.org/drawingml/2006/main" prst="rect">
            <a:avLst/>
          </a:prstGeom>
          <a:solidFill xmlns:a="http://schemas.openxmlformats.org/drawingml/2006/main">
            <a:srgbClr val="D8DEE7"/>
          </a:solidFill>
          <a:ln xmlns:a="http://schemas.openxmlformats.org/drawingml/2006/main" w="0">
            <a:noFill/>
            <a:prstDash val="solid"/>
          </a:ln>
        </p:spPr>
      </p:sp>
      <p:sp>
        <p:nvSpPr>
          <p:cNvPr id="50" name="overall-label">
            <a:extLst xmlns:a="http://schemas.openxmlformats.org/drawingml/2006/main">
              <a:ext uri="{FF2B5EF4-FFF2-40B4-BE49-F238E27FC236}">
                <a16:creationId xmlns:a16="http://schemas.microsoft.com/office/drawing/2014/main" id="{855B8E87-7728-4E36-BA62-C1A9AF2F41DA}"/>
              </a:ext>
            </a:extLst>
          </p:cNvPr>
          <p:cNvSpPr>
            <a:spLocks xmlns:a="http://schemas.openxmlformats.org/drawingml/2006/main" noGrp="1"/>
          </p:cNvSpPr>
          <p:nvPr/>
        </p:nvSpPr>
        <p:spPr>
          <a:xfrm xmlns:a="http://schemas.openxmlformats.org/drawingml/2006/main">
            <a:off x="6686550" y="3790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350" b="1">
                <a:solidFill>
                  <a:srgbClr val="2E63C8"/>
                </a:solidFill>
                <a:latin typeface="Noto Sans KR"/>
                <a:ea typeface="Noto Sans KR"/>
                <a:cs typeface="Noto Sans KR"/>
              </a:defRPr>
            </a:pPr>
            <a:r>
              <a:rPr sz="1350" b="1">
                <a:solidFill>
                  <a:srgbClr val="2E63C8"/>
                </a:solidFill>
                <a:latin typeface="Noto Sans KR"/>
                <a:ea typeface="Noto Sans KR"/>
                <a:cs typeface="Noto Sans KR"/>
              </a:rPr>
              <a:t>v3 종합 판정</a:t>
            </a:r>
          </a:p>
        </p:txBody>
      </p:sp>
      <p:sp>
        <p:nvSpPr>
          <p:cNvPr id="51" name="overall-status">
            <a:extLst xmlns:a="http://schemas.openxmlformats.org/drawingml/2006/main">
              <a:ext uri="{FF2B5EF4-FFF2-40B4-BE49-F238E27FC236}">
                <a16:creationId xmlns:a16="http://schemas.microsoft.com/office/drawing/2014/main" id="{F8D5A1C7-731F-4DA5-AC07-DF80B5EA6D86}"/>
              </a:ext>
            </a:extLst>
          </p:cNvPr>
          <p:cNvSpPr>
            <a:spLocks xmlns:a="http://schemas.openxmlformats.org/drawingml/2006/main" noGrp="1"/>
          </p:cNvSpPr>
          <p:nvPr/>
        </p:nvSpPr>
        <p:spPr>
          <a:xfrm xmlns:a="http://schemas.openxmlformats.org/drawingml/2006/main">
            <a:off x="6667500" y="40481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2700" b="1">
                <a:solidFill>
                  <a:srgbClr val="16294A"/>
                </a:solidFill>
                <a:latin typeface="Noto Sans KR"/>
                <a:ea typeface="Noto Sans KR"/>
                <a:cs typeface="Noto Sans KR"/>
              </a:defRPr>
            </a:pPr>
            <a:r>
              <a:rPr sz="2700" b="1">
                <a:solidFill>
                  <a:srgbClr val="16294A"/>
                </a:solidFill>
                <a:latin typeface="Noto Sans KR"/>
                <a:ea typeface="Noto Sans KR"/>
                <a:cs typeface="Noto Sans KR"/>
              </a:rPr>
              <a:t>PARTIAL</a:t>
            </a:r>
          </a:p>
        </p:txBody>
      </p:sp>
      <p:sp>
        <p:nvSpPr>
          <p:cNvPr id="52" name="traceability-text">
            <a:extLst xmlns:a="http://schemas.openxmlformats.org/drawingml/2006/main">
              <a:ext uri="{FF2B5EF4-FFF2-40B4-BE49-F238E27FC236}">
                <a16:creationId xmlns:a16="http://schemas.microsoft.com/office/drawing/2014/main" id="{967930CE-4BAB-44CE-8F67-CC0D810B7E25}"/>
              </a:ext>
            </a:extLst>
          </p:cNvPr>
          <p:cNvSpPr>
            <a:spLocks xmlns:a="http://schemas.openxmlformats.org/drawingml/2006/main" noGrp="1"/>
          </p:cNvSpPr>
          <p:nvPr/>
        </p:nvSpPr>
        <p:spPr>
          <a:xfrm xmlns:a="http://schemas.openxmlformats.org/drawingml/2006/main">
            <a:off x="6686550" y="455295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425">
                <a:solidFill>
                  <a:srgbClr val="172536"/>
                </a:solidFill>
                <a:latin typeface="Noto Sans KR"/>
                <a:ea typeface="Noto Sans KR"/>
                <a:cs typeface="Noto Sans KR"/>
              </a:defRPr>
            </a:pPr>
            <a:r>
              <a:rPr sz="1425">
                <a:solidFill>
                  <a:srgbClr val="172536"/>
                </a:solidFill>
                <a:latin typeface="Noto Sans KR"/>
                <a:ea typeface="Noto Sans KR"/>
                <a:cs typeface="Noto Sans KR"/>
              </a:rPr>
              <a:t>P0 기능 ID는 추적성 표에 모두 연결돼 있습니다.</a:t>
            </a:r>
          </a:p>
          <a:p xmlns:a="http://schemas.openxmlformats.org/drawingml/2006/main">
            <a:pPr>
              <a:defRPr sz="1425">
                <a:solidFill>
                  <a:srgbClr val="172536"/>
                </a:solidFill>
                <a:latin typeface="Noto Sans KR"/>
                <a:ea typeface="Noto Sans KR"/>
                <a:cs typeface="Noto Sans KR"/>
              </a:defRPr>
            </a:pPr>
            <a:r>
              <a:rPr sz="1425">
                <a:solidFill>
                  <a:srgbClr val="172536"/>
                </a:solidFill>
                <a:latin typeface="Noto Sans KR"/>
                <a:ea typeface="Noto Sans KR"/>
                <a:cs typeface="Noto Sans KR"/>
              </a:rPr>
              <a:t>통합 검토와 종단 수용시험은 남아 있습니다.</a:t>
            </a:r>
          </a:p>
        </p:txBody>
      </p:sp>
      <p:sp>
        <p:nvSpPr>
          <p:cNvPr id="53" name="recent-rule">
            <a:extLst xmlns:a="http://schemas.openxmlformats.org/drawingml/2006/main">
              <a:ext uri="{FF2B5EF4-FFF2-40B4-BE49-F238E27FC236}">
                <a16:creationId xmlns:a16="http://schemas.microsoft.com/office/drawing/2014/main" id="{8DAA9F60-4FEF-469E-A983-DC31C0DC0F0D}"/>
              </a:ext>
            </a:extLst>
          </p:cNvPr>
          <p:cNvSpPr>
            <a:spLocks xmlns:a="http://schemas.openxmlformats.org/drawingml/2006/main" noGrp="1"/>
          </p:cNvSpPr>
          <p:nvPr/>
        </p:nvSpPr>
        <p:spPr>
          <a:xfrm xmlns:a="http://schemas.openxmlformats.org/drawingml/2006/main">
            <a:off x="6686550" y="5153025"/>
            <a:ext cx="4610100" cy="14288"/>
          </a:xfrm>
          <a:prstGeom xmlns:a="http://schemas.openxmlformats.org/drawingml/2006/main" prst="rect">
            <a:avLst/>
          </a:prstGeom>
          <a:solidFill xmlns:a="http://schemas.openxmlformats.org/drawingml/2006/main">
            <a:srgbClr val="D8DEE7"/>
          </a:solidFill>
          <a:ln xmlns:a="http://schemas.openxmlformats.org/drawingml/2006/main" w="0">
            <a:noFill/>
            <a:prstDash val="solid"/>
          </a:ln>
        </p:spPr>
      </p:sp>
      <p:sp>
        <p:nvSpPr>
          <p:cNvPr id="54" name="latest-implementation">
            <a:extLst xmlns:a="http://schemas.openxmlformats.org/drawingml/2006/main">
              <a:ext uri="{FF2B5EF4-FFF2-40B4-BE49-F238E27FC236}">
                <a16:creationId xmlns:a16="http://schemas.microsoft.com/office/drawing/2014/main" id="{229819DF-3597-418E-B1A7-1423C3C89417}"/>
              </a:ext>
            </a:extLst>
          </p:cNvPr>
          <p:cNvSpPr>
            <a:spLocks xmlns:a="http://schemas.openxmlformats.org/drawingml/2006/main" noGrp="1"/>
          </p:cNvSpPr>
          <p:nvPr/>
        </p:nvSpPr>
        <p:spPr>
          <a:xfrm xmlns:a="http://schemas.openxmlformats.org/drawingml/2006/main">
            <a:off x="6686550" y="52387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75" b="1">
                <a:solidFill>
                  <a:srgbClr val="4D8D84"/>
                </a:solidFill>
                <a:latin typeface="Noto Sans KR"/>
                <a:ea typeface="Noto Sans KR"/>
                <a:cs typeface="Noto Sans KR"/>
              </a:defRPr>
            </a:pPr>
            <a:r>
              <a:rPr sz="1275" b="1">
                <a:solidFill>
                  <a:srgbClr val="4D8D84"/>
                </a:solidFill>
                <a:latin typeface="Noto Sans KR"/>
                <a:ea typeface="Noto Sans KR"/>
                <a:cs typeface="Noto Sans KR"/>
              </a:rPr>
              <a:t>10월 15일 업데이트</a:t>
            </a:r>
          </a:p>
        </p:txBody>
      </p:sp>
      <p:sp>
        <p:nvSpPr>
          <p:cNvPr id="55" name="latest-implementation-detail">
            <a:extLst xmlns:a="http://schemas.openxmlformats.org/drawingml/2006/main">
              <a:ext uri="{FF2B5EF4-FFF2-40B4-BE49-F238E27FC236}">
                <a16:creationId xmlns:a16="http://schemas.microsoft.com/office/drawing/2014/main" id="{84F2FE6B-264D-4900-A1FC-0173E7EDFFED}"/>
              </a:ext>
            </a:extLst>
          </p:cNvPr>
          <p:cNvSpPr>
            <a:spLocks xmlns:a="http://schemas.openxmlformats.org/drawingml/2006/main" noGrp="1"/>
          </p:cNvSpPr>
          <p:nvPr/>
        </p:nvSpPr>
        <p:spPr>
          <a:xfrm xmlns:a="http://schemas.openxmlformats.org/drawingml/2006/main">
            <a:off x="6686550" y="548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기간 단위 보안 보고서 Azure 반영</a:t>
            </a:r>
          </a:p>
          <a:p xmlns:a="http://schemas.openxmlformats.org/drawingml/2006/main">
            <a:pPr>
              <a:defRPr sz="1275">
                <a:solidFill>
                  <a:srgbClr val="59697D"/>
                </a:solidFill>
                <a:latin typeface="Noto Sans KR"/>
                <a:ea typeface="Noto Sans KR"/>
                <a:cs typeface="Noto Sans KR"/>
              </a:defRPr>
            </a:pPr>
            <a:r>
              <a:rPr sz="1275">
                <a:solidFill>
                  <a:srgbClr val="59697D"/>
                </a:solidFill>
                <a:latin typeface="Noto Sans KR"/>
                <a:ea typeface="Noto Sans KR"/>
                <a:cs typeface="Noto Sans KR"/>
              </a:rPr>
              <a:t>실계정 생성·실제 인쇄 확인은 미검증</a:t>
            </a:r>
          </a:p>
        </p:txBody>
      </p:sp>
      <p:sp>
        <p:nvSpPr>
          <p:cNvPr id="56" name="footer-rule">
            <a:extLst xmlns:a="http://schemas.openxmlformats.org/drawingml/2006/main">
              <a:ext uri="{FF2B5EF4-FFF2-40B4-BE49-F238E27FC236}">
                <a16:creationId xmlns:a16="http://schemas.microsoft.com/office/drawing/2014/main" id="{F9B78964-0FA0-4143-8EFE-3EF023408802}"/>
              </a:ext>
            </a:extLst>
          </p:cNvPr>
          <p:cNvSpPr>
            <a:spLocks xmlns:a="http://schemas.openxmlformats.org/drawingml/2006/main" noGrp="1"/>
          </p:cNvSpPr>
          <p:nvPr/>
        </p:nvSpPr>
        <p:spPr>
          <a:xfrm xmlns:a="http://schemas.openxmlformats.org/drawingml/2006/main">
            <a:off x="514350" y="6115050"/>
            <a:ext cx="11163300" cy="14288"/>
          </a:xfrm>
          <a:prstGeom xmlns:a="http://schemas.openxmlformats.org/drawingml/2006/main" prst="rect">
            <a:avLst/>
          </a:prstGeom>
          <a:solidFill xmlns:a="http://schemas.openxmlformats.org/drawingml/2006/main">
            <a:srgbClr val="D8DEE7"/>
          </a:solidFill>
          <a:ln xmlns:a="http://schemas.openxmlformats.org/drawingml/2006/main" w="0">
            <a:noFill/>
            <a:prstDash val="solid"/>
          </a:ln>
        </p:spPr>
      </p:sp>
      <p:sp>
        <p:nvSpPr>
          <p:cNvPr id="57" name="scope-note">
            <a:extLst xmlns:a="http://schemas.openxmlformats.org/drawingml/2006/main">
              <a:ext uri="{FF2B5EF4-FFF2-40B4-BE49-F238E27FC236}">
                <a16:creationId xmlns:a16="http://schemas.microsoft.com/office/drawing/2014/main" id="{109106A3-6617-4488-831C-F72964A94510}"/>
              </a:ext>
            </a:extLst>
          </p:cNvPr>
          <p:cNvSpPr>
            <a:spLocks xmlns:a="http://schemas.openxmlformats.org/drawingml/2006/main" noGrp="1"/>
          </p:cNvSpPr>
          <p:nvPr/>
        </p:nvSpPr>
        <p:spPr>
          <a:xfrm xmlns:a="http://schemas.openxmlformats.org/drawingml/2006/main">
            <a:off x="552450" y="6181725"/>
            <a:ext cx="1104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200">
                <a:solidFill>
                  <a:srgbClr val="172536"/>
                </a:solidFill>
                <a:latin typeface="Noto Sans KR"/>
                <a:ea typeface="Noto Sans KR"/>
                <a:cs typeface="Noto Sans KR"/>
              </a:defRPr>
            </a:pPr>
            <a:r>
              <a:rPr sz="1200">
                <a:solidFill>
                  <a:srgbClr val="172536"/>
                </a:solidFill>
                <a:latin typeface="Noto Sans KR"/>
                <a:ea typeface="Noto Sans KR"/>
                <a:cs typeface="Noto Sans KR"/>
              </a:rPr>
              <a:t>합성·비임상 기술 PoC 기준입니다. 실환자·운영 PACS·임상 사용·생산환경 준비 완료를 뜻하지 않습니다.</a:t>
            </a:r>
          </a:p>
        </p:txBody>
      </p:sp>
      <p:sp>
        <p:nvSpPr>
          <p:cNvPr id="58" name="source-note">
            <a:extLst xmlns:a="http://schemas.openxmlformats.org/drawingml/2006/main">
              <a:ext uri="{FF2B5EF4-FFF2-40B4-BE49-F238E27FC236}">
                <a16:creationId xmlns:a16="http://schemas.microsoft.com/office/drawing/2014/main" id="{465AD322-0E8C-4FF6-B8B5-55D173B74240}"/>
              </a:ext>
            </a:extLst>
          </p:cNvPr>
          <p:cNvSpPr>
            <a:spLocks xmlns:a="http://schemas.openxmlformats.org/drawingml/2006/main" noGrp="1"/>
          </p:cNvSpPr>
          <p:nvPr/>
        </p:nvSpPr>
        <p:spPr>
          <a:xfrm xmlns:a="http://schemas.openxmlformats.org/drawingml/2006/main">
            <a:off x="552450" y="6438900"/>
            <a:ext cx="11049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defRPr sz="1050">
                <a:solidFill>
                  <a:srgbClr val="77879A"/>
                </a:solidFill>
                <a:latin typeface="Noto Sans KR"/>
                <a:ea typeface="Noto Sans KR"/>
                <a:cs typeface="Noto Sans KR"/>
              </a:defRPr>
            </a:pPr>
            <a:r>
              <a:rPr sz="1050">
                <a:solidFill>
                  <a:srgbClr val="77879A"/>
                </a:solidFill>
                <a:latin typeface="Noto Sans KR"/>
                <a:ea typeface="Noto Sans KR"/>
                <a:cs typeface="Noto Sans KR"/>
              </a:rPr>
              <a:t>출처: docs/REQUIREMENTS.md · v3 요구사항 정의서 · v3 추적성 매트릭스 · 보안관제 기간 보고서 기록 (2026-10-15)</a:t>
            </a:r>
          </a:p>
        </p:txBody>
      </p:sp>
    </p:spTree>
    <p:extLst>
      <p:ext uri="{BB962C8B-B14F-4D97-AF65-F5344CB8AC3E}">
        <p14:creationId xmlns:p14="http://schemas.microsoft.com/office/powerpoint/2010/main" val="1802938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2026-10-15T01:32:18.3460000Z</dcterms:created>
  <dcterms:modified xsi:type="dcterms:W3CDTF">2026-10-15T01:32:18.3460000Z</dcterms:modified>
</coreProperties>
</file>