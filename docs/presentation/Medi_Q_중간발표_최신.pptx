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256" r:id="rId2"/>
    <p:sldId id="366" r:id="rId3"/>
    <p:sldId id="385" r:id="rId4"/>
    <p:sldId id="259" r:id="rId5"/>
    <p:sldId id="258" r:id="rId6"/>
    <p:sldId id="400" r:id="rId7"/>
    <p:sldId id="260" r:id="rId8"/>
    <p:sldId id="261" r:id="rId9"/>
    <p:sldId id="399" r:id="rId10"/>
    <p:sldId id="262" r:id="rId11"/>
    <p:sldId id="386" r:id="rId12"/>
    <p:sldId id="312" r:id="rId13"/>
    <p:sldId id="348" r:id="rId14"/>
    <p:sldId id="349" r:id="rId15"/>
    <p:sldId id="387" r:id="rId16"/>
    <p:sldId id="350" r:id="rId17"/>
    <p:sldId id="352" r:id="rId18"/>
    <p:sldId id="396" r:id="rId19"/>
    <p:sldId id="354" r:id="rId20"/>
    <p:sldId id="388" r:id="rId21"/>
    <p:sldId id="353" r:id="rId22"/>
    <p:sldId id="356" r:id="rId23"/>
    <p:sldId id="402" r:id="rId53"/>
    <p:sldId id="328" r:id="rId24"/>
    <p:sldId id="389" r:id="rId25"/>
    <p:sldId id="357" r:id="rId26"/>
    <p:sldId id="358" r:id="rId27"/>
    <p:sldId id="360" r:id="rId28"/>
    <p:sldId id="397" r:id="rId29"/>
    <p:sldId id="390" r:id="rId30"/>
    <p:sldId id="367" r:id="rId31"/>
    <p:sldId id="368" r:id="rId32"/>
    <p:sldId id="369" r:id="rId33"/>
    <p:sldId id="370" r:id="rId34"/>
    <p:sldId id="391" r:id="rId35"/>
    <p:sldId id="371" r:id="rId36"/>
    <p:sldId id="401" r:id="rId37"/>
    <p:sldId id="392" r:id="rId38"/>
    <p:sldId id="374" r:id="rId39"/>
    <p:sldId id="375" r:id="rId40"/>
  </p:sldIdLst>
  <p:sldSz cx="18288000" cy="10287000"/>
  <p:notesSz cx="6858000" cy="9144000"/>
  <p:embeddedFontLst>
    <p:embeddedFont>
      <p:font typeface="프리텐다드" panose="020B0600000101010101" charset="-127"/>
      <p:regular r:id="rId42"/>
    </p:embeddedFont>
    <p:embeddedFont>
      <p:font typeface="프리텐다드 Bold" panose="020B0600000101010101" charset="-127"/>
      <p:regular r:id="rId43"/>
    </p:embeddedFont>
    <p:embeddedFont>
      <p:font typeface="프리텐다드 Light" panose="020B0600000101010101" charset="-127"/>
      <p:regular r:id="rId44"/>
    </p:embeddedFont>
    <p:embeddedFont>
      <p:font typeface="프리텐다드 Medium" panose="020B0600000101010101" charset="-127"/>
      <p:regular r:id="rId45"/>
    </p:embeddedFont>
    <p:embeddedFont>
      <p:font typeface="프리텐다드 Semi-Bold" panose="020B0600000101010101" charset="-127"/>
      <p:regular r:id="rId46"/>
    </p:embeddedFont>
    <p:embeddedFont>
      <p:font typeface="맑은 고딕" panose="020B0503020000020004" pitchFamily="50" charset="-127"/>
      <p:regular r:id="rId47"/>
      <p:bold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AAA4"/>
    <a:srgbClr val="7291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81" autoAdjust="0"/>
    <p:restoredTop sz="94622" autoAdjust="0"/>
  </p:normalViewPr>
  <p:slideViewPr>
    <p:cSldViewPr>
      <p:cViewPr varScale="1">
        <p:scale>
          <a:sx n="45" d="100"/>
          <a:sy n="45" d="100"/>
        </p:scale>
        <p:origin x="103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font" Target="fonts/font1.fntdata"/><Relationship Id="rId43" Type="http://schemas.openxmlformats.org/officeDocument/2006/relationships/font" Target="fonts/font2.fntdata"/><Relationship Id="rId44" Type="http://schemas.openxmlformats.org/officeDocument/2006/relationships/font" Target="fonts/font3.fntdata"/><Relationship Id="rId45" Type="http://schemas.openxmlformats.org/officeDocument/2006/relationships/font" Target="fonts/font4.fntdata"/><Relationship Id="rId46" Type="http://schemas.openxmlformats.org/officeDocument/2006/relationships/font" Target="fonts/font5.fntdata"/><Relationship Id="rId47" Type="http://schemas.openxmlformats.org/officeDocument/2006/relationships/font" Target="fonts/font6.fntdata"/><Relationship Id="rId48" Type="http://schemas.openxmlformats.org/officeDocument/2006/relationships/font" Target="fonts/font7.fntdata"/><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53"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0286FF-EFED-4A4B-9596-0AB0F09E93A2}" type="datetimeFigureOut">
              <a:rPr lang="ko-KR" altLang="en-US" smtClean="0"/>
              <a:t>2026-10-15</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285278-EDD9-49A8-B826-0278C2B38D08}" type="slidenum">
              <a:rPr lang="ko-KR" altLang="en-US" smtClean="0"/>
              <a:t>‹#›</a:t>
            </a:fld>
            <a:endParaRPr lang="ko-KR" altLang="en-US"/>
          </a:p>
        </p:txBody>
      </p:sp>
    </p:spTree>
    <p:extLst>
      <p:ext uri="{BB962C8B-B14F-4D97-AF65-F5344CB8AC3E}">
        <p14:creationId xmlns:p14="http://schemas.microsoft.com/office/powerpoint/2010/main" val="74087031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40285278-EDD9-49A8-B826-0278C2B38D08}" type="slidenum">
              <a:rPr lang="ko-KR" altLang="en-US" smtClean="0"/>
              <a:t>1</a:t>
            </a:fld>
            <a:endParaRPr lang="ko-KR" altLang="en-US"/>
          </a:p>
        </p:txBody>
      </p:sp>
    </p:spTree>
    <p:extLst>
      <p:ext uri="{BB962C8B-B14F-4D97-AF65-F5344CB8AC3E}">
        <p14:creationId xmlns:p14="http://schemas.microsoft.com/office/powerpoint/2010/main" val="4039675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2BA6E-DB28-63AB-A0C5-B96CCDF44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CBFAA-46DE-8DFA-AB44-8AC0B438A97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E20FF37-6BD5-527D-A7FA-0ED5660E28F3}"/>
              </a:ext>
            </a:extLst>
          </p:cNvPr>
          <p:cNvSpPr>
            <a:spLocks noGrp="1"/>
          </p:cNvSpPr>
          <p:nvPr>
            <p:ph type="body" sz="quarter" idx="3"/>
          </p:nvPr>
        </p:nvSpPr>
        <p:spPr/>
        <p:txBody>
          <a:bodyPr/>
          <a:lstStyle/>
          <a:p>
            <a:r>
              <a:t>[상태 표기의 기준]</a:t>
            </a:r>
          </a:p>
          <a:p>
            <a:r>
              <a:t>왼쪽 ‘배포 구성’은 사용자가 제공한 구성도에서 ‘구축 완료(배포됨)’로 표시된 Azure 환경(Cloud VM, 네트워크, Key Vault), B 수신 PACS(Orthanc+mTLS), B 전용 8GiB LUKS2 저장소에 한정한다. 실제 서버 접속이나 신규 검증을 수행한 결과가 아니다.</a:t>
            </a:r>
          </a:p>
          <a:p>
            <a:r>
              <a:t>가운데는 제공된 통합 구성에 표현된 인증·정책·Gateway 검증 요소이다. 각 요소의 구축 및 E2E 검증 완료를 일괄 선언하지 않는다. 오른쪽은 기존 PPT의 목표 운영 계획을 토대로 유지한 운영 확장 과제이다.</a:t>
            </a:r>
          </a:p>
          <a:p>
            <a:endParaRPr/>
          </a:p>
          <a:p>
            <a:r>
              <a:t>[기존 목표 운영 설계 세부 선택지 보존]</a:t>
            </a:r>
          </a:p>
          <a:p>
            <a:r>
              <a:t>Azure 구독·VNet·Private Endpoint / Application Gateway(WAF·TLS 종료·외부 진입점 관리) / MediQ API(App Service 또는 AKS) / DICOMweb Gateway(Container Apps 후보) / Entra ID(OIDC·SSO) / PostgreSQL Flexible Server(RLS·암호화 저장) / Key Vault(키·인증서 관리·키 교체) / 병원 PACS(VPN 또는 ExpressRoute, mTLS) / Azure Monitor와 Sentinel.</a:t>
            </a:r>
          </a:p>
          <a:p>
            <a:r>
              <a:t>이들은 기존 목표 운영의 선택지로, 이번 PoC의 병원 분산 Data Plane을 관리형 서비스 확장과 동일시하지 않는다. DICOMweb Gateway 배치 위치와 TLS 종료 지점은 운영 아키텍처 결정 시 병원 경계 및 승인 체계와 함께 정합성을 재검토한다.</a:t>
            </a:r>
          </a:p>
          <a:p>
            <a:endParaRPr/>
          </a:p>
          <a:p>
            <a:r>
              <a:t>[이전 구성과의 차이]</a:t>
            </a:r>
          </a:p>
          <a:p>
            <a:r>
              <a:t>기존 20번의 ‘Mock 인증 → Entra ID’, ‘환경변수 → Key Vault’는 이번 제공 그림의 구성 요소 및 Key Vault 구축 완료 표기와 충돌할 수 있으므로 단정적인 미구축 전제 대신, 계정 연동 검증·키 운영 정책 고도화로 재정리하였다. 배포 여부와 연동 검증 여부를 구분한다.</a:t>
            </a:r>
          </a:p>
          <a:p>
            <a:r>
              <a:t>기존 33번의 MVP 검증 수치(14/14, 148/148 등)는 재검증하지 않았으며 변경하지 않았다. 이번 편집은 새로운 운영 승인이나 실병원 연동 완료를 의미하지 않는다.</a:t>
            </a:r>
          </a:p>
          <a:p>
            <a:endParaRPr/>
          </a:p>
        </p:txBody>
      </p:sp>
      <p:sp>
        <p:nvSpPr>
          <p:cNvPr id="4" name="Slide Number Placeholder 3">
            <a:extLst>
              <a:ext uri="{FF2B5EF4-FFF2-40B4-BE49-F238E27FC236}">
                <a16:creationId xmlns:a16="http://schemas.microsoft.com/office/drawing/2014/main" id="{19513268-4F38-654F-C0C8-791051168131}"/>
              </a:ext>
            </a:extLst>
          </p:cNvPr>
          <p:cNvSpPr>
            <a:spLocks noGrp="1"/>
          </p:cNvSpPr>
          <p:nvPr>
            <p:ph type="sldNum" sz="quarter" idx="5"/>
          </p:nvPr>
        </p:nvSpPr>
        <p:spPr/>
      </p:sp>
    </p:spTree>
    <p:extLst>
      <p:ext uri="{BB962C8B-B14F-4D97-AF65-F5344CB8AC3E}">
        <p14:creationId xmlns:p14="http://schemas.microsoft.com/office/powerpoint/2010/main" val="3077839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[슬라이드 목적]</a:t>
            </a:r>
          </a:p>
          <a:p>
            <a:r>
              <a:t>제공된 「메디큐 구성도.png」를 원본 19번의 파란색·회색 도형 언어로 재구성하였다. 화면은 구조·책임 경계를 설명하고, 상세 1~8단계는 21번 인증·영상 접근 절차로 이동하였다. 구성의 존재와 실제 연동 검증 완료는 구분한다.</a:t>
            </a:r>
          </a:p>
          <a:p>
            <a:endParaRPr/>
          </a:p>
          <a:p>
            <a:r>
              <a:t>[구조 설명]</a:t>
            </a:r>
          </a:p>
          <a:p>
            <a:r>
              <a:t>Microsoft Entra ID는 로그인·사용자 인증 요소이며 VM 내부 서비스가 아니다. 인증(누구인지)과 인가(무엇을 볼 수 있는지)는 별도 단계이다. Azure Control Plane은 환자 동의, 공유 대상·기간·목적·Study/Series 범위, RBAC/ABAC, 단기 토큰 및 감사로그를 담당한다. Control Plane에 DICOM을 지속 저장하지 않는다는 것과 영상 트래픽이 Azure를 전혀 경유하지 않는다는 것은 다른 의미이다.</a:t>
            </a:r>
          </a:p>
          <a:p>
            <a:endParaRPr/>
          </a:p>
          <a:p>
            <a:r>
              <a:t>[별도 전송 경로]</a:t>
            </a:r>
          </a:p>
          <a:p>
            <a:r>
              <a:t>제공 그림의 B병원 전용 TCP 중계는 L4 TLS 터널링/패스스루이며 Control API의 영상 중개 처리와 구분한다. 브라우저의 영상 접속은 별도 영상 공개 주소를 사용하고, TLS 복호/종료는 병원 B에서 수행한다. 병원 A와 B의 선택 영상 요청·응답은 DICOMweb의 논리적 연계로, 필요한 Series/Instance만 요청 시 전달한다. 병원 간 사설 연계는 WireGuard이며 병원 내부에서는 mTLS를 사용한다. DB·PACS·관리 포트는 인터넷에 직접 공개하지 않는다.</a:t>
            </a:r>
          </a:p>
          <a:p>
            <a:endParaRPr/>
          </a:p>
          <a:p>
            <a:r>
              <a:t>[본문에서 분리한 기술 설정 — 제공 그림 기준]</a:t>
            </a:r>
          </a:p>
          <a:p>
            <a:r>
              <a:t>- Azure Japan East, VNet, NSG: 공개 브라우저 HTTPS 443.</a:t>
            </a:r>
          </a:p>
          <a:p>
            <a:r>
              <a:t>- Cloud VM / Docker Compose: Caddy + Coraza(OWASP CRS) HTTPS Edge, Web/모바일 PWA, 진료실 API 전달 경로, Control Plane API, PostgreSQL.</a:t>
            </a:r>
          </a:p>
          <a:p>
            <a:r>
              <a:t>- 제어 공개 주소: highpass-demo.japaneast.cloudapp.azure.com</a:t>
            </a:r>
          </a:p>
          <a:p>
            <a:r>
              <a:t>- B 영상 접속 주소: highpass-images-b.japaneast.cloudapp.azure.com</a:t>
            </a:r>
          </a:p>
          <a:p>
            <a:r>
              <a:t>- 병원 A: 로컬 VMware, Orthanc PACS, DICOMweb Gateway, 고정 CT 합성 영상(복부 예시, 700 slices).</a:t>
            </a:r>
          </a:p>
          <a:p>
            <a:r>
              <a:t>- 병원 B: 로컬 VMware, Portal/Gateway, Orthanc + mTLS 수신 PACS, 전용 8GiB LUKS2 암호화 저장소. 저장 기간은 병원 내부 정책에 따르며, 그림의 단기 보관 정책은 자료집 기준 적용으로 표시되어 있다. 실제 환자 데이터가 아닌 합성 데이터 PoC이다.</a:t>
            </a:r>
          </a:p>
          <a:p>
            <a:r>
              <a:t>- Azure Key Vault: 키 보호·wrap/unwrap, 저장 키와 영상 전송 키 용도 분리, RBAC, Private Endpoint + Private DNS, Public Access Disabled, Soft Delete, Purge Protection.</a:t>
            </a:r>
          </a:p>
          <a:p>
            <a:endParaRPr/>
          </a:p>
          <a:p>
            <a:r>
              <a:t>[기존 19번의 보조 기능 정보 보존]</a:t>
            </a:r>
          </a:p>
          <a:p>
            <a:r>
              <a:t>기존 MVP 설명에는 OHIF Viewer, PostgreSQL FORCE RLS, 연구용 Privacy Filter 가명처리 시뮬레이션, GitHub Security Gate(시크릿 검사·컨테이너 스캔·CycloneDX SBOM·mTLS 거부 테스트·인증서 만료 점검)가 포함되어 있었다. 이번 통합 구성도에서는 주 흐름을 명확히 하기 위해 이 세부 항목을 발표자 노트로 이동하였다. 기존 기능의 재검증·변경 완료를 새롭게 주장하지 않는다.</a:t>
            </a:r>
          </a:p>
          <a:p>
            <a:endParaRPr/>
          </a:p>
          <a:p>
            <a:r>
              <a:t>[편집]</a:t>
            </a:r>
          </a:p>
          <a:p>
            <a:r>
              <a:t>사진/단일 PNG가 아닌 기본 도형·텍스트 상자·네이티브 연결선으로 작성하였다. 선택 창에서 사용자/Azure/병원/전송 경로 그룹을 선택하여 이동하거나, 그룹 안의 구성요소 문구를 직접 수정할 수 있다.</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[슬라이드 목적]</a:t>
            </a:r>
          </a:p>
          <a:p>
            <a:r>
              <a:t>구성도에 표시되어 있던 1~8단계 설명을 인증절차 장으로 모았다. 통합 구성도는 배치·책임 경계, 이 장은 논리적인 요청·검증 순서를 설명한다. 물리적 TLS 중계 경로는 19번 하단에 별도로 표시되어 있다. 영상 화살표가 제어 영역을 가로질러 그려져도 Control API가 영상 페이로드를 처리·저장한다는 뜻이 아니다.</a:t>
            </a:r>
          </a:p>
          <a:p>
            <a:endParaRPr/>
          </a:p>
          <a:p>
            <a:r>
              <a:t>[1] 환자·의료진 Microsoft 로그인: Entra ID를 통해 신원을 확인한다. 로그인 성공은 특정 환자의 영상 열람 권한 부여와 동일하지 않다. 사내 연합형 환자·의료진 계정 매핑은 제공 구성도 기준의 구성 요소이다.</a:t>
            </a:r>
          </a:p>
          <a:p>
            <a:r>
              <a:t>[2] 환자 공유 범위 선택: 수신 병원, 공유 기간, 목적, 허용 영상 범위를 정한다.</a:t>
            </a:r>
          </a:p>
          <a:p>
            <a:r>
              <a:t>[3] 동의 저장 및 QR 티켓 발급: 동의 정보를 저장하고 접수용 티켓을 발급한다. QR은 접수·식별 수단이며 권한 검증을 대체하지 않는다.</a:t>
            </a:r>
          </a:p>
          <a:p>
            <a:r>
              <a:t>[4] 의료진 QR 접수: 환자·병원·요청을 식별하고 이후 정책 조회로 연결한다.</a:t>
            </a:r>
          </a:p>
          <a:p>
            <a:r>
              <a:t>[5] Control Plane 조회: 동의 유효성, 공유 범위, 목적, Study/Series 등 메타데이터를 확인한다.</a:t>
            </a:r>
          </a:p>
          <a:p>
            <a:r>
              <a:t>[6] 권한 판정 및 단기 토큰: RBAC/ABAC와 동의 범위를 기준으로 접근을 판정하고 승인된 최소 범위에 한정된 토큰을 발급한다. ‘5분’은 기존 발표자료의 토큰 유효기간을 보존한 값으로, 이번 편집에서 서버 설정을 재검증한 값이 아니다.</a:t>
            </a:r>
          </a:p>
          <a:p>
            <a:r>
              <a:t>[7] Gateway 재검증: 제공 그림에 표시된 L2·DPoP·환자 동의 검증과 토큰·범위 확인을 수행하는 흐름이다. L2는 제공 구성도의 프로젝트 표기를 그대로 유지하였다. 만료·철회·범위 초과·검증 실패 요청에는 영상을 전달하지 않는 원칙을 명시하였다. A측 Gateway의 승인 요청 처리는 병원 분산 데이터 경계를 유지한다.</a:t>
            </a:r>
          </a:p>
          <a:p>
            <a:r>
              <a:t>[8] 승인된 영상만 요청 시 전달: 필요한 Series/Instance를 선택 조회하여 승인된 열람·수신에 사용한다. 병원 B 수신 PACS와 암호화 저장소는 병원 내부에서 관리한다. 접근·인가·조회·수신 이력은 감사기록으로 남긴다. 단기 보관 기간과 전송 완결성 확인 등 상세 운영 정책은 별도 검증 항목이다.</a:t>
            </a:r>
          </a:p>
          <a:p>
            <a:endParaRPr/>
          </a:p>
          <a:p>
            <a:r>
              <a:t>[범위]</a:t>
            </a:r>
          </a:p>
          <a:p>
            <a:r>
              <a:t>합성 데이터 기반 가상 병원 PoC를 설명하는 자료이다. 실제 환자 데이터 사용, 실병원 연동 또는 운영 승인을 새롭게 주장하지 않는다. 제공 구성도와 기존 PPT를 편집한 것이며 서버 접속·명령 실행·E2E 재검증을 수행하지 않았다.</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편집의 정합성 보정]</a:t>
            </a:r>
          </a:p>
          <a:p>
            <a:r>
              <a:t>Azure Key Vault를 ‘확장 계획’으로만 표시하던 문구를 ‘PoC 구성’으로 조정하였다. 이는 새로 제공된 구성도에 Key Vault가 배포 항목으로 표시된 점을 반영한 표현 수정이다. 키 교체·복구·전체 운영 정책 또는 실제 병원 연동의 검증 완료를 의미하지 않는다. 이 슬라이드의 다른 기술 설명과 기존 검증 수치는 변경하지 않았다.</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[MediQ 아키텍처 모션 비디오 발표 스크립트]</a:t>
            </a:r>
          </a:p>
          <a:p>
            <a:r>
              <a:t>"지금 보시는 영상은 MediQ의 핵심 아키텍처 전 주기 흐름을 시각화한 모션 데모입니다.</a:t>
            </a:r>
          </a:p>
          <a:p/>
          <a:p>
            <a:r>
              <a:t>❶ [신원 인증]: 환자와 의료진이 Microsoft Entra ID를 통해 신원을 인증합니다. 인증(Who)과 의료영상 접근 인가(What)가 물리적으로 분리되어 있어 계정이 탈취되더라도 영상이 유출되지 않습니다.</a:t>
            </a:r>
          </a:p>
          <a:p>
            <a:r>
              <a:t>❷ [환자 동의]: 환자가 모바일에서 본인의 서울성모병원 복부 CT 700장을 확인하고, 수신 병원(아산병원)과 열람 전용(VIEW_ONLY) 권한, 7일의 유효기간을 직접 지정합니다.</a:t>
            </a:r>
          </a:p>
          <a:p>
            <a:r>
              <a:t>❸ [QR 접수증]: 동의가 체결되면 위변조가 불가능한 HMAC-SHA256 암호화 일회용 QR 티켓이 발급됩니다.</a:t>
            </a:r>
          </a:p>
          <a:p>
            <a:r>
              <a:t>❹ [현장 접수]: 수신병원 진료실에서 의료진이 환자가 제시한 QR 코드를 원터치 스캔하여 조회를 요청합니다.</a:t>
            </a:r>
          </a:p>
          <a:p>
            <a:r>
              <a:t>❺ [ABAC 11단계 검증]: 중앙 Control Plane에서 11개 교집합 조건(동의 활성, 병원 일치, 의사 소속, 허용 Study UID 등)을 전수 검증하며, 단 하나라도 불일치 시 Fail-Closed로 즉시 차단합니다.</a:t>
            </a:r>
          </a:p>
          <a:p>
            <a:r>
              <a:t>❻ [단기 토큰]: 11단계 검증을 모두 통과하면 5분 유효 단기 토큰이 발급됩니다.</a:t>
            </a:r>
          </a:p>
          <a:p>
            <a:r>
              <a:t>❼ [게이트웨이 재검증]: B병원 분리 게이트웨이에서 DPoP 및 토큰 서명을 재확인합니다.</a:t>
            </a:r>
          </a:p>
          <a:p>
            <a:r>
              <a:t>❽ [700장 CT 직통 스트리밍]: 클라우드 중앙에 원본을 저장하지 않는 'Zero Cloud Storage' 원칙에 따라, WireGuard 사설망을 통해 B병원 뷰어로 700장 CT가 무지연 스트리밍 렌더링됩니다."</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발표 스크립트: 실시간 라이브 서버 접속 안내]</a:t>
            </a:r>
          </a:p>
          <a:p>
            <a:r>
              <a:t>"다음으로, 저희가 구축한 시스템의 실시간 동작을 직접 확인하실 수 있도록 라이브 서버를 시연해 드리겠습니다.</a:t>
            </a:r>
          </a:p>
          <a:p>
            <a:r>
              <a:t>지금 발표장에 계신 심사위원님들과 청중 여러분께서도 스마트폰 기본 카메라로 화면 좌측의 QR 코드를 스캔하시면, 별도의 앱 설치 없이 동일 Wi-Fi 망(http://10.10.70.151:3098)을 통해 MediQ 실시간 아키텍처 시뮬레이터에 즉시 접속하실 수 있습니다.</a:t>
            </a:r>
          </a:p>
          <a:p>
            <a:r>
              <a:t>이 시뮬레이터에서는 환자 동의 생성부터 11단계 ABAC 인가, 그리고 병원 간 WireGuard 사설 터널을 통한 700장 CT 스트리밍까지 전 과정을 인터랙티브하게 체험하실 수 있습니다.</a:t>
            </a:r>
          </a:p>
          <a:p>
            <a:r>
              <a:t>그럼 다음 슬라이드에서 실제 아키텍처가 어떻게 흐르는지 고화질 영상으로 확인하시겠습니다."</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svg"/><Relationship Id="rId3"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sv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 Id="rId6" Type="http://schemas.openxmlformats.org/officeDocument/2006/relationships/image" Target="../media/image16.svg"/><Relationship Id="rId7" Type="http://schemas.openxmlformats.org/officeDocument/2006/relationships/image" Target="../media/image17.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svg"/><Relationship Id="rId3" Type="http://schemas.openxmlformats.org/officeDocument/2006/relationships/image" Target="../media/image20.svg"/><Relationship Id="rId4" Type="http://schemas.openxmlformats.org/officeDocument/2006/relationships/image" Target="../media/image21.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svg"/><Relationship Id="rId3" Type="http://schemas.openxmlformats.org/officeDocument/2006/relationships/image" Target="../media/image23.svg"/><Relationship Id="rId4" Type="http://schemas.openxmlformats.org/officeDocument/2006/relationships/image" Target="../media/image24.svg"/><Relationship Id="rId5" Type="http://schemas.openxmlformats.org/officeDocument/2006/relationships/image" Target="../media/image25.svg"/><Relationship Id="rId6" Type="http://schemas.openxmlformats.org/officeDocument/2006/relationships/image" Target="../media/image26.svg"/><Relationship Id="rId7" Type="http://schemas.openxmlformats.org/officeDocument/2006/relationships/image" Target="../media/image27.svg"/><Relationship Id="rId8" Type="http://schemas.openxmlformats.org/officeDocument/2006/relationships/image" Target="../media/image21.svg"/><Relationship Id="rId9" Type="http://schemas.openxmlformats.org/officeDocument/2006/relationships/image" Target="../media/image28.svg"/><Relationship Id="rId10" Type="http://schemas.openxmlformats.org/officeDocument/2006/relationships/image" Target="../media/image29.svg"/><Relationship Id="rId11" Type="http://schemas.openxmlformats.org/officeDocument/2006/relationships/image" Target="../media/image20.svg"/><Relationship Id="rId12" Type="http://schemas.openxmlformats.org/officeDocument/2006/relationships/image" Target="../media/image30.svg"/><Relationship Id="rId13" Type="http://schemas.openxmlformats.org/officeDocument/2006/relationships/image" Target="../media/image31.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image" Target="../media/image32.png"/><Relationship Id="rId5"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11.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1.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3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hyperlink" Target="http://10.10.70.151:3098" TargetMode="Externa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5307008" y="-189268"/>
            <a:ext cx="3268199" cy="7739024"/>
            <a:chOff x="0" y="0"/>
            <a:chExt cx="860760" cy="2038262"/>
          </a:xfrm>
        </p:grpSpPr>
        <p:sp>
          <p:nvSpPr>
            <p:cNvPr id="3" name="Freeform 3"/>
            <p:cNvSpPr/>
            <p:nvPr/>
          </p:nvSpPr>
          <p:spPr>
            <a:xfrm>
              <a:off x="0" y="0"/>
              <a:ext cx="860760" cy="2038262"/>
            </a:xfrm>
            <a:custGeom>
              <a:avLst/>
              <a:gdLst/>
              <a:ahLst/>
              <a:cxnLst/>
              <a:rect l="l" t="t" r="r" b="b"/>
              <a:pathLst>
                <a:path w="860760" h="2038262">
                  <a:moveTo>
                    <a:pt x="0" y="0"/>
                  </a:moveTo>
                  <a:lnTo>
                    <a:pt x="860760" y="0"/>
                  </a:lnTo>
                  <a:lnTo>
                    <a:pt x="860760" y="2038262"/>
                  </a:lnTo>
                  <a:lnTo>
                    <a:pt x="0" y="2038262"/>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860760" cy="2085887"/>
            </a:xfrm>
            <a:prstGeom prst="rect">
              <a:avLst/>
            </a:prstGeom>
          </p:spPr>
          <p:txBody>
            <a:bodyPr lIns="50800" tIns="50800" rIns="50800" bIns="50800" rtlCol="0" anchor="ctr"/>
            <a:lstStyle/>
            <a:p>
              <a:pPr algn="ctr">
                <a:lnSpc>
                  <a:spcPts val="3156"/>
                </a:lnSpc>
              </a:pPr>
              <a:endParaRPr/>
            </a:p>
          </p:txBody>
        </p:sp>
      </p:grpSp>
      <p:sp>
        <p:nvSpPr>
          <p:cNvPr id="8" name="AutoShape 8">
            <a:extLst>
              <a:ext uri="{C183D7F6-B498-43B3-948B-1728B52AA6E4}">
                <adec:decorative xmlns:adec="http://schemas.microsoft.com/office/drawing/2017/decorative" val="1"/>
              </a:ext>
            </a:extLst>
          </p:cNvPr>
          <p:cNvSpPr/>
          <p:nvPr/>
        </p:nvSpPr>
        <p:spPr>
          <a:xfrm>
            <a:off x="1033463" y="7907272"/>
            <a:ext cx="0" cy="1351028"/>
          </a:xfrm>
          <a:prstGeom prst="line">
            <a:avLst/>
          </a:prstGeom>
          <a:ln w="9525" cap="flat">
            <a:solidFill>
              <a:srgbClr val="F6F6F6"/>
            </a:solidFill>
            <a:prstDash val="solid"/>
            <a:headEnd type="none" w="sm" len="sm"/>
            <a:tailEnd type="none" w="sm" len="sm"/>
          </a:ln>
        </p:spPr>
        <p:txBody>
          <a:bodyPr/>
          <a:lstStyle/>
          <a:p>
            <a:endParaRPr lang="ko-KR" altLang="en-US"/>
          </a:p>
        </p:txBody>
      </p:sp>
      <p:sp>
        <p:nvSpPr>
          <p:cNvPr id="9" name="Freeform 9">
            <a:extLst>
              <a:ext uri="{C183D7F6-B498-43B3-948B-1728B52AA6E4}">
                <adec:decorative xmlns:adec="http://schemas.microsoft.com/office/drawing/2017/decorative" val="1"/>
              </a:ext>
            </a:extLst>
          </p:cNvPr>
          <p:cNvSpPr/>
          <p:nvPr/>
        </p:nvSpPr>
        <p:spPr>
          <a:xfrm>
            <a:off x="0" y="7075598"/>
            <a:ext cx="18288000" cy="5818426"/>
          </a:xfrm>
          <a:custGeom>
            <a:avLst/>
            <a:gdLst/>
            <a:ahLst/>
            <a:cxnLst/>
            <a:rect l="l" t="t" r="r" b="b"/>
            <a:pathLst>
              <a:path w="18288000" h="5818426">
                <a:moveTo>
                  <a:pt x="0" y="0"/>
                </a:moveTo>
                <a:lnTo>
                  <a:pt x="18288000" y="0"/>
                </a:lnTo>
                <a:lnTo>
                  <a:pt x="18288000" y="5818426"/>
                </a:lnTo>
                <a:lnTo>
                  <a:pt x="0" y="5818426"/>
                </a:lnTo>
                <a:lnTo>
                  <a:pt x="0" y="0"/>
                </a:lnTo>
                <a:close/>
              </a:path>
            </a:pathLst>
          </a:custGeom>
          <a:blipFill>
            <a:blip r:embed="rId3"/>
            <a:stretch>
              <a:fillRect b="-4705"/>
            </a:stretch>
          </a:blipFill>
        </p:spPr>
        <p:txBody>
          <a:bodyPr/>
          <a:lstStyle/>
          <a:p>
            <a:endParaRPr lang="ko-KR" altLang="en-US" dirty="0"/>
          </a:p>
        </p:txBody>
      </p:sp>
      <p:sp>
        <p:nvSpPr>
          <p:cNvPr id="10" name="TextBox 10"/>
          <p:cNvSpPr txBox="1"/>
          <p:nvPr/>
        </p:nvSpPr>
        <p:spPr>
          <a:xfrm>
            <a:off x="2525577" y="8951595"/>
            <a:ext cx="2037685" cy="306705"/>
          </a:xfrm>
          <a:prstGeom prst="rect">
            <a:avLst/>
          </a:prstGeom>
        </p:spPr>
        <p:txBody>
          <a:bodyPr lIns="0" tIns="0" rIns="0" bIns="0" rtlCol="0" anchor="t">
            <a:spAutoFit/>
          </a:bodyPr>
          <a:lstStyle/>
          <a:p>
            <a:pPr algn="just">
              <a:lnSpc>
                <a:spcPts val="2520"/>
              </a:lnSpc>
            </a:pPr>
            <a:r>
              <a:rPr lang="en-US" sz="1800" spc="131">
                <a:solidFill>
                  <a:srgbClr val="F6F6F6"/>
                </a:solidFill>
                <a:latin typeface="프리텐다드"/>
                <a:ea typeface="프리텐다드"/>
                <a:cs typeface="프리텐다드"/>
                <a:sym typeface="프리텐다드"/>
              </a:rPr>
              <a:t>010-2758-0517</a:t>
            </a:r>
          </a:p>
        </p:txBody>
      </p:sp>
      <p:sp>
        <p:nvSpPr>
          <p:cNvPr id="11" name="TextBox 11"/>
          <p:cNvSpPr txBox="1"/>
          <p:nvPr/>
        </p:nvSpPr>
        <p:spPr>
          <a:xfrm>
            <a:off x="2525577" y="7869172"/>
            <a:ext cx="6944284" cy="306705"/>
          </a:xfrm>
          <a:prstGeom prst="rect">
            <a:avLst/>
          </a:prstGeom>
        </p:spPr>
        <p:txBody>
          <a:bodyPr lIns="0" tIns="0" rIns="0" bIns="0" rtlCol="0" anchor="t">
            <a:spAutoFit/>
          </a:bodyPr>
          <a:lstStyle/>
          <a:p>
            <a:pPr algn="just">
              <a:lnSpc>
                <a:spcPts val="2520"/>
              </a:lnSpc>
            </a:pPr>
            <a:r>
              <a:rPr lang="en-US" sz="1800" spc="131">
                <a:solidFill>
                  <a:srgbClr val="F6F6F6"/>
                </a:solidFill>
                <a:latin typeface="프리텐다드"/>
                <a:ea typeface="프리텐다드"/>
                <a:cs typeface="프리텐다드"/>
                <a:sym typeface="프리텐다드"/>
              </a:rPr>
              <a:t>https://highpass-demo.japaneast.cloudapp.azure.com/</a:t>
            </a:r>
          </a:p>
        </p:txBody>
      </p:sp>
      <p:sp>
        <p:nvSpPr>
          <p:cNvPr id="12" name="TextBox 12"/>
          <p:cNvSpPr txBox="1"/>
          <p:nvPr/>
        </p:nvSpPr>
        <p:spPr>
          <a:xfrm>
            <a:off x="1482725" y="7869172"/>
            <a:ext cx="1042852" cy="306705"/>
          </a:xfrm>
          <a:prstGeom prst="rect">
            <a:avLst/>
          </a:prstGeom>
        </p:spPr>
        <p:txBody>
          <a:bodyPr lIns="0" tIns="0" rIns="0" bIns="0" rtlCol="0" anchor="t">
            <a:spAutoFit/>
          </a:bodyPr>
          <a:lstStyle/>
          <a:p>
            <a:pPr algn="just">
              <a:lnSpc>
                <a:spcPts val="2520"/>
              </a:lnSpc>
            </a:pPr>
            <a:r>
              <a:rPr lang="en-US" sz="1800" spc="131">
                <a:solidFill>
                  <a:srgbClr val="F6F6F6"/>
                </a:solidFill>
                <a:latin typeface="프리텐다드"/>
                <a:ea typeface="프리텐다드"/>
                <a:cs typeface="프리텐다드"/>
                <a:sym typeface="프리텐다드"/>
              </a:rPr>
              <a:t>홈페이지</a:t>
            </a:r>
          </a:p>
        </p:txBody>
      </p:sp>
      <p:sp>
        <p:nvSpPr>
          <p:cNvPr id="13" name="TextBox 13"/>
          <p:cNvSpPr txBox="1"/>
          <p:nvPr/>
        </p:nvSpPr>
        <p:spPr>
          <a:xfrm>
            <a:off x="1482725" y="8405119"/>
            <a:ext cx="1042852" cy="306705"/>
          </a:xfrm>
          <a:prstGeom prst="rect">
            <a:avLst/>
          </a:prstGeom>
        </p:spPr>
        <p:txBody>
          <a:bodyPr lIns="0" tIns="0" rIns="0" bIns="0" rtlCol="0" anchor="t">
            <a:spAutoFit/>
          </a:bodyPr>
          <a:lstStyle/>
          <a:p>
            <a:pPr algn="just">
              <a:lnSpc>
                <a:spcPts val="2520"/>
              </a:lnSpc>
            </a:pPr>
            <a:r>
              <a:rPr lang="en-US" sz="1800" spc="131">
                <a:solidFill>
                  <a:srgbClr val="F6F6F6"/>
                </a:solidFill>
                <a:latin typeface="프리텐다드"/>
                <a:ea typeface="프리텐다드"/>
                <a:cs typeface="프리텐다드"/>
                <a:sym typeface="프리텐다드"/>
              </a:rPr>
              <a:t>이름</a:t>
            </a:r>
          </a:p>
        </p:txBody>
      </p:sp>
      <p:sp>
        <p:nvSpPr>
          <p:cNvPr id="14" name="TextBox 14"/>
          <p:cNvSpPr txBox="1"/>
          <p:nvPr/>
        </p:nvSpPr>
        <p:spPr>
          <a:xfrm>
            <a:off x="1482725" y="8951595"/>
            <a:ext cx="1042852" cy="306705"/>
          </a:xfrm>
          <a:prstGeom prst="rect">
            <a:avLst/>
          </a:prstGeom>
        </p:spPr>
        <p:txBody>
          <a:bodyPr lIns="0" tIns="0" rIns="0" bIns="0" rtlCol="0" anchor="t">
            <a:spAutoFit/>
          </a:bodyPr>
          <a:lstStyle/>
          <a:p>
            <a:pPr algn="just">
              <a:lnSpc>
                <a:spcPts val="2520"/>
              </a:lnSpc>
            </a:pPr>
            <a:r>
              <a:rPr lang="en-US" sz="1800" spc="131">
                <a:solidFill>
                  <a:srgbClr val="F6F6F6"/>
                </a:solidFill>
                <a:latin typeface="프리텐다드"/>
                <a:ea typeface="프리텐다드"/>
                <a:cs typeface="프리텐다드"/>
                <a:sym typeface="프리텐다드"/>
              </a:rPr>
              <a:t>연락처</a:t>
            </a:r>
          </a:p>
        </p:txBody>
      </p:sp>
      <p:sp>
        <p:nvSpPr>
          <p:cNvPr id="15" name="TextBox 15"/>
          <p:cNvSpPr txBox="1"/>
          <p:nvPr/>
        </p:nvSpPr>
        <p:spPr>
          <a:xfrm>
            <a:off x="2525577" y="8405119"/>
            <a:ext cx="3498185" cy="306705"/>
          </a:xfrm>
          <a:prstGeom prst="rect">
            <a:avLst/>
          </a:prstGeom>
        </p:spPr>
        <p:txBody>
          <a:bodyPr lIns="0" tIns="0" rIns="0" bIns="0" rtlCol="0" anchor="t">
            <a:spAutoFit/>
          </a:bodyPr>
          <a:lstStyle/>
          <a:p>
            <a:pPr algn="just">
              <a:lnSpc>
                <a:spcPts val="2520"/>
              </a:lnSpc>
            </a:pPr>
            <a:r>
              <a:rPr lang="en-US" sz="1800" spc="131">
                <a:solidFill>
                  <a:srgbClr val="F6F6F6"/>
                </a:solidFill>
                <a:latin typeface="프리텐다드"/>
                <a:ea typeface="프리텐다드"/>
                <a:cs typeface="프리텐다드"/>
                <a:sym typeface="프리텐다드"/>
              </a:rPr>
              <a:t>이재석, 김범희</a:t>
            </a:r>
          </a:p>
        </p:txBody>
      </p:sp>
      <p:sp>
        <p:nvSpPr>
          <p:cNvPr id="16" name="TextBox 16"/>
          <p:cNvSpPr txBox="1"/>
          <p:nvPr/>
        </p:nvSpPr>
        <p:spPr>
          <a:xfrm>
            <a:off x="1028700" y="2214108"/>
            <a:ext cx="8441160" cy="3224469"/>
          </a:xfrm>
          <a:prstGeom prst="rect">
            <a:avLst/>
          </a:prstGeom>
        </p:spPr>
        <p:txBody>
          <a:bodyPr lIns="0" tIns="0" rIns="0" bIns="0" rtlCol="0" anchor="t">
            <a:spAutoFit/>
          </a:bodyPr>
          <a:lstStyle/>
          <a:p>
            <a:pPr algn="l">
              <a:lnSpc>
                <a:spcPts val="12979"/>
              </a:lnSpc>
            </a:pPr>
            <a:r>
              <a:rPr lang="en-US" sz="9270" b="1">
                <a:solidFill>
                  <a:srgbClr val="2A59C5"/>
                </a:solidFill>
                <a:latin typeface="프리텐다드 Bold"/>
                <a:ea typeface="프리텐다드 Bold"/>
                <a:cs typeface="프리텐다드 Bold"/>
                <a:sym typeface="프리텐다드 Bold"/>
              </a:rPr>
              <a:t>mediQ</a:t>
            </a:r>
          </a:p>
          <a:p>
            <a:pPr algn="l">
              <a:lnSpc>
                <a:spcPts val="12979"/>
              </a:lnSpc>
              <a:spcBef>
                <a:spcPct val="0"/>
              </a:spcBef>
            </a:pPr>
            <a:endParaRPr lang="en-US" sz="9270" b="1">
              <a:solidFill>
                <a:srgbClr val="2A59C5"/>
              </a:solidFill>
              <a:latin typeface="프리텐다드 Bold"/>
              <a:ea typeface="프리텐다드 Bold"/>
              <a:cs typeface="프리텐다드 Bold"/>
              <a:sym typeface="프리텐다드 Bold"/>
            </a:endParaRPr>
          </a:p>
        </p:txBody>
      </p:sp>
      <p:sp>
        <p:nvSpPr>
          <p:cNvPr id="17" name="TextBox 17"/>
          <p:cNvSpPr txBox="1"/>
          <p:nvPr/>
        </p:nvSpPr>
        <p:spPr>
          <a:xfrm>
            <a:off x="1028700" y="3516926"/>
            <a:ext cx="9070083" cy="1584983"/>
          </a:xfrm>
          <a:prstGeom prst="rect">
            <a:avLst/>
          </a:prstGeom>
        </p:spPr>
        <p:txBody>
          <a:bodyPr lIns="0" tIns="0" rIns="0" bIns="0" rtlCol="0" anchor="t">
            <a:spAutoFit/>
          </a:bodyPr>
          <a:lstStyle/>
          <a:p>
            <a:pPr algn="l">
              <a:lnSpc>
                <a:spcPts val="12979"/>
              </a:lnSpc>
              <a:spcBef>
                <a:spcPct val="0"/>
              </a:spcBef>
            </a:pPr>
            <a:r>
              <a:rPr lang="en-US" sz="9270" b="1">
                <a:solidFill>
                  <a:srgbClr val="282828"/>
                </a:solidFill>
                <a:latin typeface="프리텐다드 Bold"/>
                <a:ea typeface="프리텐다드 Bold"/>
                <a:cs typeface="프리텐다드 Bold"/>
                <a:sym typeface="프리텐다드 Bold"/>
              </a:rPr>
              <a:t>의료 중개 서비스</a:t>
            </a:r>
          </a:p>
        </p:txBody>
      </p:sp>
      <p:sp>
        <p:nvSpPr>
          <p:cNvPr id="18" name="TextBox 18"/>
          <p:cNvSpPr txBox="1"/>
          <p:nvPr/>
        </p:nvSpPr>
        <p:spPr>
          <a:xfrm>
            <a:off x="1028700" y="1848967"/>
            <a:ext cx="3836759" cy="356036"/>
          </a:xfrm>
          <a:prstGeom prst="rect">
            <a:avLst/>
          </a:prstGeom>
        </p:spPr>
        <p:txBody>
          <a:bodyPr lIns="0" tIns="0" rIns="0" bIns="0" rtlCol="0" anchor="t">
            <a:spAutoFit/>
          </a:bodyPr>
          <a:lstStyle/>
          <a:p>
            <a:pPr algn="l">
              <a:lnSpc>
                <a:spcPts val="2950"/>
              </a:lnSpc>
              <a:spcBef>
                <a:spcPct val="0"/>
              </a:spcBef>
            </a:pPr>
            <a:r>
              <a:rPr lang="en-US" sz="2107" spc="210">
                <a:solidFill>
                  <a:srgbClr val="282828"/>
                </a:solidFill>
                <a:latin typeface="프리텐다드"/>
                <a:ea typeface="프리텐다드"/>
                <a:cs typeface="프리텐다드"/>
                <a:sym typeface="프리텐다드"/>
              </a:rPr>
              <a:t>BUSINESS PROPOSAL</a:t>
            </a:r>
          </a:p>
        </p:txBody>
      </p:sp>
      <p:sp>
        <p:nvSpPr>
          <p:cNvPr id="19" name="TextBox 19"/>
          <p:cNvSpPr txBox="1"/>
          <p:nvPr/>
        </p:nvSpPr>
        <p:spPr>
          <a:xfrm>
            <a:off x="1028700" y="5244784"/>
            <a:ext cx="6505897" cy="999843"/>
          </a:xfrm>
          <a:prstGeom prst="rect">
            <a:avLst/>
          </a:prstGeom>
        </p:spPr>
        <p:txBody>
          <a:bodyPr lIns="0" tIns="0" rIns="0" bIns="0" rtlCol="0" anchor="t">
            <a:spAutoFit/>
          </a:bodyPr>
          <a:lstStyle/>
          <a:p>
            <a:pPr algn="just">
              <a:lnSpc>
                <a:spcPts val="2640"/>
              </a:lnSpc>
            </a:pPr>
            <a:r>
              <a:rPr lang="en-US" sz="1886" spc="335">
                <a:solidFill>
                  <a:srgbClr val="282828"/>
                </a:solidFill>
                <a:latin typeface="프리텐다드"/>
                <a:ea typeface="프리텐다드"/>
                <a:cs typeface="프리텐다드"/>
                <a:sym typeface="프리텐다드"/>
              </a:rPr>
              <a:t>의료영상·건강정보 중개 서비스</a:t>
            </a:r>
          </a:p>
          <a:p>
            <a:pPr algn="just">
              <a:lnSpc>
                <a:spcPts val="2640"/>
              </a:lnSpc>
            </a:pPr>
            <a:r>
              <a:rPr lang="en-US" sz="1886" spc="335">
                <a:solidFill>
                  <a:srgbClr val="282828"/>
                </a:solidFill>
                <a:latin typeface="프리텐다드"/>
                <a:ea typeface="프리텐다드"/>
                <a:cs typeface="프리텐다드"/>
                <a:sym typeface="프리텐다드"/>
              </a:rPr>
              <a:t>A병원에서 B병원까지, 환자가 중심이 되는 여정</a:t>
            </a:r>
          </a:p>
          <a:p>
            <a:pPr marL="0" lvl="0" indent="0" algn="just">
              <a:lnSpc>
                <a:spcPts val="2640"/>
              </a:lnSpc>
              <a:spcBef>
                <a:spcPct val="0"/>
              </a:spcBef>
            </a:pPr>
            <a:endParaRPr lang="en-US" sz="1886" spc="335">
              <a:solidFill>
                <a:srgbClr val="282828"/>
              </a:solidFill>
              <a:latin typeface="프리텐다드"/>
              <a:ea typeface="프리텐다드"/>
              <a:cs typeface="프리텐다드"/>
              <a:sym typeface="프리텐다드"/>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5983252" cy="2953200"/>
            <a:chOff x="0" y="0"/>
            <a:chExt cx="1575836" cy="777797"/>
          </a:xfrm>
        </p:grpSpPr>
        <p:sp>
          <p:nvSpPr>
            <p:cNvPr id="3" name="Freeform 3"/>
            <p:cNvSpPr/>
            <p:nvPr/>
          </p:nvSpPr>
          <p:spPr>
            <a:xfrm>
              <a:off x="0" y="0"/>
              <a:ext cx="1575836" cy="777797"/>
            </a:xfrm>
            <a:custGeom>
              <a:avLst/>
              <a:gdLst/>
              <a:ahLst/>
              <a:cxnLst/>
              <a:rect l="l" t="t" r="r" b="b"/>
              <a:pathLst>
                <a:path w="1575836" h="777797">
                  <a:moveTo>
                    <a:pt x="0" y="0"/>
                  </a:moveTo>
                  <a:lnTo>
                    <a:pt x="1575836" y="0"/>
                  </a:lnTo>
                  <a:lnTo>
                    <a:pt x="1575836"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1575836"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405377"/>
            <a:ext cx="132273" cy="814512"/>
            <a:chOff x="0" y="0"/>
            <a:chExt cx="40474" cy="249233"/>
          </a:xfrm>
        </p:grpSpPr>
        <p:sp>
          <p:nvSpPr>
            <p:cNvPr id="6" name="Freeform 6"/>
            <p:cNvSpPr/>
            <p:nvPr/>
          </p:nvSpPr>
          <p:spPr>
            <a:xfrm>
              <a:off x="0" y="0"/>
              <a:ext cx="40474" cy="249233"/>
            </a:xfrm>
            <a:custGeom>
              <a:avLst/>
              <a:gdLst/>
              <a:ahLst/>
              <a:cxnLst/>
              <a:rect l="l" t="t" r="r" b="b"/>
              <a:pathLst>
                <a:path w="40474" h="249233">
                  <a:moveTo>
                    <a:pt x="0" y="0"/>
                  </a:moveTo>
                  <a:lnTo>
                    <a:pt x="40474" y="0"/>
                  </a:lnTo>
                  <a:lnTo>
                    <a:pt x="40474" y="249233"/>
                  </a:lnTo>
                  <a:lnTo>
                    <a:pt x="0" y="249233"/>
                  </a:lnTo>
                  <a:close/>
                </a:path>
              </a:pathLst>
            </a:custGeom>
            <a:solidFill>
              <a:srgbClr val="2A59C5"/>
            </a:solidFill>
          </p:spPr>
          <p:txBody>
            <a:bodyPr/>
            <a:lstStyle/>
            <a:p>
              <a:endParaRPr lang="ko-KR" altLang="en-US"/>
            </a:p>
          </p:txBody>
        </p:sp>
        <p:sp>
          <p:nvSpPr>
            <p:cNvPr id="7" name="TextBox 7"/>
            <p:cNvSpPr txBox="1"/>
            <p:nvPr/>
          </p:nvSpPr>
          <p:spPr>
            <a:xfrm>
              <a:off x="0" y="-38100"/>
              <a:ext cx="40474" cy="287333"/>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162858" y="2845673"/>
            <a:ext cx="5983252" cy="7441327"/>
            <a:chOff x="0" y="0"/>
            <a:chExt cx="1575836" cy="1959856"/>
          </a:xfrm>
        </p:grpSpPr>
        <p:sp>
          <p:nvSpPr>
            <p:cNvPr id="9" name="Freeform 9"/>
            <p:cNvSpPr/>
            <p:nvPr/>
          </p:nvSpPr>
          <p:spPr>
            <a:xfrm>
              <a:off x="0" y="0"/>
              <a:ext cx="1575836" cy="1959856"/>
            </a:xfrm>
            <a:custGeom>
              <a:avLst/>
              <a:gdLst/>
              <a:ahLst/>
              <a:cxnLst/>
              <a:rect l="l" t="t" r="r" b="b"/>
              <a:pathLst>
                <a:path w="1575836" h="1959856">
                  <a:moveTo>
                    <a:pt x="0" y="0"/>
                  </a:moveTo>
                  <a:lnTo>
                    <a:pt x="1575836" y="0"/>
                  </a:lnTo>
                  <a:lnTo>
                    <a:pt x="1575836" y="1959856"/>
                  </a:lnTo>
                  <a:lnTo>
                    <a:pt x="0" y="1959856"/>
                  </a:lnTo>
                  <a:close/>
                </a:path>
              </a:pathLst>
            </a:custGeom>
            <a:solidFill>
              <a:srgbClr val="2A59C5"/>
            </a:solidFill>
            <a:ln cap="sq">
              <a:noFill/>
              <a:prstDash val="solid"/>
              <a:miter/>
            </a:ln>
          </p:spPr>
          <p:txBody>
            <a:bodyPr/>
            <a:lstStyle/>
            <a:p>
              <a:endParaRPr lang="ko-KR" altLang="en-US"/>
            </a:p>
          </p:txBody>
        </p:sp>
        <p:sp>
          <p:nvSpPr>
            <p:cNvPr id="10" name="TextBox 10"/>
            <p:cNvSpPr txBox="1"/>
            <p:nvPr/>
          </p:nvSpPr>
          <p:spPr>
            <a:xfrm>
              <a:off x="0" y="-47625"/>
              <a:ext cx="1575836" cy="2007481"/>
            </a:xfrm>
            <a:prstGeom prst="rect">
              <a:avLst/>
            </a:prstGeom>
          </p:spPr>
          <p:txBody>
            <a:bodyPr lIns="50800" tIns="50800" rIns="50800" bIns="50800" rtlCol="0" anchor="ctr"/>
            <a:lstStyle/>
            <a:p>
              <a:pPr algn="ctr">
                <a:lnSpc>
                  <a:spcPts val="3156"/>
                </a:lnSpc>
              </a:pPr>
              <a:endParaRPr/>
            </a:p>
          </p:txBody>
        </p:sp>
      </p:grpSp>
      <p:sp>
        <p:nvSpPr>
          <p:cNvPr id="11" name="Freeform 11">
            <a:extLst>
              <a:ext uri="{C183D7F6-B498-43B3-948B-1728B52AA6E4}">
                <adec:decorative xmlns:adec="http://schemas.microsoft.com/office/drawing/2017/decorative" val="1"/>
              </a:ext>
            </a:extLst>
          </p:cNvPr>
          <p:cNvSpPr/>
          <p:nvPr/>
        </p:nvSpPr>
        <p:spPr>
          <a:xfrm>
            <a:off x="-259855" y="2845673"/>
            <a:ext cx="6080249" cy="7597601"/>
          </a:xfrm>
          <a:custGeom>
            <a:avLst/>
            <a:gdLst/>
            <a:ahLst/>
            <a:cxnLst/>
            <a:rect l="l" t="t" r="r" b="b"/>
            <a:pathLst>
              <a:path w="6080249" h="7597601">
                <a:moveTo>
                  <a:pt x="0" y="0"/>
                </a:moveTo>
                <a:lnTo>
                  <a:pt x="6080248" y="0"/>
                </a:lnTo>
                <a:lnTo>
                  <a:pt x="6080248" y="7597601"/>
                </a:lnTo>
                <a:lnTo>
                  <a:pt x="0" y="7597601"/>
                </a:lnTo>
                <a:lnTo>
                  <a:pt x="0" y="0"/>
                </a:lnTo>
                <a:close/>
              </a:path>
            </a:pathLst>
          </a:custGeom>
          <a:blipFill>
            <a:blip r:embed="rId2"/>
            <a:stretch>
              <a:fillRect/>
            </a:stretch>
          </a:blipFill>
        </p:spPr>
        <p:txBody>
          <a:bodyPr/>
          <a:lstStyle/>
          <a:p>
            <a:endParaRPr lang="ko-KR" altLang="en-US"/>
          </a:p>
        </p:txBody>
      </p:sp>
      <p:sp>
        <p:nvSpPr>
          <p:cNvPr id="12" name="TextBox 12"/>
          <p:cNvSpPr txBox="1"/>
          <p:nvPr/>
        </p:nvSpPr>
        <p:spPr>
          <a:xfrm>
            <a:off x="1393273" y="1253961"/>
            <a:ext cx="3894213" cy="979170"/>
          </a:xfrm>
          <a:prstGeom prst="rect">
            <a:avLst/>
          </a:prstGeom>
        </p:spPr>
        <p:txBody>
          <a:bodyPr lIns="0" tIns="0" rIns="0" bIns="0" rtlCol="0" anchor="t">
            <a:spAutoFit/>
          </a:bodyPr>
          <a:lstStyle/>
          <a:p>
            <a:pPr marL="0" lvl="0" indent="0" algn="l">
              <a:lnSpc>
                <a:spcPts val="7979"/>
              </a:lnSpc>
              <a:spcBef>
                <a:spcPct val="0"/>
              </a:spcBef>
            </a:pPr>
            <a:r>
              <a:rPr lang="en-US" sz="5699" b="1" u="none" strike="noStrike">
                <a:solidFill>
                  <a:srgbClr val="282828"/>
                </a:solidFill>
                <a:latin typeface="프리텐다드 Bold"/>
                <a:ea typeface="프리텐다드 Bold"/>
                <a:cs typeface="프리텐다드 Bold"/>
                <a:sym typeface="프리텐다드 Bold"/>
              </a:rPr>
              <a:t>Contents</a:t>
            </a:r>
          </a:p>
        </p:txBody>
      </p:sp>
      <p:sp>
        <p:nvSpPr>
          <p:cNvPr id="13" name="TextBox 13"/>
          <p:cNvSpPr txBox="1"/>
          <p:nvPr/>
        </p:nvSpPr>
        <p:spPr>
          <a:xfrm>
            <a:off x="8495030" y="4038600"/>
            <a:ext cx="3351316" cy="430512"/>
          </a:xfrm>
          <a:prstGeom prst="rect">
            <a:avLst/>
          </a:prstGeom>
        </p:spPr>
        <p:txBody>
          <a:bodyPr lIns="0" tIns="0" rIns="0" bIns="0" rtlCol="0" anchor="t">
            <a:spAutoFit/>
          </a:bodyPr>
          <a:lstStyle/>
          <a:p>
            <a:pPr marL="0" lvl="0" indent="0" algn="l">
              <a:lnSpc>
                <a:spcPts val="3570"/>
              </a:lnSpc>
            </a:pPr>
            <a:r>
              <a:rPr lang="en-US" sz="2550" b="1">
                <a:solidFill>
                  <a:srgbClr val="282828"/>
                </a:solidFill>
                <a:latin typeface="프리텐다드 Medium"/>
                <a:ea typeface="프리텐다드 Medium"/>
                <a:cs typeface="프리텐다드 Medium"/>
                <a:sym typeface="프리텐다드 Medium"/>
              </a:rPr>
              <a:t>문제 정의</a:t>
            </a:r>
          </a:p>
        </p:txBody>
      </p:sp>
      <p:sp>
        <p:nvSpPr>
          <p:cNvPr id="14" name="TextBox 14"/>
          <p:cNvSpPr txBox="1"/>
          <p:nvPr/>
        </p:nvSpPr>
        <p:spPr>
          <a:xfrm>
            <a:off x="7635240" y="4043680"/>
            <a:ext cx="639298" cy="397492"/>
          </a:xfrm>
          <a:prstGeom prst="rect">
            <a:avLst/>
          </a:prstGeom>
        </p:spPr>
        <p:txBody>
          <a:bodyPr lIns="0" tIns="0" rIns="0" bIns="0" rtlCol="0" anchor="t">
            <a:spAutoFit/>
          </a:bodyPr>
          <a:lstStyle/>
          <a:p>
            <a:pPr marL="0" lvl="0" indent="0" algn="ctr">
              <a:lnSpc>
                <a:spcPts val="3291"/>
              </a:lnSpc>
            </a:pPr>
            <a:r>
              <a:rPr lang="en-US" sz="2350" b="1">
                <a:solidFill>
                  <a:srgbClr val="2A59C5"/>
                </a:solidFill>
                <a:latin typeface="프리텐다드 Bold"/>
                <a:ea typeface="프리텐다드 Bold"/>
                <a:cs typeface="프리텐다드 Bold"/>
                <a:sym typeface="프리텐다드 Bold"/>
              </a:rPr>
              <a:t>01</a:t>
            </a:r>
          </a:p>
        </p:txBody>
      </p:sp>
      <p:sp>
        <p:nvSpPr>
          <p:cNvPr id="15" name="TextBox 15"/>
          <p:cNvSpPr txBox="1"/>
          <p:nvPr/>
        </p:nvSpPr>
        <p:spPr>
          <a:xfrm>
            <a:off x="8495030" y="6375400"/>
            <a:ext cx="3351316" cy="430512"/>
          </a:xfrm>
          <a:prstGeom prst="rect">
            <a:avLst/>
          </a:prstGeom>
        </p:spPr>
        <p:txBody>
          <a:bodyPr lIns="0" tIns="0" rIns="0" bIns="0" rtlCol="0" anchor="t">
            <a:spAutoFit/>
          </a:bodyPr>
          <a:lstStyle/>
          <a:p>
            <a:pPr marL="0" lvl="0" indent="0" algn="l">
              <a:lnSpc>
                <a:spcPts val="3570"/>
              </a:lnSpc>
            </a:pPr>
            <a:r>
              <a:rPr lang="en-US" sz="2550" b="1">
                <a:solidFill>
                  <a:srgbClr val="282828"/>
                </a:solidFill>
                <a:latin typeface="프리텐다드 Medium"/>
                <a:ea typeface="프리텐다드 Medium"/>
                <a:cs typeface="프리텐다드 Medium"/>
                <a:sym typeface="프리텐다드 Medium"/>
              </a:rPr>
              <a:t>서비스 기획</a:t>
            </a:r>
          </a:p>
        </p:txBody>
      </p:sp>
      <p:sp>
        <p:nvSpPr>
          <p:cNvPr id="16" name="TextBox 16"/>
          <p:cNvSpPr txBox="1"/>
          <p:nvPr/>
        </p:nvSpPr>
        <p:spPr>
          <a:xfrm>
            <a:off x="7635240" y="6380480"/>
            <a:ext cx="639298" cy="397492"/>
          </a:xfrm>
          <a:prstGeom prst="rect">
            <a:avLst/>
          </a:prstGeom>
        </p:spPr>
        <p:txBody>
          <a:bodyPr lIns="0" tIns="0" rIns="0" bIns="0" rtlCol="0" anchor="t">
            <a:spAutoFit/>
          </a:bodyPr>
          <a:lstStyle/>
          <a:p>
            <a:pPr marL="0" lvl="0" indent="0" algn="ctr">
              <a:lnSpc>
                <a:spcPts val="3291"/>
              </a:lnSpc>
            </a:pPr>
            <a:r>
              <a:rPr lang="en-US" sz="2350" b="1">
                <a:solidFill>
                  <a:srgbClr val="2A59C5"/>
                </a:solidFill>
                <a:latin typeface="프리텐다드 Bold"/>
                <a:ea typeface="프리텐다드 Bold"/>
                <a:cs typeface="프리텐다드 Bold"/>
                <a:sym typeface="프리텐다드 Bold"/>
              </a:rPr>
              <a:t>03</a:t>
            </a:r>
          </a:p>
        </p:txBody>
      </p:sp>
      <p:sp>
        <p:nvSpPr>
          <p:cNvPr id="17" name="TextBox 17"/>
          <p:cNvSpPr txBox="1"/>
          <p:nvPr/>
        </p:nvSpPr>
        <p:spPr>
          <a:xfrm>
            <a:off x="8495030" y="5207000"/>
            <a:ext cx="3351316" cy="430512"/>
          </a:xfrm>
          <a:prstGeom prst="rect">
            <a:avLst/>
          </a:prstGeom>
        </p:spPr>
        <p:txBody>
          <a:bodyPr lIns="0" tIns="0" rIns="0" bIns="0" rtlCol="0" anchor="t">
            <a:spAutoFit/>
          </a:bodyPr>
          <a:lstStyle/>
          <a:p>
            <a:pPr marL="0" lvl="0" indent="0" algn="l">
              <a:lnSpc>
                <a:spcPts val="3570"/>
              </a:lnSpc>
              <a:spcBef>
                <a:spcPct val="0"/>
              </a:spcBef>
            </a:pPr>
            <a:r>
              <a:rPr lang="en-US" sz="2550" b="1">
                <a:solidFill>
                  <a:srgbClr val="282828"/>
                </a:solidFill>
                <a:latin typeface="프리텐다드 Medium"/>
                <a:ea typeface="프리텐다드 Medium"/>
                <a:cs typeface="프리텐다드 Medium"/>
                <a:sym typeface="프리텐다드 Medium"/>
              </a:rPr>
              <a:t>솔루션 제안</a:t>
            </a:r>
          </a:p>
        </p:txBody>
      </p:sp>
      <p:sp>
        <p:nvSpPr>
          <p:cNvPr id="18" name="TextBox 18"/>
          <p:cNvSpPr txBox="1"/>
          <p:nvPr/>
        </p:nvSpPr>
        <p:spPr>
          <a:xfrm>
            <a:off x="7635240" y="5212080"/>
            <a:ext cx="639298" cy="397492"/>
          </a:xfrm>
          <a:prstGeom prst="rect">
            <a:avLst/>
          </a:prstGeom>
        </p:spPr>
        <p:txBody>
          <a:bodyPr lIns="0" tIns="0" rIns="0" bIns="0" rtlCol="0" anchor="t">
            <a:spAutoFit/>
          </a:bodyPr>
          <a:lstStyle/>
          <a:p>
            <a:pPr marL="0" lvl="0" indent="0" algn="ctr">
              <a:lnSpc>
                <a:spcPts val="3291"/>
              </a:lnSpc>
              <a:spcBef>
                <a:spcPct val="0"/>
              </a:spcBef>
            </a:pPr>
            <a:r>
              <a:rPr lang="en-US" sz="2350" b="1">
                <a:solidFill>
                  <a:srgbClr val="2A59C5"/>
                </a:solidFill>
                <a:latin typeface="프리텐다드 Bold"/>
                <a:ea typeface="프리텐다드 Bold"/>
                <a:cs typeface="프리텐다드 Bold"/>
                <a:sym typeface="프리텐다드 Bold"/>
              </a:rPr>
              <a:t>02</a:t>
            </a:r>
          </a:p>
        </p:txBody>
      </p:sp>
      <p:sp>
        <p:nvSpPr>
          <p:cNvPr id="19" name="TextBox 19"/>
          <p:cNvSpPr txBox="1"/>
          <p:nvPr/>
        </p:nvSpPr>
        <p:spPr>
          <a:xfrm>
            <a:off x="8495030" y="7543800"/>
            <a:ext cx="3351316" cy="430512"/>
          </a:xfrm>
          <a:prstGeom prst="rect">
            <a:avLst/>
          </a:prstGeom>
        </p:spPr>
        <p:txBody>
          <a:bodyPr lIns="0" tIns="0" rIns="0" bIns="0" rtlCol="0" anchor="t">
            <a:spAutoFit/>
          </a:bodyPr>
          <a:lstStyle/>
          <a:p>
            <a:pPr marL="0" lvl="0" indent="0" algn="l">
              <a:lnSpc>
                <a:spcPts val="3570"/>
              </a:lnSpc>
            </a:pPr>
            <a:r>
              <a:rPr lang="en-US" sz="2550" b="1">
                <a:solidFill>
                  <a:srgbClr val="282828"/>
                </a:solidFill>
                <a:latin typeface="프리텐다드 Medium"/>
                <a:ea typeface="프리텐다드 Medium"/>
                <a:cs typeface="프리텐다드 Medium"/>
                <a:sym typeface="프리텐다드 Medium"/>
              </a:rPr>
              <a:t>시스템 설계</a:t>
            </a:r>
          </a:p>
        </p:txBody>
      </p:sp>
      <p:sp>
        <p:nvSpPr>
          <p:cNvPr id="20" name="TextBox 20"/>
          <p:cNvSpPr txBox="1"/>
          <p:nvPr/>
        </p:nvSpPr>
        <p:spPr>
          <a:xfrm>
            <a:off x="7635240" y="7548880"/>
            <a:ext cx="639298" cy="397492"/>
          </a:xfrm>
          <a:prstGeom prst="rect">
            <a:avLst/>
          </a:prstGeom>
        </p:spPr>
        <p:txBody>
          <a:bodyPr lIns="0" tIns="0" rIns="0" bIns="0" rtlCol="0" anchor="t">
            <a:spAutoFit/>
          </a:bodyPr>
          <a:lstStyle/>
          <a:p>
            <a:pPr marL="0" lvl="0" indent="0" algn="ctr">
              <a:lnSpc>
                <a:spcPts val="3291"/>
              </a:lnSpc>
            </a:pPr>
            <a:r>
              <a:rPr lang="en-US" sz="2350" b="1">
                <a:solidFill>
                  <a:srgbClr val="2A59C5"/>
                </a:solidFill>
                <a:latin typeface="프리텐다드 Bold"/>
                <a:ea typeface="프리텐다드 Bold"/>
                <a:cs typeface="프리텐다드 Bold"/>
                <a:sym typeface="프리텐다드 Bold"/>
              </a:rPr>
              <a:t>04</a:t>
            </a:r>
          </a:p>
        </p:txBody>
      </p:sp>
      <p:sp>
        <p:nvSpPr>
          <p:cNvPr id="21" name="TextBox 21"/>
          <p:cNvSpPr txBox="1"/>
          <p:nvPr/>
        </p:nvSpPr>
        <p:spPr>
          <a:xfrm>
            <a:off x="13107670" y="5207000"/>
            <a:ext cx="3351316" cy="430512"/>
          </a:xfrm>
          <a:prstGeom prst="rect">
            <a:avLst/>
          </a:prstGeom>
        </p:spPr>
        <p:txBody>
          <a:bodyPr lIns="0" tIns="0" rIns="0" bIns="0" rtlCol="0" anchor="t">
            <a:spAutoFit/>
          </a:bodyPr>
          <a:lstStyle/>
          <a:p>
            <a:pPr marL="0" lvl="0" indent="0" algn="l">
              <a:lnSpc>
                <a:spcPts val="3570"/>
              </a:lnSpc>
            </a:pPr>
            <a:r>
              <a:rPr lang="en-US" sz="2550" b="1">
                <a:solidFill>
                  <a:srgbClr val="282828"/>
                </a:solidFill>
                <a:latin typeface="프리텐다드 Medium"/>
                <a:ea typeface="프리텐다드 Medium"/>
                <a:cs typeface="프리텐다드 Medium"/>
                <a:sym typeface="프리텐다드 Medium"/>
              </a:rPr>
              <a:t>보안 설계</a:t>
            </a:r>
          </a:p>
        </p:txBody>
      </p:sp>
      <p:sp>
        <p:nvSpPr>
          <p:cNvPr id="22" name="TextBox 22"/>
          <p:cNvSpPr txBox="1"/>
          <p:nvPr/>
        </p:nvSpPr>
        <p:spPr>
          <a:xfrm>
            <a:off x="12249150" y="5212080"/>
            <a:ext cx="639298" cy="397492"/>
          </a:xfrm>
          <a:prstGeom prst="rect">
            <a:avLst/>
          </a:prstGeom>
        </p:spPr>
        <p:txBody>
          <a:bodyPr lIns="0" tIns="0" rIns="0" bIns="0" rtlCol="0" anchor="t">
            <a:spAutoFit/>
          </a:bodyPr>
          <a:lstStyle/>
          <a:p>
            <a:pPr marL="0" lvl="0" indent="0" algn="ctr">
              <a:lnSpc>
                <a:spcPts val="3291"/>
              </a:lnSpc>
            </a:pPr>
            <a:r>
              <a:rPr lang="en-US" sz="2350" b="1">
                <a:solidFill>
                  <a:srgbClr val="2A59C5"/>
                </a:solidFill>
                <a:latin typeface="프리텐다드 Bold"/>
                <a:ea typeface="프리텐다드 Bold"/>
                <a:cs typeface="프리텐다드 Bold"/>
                <a:sym typeface="프리텐다드 Bold"/>
              </a:rPr>
              <a:t>06</a:t>
            </a:r>
          </a:p>
        </p:txBody>
      </p:sp>
      <p:sp>
        <p:nvSpPr>
          <p:cNvPr id="23" name="TextBox 23"/>
          <p:cNvSpPr txBox="1"/>
          <p:nvPr/>
        </p:nvSpPr>
        <p:spPr>
          <a:xfrm>
            <a:off x="13107670" y="4038600"/>
            <a:ext cx="3351316" cy="430512"/>
          </a:xfrm>
          <a:prstGeom prst="rect">
            <a:avLst/>
          </a:prstGeom>
        </p:spPr>
        <p:txBody>
          <a:bodyPr lIns="0" tIns="0" rIns="0" bIns="0" rtlCol="0" anchor="t">
            <a:spAutoFit/>
          </a:bodyPr>
          <a:lstStyle/>
          <a:p>
            <a:pPr marL="0" lvl="0" indent="0" algn="l">
              <a:lnSpc>
                <a:spcPts val="3570"/>
              </a:lnSpc>
              <a:spcBef>
                <a:spcPct val="0"/>
              </a:spcBef>
            </a:pPr>
            <a:r>
              <a:rPr lang="en-US" sz="2550" b="1">
                <a:solidFill>
                  <a:srgbClr val="282828"/>
                </a:solidFill>
                <a:latin typeface="프리텐다드 Medium"/>
                <a:ea typeface="프리텐다드 Medium"/>
                <a:cs typeface="프리텐다드 Medium"/>
                <a:sym typeface="프리텐다드 Medium"/>
              </a:rPr>
              <a:t>서비스 화면</a:t>
            </a:r>
          </a:p>
        </p:txBody>
      </p:sp>
      <p:sp>
        <p:nvSpPr>
          <p:cNvPr id="24" name="TextBox 24"/>
          <p:cNvSpPr txBox="1"/>
          <p:nvPr/>
        </p:nvSpPr>
        <p:spPr>
          <a:xfrm>
            <a:off x="12249150" y="4043680"/>
            <a:ext cx="639298" cy="397492"/>
          </a:xfrm>
          <a:prstGeom prst="rect">
            <a:avLst/>
          </a:prstGeom>
        </p:spPr>
        <p:txBody>
          <a:bodyPr lIns="0" tIns="0" rIns="0" bIns="0" rtlCol="0" anchor="t">
            <a:spAutoFit/>
          </a:bodyPr>
          <a:lstStyle/>
          <a:p>
            <a:pPr marL="0" lvl="0" indent="0" algn="ctr">
              <a:lnSpc>
                <a:spcPts val="3291"/>
              </a:lnSpc>
              <a:spcBef>
                <a:spcPct val="0"/>
              </a:spcBef>
            </a:pPr>
            <a:r>
              <a:rPr lang="en-US" sz="2350" b="1">
                <a:solidFill>
                  <a:srgbClr val="2A59C5"/>
                </a:solidFill>
                <a:latin typeface="프리텐다드 Bold"/>
                <a:ea typeface="프리텐다드 Bold"/>
                <a:cs typeface="프리텐다드 Bold"/>
                <a:sym typeface="프리텐다드 Bold"/>
              </a:rPr>
              <a:t>05</a:t>
            </a:r>
          </a:p>
        </p:txBody>
      </p:sp>
      <p:sp>
        <p:nvSpPr>
          <p:cNvPr id="25" name="TextBox 25"/>
          <p:cNvSpPr txBox="1"/>
          <p:nvPr/>
        </p:nvSpPr>
        <p:spPr>
          <a:xfrm>
            <a:off x="8495030" y="4563110"/>
            <a:ext cx="2973382" cy="266700"/>
          </a:xfrm>
          <a:prstGeom prst="rect">
            <a:avLst/>
          </a:prstGeom>
        </p:spPr>
        <p:txBody>
          <a:bodyPr lIns="0" tIns="0" rIns="0" bIns="0" rtlCol="0" anchor="t">
            <a:spAutoFit/>
          </a:bodyPr>
          <a:lstStyle/>
          <a:p>
            <a:pPr marL="0" lvl="0" indent="0" algn="l">
              <a:lnSpc>
                <a:spcPts val="2100"/>
              </a:lnSpc>
              <a:spcBef>
                <a:spcPct val="0"/>
              </a:spcBef>
            </a:pPr>
            <a:r>
              <a:rPr lang="en-US" sz="1500" spc="78">
                <a:solidFill>
                  <a:srgbClr val="2A59C5"/>
                </a:solidFill>
                <a:latin typeface="프리텐다드 Light"/>
                <a:ea typeface="프리텐다드 Light"/>
                <a:cs typeface="프리텐다드 Light"/>
                <a:sym typeface="프리텐다드 Light"/>
              </a:rPr>
              <a:t>PROBLEM STATEMENT</a:t>
            </a:r>
          </a:p>
        </p:txBody>
      </p:sp>
      <p:sp>
        <p:nvSpPr>
          <p:cNvPr id="26" name="TextBox 26"/>
          <p:cNvSpPr txBox="1"/>
          <p:nvPr/>
        </p:nvSpPr>
        <p:spPr>
          <a:xfrm>
            <a:off x="8495030" y="5731510"/>
            <a:ext cx="2973382" cy="248658"/>
          </a:xfrm>
          <a:prstGeom prst="rect">
            <a:avLst/>
          </a:prstGeom>
        </p:spPr>
        <p:txBody>
          <a:bodyPr lIns="0" tIns="0" rIns="0" bIns="0" rtlCol="0" anchor="t">
            <a:spAutoFit/>
          </a:bodyPr>
          <a:lstStyle/>
          <a:p>
            <a:pPr marL="0" lvl="0" indent="0" algn="l">
              <a:lnSpc>
                <a:spcPts val="2100"/>
              </a:lnSpc>
              <a:spcBef>
                <a:spcPct val="0"/>
              </a:spcBef>
            </a:pPr>
            <a:r>
              <a:rPr lang="en-US" sz="1500" spc="78">
                <a:solidFill>
                  <a:srgbClr val="2A59C5"/>
                </a:solidFill>
                <a:latin typeface="프리텐다드 Light"/>
                <a:ea typeface="프리텐다드 Light"/>
                <a:cs typeface="프리텐다드 Light"/>
                <a:sym typeface="프리텐다드 Light"/>
              </a:rPr>
              <a:t>SOLUTION PROPOSAL</a:t>
            </a:r>
          </a:p>
        </p:txBody>
      </p:sp>
      <p:sp>
        <p:nvSpPr>
          <p:cNvPr id="27" name="TextBox 27"/>
          <p:cNvSpPr txBox="1"/>
          <p:nvPr/>
        </p:nvSpPr>
        <p:spPr>
          <a:xfrm>
            <a:off x="8495030" y="6899910"/>
            <a:ext cx="2973382" cy="248658"/>
          </a:xfrm>
          <a:prstGeom prst="rect">
            <a:avLst/>
          </a:prstGeom>
        </p:spPr>
        <p:txBody>
          <a:bodyPr lIns="0" tIns="0" rIns="0" bIns="0" rtlCol="0" anchor="t">
            <a:spAutoFit/>
          </a:bodyPr>
          <a:lstStyle/>
          <a:p>
            <a:pPr marL="0" lvl="0" indent="0" algn="l">
              <a:lnSpc>
                <a:spcPts val="2100"/>
              </a:lnSpc>
              <a:spcBef>
                <a:spcPct val="0"/>
              </a:spcBef>
            </a:pPr>
            <a:r>
              <a:rPr lang="en-US" sz="1500" spc="78">
                <a:solidFill>
                  <a:srgbClr val="2A59C5"/>
                </a:solidFill>
                <a:latin typeface="프리텐다드 Light"/>
                <a:ea typeface="프리텐다드 Light"/>
                <a:cs typeface="프리텐다드 Light"/>
                <a:sym typeface="프리텐다드 Light"/>
              </a:rPr>
              <a:t>SERVICE PLANNING</a:t>
            </a:r>
          </a:p>
        </p:txBody>
      </p:sp>
      <p:sp>
        <p:nvSpPr>
          <p:cNvPr id="28" name="TextBox 28"/>
          <p:cNvSpPr txBox="1"/>
          <p:nvPr/>
        </p:nvSpPr>
        <p:spPr>
          <a:xfrm>
            <a:off x="8495030" y="8068310"/>
            <a:ext cx="3351316" cy="266700"/>
          </a:xfrm>
          <a:prstGeom prst="rect">
            <a:avLst/>
          </a:prstGeom>
        </p:spPr>
        <p:txBody>
          <a:bodyPr lIns="0" tIns="0" rIns="0" bIns="0" rtlCol="0" anchor="t">
            <a:spAutoFit/>
          </a:bodyPr>
          <a:lstStyle/>
          <a:p>
            <a:pPr marL="0" lvl="0" indent="0" algn="l">
              <a:lnSpc>
                <a:spcPts val="2100"/>
              </a:lnSpc>
              <a:spcBef>
                <a:spcPct val="0"/>
              </a:spcBef>
            </a:pPr>
            <a:r>
              <a:rPr lang="en-US" sz="1500" spc="78">
                <a:solidFill>
                  <a:srgbClr val="2A59C5"/>
                </a:solidFill>
                <a:latin typeface="프리텐다드 Light"/>
                <a:ea typeface="프리텐다드 Light"/>
                <a:cs typeface="프리텐다드 Light"/>
                <a:sym typeface="프리텐다드 Light"/>
              </a:rPr>
              <a:t>SYSTEM DESIGN</a:t>
            </a:r>
          </a:p>
        </p:txBody>
      </p:sp>
      <p:sp>
        <p:nvSpPr>
          <p:cNvPr id="29" name="TextBox 29"/>
          <p:cNvSpPr txBox="1"/>
          <p:nvPr/>
        </p:nvSpPr>
        <p:spPr>
          <a:xfrm>
            <a:off x="13107670" y="4563110"/>
            <a:ext cx="2973382" cy="248658"/>
          </a:xfrm>
          <a:prstGeom prst="rect">
            <a:avLst/>
          </a:prstGeom>
        </p:spPr>
        <p:txBody>
          <a:bodyPr lIns="0" tIns="0" rIns="0" bIns="0" rtlCol="0" anchor="t">
            <a:spAutoFit/>
          </a:bodyPr>
          <a:lstStyle/>
          <a:p>
            <a:pPr marL="0" lvl="0" indent="0" algn="l">
              <a:lnSpc>
                <a:spcPts val="2100"/>
              </a:lnSpc>
              <a:spcBef>
                <a:spcPct val="0"/>
              </a:spcBef>
            </a:pPr>
            <a:r>
              <a:rPr lang="en-US" sz="1500" spc="78">
                <a:solidFill>
                  <a:srgbClr val="2A59C5"/>
                </a:solidFill>
                <a:latin typeface="프리텐다드 Light"/>
                <a:ea typeface="프리텐다드 Light"/>
                <a:cs typeface="프리텐다드 Light"/>
                <a:sym typeface="프리텐다드 Light"/>
              </a:rPr>
              <a:t>SERVICE INTERFACE</a:t>
            </a:r>
          </a:p>
        </p:txBody>
      </p:sp>
      <p:sp>
        <p:nvSpPr>
          <p:cNvPr id="30" name="TextBox 30"/>
          <p:cNvSpPr txBox="1"/>
          <p:nvPr/>
        </p:nvSpPr>
        <p:spPr>
          <a:xfrm>
            <a:off x="13107670" y="5731510"/>
            <a:ext cx="2973382" cy="248658"/>
          </a:xfrm>
          <a:prstGeom prst="rect">
            <a:avLst/>
          </a:prstGeom>
        </p:spPr>
        <p:txBody>
          <a:bodyPr lIns="0" tIns="0" rIns="0" bIns="0" rtlCol="0" anchor="t">
            <a:spAutoFit/>
          </a:bodyPr>
          <a:lstStyle/>
          <a:p>
            <a:pPr marL="0" lvl="0" indent="0" algn="l">
              <a:lnSpc>
                <a:spcPts val="2100"/>
              </a:lnSpc>
              <a:spcBef>
                <a:spcPct val="0"/>
              </a:spcBef>
            </a:pPr>
            <a:r>
              <a:rPr lang="en-US" sz="1500" spc="78">
                <a:solidFill>
                  <a:srgbClr val="2A59C5"/>
                </a:solidFill>
                <a:latin typeface="프리텐다드 Light"/>
                <a:ea typeface="프리텐다드 Light"/>
                <a:cs typeface="프리텐다드 Light"/>
                <a:sym typeface="프리텐다드 Light"/>
              </a:rPr>
              <a:t>SECURITY DESIGN</a:t>
            </a:r>
          </a:p>
        </p:txBody>
      </p:sp>
      <p:sp>
        <p:nvSpPr>
          <p:cNvPr id="100" name="Contents item 101"/>
          <p:cNvSpPr txBox="1"/>
          <p:nvPr/>
        </p:nvSpPr>
        <p:spPr>
          <a:xfrm>
            <a:off x="13107670" y="6375400"/>
            <a:ext cx="3351316" cy="430512"/>
          </a:xfrm>
          <a:prstGeom prst="rect">
            <a:avLst/>
          </a:prstGeom>
        </p:spPr>
        <p:txBody>
          <a:bodyPr lIns="0" tIns="0" rIns="0" bIns="0" rtlCol="0" anchor="t">
            <a:spAutoFit/>
          </a:bodyPr>
          <a:lstStyle/>
          <a:p>
            <a:pPr marL="0" lvl="0" indent="0" algn="l">
              <a:lnSpc>
                <a:spcPts val="3570"/>
              </a:lnSpc>
            </a:pPr>
            <a:r>
              <a:rPr lang="en-US" sz="2550" b="1">
                <a:solidFill>
                  <a:srgbClr val="282828"/>
                </a:solidFill>
                <a:latin typeface="프리텐다드 Medium"/>
                <a:ea typeface="프리텐다드 Medium"/>
                <a:cs typeface="프리텐다드 Medium"/>
                <a:sym typeface="프리텐다드 Medium"/>
              </a:rPr>
              <a:t>구현 및 검증</a:t>
            </a:r>
          </a:p>
        </p:txBody>
      </p:sp>
      <p:sp>
        <p:nvSpPr>
          <p:cNvPr id="101" name="Contents item 102"/>
          <p:cNvSpPr txBox="1"/>
          <p:nvPr/>
        </p:nvSpPr>
        <p:spPr>
          <a:xfrm>
            <a:off x="12249150" y="6380480"/>
            <a:ext cx="639298" cy="397492"/>
          </a:xfrm>
          <a:prstGeom prst="rect">
            <a:avLst/>
          </a:prstGeom>
        </p:spPr>
        <p:txBody>
          <a:bodyPr lIns="0" tIns="0" rIns="0" bIns="0" rtlCol="0" anchor="t">
            <a:spAutoFit/>
          </a:bodyPr>
          <a:lstStyle/>
          <a:p>
            <a:pPr marL="0" lvl="0" indent="0" algn="ctr">
              <a:lnSpc>
                <a:spcPts val="3291"/>
              </a:lnSpc>
            </a:pPr>
            <a:r>
              <a:rPr lang="en-US" sz="2350" b="1">
                <a:solidFill>
                  <a:srgbClr val="2A59C5"/>
                </a:solidFill>
                <a:latin typeface="프리텐다드 Bold"/>
                <a:ea typeface="프리텐다드 Bold"/>
                <a:cs typeface="프리텐다드 Bold"/>
                <a:sym typeface="프리텐다드 Bold"/>
              </a:rPr>
              <a:t>07</a:t>
            </a:r>
          </a:p>
        </p:txBody>
      </p:sp>
      <p:sp>
        <p:nvSpPr>
          <p:cNvPr id="102" name="Contents item 103"/>
          <p:cNvSpPr txBox="1"/>
          <p:nvPr/>
        </p:nvSpPr>
        <p:spPr>
          <a:xfrm>
            <a:off x="13107670" y="6899910"/>
            <a:ext cx="2973382" cy="248658"/>
          </a:xfrm>
          <a:prstGeom prst="rect">
            <a:avLst/>
          </a:prstGeom>
        </p:spPr>
        <p:txBody>
          <a:bodyPr lIns="0" tIns="0" rIns="0" bIns="0" rtlCol="0" anchor="t">
            <a:spAutoFit/>
          </a:bodyPr>
          <a:lstStyle/>
          <a:p>
            <a:pPr marL="0" lvl="0" indent="0" algn="l">
              <a:lnSpc>
                <a:spcPts val="2100"/>
              </a:lnSpc>
              <a:spcBef>
                <a:spcPct val="0"/>
              </a:spcBef>
            </a:pPr>
            <a:r>
              <a:rPr lang="en-US" sz="1500" spc="78">
                <a:solidFill>
                  <a:srgbClr val="2A59C5"/>
                </a:solidFill>
                <a:latin typeface="프리텐다드 Light"/>
                <a:ea typeface="프리텐다드 Light"/>
                <a:cs typeface="프리텐다드 Light"/>
                <a:sym typeface="프리텐다드 Light"/>
              </a:rPr>
              <a:t>MVP VALIDATION</a:t>
            </a:r>
          </a:p>
        </p:txBody>
      </p:sp>
      <p:sp>
        <p:nvSpPr>
          <p:cNvPr id="103" name="Contents item 104"/>
          <p:cNvSpPr txBox="1"/>
          <p:nvPr/>
        </p:nvSpPr>
        <p:spPr>
          <a:xfrm>
            <a:off x="13107670" y="7543800"/>
            <a:ext cx="3351316" cy="430512"/>
          </a:xfrm>
          <a:prstGeom prst="rect">
            <a:avLst/>
          </a:prstGeom>
        </p:spPr>
        <p:txBody>
          <a:bodyPr lIns="0" tIns="0" rIns="0" bIns="0" rtlCol="0" anchor="t">
            <a:spAutoFit/>
          </a:bodyPr>
          <a:lstStyle/>
          <a:p>
            <a:pPr marL="0" lvl="0" indent="0" algn="l">
              <a:lnSpc>
                <a:spcPts val="3570"/>
              </a:lnSpc>
            </a:pPr>
            <a:r>
              <a:rPr lang="en-US" sz="2550" b="1">
                <a:solidFill>
                  <a:srgbClr val="282828"/>
                </a:solidFill>
                <a:latin typeface="프리텐다드 Medium"/>
                <a:ea typeface="프리텐다드 Medium"/>
                <a:cs typeface="프리텐다드 Medium"/>
                <a:sym typeface="프리텐다드 Medium"/>
              </a:rPr>
              <a:t>기대 효과</a:t>
            </a:r>
          </a:p>
        </p:txBody>
      </p:sp>
      <p:sp>
        <p:nvSpPr>
          <p:cNvPr id="104" name="Contents item 105"/>
          <p:cNvSpPr txBox="1"/>
          <p:nvPr/>
        </p:nvSpPr>
        <p:spPr>
          <a:xfrm>
            <a:off x="12249150" y="7548880"/>
            <a:ext cx="639298" cy="397492"/>
          </a:xfrm>
          <a:prstGeom prst="rect">
            <a:avLst/>
          </a:prstGeom>
        </p:spPr>
        <p:txBody>
          <a:bodyPr lIns="0" tIns="0" rIns="0" bIns="0" rtlCol="0" anchor="t">
            <a:spAutoFit/>
          </a:bodyPr>
          <a:lstStyle/>
          <a:p>
            <a:pPr marL="0" lvl="0" indent="0" algn="ctr">
              <a:lnSpc>
                <a:spcPts val="3291"/>
              </a:lnSpc>
            </a:pPr>
            <a:r>
              <a:rPr lang="en-US" sz="2350" b="1">
                <a:solidFill>
                  <a:srgbClr val="2A59C5"/>
                </a:solidFill>
                <a:latin typeface="프리텐다드 Bold"/>
                <a:ea typeface="프리텐다드 Bold"/>
                <a:cs typeface="프리텐다드 Bold"/>
                <a:sym typeface="프리텐다드 Bold"/>
              </a:rPr>
              <a:t>08</a:t>
            </a:r>
          </a:p>
        </p:txBody>
      </p:sp>
      <p:sp>
        <p:nvSpPr>
          <p:cNvPr id="105" name="Contents item 106"/>
          <p:cNvSpPr txBox="1"/>
          <p:nvPr/>
        </p:nvSpPr>
        <p:spPr>
          <a:xfrm>
            <a:off x="13107670" y="8068310"/>
            <a:ext cx="2973382" cy="248658"/>
          </a:xfrm>
          <a:prstGeom prst="rect">
            <a:avLst/>
          </a:prstGeom>
        </p:spPr>
        <p:txBody>
          <a:bodyPr lIns="0" tIns="0" rIns="0" bIns="0" rtlCol="0" anchor="t">
            <a:spAutoFit/>
          </a:bodyPr>
          <a:lstStyle/>
          <a:p>
            <a:pPr marL="0" lvl="0" indent="0" algn="l">
              <a:lnSpc>
                <a:spcPts val="2100"/>
              </a:lnSpc>
              <a:spcBef>
                <a:spcPct val="0"/>
              </a:spcBef>
            </a:pPr>
            <a:r>
              <a:rPr lang="en-US" sz="1500" spc="78">
                <a:solidFill>
                  <a:srgbClr val="2A59C5"/>
                </a:solidFill>
                <a:latin typeface="프리텐다드 Light"/>
                <a:ea typeface="프리텐다드 Light"/>
                <a:cs typeface="프리텐다드 Light"/>
                <a:sym typeface="프리텐다드 Light"/>
              </a:rPr>
              <a:t>EXPECTED OUTCOMES</a:t>
            </a:r>
          </a:p>
        </p:txBody>
      </p:sp>
    </p:spTree>
    <p:extLst>
      <p:ext uri="{BB962C8B-B14F-4D97-AF65-F5344CB8AC3E}">
        <p14:creationId xmlns:p14="http://schemas.microsoft.com/office/powerpoint/2010/main" val="2772843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5278433" y="-189268"/>
            <a:ext cx="3268199" cy="7739024"/>
            <a:chOff x="0" y="0"/>
            <a:chExt cx="860760" cy="2038262"/>
          </a:xfrm>
        </p:grpSpPr>
        <p:sp>
          <p:nvSpPr>
            <p:cNvPr id="3" name="Freeform 3"/>
            <p:cNvSpPr/>
            <p:nvPr/>
          </p:nvSpPr>
          <p:spPr>
            <a:xfrm>
              <a:off x="0" y="0"/>
              <a:ext cx="860760" cy="2038262"/>
            </a:xfrm>
            <a:custGeom>
              <a:avLst/>
              <a:gdLst/>
              <a:ahLst/>
              <a:cxnLst/>
              <a:rect l="l" t="t" r="r" b="b"/>
              <a:pathLst>
                <a:path w="860760" h="2038262">
                  <a:moveTo>
                    <a:pt x="0" y="0"/>
                  </a:moveTo>
                  <a:lnTo>
                    <a:pt x="860760" y="0"/>
                  </a:lnTo>
                  <a:lnTo>
                    <a:pt x="860760" y="2038262"/>
                  </a:lnTo>
                  <a:lnTo>
                    <a:pt x="0" y="2038262"/>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860760" cy="2085887"/>
            </a:xfrm>
            <a:prstGeom prst="rect">
              <a:avLst/>
            </a:prstGeom>
          </p:spPr>
          <p:txBody>
            <a:bodyPr lIns="50800" tIns="50800" rIns="50800" bIns="50800" rtlCol="0" anchor="ctr"/>
            <a:lstStyle/>
            <a:p>
              <a:pPr algn="ctr">
                <a:lnSpc>
                  <a:spcPts val="3156"/>
                </a:lnSpc>
              </a:pPr>
              <a:endParaRPr/>
            </a:p>
          </p:txBody>
        </p:sp>
      </p:grpSp>
      <p:sp>
        <p:nvSpPr>
          <p:cNvPr id="5" name="Freeform 5">
            <a:extLst>
              <a:ext uri="{C183D7F6-B498-43B3-948B-1728B52AA6E4}">
                <adec:decorative xmlns:adec="http://schemas.microsoft.com/office/drawing/2017/decorative" val="1"/>
              </a:ext>
            </a:extLst>
          </p:cNvPr>
          <p:cNvSpPr/>
          <p:nvPr/>
        </p:nvSpPr>
        <p:spPr>
          <a:xfrm>
            <a:off x="0" y="7075598"/>
            <a:ext cx="18288000" cy="5818426"/>
          </a:xfrm>
          <a:custGeom>
            <a:avLst/>
            <a:gdLst/>
            <a:ahLst/>
            <a:cxnLst/>
            <a:rect l="l" t="t" r="r" b="b"/>
            <a:pathLst>
              <a:path w="18288000" h="5818426">
                <a:moveTo>
                  <a:pt x="0" y="0"/>
                </a:moveTo>
                <a:lnTo>
                  <a:pt x="18288000" y="0"/>
                </a:lnTo>
                <a:lnTo>
                  <a:pt x="18288000" y="5818426"/>
                </a:lnTo>
                <a:lnTo>
                  <a:pt x="0" y="5818426"/>
                </a:lnTo>
                <a:lnTo>
                  <a:pt x="0" y="0"/>
                </a:lnTo>
                <a:close/>
              </a:path>
            </a:pathLst>
          </a:custGeom>
          <a:blipFill>
            <a:blip r:embed="rId2"/>
            <a:stretch>
              <a:fillRect b="-4705"/>
            </a:stretch>
          </a:blipFill>
        </p:spPr>
        <p:txBody>
          <a:bodyPr/>
          <a:lstStyle/>
          <a:p>
            <a:endParaRPr lang="ko-KR" altLang="en-US"/>
          </a:p>
        </p:txBody>
      </p:sp>
      <p:sp>
        <p:nvSpPr>
          <p:cNvPr id="6" name="TextBox 6"/>
          <p:cNvSpPr txBox="1"/>
          <p:nvPr/>
        </p:nvSpPr>
        <p:spPr>
          <a:xfrm>
            <a:off x="1028700" y="2214108"/>
            <a:ext cx="8441160" cy="1584983"/>
          </a:xfrm>
          <a:prstGeom prst="rect">
            <a:avLst/>
          </a:prstGeom>
        </p:spPr>
        <p:txBody>
          <a:bodyPr lIns="0" tIns="0" rIns="0" bIns="0" rtlCol="0" anchor="t">
            <a:spAutoFit/>
          </a:bodyPr>
          <a:lstStyle/>
          <a:p>
            <a:pPr algn="l">
              <a:lnSpc>
                <a:spcPts val="12979"/>
              </a:lnSpc>
              <a:spcBef>
                <a:spcPct val="0"/>
              </a:spcBef>
            </a:pPr>
            <a:r>
              <a:rPr lang="en-US" sz="9270" b="1">
                <a:solidFill>
                  <a:srgbClr val="2A59C5"/>
                </a:solidFill>
                <a:latin typeface="프리텐다드 Bold"/>
                <a:ea typeface="프리텐다드 Bold"/>
                <a:cs typeface="프리텐다드 Bold"/>
                <a:sym typeface="프리텐다드 Bold"/>
              </a:rPr>
              <a:t>01</a:t>
            </a:r>
          </a:p>
        </p:txBody>
      </p:sp>
      <p:sp>
        <p:nvSpPr>
          <p:cNvPr id="7" name="TextBox 7"/>
          <p:cNvSpPr txBox="1"/>
          <p:nvPr/>
        </p:nvSpPr>
        <p:spPr>
          <a:xfrm>
            <a:off x="1028700" y="3516926"/>
            <a:ext cx="7056707" cy="1584983"/>
          </a:xfrm>
          <a:prstGeom prst="rect">
            <a:avLst/>
          </a:prstGeom>
        </p:spPr>
        <p:txBody>
          <a:bodyPr lIns="0" tIns="0" rIns="0" bIns="0" rtlCol="0" anchor="t">
            <a:spAutoFit/>
          </a:bodyPr>
          <a:lstStyle/>
          <a:p>
            <a:pPr algn="l">
              <a:lnSpc>
                <a:spcPts val="12979"/>
              </a:lnSpc>
              <a:spcBef>
                <a:spcPct val="0"/>
              </a:spcBef>
            </a:pPr>
            <a:r>
              <a:rPr lang="en-US" sz="9270" b="1">
                <a:solidFill>
                  <a:srgbClr val="282828"/>
                </a:solidFill>
                <a:latin typeface="프리텐다드 Bold"/>
                <a:ea typeface="프리텐다드 Bold"/>
                <a:cs typeface="프리텐다드 Bold"/>
                <a:sym typeface="프리텐다드 Bold"/>
              </a:rPr>
              <a:t>문제 정의</a:t>
            </a:r>
          </a:p>
        </p:txBody>
      </p:sp>
      <p:sp>
        <p:nvSpPr>
          <p:cNvPr id="8" name="TextBox 8"/>
          <p:cNvSpPr txBox="1"/>
          <p:nvPr/>
        </p:nvSpPr>
        <p:spPr>
          <a:xfrm>
            <a:off x="1028700" y="1848967"/>
            <a:ext cx="3836759" cy="356036"/>
          </a:xfrm>
          <a:prstGeom prst="rect">
            <a:avLst/>
          </a:prstGeom>
        </p:spPr>
        <p:txBody>
          <a:bodyPr lIns="0" tIns="0" rIns="0" bIns="0" rtlCol="0" anchor="t">
            <a:spAutoFit/>
          </a:bodyPr>
          <a:lstStyle/>
          <a:p>
            <a:pPr algn="l">
              <a:lnSpc>
                <a:spcPts val="2950"/>
              </a:lnSpc>
              <a:spcBef>
                <a:spcPct val="0"/>
              </a:spcBef>
            </a:pPr>
            <a:r>
              <a:rPr lang="en-US" sz="2107" spc="210">
                <a:solidFill>
                  <a:srgbClr val="282828"/>
                </a:solidFill>
                <a:latin typeface="프리텐다드"/>
                <a:ea typeface="프리텐다드"/>
                <a:cs typeface="프리텐다드"/>
                <a:sym typeface="프리텐다드"/>
              </a:rPr>
              <a:t>SECTION</a:t>
            </a:r>
          </a:p>
        </p:txBody>
      </p:sp>
      <p:sp>
        <p:nvSpPr>
          <p:cNvPr id="9" name="TextBox 9"/>
          <p:cNvSpPr txBox="1"/>
          <p:nvPr/>
        </p:nvSpPr>
        <p:spPr>
          <a:xfrm>
            <a:off x="1028700" y="5244784"/>
            <a:ext cx="6505897" cy="333093"/>
          </a:xfrm>
          <a:prstGeom prst="rect">
            <a:avLst/>
          </a:prstGeom>
        </p:spPr>
        <p:txBody>
          <a:bodyPr lIns="0" tIns="0" rIns="0" bIns="0" rtlCol="0" anchor="t">
            <a:spAutoFit/>
          </a:bodyPr>
          <a:lstStyle/>
          <a:p>
            <a:pPr marL="0" lvl="0" indent="0" algn="just">
              <a:lnSpc>
                <a:spcPts val="2640"/>
              </a:lnSpc>
              <a:spcBef>
                <a:spcPct val="0"/>
              </a:spcBef>
            </a:pPr>
            <a:r>
              <a:rPr lang="en-US" sz="1886" spc="335">
                <a:solidFill>
                  <a:srgbClr val="282828"/>
                </a:solidFill>
                <a:latin typeface="프리텐다드"/>
                <a:ea typeface="프리텐다드"/>
                <a:cs typeface="프리텐다드"/>
                <a:sym typeface="프리텐다드"/>
              </a:rPr>
              <a:t>PROBLEM STATEMENT</a:t>
            </a:r>
          </a:p>
        </p:txBody>
      </p:sp>
      <p:sp>
        <p:nvSpPr>
          <p:cNvPr id="40" name="Section pages"/>
          <p:cNvSpPr txBox="1"/>
          <p:nvPr/>
        </p:nvSpPr>
        <p:spPr>
          <a:xfrm>
            <a:off x="1485900" y="7874000"/>
            <a:ext cx="15240000" cy="1524000"/>
          </a:xfrm>
          <a:prstGeom prst="rect">
            <a:avLst/>
          </a:prstGeom>
          <a:noFill/>
        </p:spPr>
        <p:txBody>
          <a:bodyPr wrap="square" lIns="0" tIns="0" rIns="0" bIns="0" anchor="ctr">
            <a:noAutofit/>
          </a:bodyPr>
          <a:lstStyle/>
          <a:p>
            <a:pPr marL="0" indent="0">
              <a:lnSpc>
                <a:spcPts val="3000"/>
              </a:lnSpc>
              <a:buNone/>
            </a:pPr>
            <a:r>
              <a:rPr lang="ko-KR" sz="1800" b="1" spc="200" dirty="0">
                <a:solidFill>
                  <a:srgbClr val="FFFFFF"/>
                </a:solidFill>
                <a:latin typeface="프리텐다드 Semi-Bold"/>
                <a:ea typeface="프리텐다드 Semi-Bold"/>
                <a:cs typeface="프리텐다드 Semi-Bold"/>
                <a:sym typeface="프리텐다드 Semi-Bold"/>
              </a:rPr>
              <a:t>IN THIS SECTION</a:t>
            </a:r>
          </a:p>
          <a:p>
            <a:pPr marL="0" indent="0">
              <a:lnSpc>
                <a:spcPts val="3600"/>
              </a:lnSpc>
              <a:spcBef>
                <a:spcPts val="600"/>
              </a:spcBef>
              <a:buNone/>
            </a:pPr>
            <a:r>
              <a:rPr lang="ko-KR" sz="2400" dirty="0">
                <a:solidFill>
                  <a:srgbClr val="FFFFFF"/>
                </a:solidFill>
                <a:latin typeface="프리텐다드"/>
                <a:ea typeface="프리텐다드"/>
                <a:cs typeface="프리텐다드"/>
                <a:sym typeface="프리텐다드"/>
              </a:rPr>
              <a:t>문제 상황 · 의료영상 CD 전달 실태 · 재촬영 현황 · 문제점 도출</a:t>
            </a:r>
          </a:p>
        </p:txBody>
      </p:sp>
    </p:spTree>
    <p:extLst>
      <p:ext uri="{BB962C8B-B14F-4D97-AF65-F5344CB8AC3E}">
        <p14:creationId xmlns:p14="http://schemas.microsoft.com/office/powerpoint/2010/main" val="3536424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212315"/>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8" name="TextBox 8"/>
          <p:cNvSpPr txBox="1"/>
          <p:nvPr/>
        </p:nvSpPr>
        <p:spPr>
          <a:xfrm>
            <a:off x="1421481" y="990600"/>
            <a:ext cx="3894213" cy="273685"/>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PROBLEM STATEMENT</a:t>
            </a:r>
          </a:p>
        </p:txBody>
      </p:sp>
      <p:sp>
        <p:nvSpPr>
          <p:cNvPr id="9" name="TextBox 9"/>
          <p:cNvSpPr txBox="1"/>
          <p:nvPr/>
        </p:nvSpPr>
        <p:spPr>
          <a:xfrm>
            <a:off x="1421481" y="1253961"/>
            <a:ext cx="3894213"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문제 정의</a:t>
            </a:r>
          </a:p>
        </p:txBody>
      </p:sp>
      <p:grpSp>
        <p:nvGrpSpPr>
          <p:cNvPr id="10" name="Group 10"/>
          <p:cNvGrpSpPr/>
          <p:nvPr/>
        </p:nvGrpSpPr>
        <p:grpSpPr>
          <a:xfrm>
            <a:off x="2751862" y="4221085"/>
            <a:ext cx="12784275" cy="2805404"/>
            <a:chOff x="0" y="0"/>
            <a:chExt cx="17045700" cy="3740538"/>
          </a:xfrm>
        </p:grpSpPr>
        <p:sp>
          <p:nvSpPr>
            <p:cNvPr id="11" name="Freeform 11"/>
            <p:cNvSpPr/>
            <p:nvPr/>
          </p:nvSpPr>
          <p:spPr>
            <a:xfrm>
              <a:off x="8857604" y="1685019"/>
              <a:ext cx="1093363" cy="716153"/>
            </a:xfrm>
            <a:custGeom>
              <a:avLst/>
              <a:gdLst/>
              <a:ahLst/>
              <a:cxnLst/>
              <a:rect l="l" t="t" r="r" b="b"/>
              <a:pathLst>
                <a:path w="1093363" h="716153">
                  <a:moveTo>
                    <a:pt x="0" y="0"/>
                  </a:moveTo>
                  <a:lnTo>
                    <a:pt x="1093363" y="0"/>
                  </a:lnTo>
                  <a:lnTo>
                    <a:pt x="1093363" y="716153"/>
                  </a:lnTo>
                  <a:lnTo>
                    <a:pt x="0" y="7161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2" name="Freeform 12"/>
            <p:cNvSpPr/>
            <p:nvPr/>
          </p:nvSpPr>
          <p:spPr>
            <a:xfrm>
              <a:off x="13305162" y="0"/>
              <a:ext cx="3740538" cy="3740538"/>
            </a:xfrm>
            <a:custGeom>
              <a:avLst/>
              <a:gdLst/>
              <a:ahLst/>
              <a:cxnLst/>
              <a:rect l="l" t="t" r="r" b="b"/>
              <a:pathLst>
                <a:path w="3740538" h="3740538">
                  <a:moveTo>
                    <a:pt x="0" y="0"/>
                  </a:moveTo>
                  <a:lnTo>
                    <a:pt x="3740538" y="0"/>
                  </a:lnTo>
                  <a:lnTo>
                    <a:pt x="3740538" y="3740538"/>
                  </a:lnTo>
                  <a:lnTo>
                    <a:pt x="0" y="374053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ko-KR" altLang="en-US"/>
            </a:p>
          </p:txBody>
        </p:sp>
        <p:sp>
          <p:nvSpPr>
            <p:cNvPr id="13" name="TextBox 13"/>
            <p:cNvSpPr txBox="1"/>
            <p:nvPr/>
          </p:nvSpPr>
          <p:spPr>
            <a:xfrm>
              <a:off x="0" y="668002"/>
              <a:ext cx="7885501" cy="2214034"/>
            </a:xfrm>
            <a:prstGeom prst="rect">
              <a:avLst/>
            </a:prstGeom>
          </p:spPr>
          <p:txBody>
            <a:bodyPr lIns="0" tIns="0" rIns="0" bIns="0" rtlCol="0" anchor="t">
              <a:spAutoFit/>
            </a:bodyPr>
            <a:lstStyle/>
            <a:p>
              <a:pPr algn="ctr">
                <a:lnSpc>
                  <a:spcPts val="13999"/>
                </a:lnSpc>
                <a:spcBef>
                  <a:spcPct val="0"/>
                </a:spcBef>
              </a:pPr>
              <a:r>
                <a:rPr lang="en-US" sz="9999" b="1">
                  <a:solidFill>
                    <a:srgbClr val="2A59C5"/>
                  </a:solidFill>
                  <a:latin typeface="프리텐다드 Semi-Bold"/>
                  <a:ea typeface="프리텐다드 Semi-Bold"/>
                  <a:cs typeface="프리텐다드 Semi-Bold"/>
                  <a:sym typeface="프리텐다드 Semi-Bold"/>
                </a:rPr>
                <a:t>CT, MRI</a:t>
              </a:r>
            </a:p>
          </p:txBody>
        </p:sp>
      </p:grpSp>
      <p:grpSp>
        <p:nvGrpSpPr>
          <p:cNvPr id="14" name="Group 14"/>
          <p:cNvGrpSpPr/>
          <p:nvPr/>
        </p:nvGrpSpPr>
        <p:grpSpPr>
          <a:xfrm>
            <a:off x="1028700" y="8162748"/>
            <a:ext cx="16230600" cy="1095552"/>
            <a:chOff x="0" y="0"/>
            <a:chExt cx="4274726" cy="288540"/>
          </a:xfrm>
        </p:grpSpPr>
        <p:sp>
          <p:nvSpPr>
            <p:cNvPr id="15" name="Freeform 15"/>
            <p:cNvSpPr/>
            <p:nvPr/>
          </p:nvSpPr>
          <p:spPr>
            <a:xfrm>
              <a:off x="0" y="0"/>
              <a:ext cx="4274726" cy="288540"/>
            </a:xfrm>
            <a:custGeom>
              <a:avLst/>
              <a:gdLst/>
              <a:ahLst/>
              <a:cxnLst/>
              <a:rect l="l" t="t" r="r" b="b"/>
              <a:pathLst>
                <a:path w="4274726" h="288540">
                  <a:moveTo>
                    <a:pt x="0" y="0"/>
                  </a:moveTo>
                  <a:lnTo>
                    <a:pt x="4274726" y="0"/>
                  </a:lnTo>
                  <a:lnTo>
                    <a:pt x="4274726" y="288540"/>
                  </a:lnTo>
                  <a:lnTo>
                    <a:pt x="0" y="288540"/>
                  </a:lnTo>
                  <a:close/>
                </a:path>
              </a:pathLst>
            </a:custGeom>
            <a:solidFill>
              <a:srgbClr val="E9E9E9"/>
            </a:solidFill>
            <a:ln w="9525" cap="sq">
              <a:solidFill>
                <a:srgbClr val="737373"/>
              </a:solidFill>
              <a:prstDash val="solid"/>
              <a:miter/>
            </a:ln>
          </p:spPr>
          <p:txBody>
            <a:bodyPr/>
            <a:lstStyle/>
            <a:p>
              <a:endParaRPr lang="ko-KR" altLang="en-US"/>
            </a:p>
          </p:txBody>
        </p:sp>
        <p:sp>
          <p:nvSpPr>
            <p:cNvPr id="16" name="TextBox 16"/>
            <p:cNvSpPr txBox="1"/>
            <p:nvPr/>
          </p:nvSpPr>
          <p:spPr>
            <a:xfrm>
              <a:off x="0" y="-47625"/>
              <a:ext cx="4274726" cy="336165"/>
            </a:xfrm>
            <a:prstGeom prst="rect">
              <a:avLst/>
            </a:prstGeom>
          </p:spPr>
          <p:txBody>
            <a:bodyPr lIns="50800" tIns="50800" rIns="50800" bIns="50800" rtlCol="0" anchor="ctr"/>
            <a:lstStyle/>
            <a:p>
              <a:pPr marL="0" lvl="0" indent="0" algn="ctr">
                <a:lnSpc>
                  <a:spcPts val="3156"/>
                </a:lnSpc>
                <a:spcBef>
                  <a:spcPct val="0"/>
                </a:spcBef>
              </a:pPr>
              <a:endParaRPr/>
            </a:p>
          </p:txBody>
        </p:sp>
      </p:grpSp>
      <p:sp>
        <p:nvSpPr>
          <p:cNvPr id="17" name="TextBox 17"/>
          <p:cNvSpPr txBox="1"/>
          <p:nvPr/>
        </p:nvSpPr>
        <p:spPr>
          <a:xfrm>
            <a:off x="1015081" y="8449539"/>
            <a:ext cx="16230600" cy="464820"/>
          </a:xfrm>
          <a:prstGeom prst="rect">
            <a:avLst/>
          </a:prstGeom>
        </p:spPr>
        <p:txBody>
          <a:bodyPr lIns="0" tIns="0" rIns="0" bIns="0" rtlCol="0" anchor="t">
            <a:spAutoFit/>
          </a:bodyPr>
          <a:lstStyle/>
          <a:p>
            <a:pPr algn="ctr">
              <a:lnSpc>
                <a:spcPts val="3779"/>
              </a:lnSpc>
              <a:spcBef>
                <a:spcPct val="0"/>
              </a:spcBef>
            </a:pPr>
            <a:r>
              <a:rPr lang="en-US" sz="2699" b="1" dirty="0" err="1">
                <a:solidFill>
                  <a:srgbClr val="282828"/>
                </a:solidFill>
                <a:latin typeface="프리텐다드 Bold"/>
                <a:ea typeface="프리텐다드 Bold"/>
                <a:cs typeface="프리텐다드 Bold"/>
                <a:sym typeface="프리텐다드 Bold"/>
              </a:rPr>
              <a:t>다른</a:t>
            </a:r>
            <a:r>
              <a:rPr lang="en-US" sz="2699" b="1" dirty="0">
                <a:solidFill>
                  <a:srgbClr val="282828"/>
                </a:solidFill>
                <a:latin typeface="프리텐다드 Bold"/>
                <a:ea typeface="프리텐다드 Bold"/>
                <a:cs typeface="프리텐다드 Bold"/>
                <a:sym typeface="프리텐다드 Bold"/>
              </a:rPr>
              <a:t> </a:t>
            </a:r>
            <a:r>
              <a:rPr lang="en-US" sz="2699" b="1" dirty="0" err="1">
                <a:solidFill>
                  <a:srgbClr val="282828"/>
                </a:solidFill>
                <a:latin typeface="프리텐다드 Bold"/>
                <a:ea typeface="프리텐다드 Bold"/>
                <a:cs typeface="프리텐다드 Bold"/>
                <a:sym typeface="프리텐다드 Bold"/>
              </a:rPr>
              <a:t>병원으로</a:t>
            </a:r>
            <a:r>
              <a:rPr lang="en-US" sz="2699" b="1" dirty="0">
                <a:solidFill>
                  <a:srgbClr val="282828"/>
                </a:solidFill>
                <a:latin typeface="프리텐다드 Bold"/>
                <a:ea typeface="프리텐다드 Bold"/>
                <a:cs typeface="프리텐다드 Bold"/>
                <a:sym typeface="프리텐다드 Bold"/>
              </a:rPr>
              <a:t> </a:t>
            </a:r>
            <a:r>
              <a:rPr lang="en-US" sz="2699" b="1" dirty="0" err="1">
                <a:solidFill>
                  <a:srgbClr val="282828"/>
                </a:solidFill>
                <a:latin typeface="프리텐다드 Bold"/>
                <a:ea typeface="프리텐다드 Bold"/>
                <a:cs typeface="프리텐다드 Bold"/>
                <a:sym typeface="프리텐다드 Bold"/>
              </a:rPr>
              <a:t>이동시</a:t>
            </a:r>
            <a:r>
              <a:rPr lang="en-US" sz="2699" b="1" dirty="0">
                <a:solidFill>
                  <a:srgbClr val="282828"/>
                </a:solidFill>
                <a:latin typeface="프리텐다드 Bold"/>
                <a:ea typeface="프리텐다드 Bold"/>
                <a:cs typeface="프리텐다드 Bold"/>
                <a:sym typeface="프리텐다드 Bold"/>
              </a:rPr>
              <a:t> </a:t>
            </a:r>
            <a:r>
              <a:rPr lang="en-US" sz="2699" b="1" dirty="0" err="1">
                <a:solidFill>
                  <a:srgbClr val="282828"/>
                </a:solidFill>
                <a:latin typeface="프리텐다드 Bold"/>
                <a:ea typeface="프리텐다드 Bold"/>
                <a:cs typeface="프리텐다드 Bold"/>
                <a:sym typeface="프리텐다드 Bold"/>
              </a:rPr>
              <a:t>CD를</a:t>
            </a:r>
            <a:r>
              <a:rPr lang="en-US" sz="2699" b="1" dirty="0">
                <a:solidFill>
                  <a:srgbClr val="282828"/>
                </a:solidFill>
                <a:latin typeface="프리텐다드 Bold"/>
                <a:ea typeface="프리텐다드 Bold"/>
                <a:cs typeface="프리텐다드 Bold"/>
                <a:sym typeface="프리텐다드 Bold"/>
              </a:rPr>
              <a:t> </a:t>
            </a:r>
            <a:r>
              <a:rPr lang="en-US" sz="2699" b="1" dirty="0" err="1">
                <a:solidFill>
                  <a:srgbClr val="282828"/>
                </a:solidFill>
                <a:latin typeface="프리텐다드 Bold"/>
                <a:ea typeface="프리텐다드 Bold"/>
                <a:cs typeface="프리텐다드 Bold"/>
                <a:sym typeface="프리텐다드 Bold"/>
              </a:rPr>
              <a:t>발급하고</a:t>
            </a:r>
            <a:r>
              <a:rPr lang="en-US" sz="2699" b="1" dirty="0">
                <a:solidFill>
                  <a:srgbClr val="282828"/>
                </a:solidFill>
                <a:latin typeface="프리텐다드 Bold"/>
                <a:ea typeface="프리텐다드 Bold"/>
                <a:cs typeface="프리텐다드 Bold"/>
                <a:sym typeface="프리텐다드 Bold"/>
              </a:rPr>
              <a:t> </a:t>
            </a:r>
            <a:r>
              <a:rPr lang="en-US" sz="2699" b="1" dirty="0" err="1">
                <a:solidFill>
                  <a:srgbClr val="282828"/>
                </a:solidFill>
                <a:latin typeface="프리텐다드 Bold"/>
                <a:ea typeface="프리텐다드 Bold"/>
                <a:cs typeface="프리텐다드 Bold"/>
                <a:sym typeface="프리텐다드 Bold"/>
              </a:rPr>
              <a:t>다른</a:t>
            </a:r>
            <a:r>
              <a:rPr lang="en-US" sz="2699" b="1" dirty="0">
                <a:solidFill>
                  <a:srgbClr val="282828"/>
                </a:solidFill>
                <a:latin typeface="프리텐다드 Bold"/>
                <a:ea typeface="프리텐다드 Bold"/>
                <a:cs typeface="프리텐다드 Bold"/>
                <a:sym typeface="프리텐다드 Bold"/>
              </a:rPr>
              <a:t> </a:t>
            </a:r>
            <a:r>
              <a:rPr lang="en-US" sz="2699" b="1" dirty="0" err="1">
                <a:solidFill>
                  <a:srgbClr val="282828"/>
                </a:solidFill>
                <a:latin typeface="프리텐다드 Bold"/>
                <a:ea typeface="프리텐다드 Bold"/>
                <a:cs typeface="프리텐다드 Bold"/>
                <a:sym typeface="프리텐다드 Bold"/>
              </a:rPr>
              <a:t>병원에서</a:t>
            </a:r>
            <a:r>
              <a:rPr lang="en-US" sz="2699" b="1" dirty="0">
                <a:solidFill>
                  <a:srgbClr val="282828"/>
                </a:solidFill>
                <a:latin typeface="프리텐다드 Bold"/>
                <a:ea typeface="프리텐다드 Bold"/>
                <a:cs typeface="프리텐다드 Bold"/>
                <a:sym typeface="프리텐다드 Bold"/>
              </a:rPr>
              <a:t> </a:t>
            </a:r>
            <a:r>
              <a:rPr lang="en-US" sz="2699" b="1" dirty="0" err="1">
                <a:solidFill>
                  <a:srgbClr val="282828"/>
                </a:solidFill>
                <a:latin typeface="프리텐다드 Bold"/>
                <a:ea typeface="프리텐다드 Bold"/>
                <a:cs typeface="프리텐다드 Bold"/>
                <a:sym typeface="프리텐다드 Bold"/>
              </a:rPr>
              <a:t>재촬영으로</a:t>
            </a:r>
            <a:r>
              <a:rPr lang="en-US" sz="2699" b="1" dirty="0">
                <a:solidFill>
                  <a:srgbClr val="282828"/>
                </a:solidFill>
                <a:latin typeface="프리텐다드 Bold"/>
                <a:ea typeface="프리텐다드 Bold"/>
                <a:cs typeface="프리텐다드 Bold"/>
                <a:sym typeface="프리텐다드 Bold"/>
              </a:rPr>
              <a:t> </a:t>
            </a:r>
            <a:r>
              <a:rPr lang="en-US" sz="2699" b="1" dirty="0" err="1">
                <a:solidFill>
                  <a:srgbClr val="282828"/>
                </a:solidFill>
                <a:latin typeface="프리텐다드 Bold"/>
                <a:ea typeface="프리텐다드 Bold"/>
                <a:cs typeface="프리텐다드 Bold"/>
                <a:sym typeface="프리텐다드 Bold"/>
              </a:rPr>
              <a:t>추가비용</a:t>
            </a:r>
            <a:r>
              <a:rPr lang="en-US" sz="2699" b="1" dirty="0">
                <a:solidFill>
                  <a:srgbClr val="282828"/>
                </a:solidFill>
                <a:latin typeface="프리텐다드 Bold"/>
                <a:ea typeface="프리텐다드 Bold"/>
                <a:cs typeface="프리텐다드 Bold"/>
                <a:sym typeface="프리텐다드 Bold"/>
              </a:rPr>
              <a:t> </a:t>
            </a:r>
            <a:r>
              <a:rPr lang="en-US" sz="2699" b="1" dirty="0" err="1">
                <a:solidFill>
                  <a:srgbClr val="282828"/>
                </a:solidFill>
                <a:latin typeface="프리텐다드 Bold"/>
                <a:ea typeface="프리텐다드 Bold"/>
                <a:cs typeface="프리텐다드 Bold"/>
                <a:sym typeface="프리텐다드 Bold"/>
              </a:rPr>
              <a:t>발생</a:t>
            </a:r>
            <a:endParaRPr lang="en-US" sz="2699" b="1" dirty="0">
              <a:solidFill>
                <a:srgbClr val="282828"/>
              </a:solidFill>
              <a:latin typeface="프리텐다드 Bold"/>
              <a:ea typeface="프리텐다드 Bold"/>
              <a:cs typeface="프리텐다드 Bold"/>
              <a:sym typeface="프리텐다드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212315"/>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421481" y="990600"/>
            <a:ext cx="3894213" cy="273685"/>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PROBLEM STATEMENT</a:t>
            </a:r>
          </a:p>
        </p:txBody>
      </p:sp>
      <p:sp>
        <p:nvSpPr>
          <p:cNvPr id="10" name="TextBox 10"/>
          <p:cNvSpPr txBox="1"/>
          <p:nvPr/>
        </p:nvSpPr>
        <p:spPr>
          <a:xfrm>
            <a:off x="1421481" y="1253961"/>
            <a:ext cx="15482219" cy="946798"/>
          </a:xfrm>
          <a:prstGeom prst="rect">
            <a:avLst/>
          </a:prstGeom>
        </p:spPr>
        <p:txBody>
          <a:bodyPr wrap="square" lIns="0" tIns="0" rIns="0" bIns="0" rtlCol="0" anchor="t">
            <a:spAutoFit/>
          </a:bodyPr>
          <a:lstStyle/>
          <a:p>
            <a:pPr algn="l">
              <a:lnSpc>
                <a:spcPts val="7979"/>
              </a:lnSpc>
              <a:spcBef>
                <a:spcPct val="0"/>
              </a:spcBef>
            </a:pPr>
            <a:r>
              <a:rPr lang="en-US" altLang="ko-KR" sz="5699" b="1" dirty="0">
                <a:solidFill>
                  <a:srgbClr val="282828"/>
                </a:solidFill>
                <a:latin typeface="프리텐다드 Bold"/>
                <a:ea typeface="프리텐다드 Bold"/>
                <a:cs typeface="프리텐다드 Bold"/>
                <a:sym typeface="프리텐다드 Bold"/>
              </a:rPr>
              <a:t>CD</a:t>
            </a:r>
            <a:r>
              <a:rPr lang="ko-KR" altLang="en-US" sz="5699" b="1" dirty="0">
                <a:solidFill>
                  <a:srgbClr val="282828"/>
                </a:solidFill>
                <a:latin typeface="프리텐다드 Bold"/>
                <a:ea typeface="프리텐다드 Bold"/>
                <a:cs typeface="프리텐다드 Bold"/>
                <a:sym typeface="프리텐다드 Bold"/>
              </a:rPr>
              <a:t>발급 절차</a:t>
            </a:r>
            <a:endParaRPr lang="en-US" sz="5699" b="1" dirty="0">
              <a:solidFill>
                <a:srgbClr val="282828"/>
              </a:solidFill>
              <a:latin typeface="프리텐다드 Bold"/>
              <a:ea typeface="프리텐다드 Bold"/>
              <a:cs typeface="프리텐다드 Bold"/>
              <a:sym typeface="프리텐다드 Bold"/>
            </a:endParaRPr>
          </a:p>
        </p:txBody>
      </p:sp>
      <p:sp>
        <p:nvSpPr>
          <p:cNvPr id="14" name="Freeform 8">
            <a:extLst>
              <a:ext uri="{FF2B5EF4-FFF2-40B4-BE49-F238E27FC236}">
                <a16:creationId xmlns:a16="http://schemas.microsoft.com/office/drawing/2014/main" id="{ED4871D2-D4B1-33E7-EFF5-E074312B73F7}"/>
              </a:ext>
              <a:ext uri="{C183D7F6-B498-43B3-948B-1728B52AA6E4}">
                <adec:decorative xmlns:adec="http://schemas.microsoft.com/office/drawing/2017/decorative" val="1"/>
              </a:ext>
            </a:extLst>
          </p:cNvPr>
          <p:cNvSpPr/>
          <p:nvPr/>
        </p:nvSpPr>
        <p:spPr>
          <a:xfrm>
            <a:off x="1160973" y="3284007"/>
            <a:ext cx="7086599" cy="5749032"/>
          </a:xfrm>
          <a:custGeom>
            <a:avLst/>
            <a:gdLst/>
            <a:ahLst/>
            <a:cxnLst/>
            <a:rect l="l" t="t" r="r" b="b"/>
            <a:pathLst>
              <a:path w="8023386" h="5649750">
                <a:moveTo>
                  <a:pt x="0" y="0"/>
                </a:moveTo>
                <a:lnTo>
                  <a:pt x="8023386" y="0"/>
                </a:lnTo>
                <a:lnTo>
                  <a:pt x="8023386" y="5649750"/>
                </a:lnTo>
                <a:lnTo>
                  <a:pt x="0" y="5649750"/>
                </a:lnTo>
                <a:lnTo>
                  <a:pt x="0" y="0"/>
                </a:lnTo>
                <a:close/>
              </a:path>
            </a:pathLst>
          </a:custGeom>
          <a:blipFill>
            <a:blip r:embed="rId2"/>
            <a:stretch>
              <a:fillRect/>
            </a:stretch>
          </a:blipFill>
        </p:spPr>
        <p:txBody>
          <a:bodyPr/>
          <a:lstStyle/>
          <a:p>
            <a:endParaRPr lang="ko-KR" altLang="en-US"/>
          </a:p>
        </p:txBody>
      </p:sp>
      <p:sp>
        <p:nvSpPr>
          <p:cNvPr id="16" name="Panel card">
            <a:extLst>
              <a:ext uri="{FF2B5EF4-FFF2-40B4-BE49-F238E27FC236}">
                <a16:creationId xmlns:a16="http://schemas.microsoft.com/office/drawing/2014/main" id="{EA54DE35-F3AD-DE66-248E-6ED05C8BFF17}"/>
              </a:ext>
              <a:ext uri="{C183D7F6-B498-43B3-948B-1728B52AA6E4}">
                <adec:decorative xmlns:adec="http://schemas.microsoft.com/office/drawing/2017/decorative" val="1"/>
              </a:ext>
            </a:extLst>
          </p:cNvPr>
          <p:cNvSpPr/>
          <p:nvPr/>
        </p:nvSpPr>
        <p:spPr>
          <a:xfrm>
            <a:off x="9169400" y="3215214"/>
            <a:ext cx="7734300" cy="6654800"/>
          </a:xfrm>
          <a:prstGeom prst="rect">
            <a:avLst/>
          </a:prstGeom>
          <a:solidFill>
            <a:schemeClr val="bg1"/>
          </a:solidFill>
          <a:ln w="9525">
            <a:solidFill>
              <a:srgbClr val="737373"/>
            </a:solidFill>
          </a:ln>
        </p:spPr>
        <p:txBody>
          <a:bodyPr wrap="square" lIns="0" tIns="0" rIns="0" bIns="0" rtlCol="0" anchor="t">
            <a:noAutofit/>
          </a:bodyPr>
          <a:lstStyle/>
          <a:p>
            <a:pPr>
              <a:lnSpc>
                <a:spcPct val="112000"/>
              </a:lnSpc>
            </a:pPr>
            <a:endParaRPr lang="ko-KR" altLang="en-US" sz="1200" dirty="0">
              <a:solidFill>
                <a:srgbClr val="595959"/>
              </a:solidFill>
              <a:latin typeface="프리텐다드"/>
              <a:ea typeface="프리텐다드"/>
            </a:endParaRPr>
          </a:p>
        </p:txBody>
      </p:sp>
      <p:sp>
        <p:nvSpPr>
          <p:cNvPr id="20" name="접근 통제·검증 / 사용자 인증">
            <a:extLst>
              <a:ext uri="{FF2B5EF4-FFF2-40B4-BE49-F238E27FC236}">
                <a16:creationId xmlns:a16="http://schemas.microsoft.com/office/drawing/2014/main" id="{4474F82A-45A9-8EB6-66B3-08BF1E697DBD}"/>
              </a:ext>
            </a:extLst>
          </p:cNvPr>
          <p:cNvSpPr txBox="1"/>
          <p:nvPr/>
        </p:nvSpPr>
        <p:spPr>
          <a:xfrm>
            <a:off x="9982200" y="4486404"/>
            <a:ext cx="4654296" cy="690081"/>
          </a:xfrm>
          <a:prstGeom prst="rect">
            <a:avLst/>
          </a:prstGeom>
          <a:noFill/>
          <a:effectLst/>
        </p:spPr>
        <p:txBody>
          <a:bodyPr wrap="square" lIns="0" tIns="54864" rIns="0" bIns="54864" anchor="ctr">
            <a:noAutofit/>
          </a:bodyPr>
          <a:lstStyle/>
          <a:p>
            <a:pPr algn="l">
              <a:lnSpc>
                <a:spcPct val="110000"/>
              </a:lnSpc>
              <a:spcBef>
                <a:spcPts val="0"/>
              </a:spcBef>
              <a:spcAft>
                <a:spcPts val="0"/>
              </a:spcAft>
            </a:pPr>
            <a:endParaRPr lang="en-US" altLang="ko-KR" sz="2200" b="1" dirty="0">
              <a:solidFill>
                <a:srgbClr val="282828"/>
              </a:solidFill>
              <a:latin typeface="프리텐다드 Bold"/>
              <a:ea typeface="프리텐다드 Bold"/>
            </a:endParaRPr>
          </a:p>
          <a:p>
            <a:pPr algn="l">
              <a:lnSpc>
                <a:spcPct val="110000"/>
              </a:lnSpc>
              <a:spcBef>
                <a:spcPts val="0"/>
              </a:spcBef>
              <a:spcAft>
                <a:spcPts val="0"/>
              </a:spcAft>
            </a:pPr>
            <a:endParaRPr lang="en-US" altLang="ko-KR" sz="2200" b="1" dirty="0">
              <a:solidFill>
                <a:srgbClr val="282828"/>
              </a:solidFill>
              <a:latin typeface="프리텐다드 Bold"/>
              <a:ea typeface="프리텐다드 Bold"/>
            </a:endParaRPr>
          </a:p>
          <a:p>
            <a:pPr algn="l">
              <a:lnSpc>
                <a:spcPct val="110000"/>
              </a:lnSpc>
              <a:spcBef>
                <a:spcPts val="0"/>
              </a:spcBef>
              <a:spcAft>
                <a:spcPts val="0"/>
              </a:spcAft>
            </a:pPr>
            <a:endParaRPr lang="en-US" altLang="ko-KR" sz="2200" b="1" dirty="0">
              <a:solidFill>
                <a:srgbClr val="282828"/>
              </a:solidFill>
              <a:latin typeface="프리텐다드 Bold"/>
              <a:ea typeface="프리텐다드 Bold"/>
            </a:endParaRPr>
          </a:p>
          <a:p>
            <a:pPr algn="l">
              <a:lnSpc>
                <a:spcPct val="110000"/>
              </a:lnSpc>
              <a:spcBef>
                <a:spcPts val="0"/>
              </a:spcBef>
              <a:spcAft>
                <a:spcPts val="0"/>
              </a:spcAft>
            </a:pPr>
            <a:endParaRPr lang="en-US" altLang="ko-KR" sz="2200" b="1" dirty="0">
              <a:solidFill>
                <a:srgbClr val="282828"/>
              </a:solidFill>
              <a:latin typeface="프리텐다드 Bold"/>
              <a:ea typeface="프리텐다드 Bold"/>
            </a:endParaRPr>
          </a:p>
          <a:p>
            <a:pPr algn="l">
              <a:lnSpc>
                <a:spcPct val="110000"/>
              </a:lnSpc>
              <a:spcBef>
                <a:spcPts val="0"/>
              </a:spcBef>
              <a:spcAft>
                <a:spcPts val="0"/>
              </a:spcAft>
            </a:pPr>
            <a:endParaRPr lang="en-US" altLang="ko-KR" sz="2200" b="1" dirty="0">
              <a:solidFill>
                <a:srgbClr val="282828"/>
              </a:solidFill>
              <a:latin typeface="프리텐다드 Bold"/>
              <a:ea typeface="프리텐다드 Bold"/>
            </a:endParaRPr>
          </a:p>
          <a:p>
            <a:pPr algn="l">
              <a:lnSpc>
                <a:spcPct val="110000"/>
              </a:lnSpc>
              <a:spcBef>
                <a:spcPts val="0"/>
              </a:spcBef>
              <a:spcAft>
                <a:spcPts val="0"/>
              </a:spcAft>
            </a:pPr>
            <a:endParaRPr lang="en-US" altLang="ko-KR" sz="3000" b="1" dirty="0">
              <a:solidFill>
                <a:srgbClr val="282828"/>
              </a:solidFill>
              <a:latin typeface="프리텐다드 Bold"/>
              <a:ea typeface="프리텐다드 Bold"/>
            </a:endParaRPr>
          </a:p>
          <a:p>
            <a:pPr algn="l">
              <a:lnSpc>
                <a:spcPct val="110000"/>
              </a:lnSpc>
              <a:spcBef>
                <a:spcPts val="0"/>
              </a:spcBef>
              <a:spcAft>
                <a:spcPts val="0"/>
              </a:spcAft>
            </a:pPr>
            <a:endParaRPr lang="en-US" altLang="ko-KR" sz="3000" b="1" dirty="0">
              <a:solidFill>
                <a:srgbClr val="282828"/>
              </a:solidFill>
              <a:latin typeface="프리텐다드 Bold"/>
              <a:ea typeface="프리텐다드 Bold"/>
            </a:endParaRPr>
          </a:p>
          <a:p>
            <a:pPr algn="l">
              <a:lnSpc>
                <a:spcPct val="110000"/>
              </a:lnSpc>
              <a:spcBef>
                <a:spcPts val="0"/>
              </a:spcBef>
              <a:spcAft>
                <a:spcPts val="0"/>
              </a:spcAft>
            </a:pPr>
            <a:r>
              <a:rPr lang="ko-KR" altLang="en-US" sz="3000" b="1" dirty="0">
                <a:solidFill>
                  <a:srgbClr val="282828"/>
                </a:solidFill>
                <a:latin typeface="프리텐다드 Bold"/>
                <a:ea typeface="프리텐다드 Bold"/>
              </a:rPr>
              <a:t>영상관리실에서 신청 확인</a:t>
            </a:r>
            <a:endParaRPr lang="en-US" altLang="ko-KR" sz="3000" b="1" dirty="0">
              <a:solidFill>
                <a:srgbClr val="282828"/>
              </a:solidFill>
              <a:latin typeface="프리텐다드 Bold"/>
              <a:ea typeface="프리텐다드 Bold"/>
            </a:endParaRPr>
          </a:p>
          <a:p>
            <a:pPr algn="l">
              <a:lnSpc>
                <a:spcPct val="110000"/>
              </a:lnSpc>
              <a:spcBef>
                <a:spcPts val="0"/>
              </a:spcBef>
              <a:spcAft>
                <a:spcPts val="0"/>
              </a:spcAft>
            </a:pPr>
            <a:endParaRPr lang="en-US" altLang="ko-KR" sz="3000" b="1" dirty="0">
              <a:solidFill>
                <a:srgbClr val="282828"/>
              </a:solidFill>
              <a:latin typeface="프리텐다드 Bold"/>
              <a:ea typeface="프리텐다드 Bold"/>
            </a:endParaRPr>
          </a:p>
          <a:p>
            <a:pPr algn="l">
              <a:lnSpc>
                <a:spcPct val="110000"/>
              </a:lnSpc>
              <a:spcBef>
                <a:spcPts val="0"/>
              </a:spcBef>
              <a:spcAft>
                <a:spcPts val="0"/>
              </a:spcAft>
            </a:pPr>
            <a:r>
              <a:rPr lang="ko-KR" altLang="en-US" sz="3000" b="1" dirty="0">
                <a:solidFill>
                  <a:srgbClr val="282828"/>
                </a:solidFill>
                <a:latin typeface="프리텐다드 Bold"/>
                <a:ea typeface="프리텐다드 Bold"/>
              </a:rPr>
              <a:t>신분증 제시 및 신분 확인</a:t>
            </a:r>
            <a:endParaRPr lang="en-US" altLang="ko-KR" sz="3000" b="1" dirty="0">
              <a:solidFill>
                <a:srgbClr val="282828"/>
              </a:solidFill>
              <a:latin typeface="프리텐다드 Bold"/>
              <a:ea typeface="프리텐다드 Bold"/>
            </a:endParaRPr>
          </a:p>
          <a:p>
            <a:pPr algn="l">
              <a:lnSpc>
                <a:spcPct val="110000"/>
              </a:lnSpc>
              <a:spcBef>
                <a:spcPts val="0"/>
              </a:spcBef>
              <a:spcAft>
                <a:spcPts val="0"/>
              </a:spcAft>
            </a:pPr>
            <a:endParaRPr lang="en-US" altLang="ko-KR" sz="3000" b="1" dirty="0">
              <a:solidFill>
                <a:srgbClr val="282828"/>
              </a:solidFill>
              <a:latin typeface="프리텐다드 Bold"/>
              <a:ea typeface="프리텐다드 Bold"/>
            </a:endParaRPr>
          </a:p>
          <a:p>
            <a:pPr algn="l">
              <a:lnSpc>
                <a:spcPct val="110000"/>
              </a:lnSpc>
              <a:spcBef>
                <a:spcPts val="0"/>
              </a:spcBef>
              <a:spcAft>
                <a:spcPts val="0"/>
              </a:spcAft>
            </a:pPr>
            <a:r>
              <a:rPr lang="ko-KR" altLang="en-US" sz="3000" b="1" dirty="0">
                <a:solidFill>
                  <a:srgbClr val="282828"/>
                </a:solidFill>
                <a:latin typeface="프리텐다드 Bold"/>
                <a:ea typeface="프리텐다드 Bold"/>
              </a:rPr>
              <a:t>의무기록 사본발급처에서 수납</a:t>
            </a:r>
            <a:endParaRPr lang="en-US" altLang="ko-KR" sz="3000" b="1" dirty="0">
              <a:solidFill>
                <a:srgbClr val="282828"/>
              </a:solidFill>
              <a:latin typeface="프리텐다드 Bold"/>
              <a:ea typeface="프리텐다드 Bold"/>
            </a:endParaRPr>
          </a:p>
          <a:p>
            <a:pPr algn="l">
              <a:lnSpc>
                <a:spcPct val="110000"/>
              </a:lnSpc>
              <a:spcBef>
                <a:spcPts val="0"/>
              </a:spcBef>
              <a:spcAft>
                <a:spcPts val="0"/>
              </a:spcAft>
            </a:pPr>
            <a:endParaRPr lang="en-US" altLang="ko-KR" sz="3000" b="1" dirty="0">
              <a:solidFill>
                <a:srgbClr val="282828"/>
              </a:solidFill>
              <a:latin typeface="프리텐다드 Bold"/>
              <a:ea typeface="프리텐다드 Bold"/>
            </a:endParaRPr>
          </a:p>
          <a:p>
            <a:pPr algn="l">
              <a:lnSpc>
                <a:spcPct val="110000"/>
              </a:lnSpc>
              <a:spcBef>
                <a:spcPts val="0"/>
              </a:spcBef>
              <a:spcAft>
                <a:spcPts val="0"/>
              </a:spcAft>
            </a:pPr>
            <a:endParaRPr lang="en-US" altLang="ko-KR" sz="3000" b="1" dirty="0">
              <a:solidFill>
                <a:srgbClr val="282828"/>
              </a:solidFill>
              <a:latin typeface="프리텐다드 Bold"/>
              <a:ea typeface="프리텐다드 Bold"/>
            </a:endParaRPr>
          </a:p>
          <a:p>
            <a:pPr algn="l">
              <a:lnSpc>
                <a:spcPct val="110000"/>
              </a:lnSpc>
              <a:spcBef>
                <a:spcPts val="0"/>
              </a:spcBef>
              <a:spcAft>
                <a:spcPts val="0"/>
              </a:spcAft>
            </a:pPr>
            <a:r>
              <a:rPr lang="ko-KR" altLang="en-US" sz="3000" b="1" dirty="0">
                <a:solidFill>
                  <a:srgbClr val="282828"/>
                </a:solidFill>
                <a:latin typeface="프리텐다드 Bold"/>
                <a:ea typeface="프리텐다드 Bold"/>
              </a:rPr>
              <a:t>영상관리실에서 </a:t>
            </a:r>
            <a:r>
              <a:rPr lang="en-US" altLang="ko-KR" sz="3000" b="1" dirty="0">
                <a:solidFill>
                  <a:srgbClr val="282828"/>
                </a:solidFill>
                <a:latin typeface="프리텐다드 Bold"/>
                <a:ea typeface="프리텐다드 Bold"/>
              </a:rPr>
              <a:t>CD </a:t>
            </a:r>
            <a:r>
              <a:rPr lang="ko-KR" altLang="en-US" sz="3000" b="1" dirty="0">
                <a:solidFill>
                  <a:srgbClr val="282828"/>
                </a:solidFill>
                <a:latin typeface="프리텐다드 Bold"/>
                <a:ea typeface="프리텐다드 Bold"/>
              </a:rPr>
              <a:t>수령</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14132-192C-8797-9C28-D67235B0BEAC}"/>
            </a:ext>
          </a:extLst>
        </p:cNvPr>
        <p:cNvGrpSpPr/>
        <p:nvPr/>
      </p:nvGrpSpPr>
      <p:grpSpPr>
        <a:xfrm>
          <a:off x="0" y="0"/>
          <a:ext cx="0" cy="0"/>
          <a:chOff x="0" y="0"/>
          <a:chExt cx="0" cy="0"/>
        </a:xfrm>
      </p:grpSpPr>
      <p:pic>
        <p:nvPicPr>
          <p:cNvPr id="12" name="그림 11">
            <a:extLst>
              <a:ext uri="{FF2B5EF4-FFF2-40B4-BE49-F238E27FC236}">
                <a16:creationId xmlns:a16="http://schemas.microsoft.com/office/drawing/2014/main" id="{D235F560-4856-941E-F728-966035F19B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6" y="0"/>
            <a:ext cx="18278283" cy="10287000"/>
          </a:xfrm>
          <a:prstGeom prst="rect">
            <a:avLst/>
          </a:prstGeom>
        </p:spPr>
      </p:pic>
    </p:spTree>
    <p:extLst>
      <p:ext uri="{BB962C8B-B14F-4D97-AF65-F5344CB8AC3E}">
        <p14:creationId xmlns:p14="http://schemas.microsoft.com/office/powerpoint/2010/main" val="517992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212315"/>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8" name="Freeform 8">
            <a:extLst>
              <a:ext uri="{C183D7F6-B498-43B3-948B-1728B52AA6E4}">
                <adec:decorative xmlns:adec="http://schemas.microsoft.com/office/drawing/2017/decorative" val="1"/>
              </a:ext>
            </a:extLst>
          </p:cNvPr>
          <p:cNvSpPr/>
          <p:nvPr/>
        </p:nvSpPr>
        <p:spPr>
          <a:xfrm>
            <a:off x="0" y="3311277"/>
            <a:ext cx="7381508" cy="6302171"/>
          </a:xfrm>
          <a:custGeom>
            <a:avLst/>
            <a:gdLst/>
            <a:ahLst/>
            <a:cxnLst/>
            <a:rect l="l" t="t" r="r" b="b"/>
            <a:pathLst>
              <a:path w="7381508" h="6302171">
                <a:moveTo>
                  <a:pt x="0" y="0"/>
                </a:moveTo>
                <a:lnTo>
                  <a:pt x="7381508" y="0"/>
                </a:lnTo>
                <a:lnTo>
                  <a:pt x="7381508" y="6302171"/>
                </a:lnTo>
                <a:lnTo>
                  <a:pt x="0" y="6302171"/>
                </a:lnTo>
                <a:lnTo>
                  <a:pt x="0" y="0"/>
                </a:lnTo>
                <a:close/>
              </a:path>
            </a:pathLst>
          </a:custGeom>
          <a:blipFill>
            <a:blip r:embed="rId2"/>
            <a:stretch>
              <a:fillRect/>
            </a:stretch>
          </a:blipFill>
        </p:spPr>
        <p:txBody>
          <a:bodyPr/>
          <a:lstStyle/>
          <a:p>
            <a:endParaRPr lang="ko-KR" altLang="en-US"/>
          </a:p>
        </p:txBody>
      </p:sp>
      <p:sp>
        <p:nvSpPr>
          <p:cNvPr id="9" name="Freeform 9">
            <a:extLst>
              <a:ext uri="{C183D7F6-B498-43B3-948B-1728B52AA6E4}">
                <adec:decorative xmlns:adec="http://schemas.microsoft.com/office/drawing/2017/decorative" val="1"/>
              </a:ext>
            </a:extLst>
          </p:cNvPr>
          <p:cNvSpPr/>
          <p:nvPr/>
        </p:nvSpPr>
        <p:spPr>
          <a:xfrm>
            <a:off x="4114800" y="4368390"/>
            <a:ext cx="7010400" cy="5771030"/>
          </a:xfrm>
          <a:custGeom>
            <a:avLst/>
            <a:gdLst/>
            <a:ahLst/>
            <a:cxnLst/>
            <a:rect l="l" t="t" r="r" b="b"/>
            <a:pathLst>
              <a:path w="5833047" h="5048898">
                <a:moveTo>
                  <a:pt x="0" y="0"/>
                </a:moveTo>
                <a:lnTo>
                  <a:pt x="5833047" y="0"/>
                </a:lnTo>
                <a:lnTo>
                  <a:pt x="5833047" y="5048898"/>
                </a:lnTo>
                <a:lnTo>
                  <a:pt x="0" y="5048898"/>
                </a:lnTo>
                <a:lnTo>
                  <a:pt x="0" y="0"/>
                </a:lnTo>
                <a:close/>
              </a:path>
            </a:pathLst>
          </a:custGeom>
          <a:blipFill>
            <a:blip r:embed="rId3"/>
            <a:stretch>
              <a:fillRect l="-22226" t="-830" r="-6803" b="-25977"/>
            </a:stretch>
          </a:blipFill>
        </p:spPr>
        <p:txBody>
          <a:bodyPr/>
          <a:lstStyle/>
          <a:p>
            <a:endParaRPr lang="ko-KR" altLang="en-US"/>
          </a:p>
        </p:txBody>
      </p:sp>
      <p:grpSp>
        <p:nvGrpSpPr>
          <p:cNvPr id="10" name="Group 10"/>
          <p:cNvGrpSpPr/>
          <p:nvPr/>
        </p:nvGrpSpPr>
        <p:grpSpPr>
          <a:xfrm>
            <a:off x="5315694" y="7824297"/>
            <a:ext cx="6433525" cy="2348037"/>
            <a:chOff x="0" y="0"/>
            <a:chExt cx="996721" cy="363772"/>
          </a:xfrm>
        </p:grpSpPr>
        <p:sp>
          <p:nvSpPr>
            <p:cNvPr id="11" name="Freeform 11"/>
            <p:cNvSpPr/>
            <p:nvPr/>
          </p:nvSpPr>
          <p:spPr>
            <a:xfrm>
              <a:off x="0" y="0"/>
              <a:ext cx="996721" cy="363772"/>
            </a:xfrm>
            <a:custGeom>
              <a:avLst/>
              <a:gdLst/>
              <a:ahLst/>
              <a:cxnLst/>
              <a:rect l="l" t="t" r="r" b="b"/>
              <a:pathLst>
                <a:path w="996721" h="363772">
                  <a:moveTo>
                    <a:pt x="0" y="0"/>
                  </a:moveTo>
                  <a:lnTo>
                    <a:pt x="996721" y="0"/>
                  </a:lnTo>
                  <a:lnTo>
                    <a:pt x="996721" y="363772"/>
                  </a:lnTo>
                  <a:lnTo>
                    <a:pt x="0" y="363772"/>
                  </a:lnTo>
                  <a:close/>
                </a:path>
              </a:pathLst>
            </a:custGeom>
            <a:blipFill>
              <a:blip r:embed="rId4"/>
              <a:stretch>
                <a:fillRect l="-126" b="-14085"/>
              </a:stretch>
            </a:blipFill>
            <a:ln w="9525" cap="sq">
              <a:solidFill>
                <a:srgbClr val="BCBCBC"/>
              </a:solidFill>
              <a:prstDash val="solid"/>
              <a:miter/>
            </a:ln>
          </p:spPr>
          <p:txBody>
            <a:bodyPr/>
            <a:lstStyle/>
            <a:p>
              <a:endParaRPr lang="ko-KR" altLang="en-US"/>
            </a:p>
          </p:txBody>
        </p:sp>
      </p:grpSp>
      <p:sp>
        <p:nvSpPr>
          <p:cNvPr id="14" name="Freeform 14">
            <a:extLst>
              <a:ext uri="{C183D7F6-B498-43B3-948B-1728B52AA6E4}">
                <adec:decorative xmlns:adec="http://schemas.microsoft.com/office/drawing/2017/decorative" val="1"/>
              </a:ext>
            </a:extLst>
          </p:cNvPr>
          <p:cNvSpPr/>
          <p:nvPr/>
        </p:nvSpPr>
        <p:spPr>
          <a:xfrm>
            <a:off x="11792614" y="3695700"/>
            <a:ext cx="5833047" cy="6128423"/>
          </a:xfrm>
          <a:custGeom>
            <a:avLst/>
            <a:gdLst/>
            <a:ahLst/>
            <a:cxnLst/>
            <a:rect l="l" t="t" r="r" b="b"/>
            <a:pathLst>
              <a:path w="5281261" h="5763684">
                <a:moveTo>
                  <a:pt x="0" y="0"/>
                </a:moveTo>
                <a:lnTo>
                  <a:pt x="5281261" y="0"/>
                </a:lnTo>
                <a:lnTo>
                  <a:pt x="5281261" y="5763684"/>
                </a:lnTo>
                <a:lnTo>
                  <a:pt x="0" y="5763684"/>
                </a:lnTo>
                <a:lnTo>
                  <a:pt x="0" y="0"/>
                </a:lnTo>
                <a:close/>
              </a:path>
            </a:pathLst>
          </a:custGeom>
          <a:blipFill>
            <a:blip r:embed="rId5"/>
            <a:stretch>
              <a:fillRect/>
            </a:stretch>
          </a:blipFill>
          <a:ln w="9525" cap="sq">
            <a:solidFill>
              <a:srgbClr val="BCBCBC"/>
            </a:solidFill>
            <a:prstDash val="solid"/>
            <a:miter/>
          </a:ln>
        </p:spPr>
        <p:txBody>
          <a:bodyPr/>
          <a:lstStyle/>
          <a:p>
            <a:endParaRPr lang="ko-KR" altLang="en-US"/>
          </a:p>
        </p:txBody>
      </p:sp>
      <p:sp>
        <p:nvSpPr>
          <p:cNvPr id="15" name="TextBox 15"/>
          <p:cNvSpPr txBox="1"/>
          <p:nvPr/>
        </p:nvSpPr>
        <p:spPr>
          <a:xfrm>
            <a:off x="1421481" y="990600"/>
            <a:ext cx="3894213" cy="273685"/>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PROBLEM STATEMENT</a:t>
            </a:r>
          </a:p>
        </p:txBody>
      </p:sp>
      <p:sp>
        <p:nvSpPr>
          <p:cNvPr id="16" name="TextBox 16"/>
          <p:cNvSpPr txBox="1"/>
          <p:nvPr/>
        </p:nvSpPr>
        <p:spPr>
          <a:xfrm>
            <a:off x="1421481" y="1253961"/>
            <a:ext cx="3894213"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문제 정의</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sp>
        <p:nvSpPr>
          <p:cNvPr id="5" name="AutoShape 5">
            <a:extLst>
              <a:ext uri="{C183D7F6-B498-43B3-948B-1728B52AA6E4}">
                <adec:decorative xmlns:adec="http://schemas.microsoft.com/office/drawing/2017/decorative" val="1"/>
              </a:ext>
            </a:extLst>
          </p:cNvPr>
          <p:cNvSpPr/>
          <p:nvPr/>
        </p:nvSpPr>
        <p:spPr>
          <a:xfrm flipV="1">
            <a:off x="6341936" y="3581076"/>
            <a:ext cx="0" cy="3922468"/>
          </a:xfrm>
          <a:prstGeom prst="line">
            <a:avLst/>
          </a:prstGeom>
          <a:ln w="9525" cap="flat">
            <a:solidFill>
              <a:srgbClr val="737373"/>
            </a:solidFill>
            <a:prstDash val="solid"/>
            <a:headEnd type="none" w="sm" len="sm"/>
            <a:tailEnd type="none" w="sm" len="sm"/>
          </a:ln>
        </p:spPr>
        <p:txBody>
          <a:bodyPr/>
          <a:lstStyle/>
          <a:p>
            <a:endParaRPr lang="ko-KR" altLang="en-US"/>
          </a:p>
        </p:txBody>
      </p:sp>
      <p:sp>
        <p:nvSpPr>
          <p:cNvPr id="6" name="AutoShape 6">
            <a:extLst>
              <a:ext uri="{C183D7F6-B498-43B3-948B-1728B52AA6E4}">
                <adec:decorative xmlns:adec="http://schemas.microsoft.com/office/drawing/2017/decorative" val="1"/>
              </a:ext>
            </a:extLst>
          </p:cNvPr>
          <p:cNvSpPr/>
          <p:nvPr/>
        </p:nvSpPr>
        <p:spPr>
          <a:xfrm flipV="1">
            <a:off x="11945424" y="3581076"/>
            <a:ext cx="0" cy="3922468"/>
          </a:xfrm>
          <a:prstGeom prst="line">
            <a:avLst/>
          </a:prstGeom>
          <a:ln w="9525" cap="flat">
            <a:solidFill>
              <a:srgbClr val="737373"/>
            </a:solidFill>
            <a:prstDash val="solid"/>
            <a:headEnd type="none" w="sm" len="sm"/>
            <a:tailEnd type="none" w="sm" len="sm"/>
          </a:ln>
        </p:spPr>
        <p:txBody>
          <a:bodyPr/>
          <a:lstStyle/>
          <a:p>
            <a:endParaRPr lang="ko-KR" altLang="en-US"/>
          </a:p>
        </p:txBody>
      </p:sp>
      <p:grpSp>
        <p:nvGrpSpPr>
          <p:cNvPr id="7" name="Group 7"/>
          <p:cNvGrpSpPr/>
          <p:nvPr/>
        </p:nvGrpSpPr>
        <p:grpSpPr>
          <a:xfrm rot="-10800000">
            <a:off x="8921747" y="7679279"/>
            <a:ext cx="444505" cy="175819"/>
            <a:chOff x="0" y="0"/>
            <a:chExt cx="1798056" cy="711200"/>
          </a:xfrm>
        </p:grpSpPr>
        <p:sp>
          <p:nvSpPr>
            <p:cNvPr id="8" name="Freeform 8"/>
            <p:cNvSpPr/>
            <p:nvPr/>
          </p:nvSpPr>
          <p:spPr>
            <a:xfrm>
              <a:off x="0" y="0"/>
              <a:ext cx="1798056" cy="711200"/>
            </a:xfrm>
            <a:custGeom>
              <a:avLst/>
              <a:gdLst/>
              <a:ahLst/>
              <a:cxnLst/>
              <a:rect l="l" t="t" r="r" b="b"/>
              <a:pathLst>
                <a:path w="1798056" h="711200">
                  <a:moveTo>
                    <a:pt x="899028" y="0"/>
                  </a:moveTo>
                  <a:lnTo>
                    <a:pt x="1798056" y="711200"/>
                  </a:lnTo>
                  <a:lnTo>
                    <a:pt x="0" y="711200"/>
                  </a:lnTo>
                  <a:lnTo>
                    <a:pt x="899028" y="0"/>
                  </a:lnTo>
                  <a:close/>
                </a:path>
              </a:pathLst>
            </a:custGeom>
            <a:solidFill>
              <a:srgbClr val="BCBCBC"/>
            </a:solidFill>
            <a:ln cap="sq">
              <a:noFill/>
              <a:prstDash val="solid"/>
              <a:miter/>
            </a:ln>
          </p:spPr>
          <p:txBody>
            <a:bodyPr/>
            <a:lstStyle/>
            <a:p>
              <a:endParaRPr lang="ko-KR" altLang="en-US"/>
            </a:p>
          </p:txBody>
        </p:sp>
        <p:sp>
          <p:nvSpPr>
            <p:cNvPr id="9" name="TextBox 9"/>
            <p:cNvSpPr txBox="1"/>
            <p:nvPr/>
          </p:nvSpPr>
          <p:spPr>
            <a:xfrm>
              <a:off x="280946" y="292100"/>
              <a:ext cx="1236163" cy="3683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028700" y="8162748"/>
            <a:ext cx="16230600" cy="1095552"/>
            <a:chOff x="0" y="0"/>
            <a:chExt cx="4274726" cy="288540"/>
          </a:xfrm>
        </p:grpSpPr>
        <p:sp>
          <p:nvSpPr>
            <p:cNvPr id="11" name="Freeform 11"/>
            <p:cNvSpPr/>
            <p:nvPr/>
          </p:nvSpPr>
          <p:spPr>
            <a:xfrm>
              <a:off x="0" y="0"/>
              <a:ext cx="4274726" cy="288540"/>
            </a:xfrm>
            <a:custGeom>
              <a:avLst/>
              <a:gdLst/>
              <a:ahLst/>
              <a:cxnLst/>
              <a:rect l="l" t="t" r="r" b="b"/>
              <a:pathLst>
                <a:path w="4274726" h="288540">
                  <a:moveTo>
                    <a:pt x="0" y="0"/>
                  </a:moveTo>
                  <a:lnTo>
                    <a:pt x="4274726" y="0"/>
                  </a:lnTo>
                  <a:lnTo>
                    <a:pt x="4274726" y="288540"/>
                  </a:lnTo>
                  <a:lnTo>
                    <a:pt x="0" y="288540"/>
                  </a:lnTo>
                  <a:close/>
                </a:path>
              </a:pathLst>
            </a:custGeom>
            <a:solidFill>
              <a:srgbClr val="E9E9E9"/>
            </a:solidFill>
            <a:ln w="9525" cap="sq">
              <a:solidFill>
                <a:srgbClr val="737373"/>
              </a:solidFill>
              <a:prstDash val="solid"/>
              <a:miter/>
            </a:ln>
          </p:spPr>
          <p:txBody>
            <a:bodyPr/>
            <a:lstStyle/>
            <a:p>
              <a:endParaRPr lang="ko-KR" altLang="en-US"/>
            </a:p>
          </p:txBody>
        </p:sp>
        <p:sp>
          <p:nvSpPr>
            <p:cNvPr id="12" name="TextBox 12"/>
            <p:cNvSpPr txBox="1"/>
            <p:nvPr/>
          </p:nvSpPr>
          <p:spPr>
            <a:xfrm>
              <a:off x="0" y="-47625"/>
              <a:ext cx="4274726" cy="336165"/>
            </a:xfrm>
            <a:prstGeom prst="rect">
              <a:avLst/>
            </a:prstGeom>
          </p:spPr>
          <p:txBody>
            <a:bodyPr lIns="50800" tIns="50800" rIns="50800" bIns="50800" rtlCol="0" anchor="ctr"/>
            <a:lstStyle/>
            <a:p>
              <a:pPr marL="0" lvl="0" indent="0" algn="ctr">
                <a:lnSpc>
                  <a:spcPts val="3156"/>
                </a:lnSpc>
                <a:spcBef>
                  <a:spcPct val="0"/>
                </a:spcBef>
              </a:pPr>
              <a:endParaRPr/>
            </a:p>
          </p:txBody>
        </p:sp>
      </p:grpSp>
      <p:grpSp>
        <p:nvGrpSpPr>
          <p:cNvPr id="13" name="Group 13"/>
          <p:cNvGrpSpPr/>
          <p:nvPr/>
        </p:nvGrpSpPr>
        <p:grpSpPr>
          <a:xfrm>
            <a:off x="1028700" y="1028700"/>
            <a:ext cx="132273" cy="1204431"/>
            <a:chOff x="0" y="0"/>
            <a:chExt cx="40474" cy="368545"/>
          </a:xfrm>
        </p:grpSpPr>
        <p:sp>
          <p:nvSpPr>
            <p:cNvPr id="14" name="Freeform 14"/>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15" name="TextBox 15"/>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16" name="TextBox 16"/>
          <p:cNvSpPr txBox="1"/>
          <p:nvPr/>
        </p:nvSpPr>
        <p:spPr>
          <a:xfrm>
            <a:off x="1421481" y="990600"/>
            <a:ext cx="3894213" cy="273685"/>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PROBLEM STATEMENT</a:t>
            </a:r>
          </a:p>
        </p:txBody>
      </p:sp>
      <p:sp>
        <p:nvSpPr>
          <p:cNvPr id="17" name="TextBox 17"/>
          <p:cNvSpPr txBox="1"/>
          <p:nvPr/>
        </p:nvSpPr>
        <p:spPr>
          <a:xfrm>
            <a:off x="1421481" y="1253961"/>
            <a:ext cx="3894213"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문제 정의</a:t>
            </a:r>
          </a:p>
        </p:txBody>
      </p:sp>
      <p:sp>
        <p:nvSpPr>
          <p:cNvPr id="18" name="TextBox 18"/>
          <p:cNvSpPr txBox="1"/>
          <p:nvPr/>
        </p:nvSpPr>
        <p:spPr>
          <a:xfrm>
            <a:off x="1756847" y="6300483"/>
            <a:ext cx="3566049" cy="306705"/>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282828"/>
                </a:solidFill>
                <a:latin typeface="프리텐다드"/>
                <a:ea typeface="프리텐다드"/>
                <a:cs typeface="프리텐다드"/>
                <a:sym typeface="프리텐다드"/>
              </a:rPr>
              <a:t>2025년, 30일 이내</a:t>
            </a:r>
          </a:p>
        </p:txBody>
      </p:sp>
      <p:sp>
        <p:nvSpPr>
          <p:cNvPr id="19" name="TextBox 19"/>
          <p:cNvSpPr txBox="1"/>
          <p:nvPr/>
        </p:nvSpPr>
        <p:spPr>
          <a:xfrm>
            <a:off x="1756847" y="5690734"/>
            <a:ext cx="3566049" cy="415290"/>
          </a:xfrm>
          <a:prstGeom prst="rect">
            <a:avLst/>
          </a:prstGeom>
        </p:spPr>
        <p:txBody>
          <a:bodyPr lIns="0" tIns="0" rIns="0" bIns="0" rtlCol="0" anchor="t">
            <a:spAutoFit/>
          </a:bodyPr>
          <a:lstStyle/>
          <a:p>
            <a:pPr algn="ctr">
              <a:lnSpc>
                <a:spcPts val="3359"/>
              </a:lnSpc>
              <a:spcBef>
                <a:spcPct val="0"/>
              </a:spcBef>
            </a:pPr>
            <a:r>
              <a:rPr lang="en-US" sz="2400" b="1">
                <a:solidFill>
                  <a:srgbClr val="2A59C5"/>
                </a:solidFill>
                <a:latin typeface="프리텐다드 Semi-Bold"/>
                <a:ea typeface="프리텐다드 Semi-Bold"/>
                <a:cs typeface="프리텐다드 Semi-Bold"/>
                <a:sym typeface="프리텐다드 Semi-Bold"/>
              </a:rPr>
              <a:t> CT 재촬영률</a:t>
            </a:r>
          </a:p>
        </p:txBody>
      </p:sp>
      <p:sp>
        <p:nvSpPr>
          <p:cNvPr id="20" name="TextBox 20"/>
          <p:cNvSpPr txBox="1"/>
          <p:nvPr/>
        </p:nvSpPr>
        <p:spPr>
          <a:xfrm>
            <a:off x="7360976" y="6300483"/>
            <a:ext cx="3566049" cy="306705"/>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282828"/>
                </a:solidFill>
                <a:latin typeface="프리텐다드"/>
                <a:ea typeface="프리텐다드"/>
                <a:cs typeface="프리텐다드"/>
                <a:sym typeface="프리텐다드"/>
              </a:rPr>
              <a:t>2025년, 30일 이내</a:t>
            </a:r>
          </a:p>
        </p:txBody>
      </p:sp>
      <p:sp>
        <p:nvSpPr>
          <p:cNvPr id="21" name="TextBox 21"/>
          <p:cNvSpPr txBox="1"/>
          <p:nvPr/>
        </p:nvSpPr>
        <p:spPr>
          <a:xfrm>
            <a:off x="7360976" y="5690734"/>
            <a:ext cx="3566049" cy="415290"/>
          </a:xfrm>
          <a:prstGeom prst="rect">
            <a:avLst/>
          </a:prstGeom>
        </p:spPr>
        <p:txBody>
          <a:bodyPr lIns="0" tIns="0" rIns="0" bIns="0" rtlCol="0" anchor="t">
            <a:spAutoFit/>
          </a:bodyPr>
          <a:lstStyle/>
          <a:p>
            <a:pPr algn="ctr">
              <a:lnSpc>
                <a:spcPts val="3359"/>
              </a:lnSpc>
              <a:spcBef>
                <a:spcPct val="0"/>
              </a:spcBef>
            </a:pPr>
            <a:r>
              <a:rPr lang="en-US" sz="2400" b="1">
                <a:solidFill>
                  <a:srgbClr val="2A59C5"/>
                </a:solidFill>
                <a:latin typeface="프리텐다드 Semi-Bold"/>
                <a:ea typeface="프리텐다드 Semi-Bold"/>
                <a:cs typeface="프리텐다드 Semi-Bold"/>
                <a:sym typeface="프리텐다드 Semi-Bold"/>
              </a:rPr>
              <a:t>MRI 재촬영률</a:t>
            </a:r>
          </a:p>
        </p:txBody>
      </p:sp>
      <p:sp>
        <p:nvSpPr>
          <p:cNvPr id="22" name="TextBox 22"/>
          <p:cNvSpPr txBox="1"/>
          <p:nvPr/>
        </p:nvSpPr>
        <p:spPr>
          <a:xfrm>
            <a:off x="12965105" y="6300483"/>
            <a:ext cx="3566049" cy="306705"/>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282828"/>
                </a:solidFill>
                <a:latin typeface="프리텐다드"/>
                <a:ea typeface="프리텐다드"/>
                <a:cs typeface="프리텐다드"/>
                <a:sym typeface="프리텐다드"/>
              </a:rPr>
              <a:t>2025년 CT·MRI 합계, 약</a:t>
            </a:r>
          </a:p>
        </p:txBody>
      </p:sp>
      <p:sp>
        <p:nvSpPr>
          <p:cNvPr id="23" name="TextBox 23"/>
          <p:cNvSpPr txBox="1"/>
          <p:nvPr/>
        </p:nvSpPr>
        <p:spPr>
          <a:xfrm>
            <a:off x="12965105" y="5690734"/>
            <a:ext cx="3566049" cy="415290"/>
          </a:xfrm>
          <a:prstGeom prst="rect">
            <a:avLst/>
          </a:prstGeom>
        </p:spPr>
        <p:txBody>
          <a:bodyPr lIns="0" tIns="0" rIns="0" bIns="0" rtlCol="0" anchor="t">
            <a:spAutoFit/>
          </a:bodyPr>
          <a:lstStyle/>
          <a:p>
            <a:pPr algn="ctr">
              <a:lnSpc>
                <a:spcPts val="3359"/>
              </a:lnSpc>
              <a:spcBef>
                <a:spcPct val="0"/>
              </a:spcBef>
            </a:pPr>
            <a:r>
              <a:rPr lang="en-US" sz="2400" b="1">
                <a:solidFill>
                  <a:srgbClr val="2A59C5"/>
                </a:solidFill>
                <a:latin typeface="프리텐다드 Semi-Bold"/>
                <a:ea typeface="프리텐다드 Semi-Bold"/>
                <a:cs typeface="프리텐다드 Semi-Bold"/>
                <a:sym typeface="프리텐다드 Semi-Bold"/>
              </a:rPr>
              <a:t>중복촬영관련 급여비</a:t>
            </a:r>
          </a:p>
        </p:txBody>
      </p:sp>
      <p:sp>
        <p:nvSpPr>
          <p:cNvPr id="24" name="TextBox 24"/>
          <p:cNvSpPr txBox="1"/>
          <p:nvPr/>
        </p:nvSpPr>
        <p:spPr>
          <a:xfrm>
            <a:off x="1015081" y="8211414"/>
            <a:ext cx="16230600" cy="941070"/>
          </a:xfrm>
          <a:prstGeom prst="rect">
            <a:avLst/>
          </a:prstGeom>
        </p:spPr>
        <p:txBody>
          <a:bodyPr lIns="0" tIns="0" rIns="0" bIns="0" rtlCol="0" anchor="t">
            <a:spAutoFit/>
          </a:bodyPr>
          <a:lstStyle/>
          <a:p>
            <a:pPr algn="ctr">
              <a:lnSpc>
                <a:spcPts val="3779"/>
              </a:lnSpc>
            </a:pPr>
            <a:r>
              <a:rPr lang="en-US" sz="2699" b="1">
                <a:solidFill>
                  <a:srgbClr val="282828"/>
                </a:solidFill>
                <a:latin typeface="프리텐다드 Bold"/>
                <a:ea typeface="프리텐다드 Bold"/>
                <a:cs typeface="프리텐다드 Bold"/>
                <a:sym typeface="프리텐다드 Bold"/>
              </a:rPr>
              <a:t>문제는 단순히 CT·MRI를 다시 촬영하는 것이 아니라, </a:t>
            </a:r>
          </a:p>
          <a:p>
            <a:pPr algn="ctr">
              <a:lnSpc>
                <a:spcPts val="3779"/>
              </a:lnSpc>
              <a:spcBef>
                <a:spcPct val="0"/>
              </a:spcBef>
            </a:pPr>
            <a:r>
              <a:rPr lang="en-US" sz="2699" b="1">
                <a:solidFill>
                  <a:srgbClr val="282828"/>
                </a:solidFill>
                <a:latin typeface="프리텐다드 Bold"/>
                <a:ea typeface="프리텐다드 Bold"/>
                <a:cs typeface="프리텐다드 Bold"/>
                <a:sym typeface="프리텐다드 Bold"/>
              </a:rPr>
              <a:t>기존 의료영상을 필요한 의료진에게 </a:t>
            </a:r>
            <a:r>
              <a:rPr lang="en-US" sz="2699" b="1">
                <a:solidFill>
                  <a:srgbClr val="FF3131"/>
                </a:solidFill>
                <a:latin typeface="프리텐다드 Bold"/>
                <a:ea typeface="프리텐다드 Bold"/>
                <a:cs typeface="프리텐다드 Bold"/>
                <a:sym typeface="프리텐다드 Bold"/>
              </a:rPr>
              <a:t>안전</a:t>
            </a:r>
            <a:r>
              <a:rPr lang="en-US" sz="2699" b="1">
                <a:solidFill>
                  <a:srgbClr val="282828"/>
                </a:solidFill>
                <a:latin typeface="프리텐다드 Bold"/>
                <a:ea typeface="프리텐다드 Bold"/>
                <a:cs typeface="프리텐다드 Bold"/>
                <a:sym typeface="프리텐다드 Bold"/>
              </a:rPr>
              <a:t>하고 </a:t>
            </a:r>
            <a:r>
              <a:rPr lang="en-US" sz="2699" b="1">
                <a:solidFill>
                  <a:srgbClr val="FF3131"/>
                </a:solidFill>
                <a:latin typeface="프리텐다드 Bold"/>
                <a:ea typeface="프리텐다드 Bold"/>
                <a:cs typeface="프리텐다드 Bold"/>
                <a:sym typeface="프리텐다드 Bold"/>
              </a:rPr>
              <a:t>효율적</a:t>
            </a:r>
            <a:r>
              <a:rPr lang="en-US" sz="2699" b="1">
                <a:solidFill>
                  <a:srgbClr val="282828"/>
                </a:solidFill>
                <a:latin typeface="프리텐다드 Bold"/>
                <a:ea typeface="프리텐다드 Bold"/>
                <a:cs typeface="프리텐다드 Bold"/>
                <a:sym typeface="프리텐다드 Bold"/>
              </a:rPr>
              <a:t>으로 연결하는 체계가 충분하지 않다는 점이다</a:t>
            </a:r>
          </a:p>
        </p:txBody>
      </p:sp>
      <p:sp>
        <p:nvSpPr>
          <p:cNvPr id="25" name="TextBox 25"/>
          <p:cNvSpPr txBox="1"/>
          <p:nvPr/>
        </p:nvSpPr>
        <p:spPr>
          <a:xfrm>
            <a:off x="1161613" y="4234826"/>
            <a:ext cx="4785035" cy="1038225"/>
          </a:xfrm>
          <a:prstGeom prst="rect">
            <a:avLst/>
          </a:prstGeom>
        </p:spPr>
        <p:txBody>
          <a:bodyPr lIns="0" tIns="0" rIns="0" bIns="0" rtlCol="0" anchor="t">
            <a:spAutoFit/>
          </a:bodyPr>
          <a:lstStyle/>
          <a:p>
            <a:pPr algn="ctr">
              <a:lnSpc>
                <a:spcPts val="8400"/>
              </a:lnSpc>
              <a:spcBef>
                <a:spcPct val="0"/>
              </a:spcBef>
            </a:pPr>
            <a:r>
              <a:rPr lang="en-US" sz="6000" b="1">
                <a:solidFill>
                  <a:srgbClr val="FF3131"/>
                </a:solidFill>
                <a:latin typeface="프리텐다드 Semi-Bold"/>
                <a:ea typeface="프리텐다드 Semi-Bold"/>
                <a:cs typeface="프리텐다드 Semi-Bold"/>
                <a:sym typeface="프리텐다드 Semi-Bold"/>
              </a:rPr>
              <a:t>26.8 %</a:t>
            </a:r>
          </a:p>
        </p:txBody>
      </p:sp>
      <p:sp>
        <p:nvSpPr>
          <p:cNvPr id="26" name="TextBox 26"/>
          <p:cNvSpPr txBox="1"/>
          <p:nvPr/>
        </p:nvSpPr>
        <p:spPr>
          <a:xfrm>
            <a:off x="6737863" y="4234826"/>
            <a:ext cx="4785035" cy="1038225"/>
          </a:xfrm>
          <a:prstGeom prst="rect">
            <a:avLst/>
          </a:prstGeom>
        </p:spPr>
        <p:txBody>
          <a:bodyPr lIns="0" tIns="0" rIns="0" bIns="0" rtlCol="0" anchor="t">
            <a:spAutoFit/>
          </a:bodyPr>
          <a:lstStyle/>
          <a:p>
            <a:pPr algn="ctr">
              <a:lnSpc>
                <a:spcPts val="8400"/>
              </a:lnSpc>
              <a:spcBef>
                <a:spcPct val="0"/>
              </a:spcBef>
            </a:pPr>
            <a:r>
              <a:rPr lang="en-US" sz="6000" b="1">
                <a:solidFill>
                  <a:srgbClr val="FF3131"/>
                </a:solidFill>
                <a:latin typeface="프리텐다드 Semi-Bold"/>
                <a:ea typeface="프리텐다드 Semi-Bold"/>
                <a:cs typeface="프리텐다드 Semi-Bold"/>
                <a:sym typeface="프리텐다드 Semi-Bold"/>
              </a:rPr>
              <a:t>13.8 %</a:t>
            </a:r>
          </a:p>
        </p:txBody>
      </p:sp>
      <p:sp>
        <p:nvSpPr>
          <p:cNvPr id="27" name="TextBox 27"/>
          <p:cNvSpPr txBox="1"/>
          <p:nvPr/>
        </p:nvSpPr>
        <p:spPr>
          <a:xfrm>
            <a:off x="12369230" y="4234826"/>
            <a:ext cx="4785035" cy="1038225"/>
          </a:xfrm>
          <a:prstGeom prst="rect">
            <a:avLst/>
          </a:prstGeom>
        </p:spPr>
        <p:txBody>
          <a:bodyPr lIns="0" tIns="0" rIns="0" bIns="0" rtlCol="0" anchor="t">
            <a:spAutoFit/>
          </a:bodyPr>
          <a:lstStyle/>
          <a:p>
            <a:pPr algn="ctr">
              <a:lnSpc>
                <a:spcPts val="8400"/>
              </a:lnSpc>
              <a:spcBef>
                <a:spcPct val="0"/>
              </a:spcBef>
            </a:pPr>
            <a:r>
              <a:rPr lang="en-US" sz="6000" b="1">
                <a:solidFill>
                  <a:srgbClr val="FF3131"/>
                </a:solidFill>
                <a:latin typeface="프리텐다드 Semi-Bold"/>
                <a:ea typeface="프리텐다드 Semi-Bold"/>
                <a:cs typeface="프리텐다드 Semi-Bold"/>
                <a:sym typeface="프리텐다드 Semi-Bold"/>
              </a:rPr>
              <a:t>650억 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110AE-E415-1898-FA7C-7A7180D84B1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6ADC1BC-072E-E8DA-65F9-2E60CD51FBB1}"/>
              </a:ext>
            </a:extLst>
          </p:cNvPr>
          <p:cNvGrpSpPr/>
          <p:nvPr/>
        </p:nvGrpSpPr>
        <p:grpSpPr>
          <a:xfrm>
            <a:off x="-162858" y="-107527"/>
            <a:ext cx="18613717" cy="2953200"/>
            <a:chOff x="0" y="0"/>
            <a:chExt cx="4902378" cy="777797"/>
          </a:xfrm>
        </p:grpSpPr>
        <p:sp>
          <p:nvSpPr>
            <p:cNvPr id="3" name="Freeform 3">
              <a:extLst>
                <a:ext uri="{FF2B5EF4-FFF2-40B4-BE49-F238E27FC236}">
                  <a16:creationId xmlns:a16="http://schemas.microsoft.com/office/drawing/2014/main" id="{2B5585ED-9AA5-327B-7268-4153D663835C}"/>
                </a:ext>
              </a:extLst>
            </p:cNvPr>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a:effectLst/>
          </p:spPr>
          <p:txBody>
            <a:bodyPr/>
            <a:lstStyle/>
            <a:p>
              <a:endParaRPr lang="ko-KR" altLang="en-US"/>
            </a:p>
          </p:txBody>
        </p:sp>
        <p:sp>
          <p:nvSpPr>
            <p:cNvPr id="4" name="TextBox 4">
              <a:extLst>
                <a:ext uri="{FF2B5EF4-FFF2-40B4-BE49-F238E27FC236}">
                  <a16:creationId xmlns:a16="http://schemas.microsoft.com/office/drawing/2014/main" id="{FEDB0288-EB80-EF3B-D0D1-3FA56125CA5B}"/>
                </a:ext>
              </a:extLst>
            </p:cNvPr>
            <p:cNvSpPr txBox="1"/>
            <p:nvPr/>
          </p:nvSpPr>
          <p:spPr>
            <a:xfrm>
              <a:off x="0" y="-47625"/>
              <a:ext cx="4902378" cy="825422"/>
            </a:xfrm>
            <a:prstGeom prst="rect">
              <a:avLst/>
            </a:prstGeom>
            <a:effectLst/>
          </p:spPr>
          <p:txBody>
            <a:bodyPr lIns="50800" tIns="50800" rIns="50800" bIns="50800" rtlCol="0" anchor="ctr"/>
            <a:lstStyle/>
            <a:p>
              <a:pPr algn="ctr">
                <a:lnSpc>
                  <a:spcPts val="3156"/>
                </a:lnSpc>
              </a:pPr>
              <a:endParaRPr/>
            </a:p>
          </p:txBody>
        </p:sp>
      </p:grpSp>
      <p:grpSp>
        <p:nvGrpSpPr>
          <p:cNvPr id="5" name="Group 5">
            <a:extLst>
              <a:ext uri="{FF2B5EF4-FFF2-40B4-BE49-F238E27FC236}">
                <a16:creationId xmlns:a16="http://schemas.microsoft.com/office/drawing/2014/main" id="{4A246024-85C4-C492-EB1B-3D1D28111FD5}"/>
              </a:ext>
            </a:extLst>
          </p:cNvPr>
          <p:cNvGrpSpPr/>
          <p:nvPr/>
        </p:nvGrpSpPr>
        <p:grpSpPr>
          <a:xfrm>
            <a:off x="1028700" y="1028700"/>
            <a:ext cx="132273" cy="1204431"/>
            <a:chOff x="0" y="0"/>
            <a:chExt cx="40474" cy="368545"/>
          </a:xfrm>
        </p:grpSpPr>
        <p:sp>
          <p:nvSpPr>
            <p:cNvPr id="6" name="Freeform 6">
              <a:extLst>
                <a:ext uri="{FF2B5EF4-FFF2-40B4-BE49-F238E27FC236}">
                  <a16:creationId xmlns:a16="http://schemas.microsoft.com/office/drawing/2014/main" id="{45F3BD00-93B5-90DE-5033-A7AB9EB4A6A3}"/>
                </a:ext>
              </a:extLst>
            </p:cNvPr>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a:effectLst/>
          </p:spPr>
          <p:txBody>
            <a:bodyPr/>
            <a:lstStyle/>
            <a:p>
              <a:endParaRPr lang="ko-KR" altLang="en-US"/>
            </a:p>
          </p:txBody>
        </p:sp>
        <p:sp>
          <p:nvSpPr>
            <p:cNvPr id="7" name="TextBox 7">
              <a:extLst>
                <a:ext uri="{FF2B5EF4-FFF2-40B4-BE49-F238E27FC236}">
                  <a16:creationId xmlns:a16="http://schemas.microsoft.com/office/drawing/2014/main" id="{E9F87B3D-2F1D-E8DC-5510-0D17F70335E4}"/>
                </a:ext>
              </a:extLst>
            </p:cNvPr>
            <p:cNvSpPr txBox="1"/>
            <p:nvPr/>
          </p:nvSpPr>
          <p:spPr>
            <a:xfrm>
              <a:off x="0" y="-38100"/>
              <a:ext cx="40474" cy="406645"/>
            </a:xfrm>
            <a:prstGeom prst="rect">
              <a:avLst/>
            </a:prstGeom>
            <a:effectLst/>
          </p:spPr>
          <p:txBody>
            <a:bodyPr lIns="50800" tIns="50800" rIns="50800" bIns="50800" rtlCol="0" anchor="ctr"/>
            <a:lstStyle/>
            <a:p>
              <a:pPr algn="ctr">
                <a:lnSpc>
                  <a:spcPts val="2520"/>
                </a:lnSpc>
              </a:pPr>
              <a:endParaRPr/>
            </a:p>
          </p:txBody>
        </p:sp>
      </p:grpSp>
      <p:sp>
        <p:nvSpPr>
          <p:cNvPr id="8" name="TextBox 8">
            <a:extLst>
              <a:ext uri="{FF2B5EF4-FFF2-40B4-BE49-F238E27FC236}">
                <a16:creationId xmlns:a16="http://schemas.microsoft.com/office/drawing/2014/main" id="{CDB8ED6F-7584-F4AB-A662-5575F3406B57}"/>
              </a:ext>
            </a:extLst>
          </p:cNvPr>
          <p:cNvSpPr txBox="1"/>
          <p:nvPr/>
        </p:nvSpPr>
        <p:spPr>
          <a:xfrm>
            <a:off x="1421481" y="990600"/>
            <a:ext cx="3894213" cy="261354"/>
          </a:xfrm>
          <a:prstGeom prst="rect">
            <a:avLst/>
          </a:prstGeom>
          <a:effectLst/>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SYSTEM DESIGN</a:t>
            </a:r>
          </a:p>
        </p:txBody>
      </p:sp>
      <p:sp>
        <p:nvSpPr>
          <p:cNvPr id="9" name="슬라이드 제목">
            <a:extLst>
              <a:ext uri="{FF2B5EF4-FFF2-40B4-BE49-F238E27FC236}">
                <a16:creationId xmlns:a16="http://schemas.microsoft.com/office/drawing/2014/main" id="{DF6D9C5C-E5A9-EC5D-1EDF-67C824D43C6D}"/>
              </a:ext>
            </a:extLst>
          </p:cNvPr>
          <p:cNvSpPr txBox="1"/>
          <p:nvPr/>
        </p:nvSpPr>
        <p:spPr>
          <a:xfrm>
            <a:off x="1421481" y="1253961"/>
            <a:ext cx="15636240" cy="979170"/>
          </a:xfrm>
          <a:prstGeom prst="rect">
            <a:avLst/>
          </a:prstGeom>
          <a:effectLst/>
        </p:spPr>
        <p:txBody>
          <a:bodyPr lIns="0" tIns="0" rIns="0" bIns="0" rtlCol="0" anchor="t">
            <a:spAutoFit/>
          </a:bodyPr>
          <a:lstStyle/>
          <a:p>
            <a:pPr algn="l">
              <a:lnSpc>
                <a:spcPts val="7979"/>
              </a:lnSpc>
              <a:spcBef>
                <a:spcPct val="0"/>
              </a:spcBef>
            </a:pPr>
            <a:r>
              <a:rPr lang="ko-KR" altLang="en-US" sz="5699" b="1" dirty="0">
                <a:solidFill>
                  <a:srgbClr val="282828"/>
                </a:solidFill>
                <a:latin typeface="프리텐다드 Bold"/>
                <a:ea typeface="프리텐다드 Bold"/>
                <a:cs typeface="프리텐다드 Bold"/>
                <a:sym typeface="프리텐다드 Bold"/>
              </a:rPr>
              <a:t>문제 진단 </a:t>
            </a:r>
            <a:endParaRPr lang="en-US" sz="5699" b="1" dirty="0">
              <a:solidFill>
                <a:srgbClr val="282828"/>
              </a:solidFill>
              <a:latin typeface="프리텐다드 Bold"/>
              <a:ea typeface="프리텐다드 Bold"/>
              <a:cs typeface="프리텐다드 Bold"/>
              <a:sym typeface="프리텐다드 Bold"/>
            </a:endParaRPr>
          </a:p>
        </p:txBody>
      </p:sp>
      <p:sp>
        <p:nvSpPr>
          <p:cNvPr id="10" name="PoC 상태 표시">
            <a:extLst>
              <a:ext uri="{FF2B5EF4-FFF2-40B4-BE49-F238E27FC236}">
                <a16:creationId xmlns:a16="http://schemas.microsoft.com/office/drawing/2014/main" id="{1981018B-6BF7-209D-9E64-2F05D331F18E}"/>
              </a:ext>
            </a:extLst>
          </p:cNvPr>
          <p:cNvSpPr txBox="1"/>
          <p:nvPr/>
        </p:nvSpPr>
        <p:spPr>
          <a:xfrm>
            <a:off x="13990320" y="2295144"/>
            <a:ext cx="3264408" cy="274320"/>
          </a:xfrm>
          <a:prstGeom prst="rect">
            <a:avLst/>
          </a:prstGeom>
          <a:noFill/>
          <a:effectLst/>
        </p:spPr>
        <p:txBody>
          <a:bodyPr wrap="square" lIns="0" tIns="54864" rIns="0" bIns="54864" anchor="ctr">
            <a:noAutofit/>
          </a:bodyPr>
          <a:lstStyle/>
          <a:p>
            <a:pPr algn="r">
              <a:lnSpc>
                <a:spcPct val="110000"/>
              </a:lnSpc>
              <a:spcBef>
                <a:spcPts val="0"/>
              </a:spcBef>
              <a:spcAft>
                <a:spcPts val="0"/>
              </a:spcAft>
            </a:pPr>
            <a:endParaRPr lang="ko-KR" altLang="en-US" sz="1600" b="0" dirty="0">
              <a:solidFill>
                <a:srgbClr val="595959"/>
              </a:solidFill>
              <a:latin typeface="프리텐다드"/>
              <a:ea typeface="프리텐다드"/>
            </a:endParaRPr>
          </a:p>
        </p:txBody>
      </p:sp>
      <p:sp>
        <p:nvSpPr>
          <p:cNvPr id="11" name="구현 범위 설명">
            <a:extLst>
              <a:ext uri="{FF2B5EF4-FFF2-40B4-BE49-F238E27FC236}">
                <a16:creationId xmlns:a16="http://schemas.microsoft.com/office/drawing/2014/main" id="{D771FB34-3ADC-0766-22BE-9750987CDE9B}"/>
              </a:ext>
            </a:extLst>
          </p:cNvPr>
          <p:cNvSpPr txBox="1"/>
          <p:nvPr/>
        </p:nvSpPr>
        <p:spPr>
          <a:xfrm>
            <a:off x="1028700" y="3172968"/>
            <a:ext cx="16230600" cy="384048"/>
          </a:xfrm>
          <a:prstGeom prst="rect">
            <a:avLst/>
          </a:prstGeom>
          <a:noFill/>
          <a:effectLst/>
        </p:spPr>
        <p:txBody>
          <a:bodyPr wrap="square" lIns="0" tIns="54864" rIns="0" bIns="54864" anchor="ctr">
            <a:noAutofit/>
          </a:bodyPr>
          <a:lstStyle/>
          <a:p>
            <a:pPr algn="l">
              <a:lnSpc>
                <a:spcPct val="110000"/>
              </a:lnSpc>
              <a:spcBef>
                <a:spcPts val="0"/>
              </a:spcBef>
              <a:spcAft>
                <a:spcPts val="0"/>
              </a:spcAft>
            </a:pPr>
            <a:endParaRPr lang="ko-KR" altLang="en-US" sz="2300" b="0" dirty="0">
              <a:solidFill>
                <a:srgbClr val="282828"/>
              </a:solidFill>
              <a:latin typeface="프리텐다드"/>
              <a:ea typeface="프리텐다드"/>
            </a:endParaRPr>
          </a:p>
        </p:txBody>
      </p:sp>
      <p:grpSp>
        <p:nvGrpSpPr>
          <p:cNvPr id="22" name="구현 상태 1 - 배포 구성">
            <a:extLst>
              <a:ext uri="{FF2B5EF4-FFF2-40B4-BE49-F238E27FC236}">
                <a16:creationId xmlns:a16="http://schemas.microsoft.com/office/drawing/2014/main" id="{36D7A99C-0719-DA81-FE4E-6C6CFB49B3A0}"/>
              </a:ext>
            </a:extLst>
          </p:cNvPr>
          <p:cNvGrpSpPr/>
          <p:nvPr/>
        </p:nvGrpSpPr>
        <p:grpSpPr>
          <a:xfrm>
            <a:off x="1028700" y="3822191"/>
            <a:ext cx="5148072" cy="4626864"/>
            <a:chOff x="1028700" y="3822191"/>
            <a:chExt cx="5148072" cy="4626864"/>
          </a:xfrm>
        </p:grpSpPr>
        <p:sp>
          <p:nvSpPr>
            <p:cNvPr id="12" name="배포 구성 배경">
              <a:extLst>
                <a:ext uri="{FF2B5EF4-FFF2-40B4-BE49-F238E27FC236}">
                  <a16:creationId xmlns:a16="http://schemas.microsoft.com/office/drawing/2014/main" id="{47C5C48D-439B-DCB3-0577-B1EAE4BCA2BE}"/>
                </a:ext>
              </a:extLst>
            </p:cNvPr>
            <p:cNvSpPr/>
            <p:nvPr/>
          </p:nvSpPr>
          <p:spPr>
            <a:xfrm>
              <a:off x="1028700" y="3822191"/>
              <a:ext cx="5148072" cy="4626864"/>
            </a:xfrm>
            <a:prstGeom prst="rect">
              <a:avLst/>
            </a:prstGeom>
            <a:solidFill>
              <a:srgbClr val="FFFFFF"/>
            </a:solidFill>
            <a:ln w="10795">
              <a:solidFill>
                <a:srgbClr val="B7B7B7"/>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13" name="배포 구성 제목 영역">
              <a:extLst>
                <a:ext uri="{FF2B5EF4-FFF2-40B4-BE49-F238E27FC236}">
                  <a16:creationId xmlns:a16="http://schemas.microsoft.com/office/drawing/2014/main" id="{2FD080B0-C407-4DF5-8493-C89026A35A2B}"/>
                </a:ext>
              </a:extLst>
            </p:cNvPr>
            <p:cNvSpPr/>
            <p:nvPr/>
          </p:nvSpPr>
          <p:spPr>
            <a:xfrm>
              <a:off x="1028700" y="3822191"/>
              <a:ext cx="5148072" cy="914400"/>
            </a:xfrm>
            <a:prstGeom prst="rect">
              <a:avLst/>
            </a:prstGeom>
            <a:solidFill>
              <a:srgbClr val="2A59C5"/>
            </a:solidFill>
            <a:ln>
              <a:noFill/>
            </a:ln>
            <a:effectLst/>
          </p:spPr>
          <p:style>
            <a:lnRef idx="1">
              <a:schemeClr val="accent1"/>
            </a:lnRef>
            <a:fillRef idx="3">
              <a:schemeClr val="accent1"/>
            </a:fillRef>
            <a:effectRef idx="0">
              <a:schemeClr val="accent1"/>
            </a:effectRef>
            <a:fontRef idx="minor">
              <a:schemeClr val="lt1"/>
            </a:fontRef>
          </p:style>
          <p:txBody>
            <a:bodyPr wrap="square" lIns="246888" tIns="54864" rIns="246888" bIns="54864" rtlCol="0" anchor="ctr">
              <a:noAutofit/>
            </a:bodyPr>
            <a:lstStyle/>
            <a:p>
              <a:pPr algn="l">
                <a:lnSpc>
                  <a:spcPct val="112000"/>
                </a:lnSpc>
                <a:spcBef>
                  <a:spcPts val="0"/>
                </a:spcBef>
                <a:spcAft>
                  <a:spcPts val="0"/>
                </a:spcAft>
              </a:pPr>
              <a:r>
                <a:rPr lang="en-US" altLang="ko-KR" sz="2600" b="1" dirty="0">
                  <a:solidFill>
                    <a:srgbClr val="FFFFFF"/>
                  </a:solidFill>
                  <a:latin typeface="프리텐다드 Bold"/>
                  <a:ea typeface="프리텐다드 Bold"/>
                </a:rPr>
                <a:t>CD </a:t>
              </a:r>
              <a:r>
                <a:rPr lang="ko-KR" altLang="en-US" sz="2600" b="1" dirty="0">
                  <a:solidFill>
                    <a:srgbClr val="FFFFFF"/>
                  </a:solidFill>
                  <a:latin typeface="프리텐다드 Bold"/>
                  <a:ea typeface="프리텐다드 Bold"/>
                </a:rPr>
                <a:t>발급과 대기 시간의 굴레</a:t>
              </a:r>
              <a:endParaRPr lang="ko-KR" altLang="en-US" sz="1650" b="0" dirty="0">
                <a:solidFill>
                  <a:srgbClr val="FFFFFF"/>
                </a:solidFill>
                <a:latin typeface="프리텐다드"/>
                <a:ea typeface="프리텐다드"/>
              </a:endParaRPr>
            </a:p>
          </p:txBody>
        </p:sp>
        <p:sp>
          <p:nvSpPr>
            <p:cNvPr id="14" name="배포 구성 / Azure 기반 환경">
              <a:extLst>
                <a:ext uri="{FF2B5EF4-FFF2-40B4-BE49-F238E27FC236}">
                  <a16:creationId xmlns:a16="http://schemas.microsoft.com/office/drawing/2014/main" id="{189687F7-E9E9-884D-AF5D-2EB4D18A755C}"/>
                </a:ext>
              </a:extLst>
            </p:cNvPr>
            <p:cNvSpPr txBox="1"/>
            <p:nvPr/>
          </p:nvSpPr>
          <p:spPr>
            <a:xfrm>
              <a:off x="1275588" y="4928616"/>
              <a:ext cx="4654296" cy="356616"/>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200" b="1" dirty="0">
                  <a:solidFill>
                    <a:srgbClr val="2A59C5"/>
                  </a:solidFill>
                  <a:latin typeface="프리텐다드 Bold"/>
                  <a:ea typeface="프리텐다드 Bold"/>
                </a:rPr>
                <a:t>환자가 직접 수수료를 내고 </a:t>
              </a:r>
              <a:r>
                <a:rPr lang="en-US" altLang="ko-KR" sz="2200" b="1" dirty="0">
                  <a:solidFill>
                    <a:srgbClr val="2A59C5"/>
                  </a:solidFill>
                  <a:latin typeface="프리텐다드 Bold"/>
                  <a:ea typeface="프리텐다드 Bold"/>
                </a:rPr>
                <a:t>CD </a:t>
              </a:r>
              <a:r>
                <a:rPr lang="ko-KR" altLang="en-US" sz="2200" b="1" dirty="0">
                  <a:solidFill>
                    <a:srgbClr val="2A59C5"/>
                  </a:solidFill>
                  <a:latin typeface="프리텐다드 Bold"/>
                  <a:ea typeface="프리텐다드 Bold"/>
                </a:rPr>
                <a:t>발급 대기</a:t>
              </a:r>
            </a:p>
          </p:txBody>
        </p:sp>
        <p:sp>
          <p:nvSpPr>
            <p:cNvPr id="15" name="Azure 기반 환경 상세">
              <a:extLst>
                <a:ext uri="{FF2B5EF4-FFF2-40B4-BE49-F238E27FC236}">
                  <a16:creationId xmlns:a16="http://schemas.microsoft.com/office/drawing/2014/main" id="{6EF3FD6A-85FB-A068-7B14-789C4E7D8545}"/>
                </a:ext>
              </a:extLst>
            </p:cNvPr>
            <p:cNvSpPr txBox="1"/>
            <p:nvPr/>
          </p:nvSpPr>
          <p:spPr>
            <a:xfrm>
              <a:off x="1275588" y="5303520"/>
              <a:ext cx="4654296" cy="594360"/>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1800" b="0" dirty="0">
                  <a:solidFill>
                    <a:srgbClr val="595959"/>
                  </a:solidFill>
                  <a:latin typeface="프리텐다드"/>
                  <a:ea typeface="프리텐다드"/>
                </a:rPr>
                <a:t> </a:t>
              </a:r>
              <a:r>
                <a:rPr lang="en-US" altLang="ko-KR" sz="1800" b="0" dirty="0">
                  <a:solidFill>
                    <a:srgbClr val="595959"/>
                  </a:solidFill>
                  <a:latin typeface="프리텐다드"/>
                  <a:ea typeface="프리텐다드"/>
                </a:rPr>
                <a:t>CD </a:t>
              </a:r>
              <a:r>
                <a:rPr lang="ko-KR" altLang="en-US" sz="1800" b="0" dirty="0">
                  <a:solidFill>
                    <a:srgbClr val="595959"/>
                  </a:solidFill>
                  <a:latin typeface="프리텐다드"/>
                  <a:ea typeface="프리텐다드"/>
                </a:rPr>
                <a:t>발급비용 </a:t>
              </a:r>
              <a:r>
                <a:rPr lang="ko-KR" altLang="en-US" dirty="0">
                  <a:solidFill>
                    <a:srgbClr val="595959"/>
                  </a:solidFill>
                  <a:latin typeface="프리텐다드"/>
                  <a:ea typeface="프리텐다드"/>
                </a:rPr>
                <a:t>평균 </a:t>
              </a:r>
              <a:r>
                <a:rPr lang="en-US" altLang="ko-KR" dirty="0">
                  <a:solidFill>
                    <a:srgbClr val="595959"/>
                  </a:solidFill>
                  <a:latin typeface="프리텐다드"/>
                  <a:ea typeface="프리텐다드"/>
                </a:rPr>
                <a:t>2</a:t>
              </a:r>
              <a:r>
                <a:rPr lang="ko-KR" altLang="en-US" dirty="0">
                  <a:solidFill>
                    <a:srgbClr val="595959"/>
                  </a:solidFill>
                  <a:latin typeface="프리텐다드"/>
                  <a:ea typeface="프리텐다드"/>
                </a:rPr>
                <a:t>만원</a:t>
              </a:r>
              <a:endParaRPr lang="ko-KR" altLang="en-US" sz="1800" b="0" dirty="0">
                <a:solidFill>
                  <a:srgbClr val="595959"/>
                </a:solidFill>
                <a:latin typeface="프리텐다드"/>
                <a:ea typeface="프리텐다드"/>
              </a:endParaRPr>
            </a:p>
          </p:txBody>
        </p:sp>
        <p:cxnSp>
          <p:nvCxnSpPr>
            <p:cNvPr id="16" name="배포 구성 구분선 0">
              <a:extLst>
                <a:ext uri="{FF2B5EF4-FFF2-40B4-BE49-F238E27FC236}">
                  <a16:creationId xmlns:a16="http://schemas.microsoft.com/office/drawing/2014/main" id="{CF5B1924-CF1C-3F3C-C467-A27922463C64}"/>
                </a:ext>
              </a:extLst>
            </p:cNvPr>
            <p:cNvCxnSpPr/>
            <p:nvPr/>
          </p:nvCxnSpPr>
          <p:spPr>
            <a:xfrm>
              <a:off x="1275588" y="5961888"/>
              <a:ext cx="4654295" cy="0"/>
            </a:xfrm>
            <a:prstGeom prst="line">
              <a:avLst/>
            </a:prstGeom>
            <a:ln w="7620">
              <a:solidFill>
                <a:srgbClr val="D9D9D9"/>
              </a:solidFill>
            </a:ln>
            <a:effectLst/>
          </p:spPr>
          <p:style>
            <a:lnRef idx="2">
              <a:schemeClr val="accent1"/>
            </a:lnRef>
            <a:fillRef idx="0">
              <a:schemeClr val="accent1"/>
            </a:fillRef>
            <a:effectRef idx="0">
              <a:schemeClr val="accent1"/>
            </a:effectRef>
            <a:fontRef idx="minor">
              <a:schemeClr val="tx1"/>
            </a:fontRef>
          </p:style>
        </p:cxnSp>
        <p:sp>
          <p:nvSpPr>
            <p:cNvPr id="17" name="배포 구성 / B병원 수신 환경">
              <a:extLst>
                <a:ext uri="{FF2B5EF4-FFF2-40B4-BE49-F238E27FC236}">
                  <a16:creationId xmlns:a16="http://schemas.microsoft.com/office/drawing/2014/main" id="{821768E1-D453-1906-2001-0EBFBAAF0E4F}"/>
                </a:ext>
              </a:extLst>
            </p:cNvPr>
            <p:cNvSpPr txBox="1"/>
            <p:nvPr/>
          </p:nvSpPr>
          <p:spPr>
            <a:xfrm>
              <a:off x="1275588" y="6025896"/>
              <a:ext cx="4654296" cy="356616"/>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200" b="1" dirty="0">
                  <a:solidFill>
                    <a:srgbClr val="2A59C5"/>
                  </a:solidFill>
                  <a:latin typeface="프리텐다드 Bold"/>
                  <a:ea typeface="프리텐다드 Bold"/>
                </a:rPr>
                <a:t>물리적 </a:t>
              </a:r>
              <a:r>
                <a:rPr lang="en-US" altLang="ko-KR" sz="2200" b="1" dirty="0">
                  <a:solidFill>
                    <a:srgbClr val="2A59C5"/>
                  </a:solidFill>
                  <a:latin typeface="프리텐다드 Bold"/>
                  <a:ea typeface="프리텐다드 Bold"/>
                </a:rPr>
                <a:t>CD</a:t>
              </a:r>
              <a:r>
                <a:rPr lang="ko-KR" altLang="en-US" sz="2200" b="1" dirty="0">
                  <a:solidFill>
                    <a:srgbClr val="2A59C5"/>
                  </a:solidFill>
                  <a:latin typeface="프리텐다드 Bold"/>
                  <a:ea typeface="프리텐다드 Bold"/>
                </a:rPr>
                <a:t>를 들고 타 병원으로 이동</a:t>
              </a:r>
            </a:p>
          </p:txBody>
        </p:sp>
        <p:sp>
          <p:nvSpPr>
            <p:cNvPr id="18" name="B병원 수신 환경 상세">
              <a:extLst>
                <a:ext uri="{FF2B5EF4-FFF2-40B4-BE49-F238E27FC236}">
                  <a16:creationId xmlns:a16="http://schemas.microsoft.com/office/drawing/2014/main" id="{81FC0FD2-866F-2771-B853-4A2E118164F2}"/>
                </a:ext>
              </a:extLst>
            </p:cNvPr>
            <p:cNvSpPr txBox="1"/>
            <p:nvPr/>
          </p:nvSpPr>
          <p:spPr>
            <a:xfrm>
              <a:off x="1275588" y="6400800"/>
              <a:ext cx="4654296" cy="466344"/>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en-US" altLang="ko-KR" sz="1800" b="0" dirty="0">
                  <a:solidFill>
                    <a:srgbClr val="595959"/>
                  </a:solidFill>
                  <a:latin typeface="프리텐다드"/>
                  <a:ea typeface="프리텐다드"/>
                </a:rPr>
                <a:t>  CT </a:t>
              </a:r>
              <a:r>
                <a:rPr lang="ko-KR" altLang="en-US" sz="1800" b="0" dirty="0">
                  <a:solidFill>
                    <a:srgbClr val="595959"/>
                  </a:solidFill>
                  <a:latin typeface="프리텐다드"/>
                  <a:ea typeface="프리텐다드"/>
                </a:rPr>
                <a:t>방사선 피폭 감소</a:t>
              </a:r>
            </a:p>
          </p:txBody>
        </p:sp>
        <p:cxnSp>
          <p:nvCxnSpPr>
            <p:cNvPr id="19" name="배포 구성 구분선 1">
              <a:extLst>
                <a:ext uri="{FF2B5EF4-FFF2-40B4-BE49-F238E27FC236}">
                  <a16:creationId xmlns:a16="http://schemas.microsoft.com/office/drawing/2014/main" id="{E6C21217-B590-67B5-D78C-11DC6B1FE948}"/>
                </a:ext>
              </a:extLst>
            </p:cNvPr>
            <p:cNvCxnSpPr/>
            <p:nvPr/>
          </p:nvCxnSpPr>
          <p:spPr>
            <a:xfrm>
              <a:off x="1275588" y="7059168"/>
              <a:ext cx="4654295" cy="0"/>
            </a:xfrm>
            <a:prstGeom prst="line">
              <a:avLst/>
            </a:prstGeom>
            <a:ln w="7620">
              <a:solidFill>
                <a:srgbClr val="D9D9D9"/>
              </a:solidFill>
            </a:ln>
            <a:effectLst/>
          </p:spPr>
          <p:style>
            <a:lnRef idx="2">
              <a:schemeClr val="accent1"/>
            </a:lnRef>
            <a:fillRef idx="0">
              <a:schemeClr val="accent1"/>
            </a:fillRef>
            <a:effectRef idx="0">
              <a:schemeClr val="accent1"/>
            </a:effectRef>
            <a:fontRef idx="minor">
              <a:schemeClr val="tx1"/>
            </a:fontRef>
          </p:style>
        </p:cxnSp>
        <p:sp>
          <p:nvSpPr>
            <p:cNvPr id="20" name="배포 구성 / 암호화 저장소">
              <a:extLst>
                <a:ext uri="{FF2B5EF4-FFF2-40B4-BE49-F238E27FC236}">
                  <a16:creationId xmlns:a16="http://schemas.microsoft.com/office/drawing/2014/main" id="{68094823-3239-1051-837D-C54ABA534CB0}"/>
                </a:ext>
              </a:extLst>
            </p:cNvPr>
            <p:cNvSpPr txBox="1"/>
            <p:nvPr/>
          </p:nvSpPr>
          <p:spPr>
            <a:xfrm>
              <a:off x="1275588" y="7123175"/>
              <a:ext cx="4654296" cy="356616"/>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200" b="1" dirty="0">
                  <a:solidFill>
                    <a:srgbClr val="2A59C5"/>
                  </a:solidFill>
                  <a:latin typeface="프리텐다드 Bold"/>
                  <a:ea typeface="프리텐다드 Bold"/>
                </a:rPr>
                <a:t>진료 대기시간 단축 </a:t>
              </a:r>
            </a:p>
          </p:txBody>
        </p:sp>
        <p:sp>
          <p:nvSpPr>
            <p:cNvPr id="21" name="암호화 저장소 상세">
              <a:extLst>
                <a:ext uri="{FF2B5EF4-FFF2-40B4-BE49-F238E27FC236}">
                  <a16:creationId xmlns:a16="http://schemas.microsoft.com/office/drawing/2014/main" id="{D6EF4F51-525F-2A37-B3B6-57D50F281C62}"/>
                </a:ext>
              </a:extLst>
            </p:cNvPr>
            <p:cNvSpPr txBox="1"/>
            <p:nvPr/>
          </p:nvSpPr>
          <p:spPr>
            <a:xfrm>
              <a:off x="1275588" y="7498079"/>
              <a:ext cx="4654296" cy="594360"/>
            </a:xfrm>
            <a:prstGeom prst="rect">
              <a:avLst/>
            </a:prstGeom>
            <a:noFill/>
            <a:effectLst/>
          </p:spPr>
          <p:txBody>
            <a:bodyPr wrap="square" lIns="0" tIns="54864" rIns="0" bIns="54864" anchor="ctr">
              <a:noAutofit/>
            </a:bodyPr>
            <a:lstStyle/>
            <a:p>
              <a:pPr algn="l">
                <a:lnSpc>
                  <a:spcPct val="110000"/>
                </a:lnSpc>
                <a:spcBef>
                  <a:spcPts val="0"/>
                </a:spcBef>
                <a:spcAft>
                  <a:spcPts val="0"/>
                </a:spcAft>
              </a:pPr>
              <a:endParaRPr lang="ko-KR" altLang="en-US" sz="1800" b="0" dirty="0">
                <a:solidFill>
                  <a:srgbClr val="595959"/>
                </a:solidFill>
                <a:latin typeface="프리텐다드"/>
                <a:ea typeface="프리텐다드"/>
              </a:endParaRPr>
            </a:p>
          </p:txBody>
        </p:sp>
      </p:grpSp>
      <p:grpSp>
        <p:nvGrpSpPr>
          <p:cNvPr id="33" name="구현 상태 2 - 접근 통제·검증">
            <a:extLst>
              <a:ext uri="{FF2B5EF4-FFF2-40B4-BE49-F238E27FC236}">
                <a16:creationId xmlns:a16="http://schemas.microsoft.com/office/drawing/2014/main" id="{1FA2297E-48AE-91E0-0EF3-03EE9F4A8F1F}"/>
              </a:ext>
            </a:extLst>
          </p:cNvPr>
          <p:cNvGrpSpPr/>
          <p:nvPr/>
        </p:nvGrpSpPr>
        <p:grpSpPr>
          <a:xfrm>
            <a:off x="6569964" y="3822191"/>
            <a:ext cx="5148072" cy="4626864"/>
            <a:chOff x="6569964" y="3822191"/>
            <a:chExt cx="5148072" cy="4626864"/>
          </a:xfrm>
        </p:grpSpPr>
        <p:sp>
          <p:nvSpPr>
            <p:cNvPr id="23" name="접근 통제·검증 배경">
              <a:extLst>
                <a:ext uri="{FF2B5EF4-FFF2-40B4-BE49-F238E27FC236}">
                  <a16:creationId xmlns:a16="http://schemas.microsoft.com/office/drawing/2014/main" id="{C9B02598-5F83-2374-0B6B-63A7AA0D3C0A}"/>
                </a:ext>
              </a:extLst>
            </p:cNvPr>
            <p:cNvSpPr/>
            <p:nvPr/>
          </p:nvSpPr>
          <p:spPr>
            <a:xfrm>
              <a:off x="6569964" y="3822191"/>
              <a:ext cx="5148072" cy="4626864"/>
            </a:xfrm>
            <a:prstGeom prst="rect">
              <a:avLst/>
            </a:prstGeom>
            <a:solidFill>
              <a:srgbClr val="FFFFFF"/>
            </a:solidFill>
            <a:ln w="10795">
              <a:solidFill>
                <a:srgbClr val="B7B7B7"/>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24" name="접근 통제·검증 제목 영역">
              <a:extLst>
                <a:ext uri="{FF2B5EF4-FFF2-40B4-BE49-F238E27FC236}">
                  <a16:creationId xmlns:a16="http://schemas.microsoft.com/office/drawing/2014/main" id="{DF185A99-263D-A60C-0095-8BF24136F8EC}"/>
                </a:ext>
              </a:extLst>
            </p:cNvPr>
            <p:cNvSpPr/>
            <p:nvPr/>
          </p:nvSpPr>
          <p:spPr>
            <a:xfrm>
              <a:off x="6569964" y="3822191"/>
              <a:ext cx="5148072" cy="914400"/>
            </a:xfrm>
            <a:prstGeom prst="rect">
              <a:avLst/>
            </a:prstGeom>
            <a:solidFill>
              <a:srgbClr val="E9E9E9"/>
            </a:solidFill>
            <a:ln>
              <a:noFill/>
            </a:ln>
            <a:effectLst/>
          </p:spPr>
          <p:style>
            <a:lnRef idx="1">
              <a:schemeClr val="accent1"/>
            </a:lnRef>
            <a:fillRef idx="3">
              <a:schemeClr val="accent1"/>
            </a:fillRef>
            <a:effectRef idx="0">
              <a:schemeClr val="accent1"/>
            </a:effectRef>
            <a:fontRef idx="minor">
              <a:schemeClr val="lt1"/>
            </a:fontRef>
          </p:style>
          <p:txBody>
            <a:bodyPr wrap="square" lIns="246888" tIns="54864" rIns="246888" bIns="54864" rtlCol="0" anchor="ctr">
              <a:noAutofit/>
            </a:bodyPr>
            <a:lstStyle/>
            <a:p>
              <a:pPr algn="l">
                <a:lnSpc>
                  <a:spcPct val="112000"/>
                </a:lnSpc>
                <a:spcBef>
                  <a:spcPts val="0"/>
                </a:spcBef>
                <a:spcAft>
                  <a:spcPts val="0"/>
                </a:spcAft>
              </a:pPr>
              <a:r>
                <a:rPr lang="en-US" altLang="ko-KR" sz="2600" b="1" dirty="0">
                  <a:solidFill>
                    <a:srgbClr val="282828"/>
                  </a:solidFill>
                  <a:latin typeface="프리텐다드 Bold"/>
                  <a:ea typeface="프리텐다드 Bold"/>
                </a:rPr>
                <a:t>CT MRI </a:t>
              </a:r>
              <a:r>
                <a:rPr lang="ko-KR" altLang="en-US" sz="2600" b="1" dirty="0">
                  <a:solidFill>
                    <a:srgbClr val="282828"/>
                  </a:solidFill>
                  <a:latin typeface="프리텐다드 Bold"/>
                  <a:ea typeface="프리텐다드 Bold"/>
                </a:rPr>
                <a:t>재촬영 문제</a:t>
              </a:r>
              <a:endParaRPr lang="ko-KR" altLang="en-US" sz="1650" b="0" dirty="0">
                <a:solidFill>
                  <a:srgbClr val="595959"/>
                </a:solidFill>
                <a:latin typeface="프리텐다드"/>
                <a:ea typeface="프리텐다드"/>
              </a:endParaRPr>
            </a:p>
          </p:txBody>
        </p:sp>
        <p:sp>
          <p:nvSpPr>
            <p:cNvPr id="25" name="접근 통제·검증 / 사용자 인증">
              <a:extLst>
                <a:ext uri="{FF2B5EF4-FFF2-40B4-BE49-F238E27FC236}">
                  <a16:creationId xmlns:a16="http://schemas.microsoft.com/office/drawing/2014/main" id="{CC0B17FF-AA22-F6AA-68A0-41C1C128E325}"/>
                </a:ext>
              </a:extLst>
            </p:cNvPr>
            <p:cNvSpPr txBox="1"/>
            <p:nvPr/>
          </p:nvSpPr>
          <p:spPr>
            <a:xfrm>
              <a:off x="6816852" y="4928616"/>
              <a:ext cx="4654296" cy="356616"/>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en-US" altLang="ko-KR" sz="2200" b="1" dirty="0">
                  <a:solidFill>
                    <a:srgbClr val="282828"/>
                  </a:solidFill>
                  <a:latin typeface="프리텐다드 Bold"/>
                  <a:ea typeface="프리텐다드 Bold"/>
                </a:rPr>
                <a:t>CD </a:t>
              </a:r>
              <a:r>
                <a:rPr lang="ko-KR" altLang="en-US" sz="2200" b="1" dirty="0">
                  <a:solidFill>
                    <a:srgbClr val="282828"/>
                  </a:solidFill>
                  <a:latin typeface="프리텐다드 Bold"/>
                  <a:ea typeface="프리텐다드 Bold"/>
                </a:rPr>
                <a:t>손상</a:t>
              </a:r>
              <a:r>
                <a:rPr lang="en-US" altLang="ko-KR" sz="2200" b="1" dirty="0">
                  <a:solidFill>
                    <a:srgbClr val="282828"/>
                  </a:solidFill>
                  <a:latin typeface="프리텐다드 Bold"/>
                  <a:ea typeface="프리텐다드 Bold"/>
                </a:rPr>
                <a:t>, </a:t>
              </a:r>
              <a:r>
                <a:rPr lang="ko-KR" altLang="en-US" sz="2200" b="1" dirty="0" err="1">
                  <a:solidFill>
                    <a:srgbClr val="282828"/>
                  </a:solidFill>
                  <a:latin typeface="프리텐다드 Bold"/>
                  <a:ea typeface="프리텐다드 Bold"/>
                </a:rPr>
                <a:t>포멧</a:t>
              </a:r>
              <a:r>
                <a:rPr lang="ko-KR" altLang="en-US" sz="2200" b="1" dirty="0">
                  <a:solidFill>
                    <a:srgbClr val="282828"/>
                  </a:solidFill>
                  <a:latin typeface="프리텐다드 Bold"/>
                  <a:ea typeface="프리텐다드 Bold"/>
                </a:rPr>
                <a:t> 불일치</a:t>
              </a:r>
            </a:p>
          </p:txBody>
        </p:sp>
        <p:cxnSp>
          <p:nvCxnSpPr>
            <p:cNvPr id="27" name="접근 통제·검증 구분선 0">
              <a:extLst>
                <a:ext uri="{FF2B5EF4-FFF2-40B4-BE49-F238E27FC236}">
                  <a16:creationId xmlns:a16="http://schemas.microsoft.com/office/drawing/2014/main" id="{51C442F5-8606-16A6-0CB3-BBA0C0776419}"/>
                </a:ext>
              </a:extLst>
            </p:cNvPr>
            <p:cNvCxnSpPr/>
            <p:nvPr/>
          </p:nvCxnSpPr>
          <p:spPr>
            <a:xfrm>
              <a:off x="6816852" y="5961888"/>
              <a:ext cx="4654296" cy="0"/>
            </a:xfrm>
            <a:prstGeom prst="line">
              <a:avLst/>
            </a:prstGeom>
            <a:ln w="7620">
              <a:solidFill>
                <a:srgbClr val="D9D9D9"/>
              </a:solidFill>
            </a:ln>
            <a:effectLst/>
          </p:spPr>
          <p:style>
            <a:lnRef idx="2">
              <a:schemeClr val="accent1"/>
            </a:lnRef>
            <a:fillRef idx="0">
              <a:schemeClr val="accent1"/>
            </a:fillRef>
            <a:effectRef idx="0">
              <a:schemeClr val="accent1"/>
            </a:effectRef>
            <a:fontRef idx="minor">
              <a:schemeClr val="tx1"/>
            </a:fontRef>
          </p:style>
        </p:cxnSp>
        <p:sp>
          <p:nvSpPr>
            <p:cNvPr id="28" name="접근 통제·검증 / 동의·정책 검증">
              <a:extLst>
                <a:ext uri="{FF2B5EF4-FFF2-40B4-BE49-F238E27FC236}">
                  <a16:creationId xmlns:a16="http://schemas.microsoft.com/office/drawing/2014/main" id="{B6F89A30-C425-81E6-C9BC-DC5911F3A333}"/>
                </a:ext>
              </a:extLst>
            </p:cNvPr>
            <p:cNvSpPr txBox="1"/>
            <p:nvPr/>
          </p:nvSpPr>
          <p:spPr>
            <a:xfrm>
              <a:off x="6816852" y="6025896"/>
              <a:ext cx="4654296" cy="356616"/>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200" b="1" dirty="0">
                  <a:solidFill>
                    <a:srgbClr val="282828"/>
                  </a:solidFill>
                  <a:latin typeface="프리텐다드 Bold"/>
                  <a:ea typeface="프리텐다드 Bold"/>
                </a:rPr>
                <a:t>환자에게 불필요한 방사선 피폭 누적</a:t>
              </a:r>
            </a:p>
          </p:txBody>
        </p:sp>
        <p:cxnSp>
          <p:nvCxnSpPr>
            <p:cNvPr id="30" name="접근 통제·검증 구분선 1">
              <a:extLst>
                <a:ext uri="{FF2B5EF4-FFF2-40B4-BE49-F238E27FC236}">
                  <a16:creationId xmlns:a16="http://schemas.microsoft.com/office/drawing/2014/main" id="{9DE93D30-52A8-15A8-D645-86880DDA9BFB}"/>
                </a:ext>
              </a:extLst>
            </p:cNvPr>
            <p:cNvCxnSpPr/>
            <p:nvPr/>
          </p:nvCxnSpPr>
          <p:spPr>
            <a:xfrm>
              <a:off x="6816852" y="7059168"/>
              <a:ext cx="4654296" cy="0"/>
            </a:xfrm>
            <a:prstGeom prst="line">
              <a:avLst/>
            </a:prstGeom>
            <a:ln w="7620">
              <a:solidFill>
                <a:srgbClr val="D9D9D9"/>
              </a:solidFill>
            </a:ln>
            <a:effectLst/>
          </p:spPr>
          <p:style>
            <a:lnRef idx="2">
              <a:schemeClr val="accent1"/>
            </a:lnRef>
            <a:fillRef idx="0">
              <a:schemeClr val="accent1"/>
            </a:fillRef>
            <a:effectRef idx="0">
              <a:schemeClr val="accent1"/>
            </a:effectRef>
            <a:fontRef idx="minor">
              <a:schemeClr val="tx1"/>
            </a:fontRef>
          </p:style>
        </p:cxnSp>
        <p:sp>
          <p:nvSpPr>
            <p:cNvPr id="31" name="접근 통제·검증 / Gateway 재검증">
              <a:extLst>
                <a:ext uri="{FF2B5EF4-FFF2-40B4-BE49-F238E27FC236}">
                  <a16:creationId xmlns:a16="http://schemas.microsoft.com/office/drawing/2014/main" id="{C8B12C25-630F-FB16-1519-05770980D242}"/>
                </a:ext>
              </a:extLst>
            </p:cNvPr>
            <p:cNvSpPr txBox="1"/>
            <p:nvPr/>
          </p:nvSpPr>
          <p:spPr>
            <a:xfrm>
              <a:off x="6816852" y="7123175"/>
              <a:ext cx="4654296" cy="356616"/>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200" b="1" dirty="0">
                  <a:solidFill>
                    <a:srgbClr val="282828"/>
                  </a:solidFill>
                  <a:latin typeface="프리텐다드 Bold"/>
                  <a:ea typeface="프리텐다드 Bold"/>
                </a:rPr>
                <a:t>진료 연속성 단절 및 치료 결정 지연</a:t>
              </a:r>
            </a:p>
          </p:txBody>
        </p:sp>
        <p:sp>
          <p:nvSpPr>
            <p:cNvPr id="32" name="Gateway 재검증 상세">
              <a:extLst>
                <a:ext uri="{FF2B5EF4-FFF2-40B4-BE49-F238E27FC236}">
                  <a16:creationId xmlns:a16="http://schemas.microsoft.com/office/drawing/2014/main" id="{BAAA1D65-531B-3BF0-F2E4-25FD37577B89}"/>
                </a:ext>
              </a:extLst>
            </p:cNvPr>
            <p:cNvSpPr txBox="1"/>
            <p:nvPr/>
          </p:nvSpPr>
          <p:spPr>
            <a:xfrm>
              <a:off x="6816852" y="7498079"/>
              <a:ext cx="4654296" cy="594360"/>
            </a:xfrm>
            <a:prstGeom prst="rect">
              <a:avLst/>
            </a:prstGeom>
            <a:noFill/>
            <a:effectLst/>
          </p:spPr>
          <p:txBody>
            <a:bodyPr wrap="square" lIns="0" tIns="54864" rIns="0" bIns="54864" anchor="ctr">
              <a:noAutofit/>
            </a:bodyPr>
            <a:lstStyle/>
            <a:p>
              <a:pPr algn="l">
                <a:lnSpc>
                  <a:spcPct val="110000"/>
                </a:lnSpc>
                <a:spcBef>
                  <a:spcPts val="0"/>
                </a:spcBef>
                <a:spcAft>
                  <a:spcPts val="0"/>
                </a:spcAft>
              </a:pPr>
              <a:endParaRPr lang="ko-KR" altLang="en-US" sz="1800" b="0" dirty="0">
                <a:solidFill>
                  <a:srgbClr val="595959"/>
                </a:solidFill>
                <a:latin typeface="프리텐다드"/>
                <a:ea typeface="프리텐다드"/>
              </a:endParaRPr>
            </a:p>
          </p:txBody>
        </p:sp>
      </p:grpSp>
      <p:grpSp>
        <p:nvGrpSpPr>
          <p:cNvPr id="44" name="구현 상태 3 - 목표 운영 · 계획">
            <a:extLst>
              <a:ext uri="{FF2B5EF4-FFF2-40B4-BE49-F238E27FC236}">
                <a16:creationId xmlns:a16="http://schemas.microsoft.com/office/drawing/2014/main" id="{3CD25444-B10A-6D0D-4481-C7284EC8208F}"/>
              </a:ext>
            </a:extLst>
          </p:cNvPr>
          <p:cNvGrpSpPr/>
          <p:nvPr/>
        </p:nvGrpSpPr>
        <p:grpSpPr>
          <a:xfrm>
            <a:off x="12111228" y="3822191"/>
            <a:ext cx="5148072" cy="4626864"/>
            <a:chOff x="12111228" y="3822191"/>
            <a:chExt cx="5148072" cy="4626864"/>
          </a:xfrm>
        </p:grpSpPr>
        <p:sp>
          <p:nvSpPr>
            <p:cNvPr id="34" name="목표 운영 · 계획 배경">
              <a:extLst>
                <a:ext uri="{FF2B5EF4-FFF2-40B4-BE49-F238E27FC236}">
                  <a16:creationId xmlns:a16="http://schemas.microsoft.com/office/drawing/2014/main" id="{F43D7D20-B0EA-7BB0-2267-87D6F5BDCAB7}"/>
                </a:ext>
              </a:extLst>
            </p:cNvPr>
            <p:cNvSpPr/>
            <p:nvPr/>
          </p:nvSpPr>
          <p:spPr>
            <a:xfrm>
              <a:off x="12111228" y="3822191"/>
              <a:ext cx="5148072" cy="4626864"/>
            </a:xfrm>
            <a:prstGeom prst="rect">
              <a:avLst/>
            </a:prstGeom>
            <a:solidFill>
              <a:srgbClr val="FFFFFF"/>
            </a:solidFill>
            <a:ln w="10795">
              <a:solidFill>
                <a:srgbClr val="B7B7B7"/>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35" name="목표 운영 · 계획 제목 영역">
              <a:extLst>
                <a:ext uri="{FF2B5EF4-FFF2-40B4-BE49-F238E27FC236}">
                  <a16:creationId xmlns:a16="http://schemas.microsoft.com/office/drawing/2014/main" id="{97D07A04-E492-36E7-FAFD-A97A1C15DAB2}"/>
                </a:ext>
              </a:extLst>
            </p:cNvPr>
            <p:cNvSpPr/>
            <p:nvPr/>
          </p:nvSpPr>
          <p:spPr>
            <a:xfrm>
              <a:off x="12111228" y="3822191"/>
              <a:ext cx="5148072" cy="914400"/>
            </a:xfrm>
            <a:prstGeom prst="rect">
              <a:avLst/>
            </a:prstGeom>
            <a:solidFill>
              <a:srgbClr val="E9E9E9"/>
            </a:solidFill>
            <a:ln>
              <a:noFill/>
            </a:ln>
            <a:effectLst/>
          </p:spPr>
          <p:style>
            <a:lnRef idx="1">
              <a:schemeClr val="accent1"/>
            </a:lnRef>
            <a:fillRef idx="3">
              <a:schemeClr val="accent1"/>
            </a:fillRef>
            <a:effectRef idx="0">
              <a:schemeClr val="accent1"/>
            </a:effectRef>
            <a:fontRef idx="minor">
              <a:schemeClr val="lt1"/>
            </a:fontRef>
          </p:style>
          <p:txBody>
            <a:bodyPr wrap="square" lIns="246888" tIns="54864" rIns="246888" bIns="54864" rtlCol="0" anchor="ctr">
              <a:noAutofit/>
            </a:bodyPr>
            <a:lstStyle/>
            <a:p>
              <a:pPr algn="l">
                <a:lnSpc>
                  <a:spcPct val="112000"/>
                </a:lnSpc>
                <a:spcBef>
                  <a:spcPts val="0"/>
                </a:spcBef>
                <a:spcAft>
                  <a:spcPts val="0"/>
                </a:spcAft>
              </a:pPr>
              <a:r>
                <a:rPr lang="ko-KR" altLang="en-US" sz="2600" b="1" dirty="0">
                  <a:solidFill>
                    <a:srgbClr val="282828"/>
                  </a:solidFill>
                  <a:latin typeface="프리텐다드 Bold"/>
                  <a:ea typeface="프리텐다드 Bold"/>
                </a:rPr>
                <a:t>의료데이터 통제권의 부재</a:t>
              </a:r>
              <a:endParaRPr lang="ko-KR" altLang="en-US" sz="1650" b="0" dirty="0">
                <a:solidFill>
                  <a:srgbClr val="595959"/>
                </a:solidFill>
                <a:latin typeface="프리텐다드"/>
                <a:ea typeface="프리텐다드"/>
              </a:endParaRPr>
            </a:p>
          </p:txBody>
        </p:sp>
        <p:sp>
          <p:nvSpPr>
            <p:cNvPr id="36" name="목표 운영 · 계획 / 관리형 서비스 전환">
              <a:extLst>
                <a:ext uri="{FF2B5EF4-FFF2-40B4-BE49-F238E27FC236}">
                  <a16:creationId xmlns:a16="http://schemas.microsoft.com/office/drawing/2014/main" id="{A68D5B7E-0CF0-3AFB-0271-D110E7597583}"/>
                </a:ext>
              </a:extLst>
            </p:cNvPr>
            <p:cNvSpPr txBox="1"/>
            <p:nvPr/>
          </p:nvSpPr>
          <p:spPr>
            <a:xfrm>
              <a:off x="12358115" y="4928616"/>
              <a:ext cx="4654296" cy="356616"/>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200" b="1" dirty="0">
                  <a:solidFill>
                    <a:srgbClr val="282828"/>
                  </a:solidFill>
                  <a:latin typeface="프리텐다드 Bold"/>
                  <a:ea typeface="프리텐다드 Bold"/>
                </a:rPr>
                <a:t>내 영상이 누구에게 전달되는지 추적 불가</a:t>
              </a:r>
            </a:p>
          </p:txBody>
        </p:sp>
        <p:sp>
          <p:nvSpPr>
            <p:cNvPr id="37" name="관리형 서비스 전환 상세">
              <a:extLst>
                <a:ext uri="{FF2B5EF4-FFF2-40B4-BE49-F238E27FC236}">
                  <a16:creationId xmlns:a16="http://schemas.microsoft.com/office/drawing/2014/main" id="{1A9F9255-BC40-8EA3-4472-FC82E3328E4C}"/>
                </a:ext>
              </a:extLst>
            </p:cNvPr>
            <p:cNvSpPr txBox="1"/>
            <p:nvPr/>
          </p:nvSpPr>
          <p:spPr>
            <a:xfrm>
              <a:off x="12358115" y="5303520"/>
              <a:ext cx="4654296" cy="594360"/>
            </a:xfrm>
            <a:prstGeom prst="rect">
              <a:avLst/>
            </a:prstGeom>
            <a:noFill/>
            <a:effectLst/>
          </p:spPr>
          <p:txBody>
            <a:bodyPr wrap="square" lIns="0" tIns="54864" rIns="0" bIns="54864" anchor="ctr">
              <a:noAutofit/>
            </a:bodyPr>
            <a:lstStyle/>
            <a:p>
              <a:pPr algn="l">
                <a:lnSpc>
                  <a:spcPct val="110000"/>
                </a:lnSpc>
                <a:spcBef>
                  <a:spcPts val="0"/>
                </a:spcBef>
                <a:spcAft>
                  <a:spcPts val="0"/>
                </a:spcAft>
              </a:pPr>
              <a:endParaRPr lang="ko-KR" altLang="en-US" sz="1800" b="0" dirty="0">
                <a:solidFill>
                  <a:srgbClr val="595959"/>
                </a:solidFill>
                <a:latin typeface="프리텐다드"/>
                <a:ea typeface="프리텐다드"/>
              </a:endParaRPr>
            </a:p>
          </p:txBody>
        </p:sp>
        <p:cxnSp>
          <p:nvCxnSpPr>
            <p:cNvPr id="38" name="목표 운영 · 계획 구분선 0">
              <a:extLst>
                <a:ext uri="{FF2B5EF4-FFF2-40B4-BE49-F238E27FC236}">
                  <a16:creationId xmlns:a16="http://schemas.microsoft.com/office/drawing/2014/main" id="{9E7CE190-6A50-39D6-96AB-1E5E8FE1C727}"/>
                </a:ext>
              </a:extLst>
            </p:cNvPr>
            <p:cNvCxnSpPr/>
            <p:nvPr/>
          </p:nvCxnSpPr>
          <p:spPr>
            <a:xfrm>
              <a:off x="12358115" y="5961888"/>
              <a:ext cx="4654297" cy="0"/>
            </a:xfrm>
            <a:prstGeom prst="line">
              <a:avLst/>
            </a:prstGeom>
            <a:ln w="7620">
              <a:solidFill>
                <a:srgbClr val="D9D9D9"/>
              </a:solidFill>
            </a:ln>
            <a:effectLst/>
          </p:spPr>
          <p:style>
            <a:lnRef idx="2">
              <a:schemeClr val="accent1"/>
            </a:lnRef>
            <a:fillRef idx="0">
              <a:schemeClr val="accent1"/>
            </a:fillRef>
            <a:effectRef idx="0">
              <a:schemeClr val="accent1"/>
            </a:effectRef>
            <a:fontRef idx="minor">
              <a:schemeClr val="tx1"/>
            </a:fontRef>
          </p:style>
        </p:cxnSp>
        <p:sp>
          <p:nvSpPr>
            <p:cNvPr id="39" name="목표 운영 · 계획 / 실병원 연계·통합 관제">
              <a:extLst>
                <a:ext uri="{FF2B5EF4-FFF2-40B4-BE49-F238E27FC236}">
                  <a16:creationId xmlns:a16="http://schemas.microsoft.com/office/drawing/2014/main" id="{F8B770A6-472E-39DC-5D91-8FB1FA79C2DB}"/>
                </a:ext>
              </a:extLst>
            </p:cNvPr>
            <p:cNvSpPr txBox="1"/>
            <p:nvPr/>
          </p:nvSpPr>
          <p:spPr>
            <a:xfrm>
              <a:off x="12156439" y="5975604"/>
              <a:ext cx="4654296" cy="356616"/>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200" b="1" dirty="0">
                  <a:solidFill>
                    <a:srgbClr val="282828"/>
                  </a:solidFill>
                  <a:latin typeface="프리텐다드 Bold"/>
                  <a:ea typeface="프리텐다드 Bold"/>
                </a:rPr>
                <a:t>  목적과 기간을 환자가 제한할 수 없음</a:t>
              </a:r>
            </a:p>
          </p:txBody>
        </p:sp>
        <p:sp>
          <p:nvSpPr>
            <p:cNvPr id="40" name="실병원 연계·통합 관제 상세">
              <a:extLst>
                <a:ext uri="{FF2B5EF4-FFF2-40B4-BE49-F238E27FC236}">
                  <a16:creationId xmlns:a16="http://schemas.microsoft.com/office/drawing/2014/main" id="{E13F0994-FBD1-7AAA-FFA1-0BA6DB15558D}"/>
                </a:ext>
              </a:extLst>
            </p:cNvPr>
            <p:cNvSpPr txBox="1"/>
            <p:nvPr/>
          </p:nvSpPr>
          <p:spPr>
            <a:xfrm>
              <a:off x="12358115" y="6400800"/>
              <a:ext cx="4654296" cy="594360"/>
            </a:xfrm>
            <a:prstGeom prst="rect">
              <a:avLst/>
            </a:prstGeom>
            <a:noFill/>
            <a:effectLst/>
          </p:spPr>
          <p:txBody>
            <a:bodyPr wrap="square" lIns="0" tIns="54864" rIns="0" bIns="54864" anchor="ctr">
              <a:noAutofit/>
            </a:bodyPr>
            <a:lstStyle/>
            <a:p>
              <a:pPr algn="l">
                <a:lnSpc>
                  <a:spcPct val="110000"/>
                </a:lnSpc>
                <a:spcBef>
                  <a:spcPts val="0"/>
                </a:spcBef>
                <a:spcAft>
                  <a:spcPts val="0"/>
                </a:spcAft>
              </a:pPr>
              <a:endParaRPr lang="ko-KR" altLang="en-US" sz="1800" b="0" dirty="0">
                <a:solidFill>
                  <a:srgbClr val="595959"/>
                </a:solidFill>
                <a:latin typeface="프리텐다드"/>
                <a:ea typeface="프리텐다드"/>
              </a:endParaRPr>
            </a:p>
          </p:txBody>
        </p:sp>
        <p:cxnSp>
          <p:nvCxnSpPr>
            <p:cNvPr id="41" name="목표 운영 · 계획 구분선 1">
              <a:extLst>
                <a:ext uri="{FF2B5EF4-FFF2-40B4-BE49-F238E27FC236}">
                  <a16:creationId xmlns:a16="http://schemas.microsoft.com/office/drawing/2014/main" id="{27D0B0A1-1483-F782-C7BD-93CE4D32FC01}"/>
                </a:ext>
              </a:extLst>
            </p:cNvPr>
            <p:cNvCxnSpPr/>
            <p:nvPr/>
          </p:nvCxnSpPr>
          <p:spPr>
            <a:xfrm>
              <a:off x="12358115" y="7059168"/>
              <a:ext cx="4654297" cy="0"/>
            </a:xfrm>
            <a:prstGeom prst="line">
              <a:avLst/>
            </a:prstGeom>
            <a:ln w="7620">
              <a:solidFill>
                <a:srgbClr val="D9D9D9"/>
              </a:solidFill>
            </a:ln>
            <a:effectLst/>
          </p:spPr>
          <p:style>
            <a:lnRef idx="2">
              <a:schemeClr val="accent1"/>
            </a:lnRef>
            <a:fillRef idx="0">
              <a:schemeClr val="accent1"/>
            </a:fillRef>
            <a:effectRef idx="0">
              <a:schemeClr val="accent1"/>
            </a:effectRef>
            <a:fontRef idx="minor">
              <a:schemeClr val="tx1"/>
            </a:fontRef>
          </p:style>
        </p:cxnSp>
        <p:sp>
          <p:nvSpPr>
            <p:cNvPr id="42" name="목표 운영 · 계획 / 키·복구 운영 고도화">
              <a:extLst>
                <a:ext uri="{FF2B5EF4-FFF2-40B4-BE49-F238E27FC236}">
                  <a16:creationId xmlns:a16="http://schemas.microsoft.com/office/drawing/2014/main" id="{63DFA52D-A791-BA74-A564-DFBDAEB0496C}"/>
                </a:ext>
              </a:extLst>
            </p:cNvPr>
            <p:cNvSpPr txBox="1"/>
            <p:nvPr/>
          </p:nvSpPr>
          <p:spPr>
            <a:xfrm>
              <a:off x="12358115" y="7123175"/>
              <a:ext cx="4654296" cy="356616"/>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200" b="1" dirty="0">
                  <a:solidFill>
                    <a:srgbClr val="282828"/>
                  </a:solidFill>
                  <a:latin typeface="프리텐다드 Bold"/>
                  <a:ea typeface="프리텐다드 Bold"/>
                </a:rPr>
                <a:t>발급 후에는 권한 회수나 철회가 불가능</a:t>
              </a:r>
            </a:p>
          </p:txBody>
        </p:sp>
        <p:sp>
          <p:nvSpPr>
            <p:cNvPr id="43" name="키·복구 운영 고도화 상세">
              <a:extLst>
                <a:ext uri="{FF2B5EF4-FFF2-40B4-BE49-F238E27FC236}">
                  <a16:creationId xmlns:a16="http://schemas.microsoft.com/office/drawing/2014/main" id="{16D08CC0-555A-2169-DC3D-E6D202AFFAAB}"/>
                </a:ext>
              </a:extLst>
            </p:cNvPr>
            <p:cNvSpPr txBox="1"/>
            <p:nvPr/>
          </p:nvSpPr>
          <p:spPr>
            <a:xfrm>
              <a:off x="12358115" y="7498079"/>
              <a:ext cx="4654296" cy="594360"/>
            </a:xfrm>
            <a:prstGeom prst="rect">
              <a:avLst/>
            </a:prstGeom>
            <a:noFill/>
            <a:effectLst/>
          </p:spPr>
          <p:txBody>
            <a:bodyPr wrap="square" lIns="0" tIns="54864" rIns="0" bIns="54864" anchor="ctr">
              <a:noAutofit/>
            </a:bodyPr>
            <a:lstStyle/>
            <a:p>
              <a:pPr algn="l">
                <a:lnSpc>
                  <a:spcPct val="110000"/>
                </a:lnSpc>
                <a:spcBef>
                  <a:spcPts val="0"/>
                </a:spcBef>
                <a:spcAft>
                  <a:spcPts val="0"/>
                </a:spcAft>
              </a:pPr>
              <a:endParaRPr lang="ko-KR" altLang="en-US" sz="1800" b="0" dirty="0">
                <a:solidFill>
                  <a:srgbClr val="595959"/>
                </a:solidFill>
                <a:latin typeface="프리텐다드"/>
                <a:ea typeface="프리텐다드"/>
              </a:endParaRPr>
            </a:p>
          </p:txBody>
        </p:sp>
      </p:grpSp>
      <p:sp>
        <p:nvSpPr>
          <p:cNvPr id="46" name="구현 상태 해석">
            <a:extLst>
              <a:ext uri="{FF2B5EF4-FFF2-40B4-BE49-F238E27FC236}">
                <a16:creationId xmlns:a16="http://schemas.microsoft.com/office/drawing/2014/main" id="{59B198A2-33CE-16DA-4CA8-38F77F7B3508}"/>
              </a:ext>
            </a:extLst>
          </p:cNvPr>
          <p:cNvSpPr txBox="1"/>
          <p:nvPr/>
        </p:nvSpPr>
        <p:spPr>
          <a:xfrm>
            <a:off x="1028700" y="9729216"/>
            <a:ext cx="16230600" cy="365760"/>
          </a:xfrm>
          <a:prstGeom prst="rect">
            <a:avLst/>
          </a:prstGeom>
          <a:noFill/>
          <a:effectLst/>
        </p:spPr>
        <p:txBody>
          <a:bodyPr wrap="square" lIns="0" tIns="54864" rIns="0" bIns="54864" anchor="ctr">
            <a:noAutofit/>
          </a:bodyPr>
          <a:lstStyle/>
          <a:p>
            <a:pPr algn="l">
              <a:lnSpc>
                <a:spcPct val="110000"/>
              </a:lnSpc>
              <a:spcBef>
                <a:spcPts val="0"/>
              </a:spcBef>
              <a:spcAft>
                <a:spcPts val="0"/>
              </a:spcAft>
            </a:pPr>
            <a:endParaRPr lang="ko-KR" altLang="en-US" sz="1800" b="0" dirty="0">
              <a:solidFill>
                <a:srgbClr val="595959"/>
              </a:solidFill>
              <a:latin typeface="프리텐다드"/>
              <a:ea typeface="프리텐다드"/>
            </a:endParaRPr>
          </a:p>
        </p:txBody>
      </p:sp>
      <p:sp>
        <p:nvSpPr>
          <p:cNvPr id="48" name="TextBox 47">
            <a:extLst>
              <a:ext uri="{FF2B5EF4-FFF2-40B4-BE49-F238E27FC236}">
                <a16:creationId xmlns:a16="http://schemas.microsoft.com/office/drawing/2014/main" id="{2A42AE03-1D15-DD13-FCB2-EB1258A55FDA}"/>
              </a:ext>
            </a:extLst>
          </p:cNvPr>
          <p:cNvSpPr txBox="1"/>
          <p:nvPr/>
        </p:nvSpPr>
        <p:spPr>
          <a:xfrm>
            <a:off x="1160973" y="7689933"/>
            <a:ext cx="4768910" cy="440057"/>
          </a:xfrm>
          <a:prstGeom prst="rect">
            <a:avLst/>
          </a:prstGeom>
          <a:noFill/>
        </p:spPr>
        <p:txBody>
          <a:bodyPr wrap="square">
            <a:spAutoFit/>
          </a:bodyPr>
          <a:lstStyle/>
          <a:p>
            <a:pPr algn="l">
              <a:lnSpc>
                <a:spcPct val="110000"/>
              </a:lnSpc>
              <a:spcBef>
                <a:spcPts val="0"/>
              </a:spcBef>
              <a:spcAft>
                <a:spcPts val="0"/>
              </a:spcAft>
            </a:pPr>
            <a:r>
              <a:rPr lang="ko-KR" altLang="en-US" sz="2200" b="1">
                <a:solidFill>
                  <a:srgbClr val="2A59C5"/>
                </a:solidFill>
                <a:latin typeface="프리텐다드 Bold"/>
                <a:ea typeface="프리텐다드 Bold"/>
              </a:rPr>
              <a:t>연간 수백억의 불필요한 행정 비용 발생</a:t>
            </a:r>
            <a:endParaRPr lang="ko-KR" altLang="en-US" sz="2200" b="1" dirty="0">
              <a:solidFill>
                <a:srgbClr val="2A59C5"/>
              </a:solidFill>
              <a:latin typeface="프리텐다드 Bold"/>
              <a:ea typeface="프리텐다드 Bold"/>
            </a:endParaRPr>
          </a:p>
        </p:txBody>
      </p:sp>
    </p:spTree>
    <p:extLst>
      <p:ext uri="{BB962C8B-B14F-4D97-AF65-F5344CB8AC3E}">
        <p14:creationId xmlns:p14="http://schemas.microsoft.com/office/powerpoint/2010/main" val="2928586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7386156" y="3762632"/>
            <a:ext cx="9563100" cy="5763684"/>
            <a:chOff x="0" y="0"/>
            <a:chExt cx="2518677" cy="1518007"/>
          </a:xfrm>
        </p:grpSpPr>
        <p:sp>
          <p:nvSpPr>
            <p:cNvPr id="9" name="Freeform 9"/>
            <p:cNvSpPr/>
            <p:nvPr/>
          </p:nvSpPr>
          <p:spPr>
            <a:xfrm>
              <a:off x="0" y="0"/>
              <a:ext cx="2518676" cy="1518007"/>
            </a:xfrm>
            <a:custGeom>
              <a:avLst/>
              <a:gdLst/>
              <a:ahLst/>
              <a:cxnLst/>
              <a:rect l="l" t="t" r="r" b="b"/>
              <a:pathLst>
                <a:path w="2518676" h="1518007">
                  <a:moveTo>
                    <a:pt x="0" y="0"/>
                  </a:moveTo>
                  <a:lnTo>
                    <a:pt x="2518676" y="0"/>
                  </a:lnTo>
                  <a:lnTo>
                    <a:pt x="2518676" y="1518007"/>
                  </a:lnTo>
                  <a:lnTo>
                    <a:pt x="0" y="1518007"/>
                  </a:lnTo>
                  <a:close/>
                </a:path>
              </a:pathLst>
            </a:custGeom>
            <a:ln w="9525" cap="sq">
              <a:solidFill>
                <a:srgbClr val="737373"/>
              </a:solidFill>
              <a:prstDash val="solid"/>
              <a:miter/>
            </a:ln>
          </p:spPr>
          <p:txBody>
            <a:bodyPr/>
            <a:lstStyle/>
            <a:p>
              <a:endParaRPr lang="ko-KR" altLang="en-US"/>
            </a:p>
          </p:txBody>
        </p:sp>
        <p:sp>
          <p:nvSpPr>
            <p:cNvPr id="10" name="TextBox 10"/>
            <p:cNvSpPr txBox="1"/>
            <p:nvPr/>
          </p:nvSpPr>
          <p:spPr>
            <a:xfrm>
              <a:off x="0" y="-47625"/>
              <a:ext cx="2518677" cy="1565632"/>
            </a:xfrm>
            <a:prstGeom prst="rect">
              <a:avLst/>
            </a:prstGeom>
          </p:spPr>
          <p:txBody>
            <a:bodyPr lIns="50800" tIns="50800" rIns="50800" bIns="50800" rtlCol="0" anchor="ctr"/>
            <a:lstStyle/>
            <a:p>
              <a:pPr algn="ctr">
                <a:lnSpc>
                  <a:spcPts val="3156"/>
                </a:lnSpc>
              </a:pPr>
              <a:endParaRPr/>
            </a:p>
          </p:txBody>
        </p:sp>
      </p:grpSp>
      <p:sp>
        <p:nvSpPr>
          <p:cNvPr id="11" name="Freeform 11">
            <a:extLst>
              <a:ext uri="{C183D7F6-B498-43B3-948B-1728B52AA6E4}">
                <adec:decorative xmlns:adec="http://schemas.microsoft.com/office/drawing/2017/decorative" val="1"/>
              </a:ext>
            </a:extLst>
          </p:cNvPr>
          <p:cNvSpPr/>
          <p:nvPr/>
        </p:nvSpPr>
        <p:spPr>
          <a:xfrm>
            <a:off x="8132449" y="4247380"/>
            <a:ext cx="330573" cy="330573"/>
          </a:xfrm>
          <a:custGeom>
            <a:avLst/>
            <a:gdLst/>
            <a:ahLst/>
            <a:cxnLst/>
            <a:rect l="l" t="t" r="r" b="b"/>
            <a:pathLst>
              <a:path w="330573" h="330573">
                <a:moveTo>
                  <a:pt x="0" y="0"/>
                </a:moveTo>
                <a:lnTo>
                  <a:pt x="330573" y="0"/>
                </a:lnTo>
                <a:lnTo>
                  <a:pt x="330573" y="330573"/>
                </a:lnTo>
                <a:lnTo>
                  <a:pt x="0" y="3305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2" name="Freeform 12">
            <a:extLst>
              <a:ext uri="{C183D7F6-B498-43B3-948B-1728B52AA6E4}">
                <adec:decorative xmlns:adec="http://schemas.microsoft.com/office/drawing/2017/decorative" val="1"/>
              </a:ext>
            </a:extLst>
          </p:cNvPr>
          <p:cNvSpPr/>
          <p:nvPr/>
        </p:nvSpPr>
        <p:spPr>
          <a:xfrm>
            <a:off x="8132449" y="6110668"/>
            <a:ext cx="330573" cy="330573"/>
          </a:xfrm>
          <a:custGeom>
            <a:avLst/>
            <a:gdLst/>
            <a:ahLst/>
            <a:cxnLst/>
            <a:rect l="l" t="t" r="r" b="b"/>
            <a:pathLst>
              <a:path w="330573" h="330573">
                <a:moveTo>
                  <a:pt x="0" y="0"/>
                </a:moveTo>
                <a:lnTo>
                  <a:pt x="330573" y="0"/>
                </a:lnTo>
                <a:lnTo>
                  <a:pt x="330573" y="330573"/>
                </a:lnTo>
                <a:lnTo>
                  <a:pt x="0" y="3305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3" name="Freeform 13">
            <a:extLst>
              <a:ext uri="{C183D7F6-B498-43B3-948B-1728B52AA6E4}">
                <adec:decorative xmlns:adec="http://schemas.microsoft.com/office/drawing/2017/decorative" val="1"/>
              </a:ext>
            </a:extLst>
          </p:cNvPr>
          <p:cNvSpPr/>
          <p:nvPr/>
        </p:nvSpPr>
        <p:spPr>
          <a:xfrm>
            <a:off x="8132449" y="7975663"/>
            <a:ext cx="330573" cy="330573"/>
          </a:xfrm>
          <a:custGeom>
            <a:avLst/>
            <a:gdLst/>
            <a:ahLst/>
            <a:cxnLst/>
            <a:rect l="l" t="t" r="r" b="b"/>
            <a:pathLst>
              <a:path w="330573" h="330573">
                <a:moveTo>
                  <a:pt x="0" y="0"/>
                </a:moveTo>
                <a:lnTo>
                  <a:pt x="330573" y="0"/>
                </a:lnTo>
                <a:lnTo>
                  <a:pt x="330573" y="330573"/>
                </a:lnTo>
                <a:lnTo>
                  <a:pt x="0" y="3305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4" name="AutoShape 14">
            <a:extLst>
              <a:ext uri="{C183D7F6-B498-43B3-948B-1728B52AA6E4}">
                <adec:decorative xmlns:adec="http://schemas.microsoft.com/office/drawing/2017/decorative" val="1"/>
              </a:ext>
            </a:extLst>
          </p:cNvPr>
          <p:cNvSpPr/>
          <p:nvPr/>
        </p:nvSpPr>
        <p:spPr>
          <a:xfrm>
            <a:off x="8101659" y="5712829"/>
            <a:ext cx="8101303" cy="0"/>
          </a:xfrm>
          <a:prstGeom prst="line">
            <a:avLst/>
          </a:prstGeom>
          <a:ln w="9525" cap="flat">
            <a:solidFill>
              <a:srgbClr val="737373"/>
            </a:solidFill>
            <a:prstDash val="solid"/>
            <a:headEnd type="none" w="sm" len="sm"/>
            <a:tailEnd type="none" w="sm" len="sm"/>
          </a:ln>
        </p:spPr>
        <p:txBody>
          <a:bodyPr/>
          <a:lstStyle/>
          <a:p>
            <a:endParaRPr lang="ko-KR" altLang="en-US"/>
          </a:p>
        </p:txBody>
      </p:sp>
      <p:sp>
        <p:nvSpPr>
          <p:cNvPr id="15" name="AutoShape 15">
            <a:extLst>
              <a:ext uri="{C183D7F6-B498-43B3-948B-1728B52AA6E4}">
                <adec:decorative xmlns:adec="http://schemas.microsoft.com/office/drawing/2017/decorative" val="1"/>
              </a:ext>
            </a:extLst>
          </p:cNvPr>
          <p:cNvSpPr/>
          <p:nvPr/>
        </p:nvSpPr>
        <p:spPr>
          <a:xfrm>
            <a:off x="8132449" y="7576117"/>
            <a:ext cx="8101303" cy="0"/>
          </a:xfrm>
          <a:prstGeom prst="line">
            <a:avLst/>
          </a:prstGeom>
          <a:ln w="9525" cap="flat">
            <a:solidFill>
              <a:srgbClr val="737373"/>
            </a:solidFill>
            <a:prstDash val="solid"/>
            <a:headEnd type="none" w="sm" len="sm"/>
            <a:tailEnd type="none" w="sm" len="sm"/>
          </a:ln>
        </p:spPr>
        <p:txBody>
          <a:bodyPr/>
          <a:lstStyle/>
          <a:p>
            <a:endParaRPr lang="ko-KR" altLang="en-US"/>
          </a:p>
        </p:txBody>
      </p:sp>
      <p:sp>
        <p:nvSpPr>
          <p:cNvPr id="16" name="TextBox 16"/>
          <p:cNvSpPr txBox="1"/>
          <p:nvPr/>
        </p:nvSpPr>
        <p:spPr>
          <a:xfrm>
            <a:off x="1421481" y="990600"/>
            <a:ext cx="3894213" cy="273685"/>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PROBLEM STATEMENT</a:t>
            </a:r>
          </a:p>
        </p:txBody>
      </p:sp>
      <p:sp>
        <p:nvSpPr>
          <p:cNvPr id="17" name="TextBox 17"/>
          <p:cNvSpPr txBox="1"/>
          <p:nvPr/>
        </p:nvSpPr>
        <p:spPr>
          <a:xfrm>
            <a:off x="1421481" y="1253961"/>
            <a:ext cx="3894213"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문제점 도출</a:t>
            </a:r>
          </a:p>
        </p:txBody>
      </p:sp>
      <p:sp>
        <p:nvSpPr>
          <p:cNvPr id="18" name="TextBox 18"/>
          <p:cNvSpPr txBox="1"/>
          <p:nvPr/>
        </p:nvSpPr>
        <p:spPr>
          <a:xfrm>
            <a:off x="8101659" y="4706037"/>
            <a:ext cx="7933317" cy="621030"/>
          </a:xfrm>
          <a:prstGeom prst="rect">
            <a:avLst/>
          </a:prstGeom>
        </p:spPr>
        <p:txBody>
          <a:bodyPr lIns="0" tIns="0" rIns="0" bIns="0" rtlCol="0" anchor="t">
            <a:spAutoFit/>
          </a:bodyPr>
          <a:lstStyle/>
          <a:p>
            <a:pPr algn="l">
              <a:lnSpc>
                <a:spcPts val="2520"/>
              </a:lnSpc>
            </a:pPr>
            <a:r>
              <a:rPr lang="en-US" sz="1800">
                <a:solidFill>
                  <a:srgbClr val="282828"/>
                </a:solidFill>
                <a:latin typeface="프리텐다드"/>
                <a:ea typeface="프리텐다드"/>
                <a:cs typeface="프리텐다드"/>
                <a:sym typeface="프리텐다드"/>
              </a:rPr>
              <a:t>병원 이동 후 기존 촬영 이력을 충분히 활용하지 못해 단기간 내 재촬영이 발생,</a:t>
            </a:r>
          </a:p>
          <a:p>
            <a:pPr algn="l">
              <a:lnSpc>
                <a:spcPts val="2520"/>
              </a:lnSpc>
            </a:pPr>
            <a:r>
              <a:rPr lang="en-US" sz="1800">
                <a:solidFill>
                  <a:srgbClr val="282828"/>
                </a:solidFill>
                <a:latin typeface="프리텐다드"/>
                <a:ea typeface="프리텐다드"/>
                <a:cs typeface="프리텐다드"/>
                <a:sym typeface="프리텐다드"/>
              </a:rPr>
              <a:t>환자의 비용 부담과 의료자원 낭비로 이어진다.</a:t>
            </a:r>
          </a:p>
        </p:txBody>
      </p:sp>
      <p:sp>
        <p:nvSpPr>
          <p:cNvPr id="19" name="TextBox 19"/>
          <p:cNvSpPr txBox="1"/>
          <p:nvPr/>
        </p:nvSpPr>
        <p:spPr>
          <a:xfrm>
            <a:off x="8647095" y="4176447"/>
            <a:ext cx="3566049" cy="415290"/>
          </a:xfrm>
          <a:prstGeom prst="rect">
            <a:avLst/>
          </a:prstGeom>
        </p:spPr>
        <p:txBody>
          <a:bodyPr lIns="0" tIns="0" rIns="0" bIns="0" rtlCol="0" anchor="t">
            <a:spAutoFit/>
          </a:bodyPr>
          <a:lstStyle/>
          <a:p>
            <a:pPr algn="l">
              <a:lnSpc>
                <a:spcPts val="3359"/>
              </a:lnSpc>
              <a:spcBef>
                <a:spcPct val="0"/>
              </a:spcBef>
            </a:pPr>
            <a:r>
              <a:rPr lang="en-US" sz="2400" b="1">
                <a:solidFill>
                  <a:srgbClr val="2A59C5"/>
                </a:solidFill>
                <a:latin typeface="프리텐다드 Semi-Bold"/>
                <a:ea typeface="프리텐다드 Semi-Bold"/>
                <a:cs typeface="프리텐다드 Semi-Bold"/>
                <a:sym typeface="프리텐다드 Semi-Bold"/>
              </a:rPr>
              <a:t>불필요한 CT·MRI 중복 촬영</a:t>
            </a:r>
          </a:p>
        </p:txBody>
      </p:sp>
      <p:sp>
        <p:nvSpPr>
          <p:cNvPr id="20" name="TextBox 20"/>
          <p:cNvSpPr txBox="1"/>
          <p:nvPr/>
        </p:nvSpPr>
        <p:spPr>
          <a:xfrm>
            <a:off x="8101659" y="6569325"/>
            <a:ext cx="7933317" cy="621030"/>
          </a:xfrm>
          <a:prstGeom prst="rect">
            <a:avLst/>
          </a:prstGeom>
        </p:spPr>
        <p:txBody>
          <a:bodyPr lIns="0" tIns="0" rIns="0" bIns="0" rtlCol="0" anchor="t">
            <a:spAutoFit/>
          </a:bodyPr>
          <a:lstStyle/>
          <a:p>
            <a:pPr algn="l">
              <a:lnSpc>
                <a:spcPts val="2520"/>
              </a:lnSpc>
            </a:pPr>
            <a:r>
              <a:rPr lang="en-US" sz="1800">
                <a:solidFill>
                  <a:srgbClr val="282828"/>
                </a:solidFill>
                <a:latin typeface="프리텐다드"/>
                <a:ea typeface="프리텐다드"/>
                <a:cs typeface="프리텐다드"/>
                <a:sym typeface="프리텐다드"/>
              </a:rPr>
              <a:t>의료기관별로 보관된 의료영상을 다른 병원에서 활용하려면 별도의 발급·전송·연계 절차가 필요할 수 있어 진료의 연속성이 저하</a:t>
            </a:r>
          </a:p>
        </p:txBody>
      </p:sp>
      <p:sp>
        <p:nvSpPr>
          <p:cNvPr id="21" name="TextBox 21"/>
          <p:cNvSpPr txBox="1"/>
          <p:nvPr/>
        </p:nvSpPr>
        <p:spPr>
          <a:xfrm>
            <a:off x="8647095" y="6039735"/>
            <a:ext cx="5167674" cy="415290"/>
          </a:xfrm>
          <a:prstGeom prst="rect">
            <a:avLst/>
          </a:prstGeom>
        </p:spPr>
        <p:txBody>
          <a:bodyPr lIns="0" tIns="0" rIns="0" bIns="0" rtlCol="0" anchor="t">
            <a:spAutoFit/>
          </a:bodyPr>
          <a:lstStyle/>
          <a:p>
            <a:pPr algn="l">
              <a:lnSpc>
                <a:spcPts val="3359"/>
              </a:lnSpc>
              <a:spcBef>
                <a:spcPct val="0"/>
              </a:spcBef>
            </a:pPr>
            <a:r>
              <a:rPr lang="en-US" sz="2400" b="1">
                <a:solidFill>
                  <a:srgbClr val="2A59C5"/>
                </a:solidFill>
                <a:latin typeface="프리텐다드 Semi-Bold"/>
                <a:ea typeface="프리텐다드 Semi-Bold"/>
                <a:cs typeface="프리텐다드 Semi-Bold"/>
                <a:sym typeface="프리텐다드 Semi-Bold"/>
              </a:rPr>
              <a:t>의료기관 간 의료영상 활용의 불편</a:t>
            </a:r>
          </a:p>
        </p:txBody>
      </p:sp>
      <p:sp>
        <p:nvSpPr>
          <p:cNvPr id="22" name="TextBox 22"/>
          <p:cNvSpPr txBox="1"/>
          <p:nvPr/>
        </p:nvSpPr>
        <p:spPr>
          <a:xfrm>
            <a:off x="8101659" y="8434320"/>
            <a:ext cx="7933317" cy="621030"/>
          </a:xfrm>
          <a:prstGeom prst="rect">
            <a:avLst/>
          </a:prstGeom>
        </p:spPr>
        <p:txBody>
          <a:bodyPr lIns="0" tIns="0" rIns="0" bIns="0" rtlCol="0" anchor="t">
            <a:spAutoFit/>
          </a:bodyPr>
          <a:lstStyle/>
          <a:p>
            <a:pPr algn="l">
              <a:lnSpc>
                <a:spcPts val="2520"/>
              </a:lnSpc>
            </a:pPr>
            <a:r>
              <a:rPr lang="en-US" sz="1800">
                <a:solidFill>
                  <a:srgbClr val="282828"/>
                </a:solidFill>
                <a:latin typeface="프리텐다드"/>
                <a:ea typeface="프리텐다드"/>
                <a:cs typeface="프리텐다드"/>
                <a:sym typeface="프리텐다드"/>
              </a:rPr>
              <a:t>영상 공유 과정에서 환자가 제공 대상·목적·기간·범위를 통제하고, 의료진의 접근을 검증하며 이력을 추적할 수 있는 보안 체계가 중요</a:t>
            </a:r>
          </a:p>
        </p:txBody>
      </p:sp>
      <p:sp>
        <p:nvSpPr>
          <p:cNvPr id="23" name="TextBox 23"/>
          <p:cNvSpPr txBox="1"/>
          <p:nvPr/>
        </p:nvSpPr>
        <p:spPr>
          <a:xfrm>
            <a:off x="8647095" y="7904730"/>
            <a:ext cx="5167674" cy="415290"/>
          </a:xfrm>
          <a:prstGeom prst="rect">
            <a:avLst/>
          </a:prstGeom>
        </p:spPr>
        <p:txBody>
          <a:bodyPr lIns="0" tIns="0" rIns="0" bIns="0" rtlCol="0" anchor="t">
            <a:spAutoFit/>
          </a:bodyPr>
          <a:lstStyle/>
          <a:p>
            <a:pPr algn="l">
              <a:lnSpc>
                <a:spcPts val="3359"/>
              </a:lnSpc>
              <a:spcBef>
                <a:spcPct val="0"/>
              </a:spcBef>
            </a:pPr>
            <a:r>
              <a:rPr lang="en-US" sz="2400" b="1">
                <a:solidFill>
                  <a:srgbClr val="2A59C5"/>
                </a:solidFill>
                <a:latin typeface="프리텐다드 Semi-Bold"/>
                <a:ea typeface="프리텐다드 Semi-Bold"/>
                <a:cs typeface="프리텐다드 Semi-Bold"/>
                <a:sym typeface="프리텐다드 Semi-Bold"/>
              </a:rPr>
              <a:t>환자 중심의 세밀한 공유·접근관리 필요</a:t>
            </a:r>
          </a:p>
        </p:txBody>
      </p:sp>
      <p:sp>
        <p:nvSpPr>
          <p:cNvPr id="24" name="Freeform 24">
            <a:extLst>
              <a:ext uri="{C183D7F6-B498-43B3-948B-1728B52AA6E4}">
                <adec:decorative xmlns:adec="http://schemas.microsoft.com/office/drawing/2017/decorative" val="1"/>
              </a:ext>
            </a:extLst>
          </p:cNvPr>
          <p:cNvSpPr/>
          <p:nvPr/>
        </p:nvSpPr>
        <p:spPr>
          <a:xfrm>
            <a:off x="-259855" y="2845673"/>
            <a:ext cx="6080249" cy="7597601"/>
          </a:xfrm>
          <a:custGeom>
            <a:avLst/>
            <a:gdLst/>
            <a:ahLst/>
            <a:cxnLst/>
            <a:rect l="l" t="t" r="r" b="b"/>
            <a:pathLst>
              <a:path w="6080249" h="7597601">
                <a:moveTo>
                  <a:pt x="0" y="0"/>
                </a:moveTo>
                <a:lnTo>
                  <a:pt x="6080248" y="0"/>
                </a:lnTo>
                <a:lnTo>
                  <a:pt x="6080248" y="7597601"/>
                </a:lnTo>
                <a:lnTo>
                  <a:pt x="0" y="7597601"/>
                </a:lnTo>
                <a:lnTo>
                  <a:pt x="0" y="0"/>
                </a:lnTo>
                <a:close/>
              </a:path>
            </a:pathLst>
          </a:custGeom>
          <a:blipFill>
            <a:blip r:embed="rId3"/>
            <a:stretch>
              <a:fillRect/>
            </a:stretch>
          </a:blipFill>
        </p:spPr>
        <p:txBody>
          <a:bodyPr/>
          <a:lstStyle/>
          <a:p>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5278433" y="-189268"/>
            <a:ext cx="3268199" cy="7739024"/>
            <a:chOff x="0" y="0"/>
            <a:chExt cx="860760" cy="2038262"/>
          </a:xfrm>
        </p:grpSpPr>
        <p:sp>
          <p:nvSpPr>
            <p:cNvPr id="3" name="Freeform 3"/>
            <p:cNvSpPr/>
            <p:nvPr/>
          </p:nvSpPr>
          <p:spPr>
            <a:xfrm>
              <a:off x="0" y="0"/>
              <a:ext cx="860760" cy="2038262"/>
            </a:xfrm>
            <a:custGeom>
              <a:avLst/>
              <a:gdLst/>
              <a:ahLst/>
              <a:cxnLst/>
              <a:rect l="l" t="t" r="r" b="b"/>
              <a:pathLst>
                <a:path w="860760" h="2038262">
                  <a:moveTo>
                    <a:pt x="0" y="0"/>
                  </a:moveTo>
                  <a:lnTo>
                    <a:pt x="860760" y="0"/>
                  </a:lnTo>
                  <a:lnTo>
                    <a:pt x="860760" y="2038262"/>
                  </a:lnTo>
                  <a:lnTo>
                    <a:pt x="0" y="2038262"/>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860760" cy="2085887"/>
            </a:xfrm>
            <a:prstGeom prst="rect">
              <a:avLst/>
            </a:prstGeom>
          </p:spPr>
          <p:txBody>
            <a:bodyPr lIns="50800" tIns="50800" rIns="50800" bIns="50800" rtlCol="0" anchor="ctr"/>
            <a:lstStyle/>
            <a:p>
              <a:pPr algn="ctr">
                <a:lnSpc>
                  <a:spcPts val="3156"/>
                </a:lnSpc>
              </a:pPr>
              <a:endParaRPr/>
            </a:p>
          </p:txBody>
        </p:sp>
      </p:grpSp>
      <p:sp>
        <p:nvSpPr>
          <p:cNvPr id="5" name="Freeform 5">
            <a:extLst>
              <a:ext uri="{C183D7F6-B498-43B3-948B-1728B52AA6E4}">
                <adec:decorative xmlns:adec="http://schemas.microsoft.com/office/drawing/2017/decorative" val="1"/>
              </a:ext>
            </a:extLst>
          </p:cNvPr>
          <p:cNvSpPr/>
          <p:nvPr/>
        </p:nvSpPr>
        <p:spPr>
          <a:xfrm>
            <a:off x="0" y="7075598"/>
            <a:ext cx="18288000" cy="5818426"/>
          </a:xfrm>
          <a:custGeom>
            <a:avLst/>
            <a:gdLst/>
            <a:ahLst/>
            <a:cxnLst/>
            <a:rect l="l" t="t" r="r" b="b"/>
            <a:pathLst>
              <a:path w="18288000" h="5818426">
                <a:moveTo>
                  <a:pt x="0" y="0"/>
                </a:moveTo>
                <a:lnTo>
                  <a:pt x="18288000" y="0"/>
                </a:lnTo>
                <a:lnTo>
                  <a:pt x="18288000" y="5818426"/>
                </a:lnTo>
                <a:lnTo>
                  <a:pt x="0" y="5818426"/>
                </a:lnTo>
                <a:lnTo>
                  <a:pt x="0" y="0"/>
                </a:lnTo>
                <a:close/>
              </a:path>
            </a:pathLst>
          </a:custGeom>
          <a:blipFill>
            <a:blip r:embed="rId2"/>
            <a:stretch>
              <a:fillRect b="-4705"/>
            </a:stretch>
          </a:blipFill>
        </p:spPr>
        <p:txBody>
          <a:bodyPr/>
          <a:lstStyle/>
          <a:p>
            <a:endParaRPr lang="ko-KR" altLang="en-US"/>
          </a:p>
        </p:txBody>
      </p:sp>
      <p:sp>
        <p:nvSpPr>
          <p:cNvPr id="6" name="TextBox 6"/>
          <p:cNvSpPr txBox="1"/>
          <p:nvPr/>
        </p:nvSpPr>
        <p:spPr>
          <a:xfrm>
            <a:off x="1028700" y="2214108"/>
            <a:ext cx="8441160" cy="1584983"/>
          </a:xfrm>
          <a:prstGeom prst="rect">
            <a:avLst/>
          </a:prstGeom>
        </p:spPr>
        <p:txBody>
          <a:bodyPr lIns="0" tIns="0" rIns="0" bIns="0" rtlCol="0" anchor="t">
            <a:spAutoFit/>
          </a:bodyPr>
          <a:lstStyle/>
          <a:p>
            <a:pPr algn="l">
              <a:lnSpc>
                <a:spcPts val="12979"/>
              </a:lnSpc>
              <a:spcBef>
                <a:spcPct val="0"/>
              </a:spcBef>
            </a:pPr>
            <a:r>
              <a:rPr lang="en-US" sz="9270" b="1">
                <a:solidFill>
                  <a:srgbClr val="2A59C5"/>
                </a:solidFill>
                <a:latin typeface="프리텐다드 Bold"/>
                <a:ea typeface="프리텐다드 Bold"/>
                <a:cs typeface="프리텐다드 Bold"/>
                <a:sym typeface="프리텐다드 Bold"/>
              </a:rPr>
              <a:t>02</a:t>
            </a:r>
          </a:p>
        </p:txBody>
      </p:sp>
      <p:sp>
        <p:nvSpPr>
          <p:cNvPr id="7" name="TextBox 7"/>
          <p:cNvSpPr txBox="1"/>
          <p:nvPr/>
        </p:nvSpPr>
        <p:spPr>
          <a:xfrm>
            <a:off x="1028700" y="3516926"/>
            <a:ext cx="7056707" cy="1584983"/>
          </a:xfrm>
          <a:prstGeom prst="rect">
            <a:avLst/>
          </a:prstGeom>
        </p:spPr>
        <p:txBody>
          <a:bodyPr lIns="0" tIns="0" rIns="0" bIns="0" rtlCol="0" anchor="t">
            <a:spAutoFit/>
          </a:bodyPr>
          <a:lstStyle/>
          <a:p>
            <a:pPr algn="l">
              <a:lnSpc>
                <a:spcPts val="12979"/>
              </a:lnSpc>
              <a:spcBef>
                <a:spcPct val="0"/>
              </a:spcBef>
            </a:pPr>
            <a:r>
              <a:rPr lang="en-US" sz="9270" b="1">
                <a:solidFill>
                  <a:srgbClr val="282828"/>
                </a:solidFill>
                <a:latin typeface="프리텐다드 Bold"/>
                <a:ea typeface="프리텐다드 Bold"/>
                <a:cs typeface="프리텐다드 Bold"/>
                <a:sym typeface="프리텐다드 Bold"/>
              </a:rPr>
              <a:t>솔루션 제안</a:t>
            </a:r>
          </a:p>
        </p:txBody>
      </p:sp>
      <p:sp>
        <p:nvSpPr>
          <p:cNvPr id="8" name="TextBox 8"/>
          <p:cNvSpPr txBox="1"/>
          <p:nvPr/>
        </p:nvSpPr>
        <p:spPr>
          <a:xfrm>
            <a:off x="1028700" y="1848967"/>
            <a:ext cx="3836759" cy="356036"/>
          </a:xfrm>
          <a:prstGeom prst="rect">
            <a:avLst/>
          </a:prstGeom>
        </p:spPr>
        <p:txBody>
          <a:bodyPr lIns="0" tIns="0" rIns="0" bIns="0" rtlCol="0" anchor="t">
            <a:spAutoFit/>
          </a:bodyPr>
          <a:lstStyle/>
          <a:p>
            <a:pPr algn="l">
              <a:lnSpc>
                <a:spcPts val="2950"/>
              </a:lnSpc>
              <a:spcBef>
                <a:spcPct val="0"/>
              </a:spcBef>
            </a:pPr>
            <a:r>
              <a:rPr lang="en-US" sz="2107" spc="210">
                <a:solidFill>
                  <a:srgbClr val="282828"/>
                </a:solidFill>
                <a:latin typeface="프리텐다드"/>
                <a:ea typeface="프리텐다드"/>
                <a:cs typeface="프리텐다드"/>
                <a:sym typeface="프리텐다드"/>
              </a:rPr>
              <a:t>SECTION</a:t>
            </a:r>
          </a:p>
        </p:txBody>
      </p:sp>
      <p:sp>
        <p:nvSpPr>
          <p:cNvPr id="9" name="TextBox 9"/>
          <p:cNvSpPr txBox="1"/>
          <p:nvPr/>
        </p:nvSpPr>
        <p:spPr>
          <a:xfrm>
            <a:off x="1028700" y="5244784"/>
            <a:ext cx="6505897" cy="308739"/>
          </a:xfrm>
          <a:prstGeom prst="rect">
            <a:avLst/>
          </a:prstGeom>
        </p:spPr>
        <p:txBody>
          <a:bodyPr lIns="0" tIns="0" rIns="0" bIns="0" rtlCol="0" anchor="t">
            <a:spAutoFit/>
          </a:bodyPr>
          <a:lstStyle/>
          <a:p>
            <a:pPr marL="0" lvl="0" indent="0" algn="just">
              <a:lnSpc>
                <a:spcPts val="2640"/>
              </a:lnSpc>
              <a:spcBef>
                <a:spcPct val="0"/>
              </a:spcBef>
            </a:pPr>
            <a:r>
              <a:rPr lang="en-US" sz="1886" spc="335">
                <a:solidFill>
                  <a:srgbClr val="282828"/>
                </a:solidFill>
                <a:latin typeface="프리텐다드"/>
                <a:ea typeface="프리텐다드"/>
                <a:cs typeface="프리텐다드"/>
                <a:sym typeface="프리텐다드"/>
              </a:rPr>
              <a:t>SOLUTION PROPOSAL</a:t>
            </a:r>
          </a:p>
        </p:txBody>
      </p:sp>
      <p:sp>
        <p:nvSpPr>
          <p:cNvPr id="40" name="Section pages"/>
          <p:cNvSpPr txBox="1"/>
          <p:nvPr/>
        </p:nvSpPr>
        <p:spPr>
          <a:xfrm>
            <a:off x="1485900" y="7874000"/>
            <a:ext cx="15240000" cy="1524000"/>
          </a:xfrm>
          <a:prstGeom prst="rect">
            <a:avLst/>
          </a:prstGeom>
          <a:noFill/>
        </p:spPr>
        <p:txBody>
          <a:bodyPr wrap="square" lIns="0" tIns="0" rIns="0" bIns="0" anchor="ctr">
            <a:noAutofit/>
          </a:bodyPr>
          <a:lstStyle/>
          <a:p>
            <a:pPr marL="0" indent="0">
              <a:lnSpc>
                <a:spcPts val="3000"/>
              </a:lnSpc>
              <a:buNone/>
            </a:pPr>
            <a:r>
              <a:rPr lang="ko-KR" sz="1800" b="1" spc="200" dirty="0">
                <a:solidFill>
                  <a:srgbClr val="FFFFFF"/>
                </a:solidFill>
                <a:latin typeface="프리텐다드 Semi-Bold"/>
                <a:ea typeface="프리텐다드 Semi-Bold"/>
                <a:cs typeface="프리텐다드 Semi-Bold"/>
                <a:sym typeface="프리텐다드 Semi-Bold"/>
              </a:rPr>
              <a:t>IN THIS SECTION</a:t>
            </a:r>
          </a:p>
          <a:p>
            <a:pPr marL="0" indent="0">
              <a:lnSpc>
                <a:spcPts val="3600"/>
              </a:lnSpc>
              <a:spcBef>
                <a:spcPts val="600"/>
              </a:spcBef>
              <a:buNone/>
            </a:pPr>
            <a:r>
              <a:rPr lang="ko-KR" sz="2400" dirty="0">
                <a:solidFill>
                  <a:srgbClr val="FFFFFF"/>
                </a:solidFill>
                <a:latin typeface="프리텐다드"/>
                <a:ea typeface="프리텐다드"/>
                <a:cs typeface="프리텐다드"/>
                <a:sym typeface="프리텐다드"/>
              </a:rPr>
              <a:t>솔루션 제안 · 프로젝트 개요 · MediQ 핵심 동작 흐름</a:t>
            </a:r>
          </a:p>
        </p:txBody>
      </p:sp>
    </p:spTree>
    <p:extLst>
      <p:ext uri="{BB962C8B-B14F-4D97-AF65-F5344CB8AC3E}">
        <p14:creationId xmlns:p14="http://schemas.microsoft.com/office/powerpoint/2010/main" val="1734636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sp>
        <p:nvSpPr>
          <p:cNvPr id="5" name="TextBox 5"/>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SOLUTION PROPOSAL</a:t>
            </a:r>
          </a:p>
        </p:txBody>
      </p:sp>
      <p:sp>
        <p:nvSpPr>
          <p:cNvPr id="6" name="TextBox 6"/>
          <p:cNvSpPr txBox="1"/>
          <p:nvPr/>
        </p:nvSpPr>
        <p:spPr>
          <a:xfrm>
            <a:off x="1421481" y="1253961"/>
            <a:ext cx="3894213"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솔루션 제안</a:t>
            </a:r>
          </a:p>
        </p:txBody>
      </p:sp>
      <p:grpSp>
        <p:nvGrpSpPr>
          <p:cNvPr id="7" name="Group 7"/>
          <p:cNvGrpSpPr/>
          <p:nvPr/>
        </p:nvGrpSpPr>
        <p:grpSpPr>
          <a:xfrm>
            <a:off x="1028700" y="1028700"/>
            <a:ext cx="132273" cy="1204431"/>
            <a:chOff x="0" y="0"/>
            <a:chExt cx="40474" cy="368545"/>
          </a:xfrm>
        </p:grpSpPr>
        <p:sp>
          <p:nvSpPr>
            <p:cNvPr id="8" name="Freeform 8"/>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9" name="TextBox 9"/>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grpSp>
        <p:nvGrpSpPr>
          <p:cNvPr id="10" name="Group 10"/>
          <p:cNvGrpSpPr/>
          <p:nvPr/>
        </p:nvGrpSpPr>
        <p:grpSpPr>
          <a:xfrm>
            <a:off x="1332907" y="3980122"/>
            <a:ext cx="7418523" cy="5197462"/>
            <a:chOff x="0" y="0"/>
            <a:chExt cx="1953850" cy="1368879"/>
          </a:xfrm>
        </p:grpSpPr>
        <p:sp>
          <p:nvSpPr>
            <p:cNvPr id="11" name="Freeform 11"/>
            <p:cNvSpPr/>
            <p:nvPr/>
          </p:nvSpPr>
          <p:spPr>
            <a:xfrm>
              <a:off x="0" y="0"/>
              <a:ext cx="1953850" cy="1368879"/>
            </a:xfrm>
            <a:custGeom>
              <a:avLst/>
              <a:gdLst/>
              <a:ahLst/>
              <a:cxnLst/>
              <a:rect l="l" t="t" r="r" b="b"/>
              <a:pathLst>
                <a:path w="1953850" h="1368879">
                  <a:moveTo>
                    <a:pt x="0" y="0"/>
                  </a:moveTo>
                  <a:lnTo>
                    <a:pt x="1953850" y="0"/>
                  </a:lnTo>
                  <a:lnTo>
                    <a:pt x="1953850" y="1368879"/>
                  </a:lnTo>
                  <a:lnTo>
                    <a:pt x="0" y="1368879"/>
                  </a:lnTo>
                  <a:close/>
                </a:path>
              </a:pathLst>
            </a:custGeom>
            <a:ln w="9525" cap="sq">
              <a:solidFill>
                <a:srgbClr val="737373"/>
              </a:solidFill>
              <a:prstDash val="solid"/>
              <a:miter/>
            </a:ln>
          </p:spPr>
          <p:txBody>
            <a:bodyPr/>
            <a:lstStyle/>
            <a:p>
              <a:endParaRPr lang="ko-KR" altLang="en-US"/>
            </a:p>
          </p:txBody>
        </p:sp>
        <p:sp>
          <p:nvSpPr>
            <p:cNvPr id="12" name="TextBox 12"/>
            <p:cNvSpPr txBox="1"/>
            <p:nvPr/>
          </p:nvSpPr>
          <p:spPr>
            <a:xfrm>
              <a:off x="0" y="-47625"/>
              <a:ext cx="1953850" cy="1416504"/>
            </a:xfrm>
            <a:prstGeom prst="rect">
              <a:avLst/>
            </a:prstGeom>
          </p:spPr>
          <p:txBody>
            <a:bodyPr lIns="50800" tIns="50800" rIns="50800" bIns="50800" rtlCol="0" anchor="ctr"/>
            <a:lstStyle/>
            <a:p>
              <a:pPr marL="0" lvl="0" indent="0" algn="ctr">
                <a:lnSpc>
                  <a:spcPts val="3156"/>
                </a:lnSpc>
                <a:spcBef>
                  <a:spcPct val="0"/>
                </a:spcBef>
              </a:pPr>
              <a:endParaRPr/>
            </a:p>
          </p:txBody>
        </p:sp>
      </p:grpSp>
      <p:grpSp>
        <p:nvGrpSpPr>
          <p:cNvPr id="13" name="Group 13"/>
          <p:cNvGrpSpPr/>
          <p:nvPr/>
        </p:nvGrpSpPr>
        <p:grpSpPr>
          <a:xfrm>
            <a:off x="2252793" y="4924409"/>
            <a:ext cx="5581425" cy="3939640"/>
            <a:chOff x="0" y="0"/>
            <a:chExt cx="7441899" cy="5252854"/>
          </a:xfrm>
        </p:grpSpPr>
        <p:grpSp>
          <p:nvGrpSpPr>
            <p:cNvPr id="14" name="Group 14"/>
            <p:cNvGrpSpPr/>
            <p:nvPr/>
          </p:nvGrpSpPr>
          <p:grpSpPr>
            <a:xfrm>
              <a:off x="0" y="0"/>
              <a:ext cx="7441899" cy="1485723"/>
              <a:chOff x="0" y="0"/>
              <a:chExt cx="971666" cy="193986"/>
            </a:xfrm>
          </p:grpSpPr>
          <p:sp>
            <p:nvSpPr>
              <p:cNvPr id="15" name="Freeform 15"/>
              <p:cNvSpPr/>
              <p:nvPr/>
            </p:nvSpPr>
            <p:spPr>
              <a:xfrm>
                <a:off x="0" y="0"/>
                <a:ext cx="971666" cy="193986"/>
              </a:xfrm>
              <a:custGeom>
                <a:avLst/>
                <a:gdLst/>
                <a:ahLst/>
                <a:cxnLst/>
                <a:rect l="l" t="t" r="r" b="b"/>
                <a:pathLst>
                  <a:path w="971666" h="193986">
                    <a:moveTo>
                      <a:pt x="0" y="0"/>
                    </a:moveTo>
                    <a:lnTo>
                      <a:pt x="971666" y="0"/>
                    </a:lnTo>
                    <a:lnTo>
                      <a:pt x="971666" y="193986"/>
                    </a:lnTo>
                    <a:lnTo>
                      <a:pt x="0" y="193986"/>
                    </a:lnTo>
                    <a:close/>
                  </a:path>
                </a:pathLst>
              </a:custGeom>
              <a:solidFill>
                <a:srgbClr val="E9E9E9"/>
              </a:solidFill>
              <a:ln cap="sq">
                <a:noFill/>
                <a:prstDash val="solid"/>
                <a:miter/>
              </a:ln>
            </p:spPr>
            <p:txBody>
              <a:bodyPr/>
              <a:lstStyle/>
              <a:p>
                <a:endParaRPr lang="ko-KR" altLang="en-US"/>
              </a:p>
            </p:txBody>
          </p:sp>
          <p:sp>
            <p:nvSpPr>
              <p:cNvPr id="16" name="TextBox 16"/>
              <p:cNvSpPr txBox="1"/>
              <p:nvPr/>
            </p:nvSpPr>
            <p:spPr>
              <a:xfrm>
                <a:off x="0" y="-47625"/>
                <a:ext cx="971666" cy="241611"/>
              </a:xfrm>
              <a:prstGeom prst="rect">
                <a:avLst/>
              </a:prstGeom>
            </p:spPr>
            <p:txBody>
              <a:bodyPr lIns="50800" tIns="50800" rIns="50800" bIns="50800" rtlCol="0" anchor="ctr"/>
              <a:lstStyle/>
              <a:p>
                <a:pPr algn="ctr">
                  <a:lnSpc>
                    <a:spcPts val="3156"/>
                  </a:lnSpc>
                </a:pPr>
                <a:endParaRPr/>
              </a:p>
            </p:txBody>
          </p:sp>
        </p:grpSp>
        <p:grpSp>
          <p:nvGrpSpPr>
            <p:cNvPr id="17" name="Group 17"/>
            <p:cNvGrpSpPr/>
            <p:nvPr/>
          </p:nvGrpSpPr>
          <p:grpSpPr>
            <a:xfrm>
              <a:off x="0" y="1883565"/>
              <a:ext cx="7441899" cy="1485723"/>
              <a:chOff x="0" y="0"/>
              <a:chExt cx="971666" cy="193986"/>
            </a:xfrm>
          </p:grpSpPr>
          <p:sp>
            <p:nvSpPr>
              <p:cNvPr id="18" name="Freeform 18"/>
              <p:cNvSpPr/>
              <p:nvPr/>
            </p:nvSpPr>
            <p:spPr>
              <a:xfrm>
                <a:off x="0" y="0"/>
                <a:ext cx="971666" cy="193986"/>
              </a:xfrm>
              <a:custGeom>
                <a:avLst/>
                <a:gdLst/>
                <a:ahLst/>
                <a:cxnLst/>
                <a:rect l="l" t="t" r="r" b="b"/>
                <a:pathLst>
                  <a:path w="971666" h="193986">
                    <a:moveTo>
                      <a:pt x="0" y="0"/>
                    </a:moveTo>
                    <a:lnTo>
                      <a:pt x="971666" y="0"/>
                    </a:lnTo>
                    <a:lnTo>
                      <a:pt x="971666" y="193986"/>
                    </a:lnTo>
                    <a:lnTo>
                      <a:pt x="0" y="193986"/>
                    </a:lnTo>
                    <a:close/>
                  </a:path>
                </a:pathLst>
              </a:custGeom>
              <a:solidFill>
                <a:srgbClr val="E9E9E9"/>
              </a:solidFill>
              <a:ln cap="sq">
                <a:noFill/>
                <a:prstDash val="solid"/>
                <a:miter/>
              </a:ln>
            </p:spPr>
            <p:txBody>
              <a:bodyPr/>
              <a:lstStyle/>
              <a:p>
                <a:endParaRPr lang="ko-KR" altLang="en-US"/>
              </a:p>
            </p:txBody>
          </p:sp>
          <p:sp>
            <p:nvSpPr>
              <p:cNvPr id="19" name="TextBox 19"/>
              <p:cNvSpPr txBox="1"/>
              <p:nvPr/>
            </p:nvSpPr>
            <p:spPr>
              <a:xfrm>
                <a:off x="0" y="-47625"/>
                <a:ext cx="971666" cy="241611"/>
              </a:xfrm>
              <a:prstGeom prst="rect">
                <a:avLst/>
              </a:prstGeom>
            </p:spPr>
            <p:txBody>
              <a:bodyPr lIns="50800" tIns="50800" rIns="50800" bIns="50800" rtlCol="0" anchor="ctr"/>
              <a:lstStyle/>
              <a:p>
                <a:pPr algn="ctr">
                  <a:lnSpc>
                    <a:spcPts val="3156"/>
                  </a:lnSpc>
                </a:pPr>
                <a:endParaRPr/>
              </a:p>
            </p:txBody>
          </p:sp>
        </p:grpSp>
        <p:grpSp>
          <p:nvGrpSpPr>
            <p:cNvPr id="20" name="Group 20"/>
            <p:cNvGrpSpPr/>
            <p:nvPr/>
          </p:nvGrpSpPr>
          <p:grpSpPr>
            <a:xfrm>
              <a:off x="0" y="3767131"/>
              <a:ext cx="7441899" cy="1485723"/>
              <a:chOff x="0" y="0"/>
              <a:chExt cx="971666" cy="193986"/>
            </a:xfrm>
          </p:grpSpPr>
          <p:sp>
            <p:nvSpPr>
              <p:cNvPr id="21" name="Freeform 21"/>
              <p:cNvSpPr/>
              <p:nvPr/>
            </p:nvSpPr>
            <p:spPr>
              <a:xfrm>
                <a:off x="0" y="0"/>
                <a:ext cx="971666" cy="193986"/>
              </a:xfrm>
              <a:custGeom>
                <a:avLst/>
                <a:gdLst/>
                <a:ahLst/>
                <a:cxnLst/>
                <a:rect l="l" t="t" r="r" b="b"/>
                <a:pathLst>
                  <a:path w="971666" h="193986">
                    <a:moveTo>
                      <a:pt x="0" y="0"/>
                    </a:moveTo>
                    <a:lnTo>
                      <a:pt x="971666" y="0"/>
                    </a:lnTo>
                    <a:lnTo>
                      <a:pt x="971666" y="193986"/>
                    </a:lnTo>
                    <a:lnTo>
                      <a:pt x="0" y="193986"/>
                    </a:lnTo>
                    <a:close/>
                  </a:path>
                </a:pathLst>
              </a:custGeom>
              <a:solidFill>
                <a:srgbClr val="E9E9E9"/>
              </a:solidFill>
              <a:ln cap="sq">
                <a:noFill/>
                <a:prstDash val="solid"/>
                <a:miter/>
              </a:ln>
            </p:spPr>
            <p:txBody>
              <a:bodyPr/>
              <a:lstStyle/>
              <a:p>
                <a:endParaRPr lang="ko-KR" altLang="en-US"/>
              </a:p>
            </p:txBody>
          </p:sp>
          <p:sp>
            <p:nvSpPr>
              <p:cNvPr id="22" name="TextBox 22"/>
              <p:cNvSpPr txBox="1"/>
              <p:nvPr/>
            </p:nvSpPr>
            <p:spPr>
              <a:xfrm>
                <a:off x="0" y="-47625"/>
                <a:ext cx="971666" cy="241611"/>
              </a:xfrm>
              <a:prstGeom prst="rect">
                <a:avLst/>
              </a:prstGeom>
            </p:spPr>
            <p:txBody>
              <a:bodyPr lIns="50800" tIns="50800" rIns="50800" bIns="50800" rtlCol="0" anchor="ctr"/>
              <a:lstStyle/>
              <a:p>
                <a:pPr algn="ctr">
                  <a:lnSpc>
                    <a:spcPts val="3156"/>
                  </a:lnSpc>
                </a:pPr>
                <a:endParaRPr/>
              </a:p>
            </p:txBody>
          </p:sp>
        </p:grpSp>
        <p:sp>
          <p:nvSpPr>
            <p:cNvPr id="23" name="TextBox 23"/>
            <p:cNvSpPr txBox="1"/>
            <p:nvPr/>
          </p:nvSpPr>
          <p:spPr>
            <a:xfrm>
              <a:off x="329209" y="483146"/>
              <a:ext cx="6783482" cy="471805"/>
            </a:xfrm>
            <a:prstGeom prst="rect">
              <a:avLst/>
            </a:prstGeom>
          </p:spPr>
          <p:txBody>
            <a:bodyPr lIns="0" tIns="0" rIns="0" bIns="0" rtlCol="0" anchor="t">
              <a:spAutoFit/>
            </a:bodyPr>
            <a:lstStyle/>
            <a:p>
              <a:pPr algn="ctr">
                <a:lnSpc>
                  <a:spcPts val="2939"/>
                </a:lnSpc>
                <a:spcBef>
                  <a:spcPct val="0"/>
                </a:spcBef>
              </a:pPr>
              <a:r>
                <a:rPr lang="en-US" sz="2099">
                  <a:solidFill>
                    <a:srgbClr val="737373"/>
                  </a:solidFill>
                  <a:latin typeface="프리텐다드"/>
                  <a:ea typeface="프리텐다드"/>
                  <a:cs typeface="프리텐다드"/>
                  <a:sym typeface="프리텐다드"/>
                </a:rPr>
                <a:t>불필요한 CT·MRI 중복 촬영</a:t>
              </a:r>
            </a:p>
          </p:txBody>
        </p:sp>
        <p:sp>
          <p:nvSpPr>
            <p:cNvPr id="24" name="TextBox 24"/>
            <p:cNvSpPr txBox="1"/>
            <p:nvPr/>
          </p:nvSpPr>
          <p:spPr>
            <a:xfrm>
              <a:off x="329209" y="2366712"/>
              <a:ext cx="6783482" cy="471805"/>
            </a:xfrm>
            <a:prstGeom prst="rect">
              <a:avLst/>
            </a:prstGeom>
          </p:spPr>
          <p:txBody>
            <a:bodyPr lIns="0" tIns="0" rIns="0" bIns="0" rtlCol="0" anchor="t">
              <a:spAutoFit/>
            </a:bodyPr>
            <a:lstStyle/>
            <a:p>
              <a:pPr algn="ctr">
                <a:lnSpc>
                  <a:spcPts val="2939"/>
                </a:lnSpc>
                <a:spcBef>
                  <a:spcPct val="0"/>
                </a:spcBef>
              </a:pPr>
              <a:r>
                <a:rPr lang="en-US" sz="2099">
                  <a:solidFill>
                    <a:srgbClr val="737373"/>
                  </a:solidFill>
                  <a:latin typeface="프리텐다드"/>
                  <a:ea typeface="프리텐다드"/>
                  <a:cs typeface="프리텐다드"/>
                  <a:sym typeface="프리텐다드"/>
                </a:rPr>
                <a:t>의료기관 간 영상 활용 불편</a:t>
              </a:r>
            </a:p>
          </p:txBody>
        </p:sp>
        <p:sp>
          <p:nvSpPr>
            <p:cNvPr id="25" name="TextBox 25"/>
            <p:cNvSpPr txBox="1"/>
            <p:nvPr/>
          </p:nvSpPr>
          <p:spPr>
            <a:xfrm>
              <a:off x="329209" y="4250277"/>
              <a:ext cx="6783482" cy="471805"/>
            </a:xfrm>
            <a:prstGeom prst="rect">
              <a:avLst/>
            </a:prstGeom>
          </p:spPr>
          <p:txBody>
            <a:bodyPr lIns="0" tIns="0" rIns="0" bIns="0" rtlCol="0" anchor="t">
              <a:spAutoFit/>
            </a:bodyPr>
            <a:lstStyle/>
            <a:p>
              <a:pPr algn="ctr">
                <a:lnSpc>
                  <a:spcPts val="2939"/>
                </a:lnSpc>
                <a:spcBef>
                  <a:spcPct val="0"/>
                </a:spcBef>
              </a:pPr>
              <a:r>
                <a:rPr lang="en-US" sz="2099">
                  <a:solidFill>
                    <a:srgbClr val="737373"/>
                  </a:solidFill>
                  <a:latin typeface="프리텐다드"/>
                  <a:ea typeface="프리텐다드"/>
                  <a:cs typeface="프리텐다드"/>
                  <a:sym typeface="프리텐다드"/>
                </a:rPr>
                <a:t>세밀한 공유·접근관리 필요</a:t>
              </a:r>
            </a:p>
          </p:txBody>
        </p:sp>
      </p:grpSp>
      <p:grpSp>
        <p:nvGrpSpPr>
          <p:cNvPr id="26" name="Group 26"/>
          <p:cNvGrpSpPr/>
          <p:nvPr/>
        </p:nvGrpSpPr>
        <p:grpSpPr>
          <a:xfrm>
            <a:off x="9536570" y="3980122"/>
            <a:ext cx="7418523" cy="5197462"/>
            <a:chOff x="0" y="0"/>
            <a:chExt cx="1953850" cy="1368879"/>
          </a:xfrm>
        </p:grpSpPr>
        <p:sp>
          <p:nvSpPr>
            <p:cNvPr id="27" name="Freeform 27"/>
            <p:cNvSpPr/>
            <p:nvPr/>
          </p:nvSpPr>
          <p:spPr>
            <a:xfrm>
              <a:off x="0" y="0"/>
              <a:ext cx="1953850" cy="1368879"/>
            </a:xfrm>
            <a:custGeom>
              <a:avLst/>
              <a:gdLst/>
              <a:ahLst/>
              <a:cxnLst/>
              <a:rect l="l" t="t" r="r" b="b"/>
              <a:pathLst>
                <a:path w="1953850" h="1368879">
                  <a:moveTo>
                    <a:pt x="0" y="0"/>
                  </a:moveTo>
                  <a:lnTo>
                    <a:pt x="1953850" y="0"/>
                  </a:lnTo>
                  <a:lnTo>
                    <a:pt x="1953850" y="1368879"/>
                  </a:lnTo>
                  <a:lnTo>
                    <a:pt x="0" y="1368879"/>
                  </a:lnTo>
                  <a:close/>
                </a:path>
              </a:pathLst>
            </a:custGeom>
            <a:ln w="28575" cap="sq">
              <a:solidFill>
                <a:srgbClr val="2A59C5"/>
              </a:solidFill>
              <a:prstDash val="solid"/>
              <a:miter/>
            </a:ln>
          </p:spPr>
          <p:txBody>
            <a:bodyPr/>
            <a:lstStyle/>
            <a:p>
              <a:endParaRPr lang="ko-KR" altLang="en-US"/>
            </a:p>
          </p:txBody>
        </p:sp>
        <p:sp>
          <p:nvSpPr>
            <p:cNvPr id="28" name="TextBox 28"/>
            <p:cNvSpPr txBox="1"/>
            <p:nvPr/>
          </p:nvSpPr>
          <p:spPr>
            <a:xfrm>
              <a:off x="0" y="-47625"/>
              <a:ext cx="1953850" cy="1416504"/>
            </a:xfrm>
            <a:prstGeom prst="rect">
              <a:avLst/>
            </a:prstGeom>
          </p:spPr>
          <p:txBody>
            <a:bodyPr lIns="50800" tIns="50800" rIns="50800" bIns="50800" rtlCol="0" anchor="ctr"/>
            <a:lstStyle/>
            <a:p>
              <a:pPr algn="ctr">
                <a:lnSpc>
                  <a:spcPts val="3156"/>
                </a:lnSpc>
              </a:pPr>
              <a:endParaRPr/>
            </a:p>
          </p:txBody>
        </p:sp>
      </p:grpSp>
      <p:grpSp>
        <p:nvGrpSpPr>
          <p:cNvPr id="29" name="Group 29"/>
          <p:cNvGrpSpPr/>
          <p:nvPr/>
        </p:nvGrpSpPr>
        <p:grpSpPr>
          <a:xfrm>
            <a:off x="3414286" y="3611851"/>
            <a:ext cx="3255765" cy="736542"/>
            <a:chOff x="0" y="0"/>
            <a:chExt cx="4341019" cy="982056"/>
          </a:xfrm>
        </p:grpSpPr>
        <p:grpSp>
          <p:nvGrpSpPr>
            <p:cNvPr id="30" name="Group 30"/>
            <p:cNvGrpSpPr/>
            <p:nvPr/>
          </p:nvGrpSpPr>
          <p:grpSpPr>
            <a:xfrm>
              <a:off x="0" y="0"/>
              <a:ext cx="4341019" cy="982056"/>
              <a:chOff x="0" y="0"/>
              <a:chExt cx="857485" cy="193986"/>
            </a:xfrm>
          </p:grpSpPr>
          <p:sp>
            <p:nvSpPr>
              <p:cNvPr id="31" name="Freeform 31"/>
              <p:cNvSpPr/>
              <p:nvPr/>
            </p:nvSpPr>
            <p:spPr>
              <a:xfrm>
                <a:off x="0" y="0"/>
                <a:ext cx="857485" cy="193986"/>
              </a:xfrm>
              <a:custGeom>
                <a:avLst/>
                <a:gdLst/>
                <a:ahLst/>
                <a:cxnLst/>
                <a:rect l="l" t="t" r="r" b="b"/>
                <a:pathLst>
                  <a:path w="857485" h="193986">
                    <a:moveTo>
                      <a:pt x="0" y="0"/>
                    </a:moveTo>
                    <a:lnTo>
                      <a:pt x="857485" y="0"/>
                    </a:lnTo>
                    <a:lnTo>
                      <a:pt x="857485" y="193986"/>
                    </a:lnTo>
                    <a:lnTo>
                      <a:pt x="0" y="193986"/>
                    </a:lnTo>
                    <a:close/>
                  </a:path>
                </a:pathLst>
              </a:custGeom>
              <a:solidFill>
                <a:srgbClr val="BCBCBC"/>
              </a:solidFill>
              <a:ln cap="sq">
                <a:noFill/>
                <a:prstDash val="solid"/>
                <a:miter/>
              </a:ln>
            </p:spPr>
            <p:txBody>
              <a:bodyPr/>
              <a:lstStyle/>
              <a:p>
                <a:endParaRPr lang="ko-KR" altLang="en-US"/>
              </a:p>
            </p:txBody>
          </p:sp>
          <p:sp>
            <p:nvSpPr>
              <p:cNvPr id="32" name="TextBox 32"/>
              <p:cNvSpPr txBox="1"/>
              <p:nvPr/>
            </p:nvSpPr>
            <p:spPr>
              <a:xfrm>
                <a:off x="0" y="-47625"/>
                <a:ext cx="857485" cy="241611"/>
              </a:xfrm>
              <a:prstGeom prst="rect">
                <a:avLst/>
              </a:prstGeom>
            </p:spPr>
            <p:txBody>
              <a:bodyPr lIns="50800" tIns="50800" rIns="50800" bIns="50800" rtlCol="0" anchor="ctr"/>
              <a:lstStyle/>
              <a:p>
                <a:pPr algn="ctr">
                  <a:lnSpc>
                    <a:spcPts val="3156"/>
                  </a:lnSpc>
                </a:pPr>
                <a:endParaRPr/>
              </a:p>
            </p:txBody>
          </p:sp>
        </p:grpSp>
        <p:sp>
          <p:nvSpPr>
            <p:cNvPr id="33" name="TextBox 33"/>
            <p:cNvSpPr txBox="1"/>
            <p:nvPr/>
          </p:nvSpPr>
          <p:spPr>
            <a:xfrm>
              <a:off x="893711" y="141566"/>
              <a:ext cx="2553597" cy="632249"/>
            </a:xfrm>
            <a:prstGeom prst="rect">
              <a:avLst/>
            </a:prstGeom>
          </p:spPr>
          <p:txBody>
            <a:bodyPr lIns="0" tIns="0" rIns="0" bIns="0" rtlCol="0" anchor="t">
              <a:spAutoFit/>
            </a:bodyPr>
            <a:lstStyle/>
            <a:p>
              <a:pPr algn="ctr">
                <a:lnSpc>
                  <a:spcPts val="3919"/>
                </a:lnSpc>
                <a:spcBef>
                  <a:spcPct val="0"/>
                </a:spcBef>
              </a:pPr>
              <a:r>
                <a:rPr lang="en-US" sz="2799" b="1">
                  <a:solidFill>
                    <a:srgbClr val="FFFFFF"/>
                  </a:solidFill>
                  <a:latin typeface="프리텐다드 Bold"/>
                  <a:ea typeface="프리텐다드 Bold"/>
                  <a:cs typeface="프리텐다드 Bold"/>
                  <a:sym typeface="프리텐다드 Bold"/>
                </a:rPr>
                <a:t>문제점</a:t>
              </a:r>
            </a:p>
          </p:txBody>
        </p:sp>
      </p:grpSp>
      <p:grpSp>
        <p:nvGrpSpPr>
          <p:cNvPr id="34" name="Group 34"/>
          <p:cNvGrpSpPr/>
          <p:nvPr/>
        </p:nvGrpSpPr>
        <p:grpSpPr>
          <a:xfrm>
            <a:off x="11617949" y="3611851"/>
            <a:ext cx="3255765" cy="736542"/>
            <a:chOff x="0" y="0"/>
            <a:chExt cx="4341019" cy="982056"/>
          </a:xfrm>
        </p:grpSpPr>
        <p:grpSp>
          <p:nvGrpSpPr>
            <p:cNvPr id="35" name="Group 35"/>
            <p:cNvGrpSpPr/>
            <p:nvPr/>
          </p:nvGrpSpPr>
          <p:grpSpPr>
            <a:xfrm>
              <a:off x="0" y="0"/>
              <a:ext cx="4341019" cy="982056"/>
              <a:chOff x="0" y="0"/>
              <a:chExt cx="857485" cy="193986"/>
            </a:xfrm>
          </p:grpSpPr>
          <p:sp>
            <p:nvSpPr>
              <p:cNvPr id="36" name="Freeform 36"/>
              <p:cNvSpPr/>
              <p:nvPr/>
            </p:nvSpPr>
            <p:spPr>
              <a:xfrm>
                <a:off x="0" y="0"/>
                <a:ext cx="857485" cy="193986"/>
              </a:xfrm>
              <a:custGeom>
                <a:avLst/>
                <a:gdLst/>
                <a:ahLst/>
                <a:cxnLst/>
                <a:rect l="l" t="t" r="r" b="b"/>
                <a:pathLst>
                  <a:path w="857485" h="193986">
                    <a:moveTo>
                      <a:pt x="0" y="0"/>
                    </a:moveTo>
                    <a:lnTo>
                      <a:pt x="857485" y="0"/>
                    </a:lnTo>
                    <a:lnTo>
                      <a:pt x="857485" y="193986"/>
                    </a:lnTo>
                    <a:lnTo>
                      <a:pt x="0" y="193986"/>
                    </a:lnTo>
                    <a:close/>
                  </a:path>
                </a:pathLst>
              </a:custGeom>
              <a:solidFill>
                <a:srgbClr val="2A59C5"/>
              </a:solidFill>
              <a:ln cap="sq">
                <a:noFill/>
                <a:prstDash val="solid"/>
                <a:miter/>
              </a:ln>
            </p:spPr>
            <p:txBody>
              <a:bodyPr/>
              <a:lstStyle/>
              <a:p>
                <a:endParaRPr lang="ko-KR" altLang="en-US"/>
              </a:p>
            </p:txBody>
          </p:sp>
          <p:sp>
            <p:nvSpPr>
              <p:cNvPr id="37" name="TextBox 37"/>
              <p:cNvSpPr txBox="1"/>
              <p:nvPr/>
            </p:nvSpPr>
            <p:spPr>
              <a:xfrm>
                <a:off x="0" y="-47625"/>
                <a:ext cx="857485" cy="241611"/>
              </a:xfrm>
              <a:prstGeom prst="rect">
                <a:avLst/>
              </a:prstGeom>
            </p:spPr>
            <p:txBody>
              <a:bodyPr lIns="50800" tIns="50800" rIns="50800" bIns="50800" rtlCol="0" anchor="ctr"/>
              <a:lstStyle/>
              <a:p>
                <a:pPr algn="ctr">
                  <a:lnSpc>
                    <a:spcPts val="3156"/>
                  </a:lnSpc>
                </a:pPr>
                <a:endParaRPr/>
              </a:p>
            </p:txBody>
          </p:sp>
        </p:grpSp>
        <p:sp>
          <p:nvSpPr>
            <p:cNvPr id="38" name="TextBox 38"/>
            <p:cNvSpPr txBox="1"/>
            <p:nvPr/>
          </p:nvSpPr>
          <p:spPr>
            <a:xfrm>
              <a:off x="893711" y="141566"/>
              <a:ext cx="2553597" cy="632249"/>
            </a:xfrm>
            <a:prstGeom prst="rect">
              <a:avLst/>
            </a:prstGeom>
          </p:spPr>
          <p:txBody>
            <a:bodyPr lIns="0" tIns="0" rIns="0" bIns="0" rtlCol="0" anchor="t">
              <a:spAutoFit/>
            </a:bodyPr>
            <a:lstStyle/>
            <a:p>
              <a:pPr algn="ctr">
                <a:lnSpc>
                  <a:spcPts val="3919"/>
                </a:lnSpc>
                <a:spcBef>
                  <a:spcPct val="0"/>
                </a:spcBef>
              </a:pPr>
              <a:r>
                <a:rPr lang="en-US" sz="2799" b="1">
                  <a:solidFill>
                    <a:srgbClr val="FFFFFF"/>
                  </a:solidFill>
                  <a:latin typeface="프리텐다드 Bold"/>
                  <a:ea typeface="프리텐다드 Bold"/>
                  <a:cs typeface="프리텐다드 Bold"/>
                  <a:sym typeface="프리텐다드 Bold"/>
                </a:rPr>
                <a:t>솔루션</a:t>
              </a:r>
            </a:p>
          </p:txBody>
        </p:sp>
      </p:grpSp>
      <p:grpSp>
        <p:nvGrpSpPr>
          <p:cNvPr id="39" name="Group 39"/>
          <p:cNvGrpSpPr/>
          <p:nvPr/>
        </p:nvGrpSpPr>
        <p:grpSpPr>
          <a:xfrm rot="5400000">
            <a:off x="8921747" y="6360793"/>
            <a:ext cx="444505" cy="175819"/>
            <a:chOff x="0" y="0"/>
            <a:chExt cx="1798056" cy="711200"/>
          </a:xfrm>
        </p:grpSpPr>
        <p:sp>
          <p:nvSpPr>
            <p:cNvPr id="40" name="Freeform 40"/>
            <p:cNvSpPr/>
            <p:nvPr/>
          </p:nvSpPr>
          <p:spPr>
            <a:xfrm>
              <a:off x="0" y="0"/>
              <a:ext cx="1798056" cy="711200"/>
            </a:xfrm>
            <a:custGeom>
              <a:avLst/>
              <a:gdLst/>
              <a:ahLst/>
              <a:cxnLst/>
              <a:rect l="l" t="t" r="r" b="b"/>
              <a:pathLst>
                <a:path w="1798056" h="711200">
                  <a:moveTo>
                    <a:pt x="899028" y="0"/>
                  </a:moveTo>
                  <a:lnTo>
                    <a:pt x="1798056" y="711200"/>
                  </a:lnTo>
                  <a:lnTo>
                    <a:pt x="0" y="711200"/>
                  </a:lnTo>
                  <a:lnTo>
                    <a:pt x="899028" y="0"/>
                  </a:lnTo>
                  <a:close/>
                </a:path>
              </a:pathLst>
            </a:custGeom>
            <a:solidFill>
              <a:srgbClr val="BCBCBC"/>
            </a:solidFill>
            <a:ln cap="sq">
              <a:noFill/>
              <a:prstDash val="solid"/>
              <a:miter/>
            </a:ln>
          </p:spPr>
          <p:txBody>
            <a:bodyPr/>
            <a:lstStyle/>
            <a:p>
              <a:endParaRPr lang="ko-KR" altLang="en-US"/>
            </a:p>
          </p:txBody>
        </p:sp>
        <p:sp>
          <p:nvSpPr>
            <p:cNvPr id="41" name="TextBox 41"/>
            <p:cNvSpPr txBox="1"/>
            <p:nvPr/>
          </p:nvSpPr>
          <p:spPr>
            <a:xfrm>
              <a:off x="280946" y="292100"/>
              <a:ext cx="1236163" cy="3683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42" name="Group 42"/>
          <p:cNvGrpSpPr/>
          <p:nvPr/>
        </p:nvGrpSpPr>
        <p:grpSpPr>
          <a:xfrm>
            <a:off x="10451109" y="4924409"/>
            <a:ext cx="5581425" cy="3939640"/>
            <a:chOff x="0" y="0"/>
            <a:chExt cx="7441899" cy="5252854"/>
          </a:xfrm>
        </p:grpSpPr>
        <p:grpSp>
          <p:nvGrpSpPr>
            <p:cNvPr id="43" name="Group 43"/>
            <p:cNvGrpSpPr/>
            <p:nvPr/>
          </p:nvGrpSpPr>
          <p:grpSpPr>
            <a:xfrm>
              <a:off x="0" y="0"/>
              <a:ext cx="7441899" cy="1485723"/>
              <a:chOff x="0" y="0"/>
              <a:chExt cx="971666" cy="193986"/>
            </a:xfrm>
          </p:grpSpPr>
          <p:sp>
            <p:nvSpPr>
              <p:cNvPr id="44" name="Freeform 44"/>
              <p:cNvSpPr/>
              <p:nvPr/>
            </p:nvSpPr>
            <p:spPr>
              <a:xfrm>
                <a:off x="0" y="0"/>
                <a:ext cx="971666" cy="193986"/>
              </a:xfrm>
              <a:custGeom>
                <a:avLst/>
                <a:gdLst/>
                <a:ahLst/>
                <a:cxnLst/>
                <a:rect l="l" t="t" r="r" b="b"/>
                <a:pathLst>
                  <a:path w="971666" h="193986">
                    <a:moveTo>
                      <a:pt x="0" y="0"/>
                    </a:moveTo>
                    <a:lnTo>
                      <a:pt x="971666" y="0"/>
                    </a:lnTo>
                    <a:lnTo>
                      <a:pt x="971666" y="193986"/>
                    </a:lnTo>
                    <a:lnTo>
                      <a:pt x="0" y="193986"/>
                    </a:lnTo>
                    <a:close/>
                  </a:path>
                </a:pathLst>
              </a:custGeom>
              <a:solidFill>
                <a:srgbClr val="D7E1F7"/>
              </a:solidFill>
              <a:ln cap="sq">
                <a:noFill/>
                <a:prstDash val="solid"/>
                <a:miter/>
              </a:ln>
            </p:spPr>
            <p:txBody>
              <a:bodyPr/>
              <a:lstStyle/>
              <a:p>
                <a:endParaRPr lang="ko-KR" altLang="en-US"/>
              </a:p>
            </p:txBody>
          </p:sp>
          <p:sp>
            <p:nvSpPr>
              <p:cNvPr id="45" name="TextBox 45"/>
              <p:cNvSpPr txBox="1"/>
              <p:nvPr/>
            </p:nvSpPr>
            <p:spPr>
              <a:xfrm>
                <a:off x="0" y="-47625"/>
                <a:ext cx="971666" cy="241611"/>
              </a:xfrm>
              <a:prstGeom prst="rect">
                <a:avLst/>
              </a:prstGeom>
            </p:spPr>
            <p:txBody>
              <a:bodyPr lIns="50800" tIns="50800" rIns="50800" bIns="50800" rtlCol="0" anchor="ctr"/>
              <a:lstStyle/>
              <a:p>
                <a:pPr algn="ctr">
                  <a:lnSpc>
                    <a:spcPts val="3156"/>
                  </a:lnSpc>
                </a:pPr>
                <a:endParaRPr/>
              </a:p>
            </p:txBody>
          </p:sp>
        </p:grpSp>
        <p:grpSp>
          <p:nvGrpSpPr>
            <p:cNvPr id="46" name="Group 46"/>
            <p:cNvGrpSpPr/>
            <p:nvPr/>
          </p:nvGrpSpPr>
          <p:grpSpPr>
            <a:xfrm>
              <a:off x="0" y="1883565"/>
              <a:ext cx="7441899" cy="1485723"/>
              <a:chOff x="0" y="0"/>
              <a:chExt cx="971666" cy="193986"/>
            </a:xfrm>
          </p:grpSpPr>
          <p:sp>
            <p:nvSpPr>
              <p:cNvPr id="47" name="Freeform 47"/>
              <p:cNvSpPr/>
              <p:nvPr/>
            </p:nvSpPr>
            <p:spPr>
              <a:xfrm>
                <a:off x="0" y="0"/>
                <a:ext cx="971666" cy="193986"/>
              </a:xfrm>
              <a:custGeom>
                <a:avLst/>
                <a:gdLst/>
                <a:ahLst/>
                <a:cxnLst/>
                <a:rect l="l" t="t" r="r" b="b"/>
                <a:pathLst>
                  <a:path w="971666" h="193986">
                    <a:moveTo>
                      <a:pt x="0" y="0"/>
                    </a:moveTo>
                    <a:lnTo>
                      <a:pt x="971666" y="0"/>
                    </a:lnTo>
                    <a:lnTo>
                      <a:pt x="971666" y="193986"/>
                    </a:lnTo>
                    <a:lnTo>
                      <a:pt x="0" y="193986"/>
                    </a:lnTo>
                    <a:close/>
                  </a:path>
                </a:pathLst>
              </a:custGeom>
              <a:solidFill>
                <a:srgbClr val="D7E1F7"/>
              </a:solidFill>
              <a:ln cap="sq">
                <a:noFill/>
                <a:prstDash val="solid"/>
                <a:miter/>
              </a:ln>
            </p:spPr>
            <p:txBody>
              <a:bodyPr/>
              <a:lstStyle/>
              <a:p>
                <a:endParaRPr lang="ko-KR" altLang="en-US"/>
              </a:p>
            </p:txBody>
          </p:sp>
          <p:sp>
            <p:nvSpPr>
              <p:cNvPr id="48" name="TextBox 48"/>
              <p:cNvSpPr txBox="1"/>
              <p:nvPr/>
            </p:nvSpPr>
            <p:spPr>
              <a:xfrm>
                <a:off x="0" y="-47625"/>
                <a:ext cx="971666" cy="241611"/>
              </a:xfrm>
              <a:prstGeom prst="rect">
                <a:avLst/>
              </a:prstGeom>
            </p:spPr>
            <p:txBody>
              <a:bodyPr lIns="50800" tIns="50800" rIns="50800" bIns="50800" rtlCol="0" anchor="ctr"/>
              <a:lstStyle/>
              <a:p>
                <a:pPr algn="ctr">
                  <a:lnSpc>
                    <a:spcPts val="3156"/>
                  </a:lnSpc>
                </a:pPr>
                <a:endParaRPr/>
              </a:p>
            </p:txBody>
          </p:sp>
        </p:grpSp>
        <p:grpSp>
          <p:nvGrpSpPr>
            <p:cNvPr id="49" name="Group 49"/>
            <p:cNvGrpSpPr/>
            <p:nvPr/>
          </p:nvGrpSpPr>
          <p:grpSpPr>
            <a:xfrm>
              <a:off x="0" y="3767131"/>
              <a:ext cx="7441899" cy="1485723"/>
              <a:chOff x="0" y="0"/>
              <a:chExt cx="971666" cy="193986"/>
            </a:xfrm>
          </p:grpSpPr>
          <p:sp>
            <p:nvSpPr>
              <p:cNvPr id="50" name="Freeform 50"/>
              <p:cNvSpPr/>
              <p:nvPr/>
            </p:nvSpPr>
            <p:spPr>
              <a:xfrm>
                <a:off x="0" y="0"/>
                <a:ext cx="971666" cy="193986"/>
              </a:xfrm>
              <a:custGeom>
                <a:avLst/>
                <a:gdLst/>
                <a:ahLst/>
                <a:cxnLst/>
                <a:rect l="l" t="t" r="r" b="b"/>
                <a:pathLst>
                  <a:path w="971666" h="193986">
                    <a:moveTo>
                      <a:pt x="0" y="0"/>
                    </a:moveTo>
                    <a:lnTo>
                      <a:pt x="971666" y="0"/>
                    </a:lnTo>
                    <a:lnTo>
                      <a:pt x="971666" y="193986"/>
                    </a:lnTo>
                    <a:lnTo>
                      <a:pt x="0" y="193986"/>
                    </a:lnTo>
                    <a:close/>
                  </a:path>
                </a:pathLst>
              </a:custGeom>
              <a:solidFill>
                <a:srgbClr val="D7E1F7"/>
              </a:solidFill>
              <a:ln cap="sq">
                <a:noFill/>
                <a:prstDash val="solid"/>
                <a:miter/>
              </a:ln>
            </p:spPr>
            <p:txBody>
              <a:bodyPr/>
              <a:lstStyle/>
              <a:p>
                <a:endParaRPr lang="ko-KR" altLang="en-US"/>
              </a:p>
            </p:txBody>
          </p:sp>
          <p:sp>
            <p:nvSpPr>
              <p:cNvPr id="51" name="TextBox 51"/>
              <p:cNvSpPr txBox="1"/>
              <p:nvPr/>
            </p:nvSpPr>
            <p:spPr>
              <a:xfrm>
                <a:off x="0" y="-47625"/>
                <a:ext cx="971666" cy="241611"/>
              </a:xfrm>
              <a:prstGeom prst="rect">
                <a:avLst/>
              </a:prstGeom>
            </p:spPr>
            <p:txBody>
              <a:bodyPr lIns="50800" tIns="50800" rIns="50800" bIns="50800" rtlCol="0" anchor="ctr"/>
              <a:lstStyle/>
              <a:p>
                <a:pPr algn="ctr">
                  <a:lnSpc>
                    <a:spcPts val="3156"/>
                  </a:lnSpc>
                </a:pPr>
                <a:endParaRPr/>
              </a:p>
            </p:txBody>
          </p:sp>
        </p:grpSp>
        <p:sp>
          <p:nvSpPr>
            <p:cNvPr id="52" name="TextBox 52"/>
            <p:cNvSpPr txBox="1"/>
            <p:nvPr/>
          </p:nvSpPr>
          <p:spPr>
            <a:xfrm>
              <a:off x="329209" y="483146"/>
              <a:ext cx="6783482" cy="471805"/>
            </a:xfrm>
            <a:prstGeom prst="rect">
              <a:avLst/>
            </a:prstGeom>
          </p:spPr>
          <p:txBody>
            <a:bodyPr lIns="0" tIns="0" rIns="0" bIns="0" rtlCol="0" anchor="t">
              <a:spAutoFit/>
            </a:bodyPr>
            <a:lstStyle/>
            <a:p>
              <a:pPr algn="ctr">
                <a:lnSpc>
                  <a:spcPts val="2939"/>
                </a:lnSpc>
                <a:spcBef>
                  <a:spcPct val="0"/>
                </a:spcBef>
              </a:pPr>
              <a:r>
                <a:rPr lang="en-US" sz="2099">
                  <a:solidFill>
                    <a:srgbClr val="000000"/>
                  </a:solidFill>
                  <a:latin typeface="프리텐다드"/>
                  <a:ea typeface="프리텐다드"/>
                  <a:cs typeface="프리텐다드"/>
                  <a:sym typeface="프리텐다드"/>
                </a:rPr>
                <a:t>기존 의료영상 조회·활용</a:t>
              </a:r>
            </a:p>
          </p:txBody>
        </p:sp>
        <p:sp>
          <p:nvSpPr>
            <p:cNvPr id="53" name="TextBox 53"/>
            <p:cNvSpPr txBox="1"/>
            <p:nvPr/>
          </p:nvSpPr>
          <p:spPr>
            <a:xfrm>
              <a:off x="329209" y="2366712"/>
              <a:ext cx="6783482" cy="471805"/>
            </a:xfrm>
            <a:prstGeom prst="rect">
              <a:avLst/>
            </a:prstGeom>
          </p:spPr>
          <p:txBody>
            <a:bodyPr lIns="0" tIns="0" rIns="0" bIns="0" rtlCol="0" anchor="t">
              <a:spAutoFit/>
            </a:bodyPr>
            <a:lstStyle/>
            <a:p>
              <a:pPr algn="ctr">
                <a:lnSpc>
                  <a:spcPts val="2939"/>
                </a:lnSpc>
                <a:spcBef>
                  <a:spcPct val="0"/>
                </a:spcBef>
              </a:pPr>
              <a:r>
                <a:rPr lang="en-US" sz="2099">
                  <a:solidFill>
                    <a:srgbClr val="000000"/>
                  </a:solidFill>
                  <a:latin typeface="프리텐다드"/>
                  <a:ea typeface="프리텐다드"/>
                  <a:cs typeface="프리텐다드"/>
                  <a:sym typeface="프리텐다드"/>
                </a:rPr>
                <a:t>DICOMweb 기반 영상 연계</a:t>
              </a:r>
            </a:p>
          </p:txBody>
        </p:sp>
        <p:sp>
          <p:nvSpPr>
            <p:cNvPr id="54" name="TextBox 54"/>
            <p:cNvSpPr txBox="1"/>
            <p:nvPr/>
          </p:nvSpPr>
          <p:spPr>
            <a:xfrm>
              <a:off x="329209" y="4250277"/>
              <a:ext cx="6783482" cy="471805"/>
            </a:xfrm>
            <a:prstGeom prst="rect">
              <a:avLst/>
            </a:prstGeom>
          </p:spPr>
          <p:txBody>
            <a:bodyPr lIns="0" tIns="0" rIns="0" bIns="0" rtlCol="0" anchor="t">
              <a:spAutoFit/>
            </a:bodyPr>
            <a:lstStyle/>
            <a:p>
              <a:pPr algn="ctr">
                <a:lnSpc>
                  <a:spcPts val="2939"/>
                </a:lnSpc>
                <a:spcBef>
                  <a:spcPct val="0"/>
                </a:spcBef>
              </a:pPr>
              <a:r>
                <a:rPr lang="en-US" sz="2099">
                  <a:solidFill>
                    <a:srgbClr val="000000"/>
                  </a:solidFill>
                  <a:latin typeface="프리텐다드"/>
                  <a:ea typeface="프리텐다드"/>
                  <a:cs typeface="프리텐다드"/>
                  <a:sym typeface="프리텐다드"/>
                </a:rPr>
                <a:t>환자 동의 기반 접근제어</a:t>
              </a:r>
            </a:p>
          </p:txBody>
        </p:sp>
      </p:grpSp>
    </p:spTree>
    <p:extLst>
      <p:ext uri="{BB962C8B-B14F-4D97-AF65-F5344CB8AC3E}">
        <p14:creationId xmlns:p14="http://schemas.microsoft.com/office/powerpoint/2010/main" val="1947407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8" name="TextBox 8"/>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SOLUTION PROPOSAL</a:t>
            </a:r>
          </a:p>
        </p:txBody>
      </p:sp>
      <p:sp>
        <p:nvSpPr>
          <p:cNvPr id="9" name="TextBox 9"/>
          <p:cNvSpPr txBox="1"/>
          <p:nvPr/>
        </p:nvSpPr>
        <p:spPr>
          <a:xfrm>
            <a:off x="1421481" y="1253961"/>
            <a:ext cx="5091375"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프로젝트 개요</a:t>
            </a:r>
          </a:p>
        </p:txBody>
      </p:sp>
      <p:sp>
        <p:nvSpPr>
          <p:cNvPr id="10" name="TextBox 10"/>
          <p:cNvSpPr txBox="1"/>
          <p:nvPr/>
        </p:nvSpPr>
        <p:spPr>
          <a:xfrm>
            <a:off x="1094836" y="5630390"/>
            <a:ext cx="16086072" cy="1284456"/>
          </a:xfrm>
          <a:prstGeom prst="rect">
            <a:avLst/>
          </a:prstGeom>
        </p:spPr>
        <p:txBody>
          <a:bodyPr lIns="0" tIns="0" rIns="0" bIns="0" rtlCol="0" anchor="t">
            <a:spAutoFit/>
          </a:bodyPr>
          <a:lstStyle/>
          <a:p>
            <a:pPr algn="ctr">
              <a:lnSpc>
                <a:spcPts val="5126"/>
              </a:lnSpc>
            </a:pPr>
            <a:r>
              <a:rPr lang="en-US" sz="3661" b="1">
                <a:solidFill>
                  <a:srgbClr val="2A59C5"/>
                </a:solidFill>
                <a:latin typeface="프리텐다드 Bold"/>
                <a:ea typeface="프리텐다드 Bold"/>
                <a:cs typeface="프리텐다드 Bold"/>
                <a:sym typeface="프리텐다드 Bold"/>
              </a:rPr>
              <a:t>MediQ</a:t>
            </a:r>
            <a:r>
              <a:rPr lang="en-US" sz="3661" b="1">
                <a:solidFill>
                  <a:srgbClr val="282828"/>
                </a:solidFill>
                <a:latin typeface="프리텐다드 Bold"/>
                <a:ea typeface="프리텐다드 Bold"/>
                <a:cs typeface="프리텐다드 Bold"/>
                <a:sym typeface="프리텐다드 Bold"/>
              </a:rPr>
              <a:t>는 기존 의료영상의 활용하여 </a:t>
            </a:r>
          </a:p>
          <a:p>
            <a:pPr algn="ctr">
              <a:lnSpc>
                <a:spcPts val="5126"/>
              </a:lnSpc>
              <a:spcBef>
                <a:spcPct val="0"/>
              </a:spcBef>
            </a:pPr>
            <a:r>
              <a:rPr lang="en-US" sz="3661" b="1">
                <a:solidFill>
                  <a:srgbClr val="2A59C5"/>
                </a:solidFill>
                <a:latin typeface="프리텐다드 Bold"/>
                <a:ea typeface="프리텐다드 Bold"/>
                <a:cs typeface="프리텐다드 Bold"/>
                <a:sym typeface="프리텐다드 Bold"/>
              </a:rPr>
              <a:t>병원 간 연계 &amp; 안전한 접근관리</a:t>
            </a:r>
            <a:r>
              <a:rPr lang="en-US" sz="3661" b="1">
                <a:solidFill>
                  <a:srgbClr val="282828"/>
                </a:solidFill>
                <a:latin typeface="프리텐다드 Bold"/>
                <a:ea typeface="프리텐다드 Bold"/>
                <a:cs typeface="프리텐다드 Bold"/>
                <a:sym typeface="프리텐다드 Bold"/>
              </a:rPr>
              <a:t>까지  하나의 플랫폼으로 연결하는 프로젝트</a:t>
            </a:r>
          </a:p>
        </p:txBody>
      </p:sp>
    </p:spTree>
    <p:extLst>
      <p:ext uri="{BB962C8B-B14F-4D97-AF65-F5344CB8AC3E}">
        <p14:creationId xmlns:p14="http://schemas.microsoft.com/office/powerpoint/2010/main" val="1343127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0" y="7592"/>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392225" y="4278867"/>
            <a:ext cx="3231692" cy="2859543"/>
            <a:chOff x="0" y="0"/>
            <a:chExt cx="991098" cy="876967"/>
          </a:xfrm>
        </p:grpSpPr>
        <p:sp>
          <p:nvSpPr>
            <p:cNvPr id="9" name="Freeform 9"/>
            <p:cNvSpPr/>
            <p:nvPr/>
          </p:nvSpPr>
          <p:spPr>
            <a:xfrm>
              <a:off x="0" y="0"/>
              <a:ext cx="991098" cy="876967"/>
            </a:xfrm>
            <a:custGeom>
              <a:avLst/>
              <a:gdLst/>
              <a:ahLst/>
              <a:cxnLst/>
              <a:rect l="l" t="t" r="r" b="b"/>
              <a:pathLst>
                <a:path w="991098" h="876967">
                  <a:moveTo>
                    <a:pt x="0" y="0"/>
                  </a:moveTo>
                  <a:lnTo>
                    <a:pt x="991098" y="0"/>
                  </a:lnTo>
                  <a:lnTo>
                    <a:pt x="991098" y="876967"/>
                  </a:lnTo>
                  <a:lnTo>
                    <a:pt x="0" y="876967"/>
                  </a:lnTo>
                  <a:close/>
                </a:path>
              </a:pathLst>
            </a:custGeom>
            <a:solidFill>
              <a:srgbClr val="E9E9E9"/>
            </a:solidFill>
            <a:ln w="9525" cap="sq">
              <a:solidFill>
                <a:srgbClr val="737373"/>
              </a:solidFill>
              <a:prstDash val="solid"/>
              <a:miter/>
            </a:ln>
          </p:spPr>
          <p:txBody>
            <a:bodyPr/>
            <a:lstStyle/>
            <a:p>
              <a:endParaRPr lang="ko-KR" altLang="en-US"/>
            </a:p>
          </p:txBody>
        </p:sp>
        <p:sp>
          <p:nvSpPr>
            <p:cNvPr id="10" name="TextBox 10"/>
            <p:cNvSpPr txBox="1"/>
            <p:nvPr/>
          </p:nvSpPr>
          <p:spPr>
            <a:xfrm>
              <a:off x="0" y="-47625"/>
              <a:ext cx="991098" cy="924592"/>
            </a:xfrm>
            <a:prstGeom prst="rect">
              <a:avLst/>
            </a:prstGeom>
          </p:spPr>
          <p:txBody>
            <a:bodyPr lIns="43627" tIns="43627" rIns="43627" bIns="43627" rtlCol="0" anchor="ctr"/>
            <a:lstStyle/>
            <a:p>
              <a:pPr marL="0" lvl="0" indent="0" algn="ctr">
                <a:lnSpc>
                  <a:spcPts val="3156"/>
                </a:lnSpc>
                <a:spcBef>
                  <a:spcPct val="0"/>
                </a:spcBef>
              </a:pPr>
              <a:endParaRPr/>
            </a:p>
          </p:txBody>
        </p:sp>
      </p:grpSp>
      <p:grpSp>
        <p:nvGrpSpPr>
          <p:cNvPr id="11" name="Group 11"/>
          <p:cNvGrpSpPr/>
          <p:nvPr/>
        </p:nvGrpSpPr>
        <p:grpSpPr>
          <a:xfrm>
            <a:off x="3961220" y="4278867"/>
            <a:ext cx="3231692" cy="2859543"/>
            <a:chOff x="0" y="0"/>
            <a:chExt cx="991098" cy="876967"/>
          </a:xfrm>
        </p:grpSpPr>
        <p:sp>
          <p:nvSpPr>
            <p:cNvPr id="12" name="Freeform 12"/>
            <p:cNvSpPr/>
            <p:nvPr/>
          </p:nvSpPr>
          <p:spPr>
            <a:xfrm>
              <a:off x="0" y="0"/>
              <a:ext cx="991098" cy="876967"/>
            </a:xfrm>
            <a:custGeom>
              <a:avLst/>
              <a:gdLst/>
              <a:ahLst/>
              <a:cxnLst/>
              <a:rect l="l" t="t" r="r" b="b"/>
              <a:pathLst>
                <a:path w="991098" h="876967">
                  <a:moveTo>
                    <a:pt x="0" y="0"/>
                  </a:moveTo>
                  <a:lnTo>
                    <a:pt x="991098" y="0"/>
                  </a:lnTo>
                  <a:lnTo>
                    <a:pt x="991098" y="876967"/>
                  </a:lnTo>
                  <a:lnTo>
                    <a:pt x="0" y="876967"/>
                  </a:lnTo>
                  <a:close/>
                </a:path>
              </a:pathLst>
            </a:custGeom>
            <a:solidFill>
              <a:srgbClr val="E9E9E9"/>
            </a:solidFill>
            <a:ln w="9525" cap="sq">
              <a:solidFill>
                <a:srgbClr val="737373"/>
              </a:solidFill>
              <a:prstDash val="solid"/>
              <a:miter/>
            </a:ln>
          </p:spPr>
          <p:txBody>
            <a:bodyPr/>
            <a:lstStyle/>
            <a:p>
              <a:endParaRPr lang="ko-KR" altLang="en-US"/>
            </a:p>
          </p:txBody>
        </p:sp>
        <p:sp>
          <p:nvSpPr>
            <p:cNvPr id="13" name="TextBox 13"/>
            <p:cNvSpPr txBox="1"/>
            <p:nvPr/>
          </p:nvSpPr>
          <p:spPr>
            <a:xfrm>
              <a:off x="0" y="-47625"/>
              <a:ext cx="991098" cy="924592"/>
            </a:xfrm>
            <a:prstGeom prst="rect">
              <a:avLst/>
            </a:prstGeom>
          </p:spPr>
          <p:txBody>
            <a:bodyPr lIns="43627" tIns="43627" rIns="43627" bIns="43627" rtlCol="0" anchor="ctr"/>
            <a:lstStyle/>
            <a:p>
              <a:pPr marL="0" lvl="0" indent="0" algn="ctr">
                <a:lnSpc>
                  <a:spcPts val="3156"/>
                </a:lnSpc>
                <a:spcBef>
                  <a:spcPct val="0"/>
                </a:spcBef>
              </a:pPr>
              <a:endParaRPr/>
            </a:p>
          </p:txBody>
        </p:sp>
      </p:grpSp>
      <p:grpSp>
        <p:nvGrpSpPr>
          <p:cNvPr id="14" name="Group 14"/>
          <p:cNvGrpSpPr/>
          <p:nvPr/>
        </p:nvGrpSpPr>
        <p:grpSpPr>
          <a:xfrm>
            <a:off x="7530215" y="4278867"/>
            <a:ext cx="3231692" cy="2859543"/>
            <a:chOff x="0" y="0"/>
            <a:chExt cx="991098" cy="876967"/>
          </a:xfrm>
        </p:grpSpPr>
        <p:sp>
          <p:nvSpPr>
            <p:cNvPr id="15" name="Freeform 15"/>
            <p:cNvSpPr/>
            <p:nvPr/>
          </p:nvSpPr>
          <p:spPr>
            <a:xfrm>
              <a:off x="0" y="0"/>
              <a:ext cx="991098" cy="876967"/>
            </a:xfrm>
            <a:custGeom>
              <a:avLst/>
              <a:gdLst/>
              <a:ahLst/>
              <a:cxnLst/>
              <a:rect l="l" t="t" r="r" b="b"/>
              <a:pathLst>
                <a:path w="991098" h="876967">
                  <a:moveTo>
                    <a:pt x="0" y="0"/>
                  </a:moveTo>
                  <a:lnTo>
                    <a:pt x="991098" y="0"/>
                  </a:lnTo>
                  <a:lnTo>
                    <a:pt x="991098" y="876967"/>
                  </a:lnTo>
                  <a:lnTo>
                    <a:pt x="0" y="876967"/>
                  </a:lnTo>
                  <a:close/>
                </a:path>
              </a:pathLst>
            </a:custGeom>
            <a:solidFill>
              <a:srgbClr val="E9E9E9"/>
            </a:solidFill>
            <a:ln w="9525" cap="sq">
              <a:solidFill>
                <a:srgbClr val="737373"/>
              </a:solidFill>
              <a:prstDash val="solid"/>
              <a:miter/>
            </a:ln>
          </p:spPr>
          <p:txBody>
            <a:bodyPr/>
            <a:lstStyle/>
            <a:p>
              <a:endParaRPr lang="ko-KR" altLang="en-US"/>
            </a:p>
          </p:txBody>
        </p:sp>
        <p:sp>
          <p:nvSpPr>
            <p:cNvPr id="16" name="TextBox 16"/>
            <p:cNvSpPr txBox="1"/>
            <p:nvPr/>
          </p:nvSpPr>
          <p:spPr>
            <a:xfrm>
              <a:off x="0" y="-47625"/>
              <a:ext cx="991098" cy="924592"/>
            </a:xfrm>
            <a:prstGeom prst="rect">
              <a:avLst/>
            </a:prstGeom>
          </p:spPr>
          <p:txBody>
            <a:bodyPr lIns="43627" tIns="43627" rIns="43627" bIns="43627" rtlCol="0" anchor="ctr"/>
            <a:lstStyle/>
            <a:p>
              <a:pPr marL="0" lvl="0" indent="0" algn="ctr">
                <a:lnSpc>
                  <a:spcPts val="3156"/>
                </a:lnSpc>
                <a:spcBef>
                  <a:spcPct val="0"/>
                </a:spcBef>
              </a:pPr>
              <a:endParaRPr/>
            </a:p>
          </p:txBody>
        </p:sp>
      </p:grpSp>
      <p:sp>
        <p:nvSpPr>
          <p:cNvPr id="17" name="Freeform 17">
            <a:extLst>
              <a:ext uri="{C183D7F6-B498-43B3-948B-1728B52AA6E4}">
                <adec:decorative xmlns:adec="http://schemas.microsoft.com/office/drawing/2017/decorative" val="1"/>
              </a:ext>
            </a:extLst>
          </p:cNvPr>
          <p:cNvSpPr/>
          <p:nvPr/>
        </p:nvSpPr>
        <p:spPr>
          <a:xfrm>
            <a:off x="8744016" y="4729470"/>
            <a:ext cx="907699" cy="871391"/>
          </a:xfrm>
          <a:custGeom>
            <a:avLst/>
            <a:gdLst/>
            <a:ahLst/>
            <a:cxnLst/>
            <a:rect l="l" t="t" r="r" b="b"/>
            <a:pathLst>
              <a:path w="907699" h="871391">
                <a:moveTo>
                  <a:pt x="0" y="0"/>
                </a:moveTo>
                <a:lnTo>
                  <a:pt x="907699" y="0"/>
                </a:lnTo>
                <a:lnTo>
                  <a:pt x="907699" y="871391"/>
                </a:lnTo>
                <a:lnTo>
                  <a:pt x="0" y="87139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grpSp>
        <p:nvGrpSpPr>
          <p:cNvPr id="18" name="Group 18"/>
          <p:cNvGrpSpPr/>
          <p:nvPr/>
        </p:nvGrpSpPr>
        <p:grpSpPr>
          <a:xfrm>
            <a:off x="11099210" y="4278867"/>
            <a:ext cx="3231692" cy="2859543"/>
            <a:chOff x="0" y="0"/>
            <a:chExt cx="991098" cy="876967"/>
          </a:xfrm>
        </p:grpSpPr>
        <p:sp>
          <p:nvSpPr>
            <p:cNvPr id="19" name="Freeform 19"/>
            <p:cNvSpPr/>
            <p:nvPr/>
          </p:nvSpPr>
          <p:spPr>
            <a:xfrm>
              <a:off x="0" y="0"/>
              <a:ext cx="991098" cy="876967"/>
            </a:xfrm>
            <a:custGeom>
              <a:avLst/>
              <a:gdLst/>
              <a:ahLst/>
              <a:cxnLst/>
              <a:rect l="l" t="t" r="r" b="b"/>
              <a:pathLst>
                <a:path w="991098" h="876967">
                  <a:moveTo>
                    <a:pt x="0" y="0"/>
                  </a:moveTo>
                  <a:lnTo>
                    <a:pt x="991098" y="0"/>
                  </a:lnTo>
                  <a:lnTo>
                    <a:pt x="991098" y="876967"/>
                  </a:lnTo>
                  <a:lnTo>
                    <a:pt x="0" y="876967"/>
                  </a:lnTo>
                  <a:close/>
                </a:path>
              </a:pathLst>
            </a:custGeom>
            <a:solidFill>
              <a:srgbClr val="E9E9E9"/>
            </a:solidFill>
            <a:ln w="9525" cap="sq">
              <a:solidFill>
                <a:srgbClr val="737373"/>
              </a:solidFill>
              <a:prstDash val="solid"/>
              <a:miter/>
            </a:ln>
          </p:spPr>
          <p:txBody>
            <a:bodyPr/>
            <a:lstStyle/>
            <a:p>
              <a:endParaRPr lang="ko-KR" altLang="en-US"/>
            </a:p>
          </p:txBody>
        </p:sp>
        <p:sp>
          <p:nvSpPr>
            <p:cNvPr id="20" name="TextBox 20"/>
            <p:cNvSpPr txBox="1"/>
            <p:nvPr/>
          </p:nvSpPr>
          <p:spPr>
            <a:xfrm>
              <a:off x="0" y="-47625"/>
              <a:ext cx="991098" cy="924592"/>
            </a:xfrm>
            <a:prstGeom prst="rect">
              <a:avLst/>
            </a:prstGeom>
          </p:spPr>
          <p:txBody>
            <a:bodyPr lIns="43627" tIns="43627" rIns="43627" bIns="43627" rtlCol="0" anchor="ctr"/>
            <a:lstStyle/>
            <a:p>
              <a:pPr marL="0" lvl="0" indent="0" algn="ctr">
                <a:lnSpc>
                  <a:spcPts val="3156"/>
                </a:lnSpc>
                <a:spcBef>
                  <a:spcPct val="0"/>
                </a:spcBef>
              </a:pPr>
              <a:endParaRPr/>
            </a:p>
          </p:txBody>
        </p:sp>
      </p:grpSp>
      <p:grpSp>
        <p:nvGrpSpPr>
          <p:cNvPr id="21" name="Group 21"/>
          <p:cNvGrpSpPr/>
          <p:nvPr/>
        </p:nvGrpSpPr>
        <p:grpSpPr>
          <a:xfrm>
            <a:off x="3448341" y="5364411"/>
            <a:ext cx="688455" cy="68845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txBody>
            <a:bodyPr/>
            <a:lstStyle/>
            <a:p>
              <a:endParaRPr lang="ko-KR" altLang="en-US"/>
            </a:p>
          </p:txBody>
        </p:sp>
        <p:sp>
          <p:nvSpPr>
            <p:cNvPr id="23" name="TextBox 23"/>
            <p:cNvSpPr txBox="1"/>
            <p:nvPr/>
          </p:nvSpPr>
          <p:spPr>
            <a:xfrm>
              <a:off x="76200" y="38100"/>
              <a:ext cx="660400" cy="698500"/>
            </a:xfrm>
            <a:prstGeom prst="rect">
              <a:avLst/>
            </a:prstGeom>
          </p:spPr>
          <p:txBody>
            <a:bodyPr lIns="43627" tIns="43627" rIns="43627" bIns="43627" rtlCol="0" anchor="ctr"/>
            <a:lstStyle/>
            <a:p>
              <a:pPr algn="ctr">
                <a:lnSpc>
                  <a:spcPts val="2520"/>
                </a:lnSpc>
              </a:pPr>
              <a:endParaRPr/>
            </a:p>
          </p:txBody>
        </p:sp>
      </p:grpSp>
      <p:sp>
        <p:nvSpPr>
          <p:cNvPr id="24" name="Freeform 24">
            <a:extLst>
              <a:ext uri="{C183D7F6-B498-43B3-948B-1728B52AA6E4}">
                <adec:decorative xmlns:adec="http://schemas.microsoft.com/office/drawing/2017/decorative" val="1"/>
              </a:ext>
            </a:extLst>
          </p:cNvPr>
          <p:cNvSpPr/>
          <p:nvPr/>
        </p:nvSpPr>
        <p:spPr>
          <a:xfrm>
            <a:off x="3686270" y="5554506"/>
            <a:ext cx="212597" cy="308266"/>
          </a:xfrm>
          <a:custGeom>
            <a:avLst/>
            <a:gdLst/>
            <a:ahLst/>
            <a:cxnLst/>
            <a:rect l="l" t="t" r="r" b="b"/>
            <a:pathLst>
              <a:path w="212597" h="308266">
                <a:moveTo>
                  <a:pt x="0" y="0"/>
                </a:moveTo>
                <a:lnTo>
                  <a:pt x="212597" y="0"/>
                </a:lnTo>
                <a:lnTo>
                  <a:pt x="212597" y="308266"/>
                </a:lnTo>
                <a:lnTo>
                  <a:pt x="0" y="3082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ko-KR" altLang="en-US"/>
          </a:p>
        </p:txBody>
      </p:sp>
      <p:grpSp>
        <p:nvGrpSpPr>
          <p:cNvPr id="25" name="Group 25"/>
          <p:cNvGrpSpPr/>
          <p:nvPr/>
        </p:nvGrpSpPr>
        <p:grpSpPr>
          <a:xfrm>
            <a:off x="10590051" y="5364411"/>
            <a:ext cx="688455" cy="688455"/>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txBody>
            <a:bodyPr/>
            <a:lstStyle/>
            <a:p>
              <a:endParaRPr lang="ko-KR" altLang="en-US"/>
            </a:p>
          </p:txBody>
        </p:sp>
        <p:sp>
          <p:nvSpPr>
            <p:cNvPr id="27" name="TextBox 27"/>
            <p:cNvSpPr txBox="1"/>
            <p:nvPr/>
          </p:nvSpPr>
          <p:spPr>
            <a:xfrm>
              <a:off x="76200" y="38100"/>
              <a:ext cx="660400" cy="698500"/>
            </a:xfrm>
            <a:prstGeom prst="rect">
              <a:avLst/>
            </a:prstGeom>
          </p:spPr>
          <p:txBody>
            <a:bodyPr lIns="43627" tIns="43627" rIns="43627" bIns="43627" rtlCol="0" anchor="ctr"/>
            <a:lstStyle/>
            <a:p>
              <a:pPr algn="ctr">
                <a:lnSpc>
                  <a:spcPts val="2520"/>
                </a:lnSpc>
              </a:pPr>
              <a:endParaRPr/>
            </a:p>
          </p:txBody>
        </p:sp>
      </p:grpSp>
      <p:sp>
        <p:nvSpPr>
          <p:cNvPr id="28" name="Freeform 28">
            <a:extLst>
              <a:ext uri="{C183D7F6-B498-43B3-948B-1728B52AA6E4}">
                <adec:decorative xmlns:adec="http://schemas.microsoft.com/office/drawing/2017/decorative" val="1"/>
              </a:ext>
            </a:extLst>
          </p:cNvPr>
          <p:cNvSpPr/>
          <p:nvPr/>
        </p:nvSpPr>
        <p:spPr>
          <a:xfrm>
            <a:off x="10827980" y="5554506"/>
            <a:ext cx="212597" cy="308266"/>
          </a:xfrm>
          <a:custGeom>
            <a:avLst/>
            <a:gdLst/>
            <a:ahLst/>
            <a:cxnLst/>
            <a:rect l="l" t="t" r="r" b="b"/>
            <a:pathLst>
              <a:path w="212597" h="308266">
                <a:moveTo>
                  <a:pt x="0" y="0"/>
                </a:moveTo>
                <a:lnTo>
                  <a:pt x="212597" y="0"/>
                </a:lnTo>
                <a:lnTo>
                  <a:pt x="212597" y="308266"/>
                </a:lnTo>
                <a:lnTo>
                  <a:pt x="0" y="3082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ko-KR" altLang="en-US"/>
          </a:p>
        </p:txBody>
      </p:sp>
      <p:grpSp>
        <p:nvGrpSpPr>
          <p:cNvPr id="29" name="Group 29"/>
          <p:cNvGrpSpPr/>
          <p:nvPr/>
        </p:nvGrpSpPr>
        <p:grpSpPr>
          <a:xfrm>
            <a:off x="7017336" y="5364411"/>
            <a:ext cx="688455" cy="688455"/>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txBody>
            <a:bodyPr/>
            <a:lstStyle/>
            <a:p>
              <a:endParaRPr lang="ko-KR" altLang="en-US"/>
            </a:p>
          </p:txBody>
        </p:sp>
        <p:sp>
          <p:nvSpPr>
            <p:cNvPr id="31" name="TextBox 31"/>
            <p:cNvSpPr txBox="1"/>
            <p:nvPr/>
          </p:nvSpPr>
          <p:spPr>
            <a:xfrm>
              <a:off x="76200" y="38100"/>
              <a:ext cx="660400" cy="698500"/>
            </a:xfrm>
            <a:prstGeom prst="rect">
              <a:avLst/>
            </a:prstGeom>
          </p:spPr>
          <p:txBody>
            <a:bodyPr lIns="43627" tIns="43627" rIns="43627" bIns="43627" rtlCol="0" anchor="ctr"/>
            <a:lstStyle/>
            <a:p>
              <a:pPr algn="ctr">
                <a:lnSpc>
                  <a:spcPts val="2520"/>
                </a:lnSpc>
              </a:pPr>
              <a:endParaRPr/>
            </a:p>
          </p:txBody>
        </p:sp>
      </p:grpSp>
      <p:sp>
        <p:nvSpPr>
          <p:cNvPr id="32" name="Freeform 32">
            <a:extLst>
              <a:ext uri="{C183D7F6-B498-43B3-948B-1728B52AA6E4}">
                <adec:decorative xmlns:adec="http://schemas.microsoft.com/office/drawing/2017/decorative" val="1"/>
              </a:ext>
            </a:extLst>
          </p:cNvPr>
          <p:cNvSpPr/>
          <p:nvPr/>
        </p:nvSpPr>
        <p:spPr>
          <a:xfrm>
            <a:off x="7255265" y="5554506"/>
            <a:ext cx="212597" cy="308266"/>
          </a:xfrm>
          <a:custGeom>
            <a:avLst/>
            <a:gdLst/>
            <a:ahLst/>
            <a:cxnLst/>
            <a:rect l="l" t="t" r="r" b="b"/>
            <a:pathLst>
              <a:path w="212597" h="308266">
                <a:moveTo>
                  <a:pt x="0" y="0"/>
                </a:moveTo>
                <a:lnTo>
                  <a:pt x="212597" y="0"/>
                </a:lnTo>
                <a:lnTo>
                  <a:pt x="212597" y="308266"/>
                </a:lnTo>
                <a:lnTo>
                  <a:pt x="0" y="3082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ko-KR" altLang="en-US"/>
          </a:p>
        </p:txBody>
      </p:sp>
      <p:grpSp>
        <p:nvGrpSpPr>
          <p:cNvPr id="33" name="Group 33"/>
          <p:cNvGrpSpPr/>
          <p:nvPr/>
        </p:nvGrpSpPr>
        <p:grpSpPr>
          <a:xfrm>
            <a:off x="14664083" y="4278867"/>
            <a:ext cx="3231692" cy="2859543"/>
            <a:chOff x="0" y="0"/>
            <a:chExt cx="991098" cy="876967"/>
          </a:xfrm>
        </p:grpSpPr>
        <p:sp>
          <p:nvSpPr>
            <p:cNvPr id="34" name="Freeform 34"/>
            <p:cNvSpPr/>
            <p:nvPr/>
          </p:nvSpPr>
          <p:spPr>
            <a:xfrm>
              <a:off x="0" y="0"/>
              <a:ext cx="991098" cy="876967"/>
            </a:xfrm>
            <a:custGeom>
              <a:avLst/>
              <a:gdLst/>
              <a:ahLst/>
              <a:cxnLst/>
              <a:rect l="l" t="t" r="r" b="b"/>
              <a:pathLst>
                <a:path w="991098" h="876967">
                  <a:moveTo>
                    <a:pt x="0" y="0"/>
                  </a:moveTo>
                  <a:lnTo>
                    <a:pt x="991098" y="0"/>
                  </a:lnTo>
                  <a:lnTo>
                    <a:pt x="991098" y="876967"/>
                  </a:lnTo>
                  <a:lnTo>
                    <a:pt x="0" y="876967"/>
                  </a:lnTo>
                  <a:close/>
                </a:path>
              </a:pathLst>
            </a:custGeom>
            <a:solidFill>
              <a:srgbClr val="E9E9E9"/>
            </a:solidFill>
            <a:ln w="9525" cap="sq">
              <a:solidFill>
                <a:srgbClr val="737373"/>
              </a:solidFill>
              <a:prstDash val="solid"/>
              <a:miter/>
            </a:ln>
          </p:spPr>
          <p:txBody>
            <a:bodyPr/>
            <a:lstStyle/>
            <a:p>
              <a:endParaRPr lang="ko-KR" altLang="en-US"/>
            </a:p>
          </p:txBody>
        </p:sp>
        <p:sp>
          <p:nvSpPr>
            <p:cNvPr id="35" name="TextBox 35"/>
            <p:cNvSpPr txBox="1"/>
            <p:nvPr/>
          </p:nvSpPr>
          <p:spPr>
            <a:xfrm>
              <a:off x="0" y="-47625"/>
              <a:ext cx="991098" cy="924592"/>
            </a:xfrm>
            <a:prstGeom prst="rect">
              <a:avLst/>
            </a:prstGeom>
          </p:spPr>
          <p:txBody>
            <a:bodyPr lIns="43627" tIns="43627" rIns="43627" bIns="43627" rtlCol="0" anchor="ctr"/>
            <a:lstStyle/>
            <a:p>
              <a:pPr marL="0" lvl="0" indent="0" algn="ctr">
                <a:lnSpc>
                  <a:spcPts val="3156"/>
                </a:lnSpc>
                <a:spcBef>
                  <a:spcPct val="0"/>
                </a:spcBef>
              </a:pPr>
              <a:endParaRPr/>
            </a:p>
          </p:txBody>
        </p:sp>
      </p:grpSp>
      <p:grpSp>
        <p:nvGrpSpPr>
          <p:cNvPr id="36" name="Group 36"/>
          <p:cNvGrpSpPr/>
          <p:nvPr/>
        </p:nvGrpSpPr>
        <p:grpSpPr>
          <a:xfrm>
            <a:off x="14154924" y="5364411"/>
            <a:ext cx="688455" cy="688455"/>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txBody>
            <a:bodyPr/>
            <a:lstStyle/>
            <a:p>
              <a:endParaRPr lang="ko-KR" altLang="en-US"/>
            </a:p>
          </p:txBody>
        </p:sp>
        <p:sp>
          <p:nvSpPr>
            <p:cNvPr id="38" name="TextBox 38"/>
            <p:cNvSpPr txBox="1"/>
            <p:nvPr/>
          </p:nvSpPr>
          <p:spPr>
            <a:xfrm>
              <a:off x="76200" y="38100"/>
              <a:ext cx="660400" cy="698500"/>
            </a:xfrm>
            <a:prstGeom prst="rect">
              <a:avLst/>
            </a:prstGeom>
          </p:spPr>
          <p:txBody>
            <a:bodyPr lIns="43627" tIns="43627" rIns="43627" bIns="43627" rtlCol="0" anchor="ctr"/>
            <a:lstStyle/>
            <a:p>
              <a:pPr algn="ctr">
                <a:lnSpc>
                  <a:spcPts val="2520"/>
                </a:lnSpc>
              </a:pPr>
              <a:endParaRPr/>
            </a:p>
          </p:txBody>
        </p:sp>
      </p:grpSp>
      <p:sp>
        <p:nvSpPr>
          <p:cNvPr id="39" name="Freeform 39">
            <a:extLst>
              <a:ext uri="{C183D7F6-B498-43B3-948B-1728B52AA6E4}">
                <adec:decorative xmlns:adec="http://schemas.microsoft.com/office/drawing/2017/decorative" val="1"/>
              </a:ext>
            </a:extLst>
          </p:cNvPr>
          <p:cNvSpPr/>
          <p:nvPr/>
        </p:nvSpPr>
        <p:spPr>
          <a:xfrm>
            <a:off x="14392853" y="5554506"/>
            <a:ext cx="212597" cy="308266"/>
          </a:xfrm>
          <a:custGeom>
            <a:avLst/>
            <a:gdLst/>
            <a:ahLst/>
            <a:cxnLst/>
            <a:rect l="l" t="t" r="r" b="b"/>
            <a:pathLst>
              <a:path w="212597" h="308266">
                <a:moveTo>
                  <a:pt x="0" y="0"/>
                </a:moveTo>
                <a:lnTo>
                  <a:pt x="212597" y="0"/>
                </a:lnTo>
                <a:lnTo>
                  <a:pt x="212597" y="308266"/>
                </a:lnTo>
                <a:lnTo>
                  <a:pt x="0" y="3082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ko-KR" altLang="en-US"/>
          </a:p>
        </p:txBody>
      </p:sp>
      <p:sp>
        <p:nvSpPr>
          <p:cNvPr id="40" name="Freeform 40">
            <a:extLst>
              <a:ext uri="{C183D7F6-B498-43B3-948B-1728B52AA6E4}">
                <adec:decorative xmlns:adec="http://schemas.microsoft.com/office/drawing/2017/decorative" val="1"/>
              </a:ext>
            </a:extLst>
          </p:cNvPr>
          <p:cNvSpPr/>
          <p:nvPr/>
        </p:nvSpPr>
        <p:spPr>
          <a:xfrm>
            <a:off x="12316731" y="4817480"/>
            <a:ext cx="903728" cy="727501"/>
          </a:xfrm>
          <a:custGeom>
            <a:avLst/>
            <a:gdLst/>
            <a:ahLst/>
            <a:cxnLst/>
            <a:rect l="l" t="t" r="r" b="b"/>
            <a:pathLst>
              <a:path w="903728" h="727501">
                <a:moveTo>
                  <a:pt x="0" y="0"/>
                </a:moveTo>
                <a:lnTo>
                  <a:pt x="903728" y="0"/>
                </a:lnTo>
                <a:lnTo>
                  <a:pt x="903728" y="727501"/>
                </a:lnTo>
                <a:lnTo>
                  <a:pt x="0" y="727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ko-KR" altLang="en-US"/>
          </a:p>
        </p:txBody>
      </p:sp>
      <p:sp>
        <p:nvSpPr>
          <p:cNvPr id="41" name="Freeform 41">
            <a:extLst>
              <a:ext uri="{C183D7F6-B498-43B3-948B-1728B52AA6E4}">
                <adec:decorative xmlns:adec="http://schemas.microsoft.com/office/drawing/2017/decorative" val="1"/>
              </a:ext>
            </a:extLst>
          </p:cNvPr>
          <p:cNvSpPr/>
          <p:nvPr/>
        </p:nvSpPr>
        <p:spPr>
          <a:xfrm>
            <a:off x="15967832" y="4779766"/>
            <a:ext cx="622269" cy="802928"/>
          </a:xfrm>
          <a:custGeom>
            <a:avLst/>
            <a:gdLst/>
            <a:ahLst/>
            <a:cxnLst/>
            <a:rect l="l" t="t" r="r" b="b"/>
            <a:pathLst>
              <a:path w="622269" h="802928">
                <a:moveTo>
                  <a:pt x="0" y="0"/>
                </a:moveTo>
                <a:lnTo>
                  <a:pt x="622269" y="0"/>
                </a:lnTo>
                <a:lnTo>
                  <a:pt x="622269" y="802929"/>
                </a:lnTo>
                <a:lnTo>
                  <a:pt x="0" y="80292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ko-KR" altLang="en-US"/>
          </a:p>
        </p:txBody>
      </p:sp>
      <p:sp>
        <p:nvSpPr>
          <p:cNvPr id="42" name="Freeform 42">
            <a:extLst>
              <a:ext uri="{C183D7F6-B498-43B3-948B-1728B52AA6E4}">
                <adec:decorative xmlns:adec="http://schemas.microsoft.com/office/drawing/2017/decorative" val="1"/>
              </a:ext>
            </a:extLst>
          </p:cNvPr>
          <p:cNvSpPr/>
          <p:nvPr/>
        </p:nvSpPr>
        <p:spPr>
          <a:xfrm>
            <a:off x="5111954" y="4908567"/>
            <a:ext cx="692295" cy="692295"/>
          </a:xfrm>
          <a:custGeom>
            <a:avLst/>
            <a:gdLst/>
            <a:ahLst/>
            <a:cxnLst/>
            <a:rect l="l" t="t" r="r" b="b"/>
            <a:pathLst>
              <a:path w="692295" h="692295">
                <a:moveTo>
                  <a:pt x="0" y="0"/>
                </a:moveTo>
                <a:lnTo>
                  <a:pt x="692295" y="0"/>
                </a:lnTo>
                <a:lnTo>
                  <a:pt x="692295" y="692294"/>
                </a:lnTo>
                <a:lnTo>
                  <a:pt x="0" y="69229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ko-KR" altLang="en-US"/>
          </a:p>
        </p:txBody>
      </p:sp>
      <p:sp>
        <p:nvSpPr>
          <p:cNvPr id="43" name="Freeform 43">
            <a:extLst>
              <a:ext uri="{C183D7F6-B498-43B3-948B-1728B52AA6E4}">
                <adec:decorative xmlns:adec="http://schemas.microsoft.com/office/drawing/2017/decorative" val="1"/>
              </a:ext>
            </a:extLst>
          </p:cNvPr>
          <p:cNvSpPr/>
          <p:nvPr/>
        </p:nvSpPr>
        <p:spPr>
          <a:xfrm>
            <a:off x="1616380" y="4863023"/>
            <a:ext cx="783381" cy="783381"/>
          </a:xfrm>
          <a:custGeom>
            <a:avLst/>
            <a:gdLst/>
            <a:ahLst/>
            <a:cxnLst/>
            <a:rect l="l" t="t" r="r" b="b"/>
            <a:pathLst>
              <a:path w="783381" h="783381">
                <a:moveTo>
                  <a:pt x="0" y="0"/>
                </a:moveTo>
                <a:lnTo>
                  <a:pt x="783382" y="0"/>
                </a:lnTo>
                <a:lnTo>
                  <a:pt x="783382" y="783382"/>
                </a:lnTo>
                <a:lnTo>
                  <a:pt x="0" y="78338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ko-KR" altLang="en-US"/>
          </a:p>
        </p:txBody>
      </p:sp>
      <p:sp>
        <p:nvSpPr>
          <p:cNvPr id="44" name="TextBox 44"/>
          <p:cNvSpPr txBox="1"/>
          <p:nvPr/>
        </p:nvSpPr>
        <p:spPr>
          <a:xfrm>
            <a:off x="392225" y="7437034"/>
            <a:ext cx="3231692" cy="488315"/>
          </a:xfrm>
          <a:prstGeom prst="rect">
            <a:avLst/>
          </a:prstGeom>
        </p:spPr>
        <p:txBody>
          <a:bodyPr lIns="0" tIns="0" rIns="0" bIns="0" rtlCol="0" anchor="t">
            <a:spAutoFit/>
          </a:bodyPr>
          <a:lstStyle/>
          <a:p>
            <a:pPr marL="0" lvl="0" indent="0" algn="ctr">
              <a:lnSpc>
                <a:spcPts val="1960"/>
              </a:lnSpc>
              <a:spcBef>
                <a:spcPct val="0"/>
              </a:spcBef>
            </a:pPr>
            <a:r>
              <a:rPr lang="en-US" sz="1400">
                <a:solidFill>
                  <a:srgbClr val="282828"/>
                </a:solidFill>
                <a:latin typeface="프리텐다드"/>
                <a:ea typeface="프리텐다드"/>
                <a:cs typeface="프리텐다드"/>
                <a:sym typeface="프리텐다드"/>
              </a:rPr>
              <a:t>환자가 의료영상의 공유 대상 병원, 접근 목적 및 유효기간을 설정하여 정보 제공에 동의</a:t>
            </a:r>
          </a:p>
        </p:txBody>
      </p:sp>
      <p:sp>
        <p:nvSpPr>
          <p:cNvPr id="45" name="TextBox 45"/>
          <p:cNvSpPr txBox="1"/>
          <p:nvPr/>
        </p:nvSpPr>
        <p:spPr>
          <a:xfrm>
            <a:off x="1103959" y="6285929"/>
            <a:ext cx="1808224" cy="397728"/>
          </a:xfrm>
          <a:prstGeom prst="rect">
            <a:avLst/>
          </a:prstGeom>
        </p:spPr>
        <p:txBody>
          <a:bodyPr lIns="0" tIns="0" rIns="0" bIns="0" rtlCol="0" anchor="t">
            <a:spAutoFit/>
          </a:bodyPr>
          <a:lstStyle/>
          <a:p>
            <a:pPr algn="ctr">
              <a:lnSpc>
                <a:spcPts val="3246"/>
              </a:lnSpc>
              <a:spcBef>
                <a:spcPct val="0"/>
              </a:spcBef>
            </a:pPr>
            <a:r>
              <a:rPr lang="en-US" sz="2318" b="1">
                <a:solidFill>
                  <a:srgbClr val="282828"/>
                </a:solidFill>
                <a:latin typeface="프리텐다드 Bold"/>
                <a:ea typeface="프리텐다드 Bold"/>
                <a:cs typeface="프리텐다드 Bold"/>
                <a:sym typeface="프리텐다드 Bold"/>
              </a:rPr>
              <a:t>환자 동의</a:t>
            </a:r>
          </a:p>
        </p:txBody>
      </p:sp>
      <p:sp>
        <p:nvSpPr>
          <p:cNvPr id="46" name="TextBox 46"/>
          <p:cNvSpPr txBox="1"/>
          <p:nvPr/>
        </p:nvSpPr>
        <p:spPr>
          <a:xfrm>
            <a:off x="1103959" y="5868607"/>
            <a:ext cx="1808224" cy="282954"/>
          </a:xfrm>
          <a:prstGeom prst="rect">
            <a:avLst/>
          </a:prstGeom>
        </p:spPr>
        <p:txBody>
          <a:bodyPr lIns="0" tIns="0" rIns="0" bIns="0" rtlCol="0" anchor="t">
            <a:spAutoFit/>
          </a:bodyPr>
          <a:lstStyle/>
          <a:p>
            <a:pPr algn="ctr">
              <a:lnSpc>
                <a:spcPts val="2284"/>
              </a:lnSpc>
              <a:spcBef>
                <a:spcPct val="0"/>
              </a:spcBef>
            </a:pPr>
            <a:r>
              <a:rPr lang="en-US" sz="1631">
                <a:solidFill>
                  <a:srgbClr val="2A59C5"/>
                </a:solidFill>
                <a:latin typeface="프리텐다드"/>
                <a:ea typeface="프리텐다드"/>
                <a:cs typeface="프리텐다드"/>
                <a:sym typeface="프리텐다드"/>
              </a:rPr>
              <a:t>STEP 01</a:t>
            </a:r>
          </a:p>
        </p:txBody>
      </p:sp>
      <p:sp>
        <p:nvSpPr>
          <p:cNvPr id="47" name="TextBox 47"/>
          <p:cNvSpPr txBox="1"/>
          <p:nvPr/>
        </p:nvSpPr>
        <p:spPr>
          <a:xfrm>
            <a:off x="3961220" y="7437034"/>
            <a:ext cx="3231692" cy="488315"/>
          </a:xfrm>
          <a:prstGeom prst="rect">
            <a:avLst/>
          </a:prstGeom>
        </p:spPr>
        <p:txBody>
          <a:bodyPr lIns="0" tIns="0" rIns="0" bIns="0" rtlCol="0" anchor="t">
            <a:spAutoFit/>
          </a:bodyPr>
          <a:lstStyle/>
          <a:p>
            <a:pPr marL="0" lvl="0" indent="0" algn="ctr">
              <a:lnSpc>
                <a:spcPts val="1960"/>
              </a:lnSpc>
              <a:spcBef>
                <a:spcPct val="0"/>
              </a:spcBef>
            </a:pPr>
            <a:r>
              <a:rPr lang="en-US" sz="1400">
                <a:solidFill>
                  <a:srgbClr val="282828"/>
                </a:solidFill>
                <a:latin typeface="프리텐다드"/>
                <a:ea typeface="프리텐다드"/>
                <a:cs typeface="프리텐다드"/>
                <a:sym typeface="프리텐다드"/>
              </a:rPr>
              <a:t>RBAC·ABAC 기반으로 의료진의 권한과 환자 동의 범위를 검증하여 접근 허용 여부를 결정</a:t>
            </a:r>
          </a:p>
        </p:txBody>
      </p:sp>
      <p:sp>
        <p:nvSpPr>
          <p:cNvPr id="48" name="TextBox 48"/>
          <p:cNvSpPr txBox="1"/>
          <p:nvPr/>
        </p:nvSpPr>
        <p:spPr>
          <a:xfrm>
            <a:off x="4672954" y="6285929"/>
            <a:ext cx="1808224" cy="397728"/>
          </a:xfrm>
          <a:prstGeom prst="rect">
            <a:avLst/>
          </a:prstGeom>
        </p:spPr>
        <p:txBody>
          <a:bodyPr lIns="0" tIns="0" rIns="0" bIns="0" rtlCol="0" anchor="t">
            <a:spAutoFit/>
          </a:bodyPr>
          <a:lstStyle/>
          <a:p>
            <a:pPr algn="ctr">
              <a:lnSpc>
                <a:spcPts val="3246"/>
              </a:lnSpc>
              <a:spcBef>
                <a:spcPct val="0"/>
              </a:spcBef>
            </a:pPr>
            <a:r>
              <a:rPr lang="en-US" sz="2318" b="1">
                <a:solidFill>
                  <a:srgbClr val="282828"/>
                </a:solidFill>
                <a:latin typeface="프리텐다드 Bold"/>
                <a:ea typeface="프리텐다드 Bold"/>
                <a:cs typeface="프리텐다드 Bold"/>
                <a:sym typeface="프리텐다드 Bold"/>
              </a:rPr>
              <a:t>접근정책 검증</a:t>
            </a:r>
          </a:p>
        </p:txBody>
      </p:sp>
      <p:sp>
        <p:nvSpPr>
          <p:cNvPr id="49" name="TextBox 49"/>
          <p:cNvSpPr txBox="1"/>
          <p:nvPr/>
        </p:nvSpPr>
        <p:spPr>
          <a:xfrm>
            <a:off x="4672954" y="5868607"/>
            <a:ext cx="1808224" cy="282954"/>
          </a:xfrm>
          <a:prstGeom prst="rect">
            <a:avLst/>
          </a:prstGeom>
        </p:spPr>
        <p:txBody>
          <a:bodyPr lIns="0" tIns="0" rIns="0" bIns="0" rtlCol="0" anchor="t">
            <a:spAutoFit/>
          </a:bodyPr>
          <a:lstStyle/>
          <a:p>
            <a:pPr algn="ctr">
              <a:lnSpc>
                <a:spcPts val="2284"/>
              </a:lnSpc>
              <a:spcBef>
                <a:spcPct val="0"/>
              </a:spcBef>
            </a:pPr>
            <a:r>
              <a:rPr lang="en-US" sz="1631">
                <a:solidFill>
                  <a:srgbClr val="2A59C5"/>
                </a:solidFill>
                <a:latin typeface="프리텐다드"/>
                <a:ea typeface="프리텐다드"/>
                <a:cs typeface="프리텐다드"/>
                <a:sym typeface="프리텐다드"/>
              </a:rPr>
              <a:t>STEP 02</a:t>
            </a:r>
          </a:p>
        </p:txBody>
      </p:sp>
      <p:sp>
        <p:nvSpPr>
          <p:cNvPr id="50" name="TextBox 50"/>
          <p:cNvSpPr txBox="1"/>
          <p:nvPr/>
        </p:nvSpPr>
        <p:spPr>
          <a:xfrm>
            <a:off x="7530215" y="7437034"/>
            <a:ext cx="3231692" cy="488315"/>
          </a:xfrm>
          <a:prstGeom prst="rect">
            <a:avLst/>
          </a:prstGeom>
        </p:spPr>
        <p:txBody>
          <a:bodyPr lIns="0" tIns="0" rIns="0" bIns="0" rtlCol="0" anchor="t">
            <a:spAutoFit/>
          </a:bodyPr>
          <a:lstStyle/>
          <a:p>
            <a:pPr algn="ctr">
              <a:lnSpc>
                <a:spcPts val="1960"/>
              </a:lnSpc>
            </a:pPr>
            <a:r>
              <a:rPr lang="en-US" sz="1400">
                <a:solidFill>
                  <a:srgbClr val="282828"/>
                </a:solidFill>
                <a:latin typeface="프리텐다드"/>
                <a:ea typeface="프리텐다드"/>
                <a:cs typeface="프리텐다드"/>
                <a:sym typeface="프리텐다드"/>
              </a:rPr>
              <a:t>접근정책 검증을 통과한 의료진에게 </a:t>
            </a:r>
          </a:p>
          <a:p>
            <a:pPr marL="0" lvl="0" indent="0" algn="ctr">
              <a:lnSpc>
                <a:spcPts val="1960"/>
              </a:lnSpc>
              <a:spcBef>
                <a:spcPct val="0"/>
              </a:spcBef>
            </a:pPr>
            <a:r>
              <a:rPr lang="en-US" sz="1400">
                <a:solidFill>
                  <a:srgbClr val="282828"/>
                </a:solidFill>
                <a:latin typeface="프리텐다드"/>
                <a:ea typeface="프리텐다드"/>
                <a:cs typeface="프리텐다드"/>
                <a:sym typeface="프리텐다드"/>
              </a:rPr>
              <a:t>5분간 유효한 DICOMweb 접근토큰을 발급</a:t>
            </a:r>
          </a:p>
        </p:txBody>
      </p:sp>
      <p:sp>
        <p:nvSpPr>
          <p:cNvPr id="51" name="TextBox 51"/>
          <p:cNvSpPr txBox="1"/>
          <p:nvPr/>
        </p:nvSpPr>
        <p:spPr>
          <a:xfrm>
            <a:off x="8241949" y="6285929"/>
            <a:ext cx="1808224" cy="397728"/>
          </a:xfrm>
          <a:prstGeom prst="rect">
            <a:avLst/>
          </a:prstGeom>
        </p:spPr>
        <p:txBody>
          <a:bodyPr lIns="0" tIns="0" rIns="0" bIns="0" rtlCol="0" anchor="t">
            <a:spAutoFit/>
          </a:bodyPr>
          <a:lstStyle/>
          <a:p>
            <a:pPr algn="ctr">
              <a:lnSpc>
                <a:spcPts val="3246"/>
              </a:lnSpc>
              <a:spcBef>
                <a:spcPct val="0"/>
              </a:spcBef>
            </a:pPr>
            <a:r>
              <a:rPr lang="en-US" sz="2318" b="1">
                <a:solidFill>
                  <a:srgbClr val="282828"/>
                </a:solidFill>
                <a:latin typeface="프리텐다드 Bold"/>
                <a:ea typeface="프리텐다드 Bold"/>
                <a:cs typeface="프리텐다드 Bold"/>
                <a:sym typeface="프리텐다드 Bold"/>
              </a:rPr>
              <a:t>단기 토큰 발급</a:t>
            </a:r>
          </a:p>
        </p:txBody>
      </p:sp>
      <p:sp>
        <p:nvSpPr>
          <p:cNvPr id="52" name="TextBox 52"/>
          <p:cNvSpPr txBox="1"/>
          <p:nvPr/>
        </p:nvSpPr>
        <p:spPr>
          <a:xfrm>
            <a:off x="8241949" y="5868607"/>
            <a:ext cx="1808224" cy="282954"/>
          </a:xfrm>
          <a:prstGeom prst="rect">
            <a:avLst/>
          </a:prstGeom>
        </p:spPr>
        <p:txBody>
          <a:bodyPr lIns="0" tIns="0" rIns="0" bIns="0" rtlCol="0" anchor="t">
            <a:spAutoFit/>
          </a:bodyPr>
          <a:lstStyle/>
          <a:p>
            <a:pPr algn="ctr">
              <a:lnSpc>
                <a:spcPts val="2284"/>
              </a:lnSpc>
              <a:spcBef>
                <a:spcPct val="0"/>
              </a:spcBef>
            </a:pPr>
            <a:r>
              <a:rPr lang="en-US" sz="1631">
                <a:solidFill>
                  <a:srgbClr val="2A59C5"/>
                </a:solidFill>
                <a:latin typeface="프리텐다드"/>
                <a:ea typeface="프리텐다드"/>
                <a:cs typeface="프리텐다드"/>
                <a:sym typeface="프리텐다드"/>
              </a:rPr>
              <a:t>STEP 03</a:t>
            </a:r>
          </a:p>
        </p:txBody>
      </p:sp>
      <p:sp>
        <p:nvSpPr>
          <p:cNvPr id="53" name="TextBox 53"/>
          <p:cNvSpPr txBox="1"/>
          <p:nvPr/>
        </p:nvSpPr>
        <p:spPr>
          <a:xfrm>
            <a:off x="11099210" y="7437034"/>
            <a:ext cx="3231692" cy="488315"/>
          </a:xfrm>
          <a:prstGeom prst="rect">
            <a:avLst/>
          </a:prstGeom>
        </p:spPr>
        <p:txBody>
          <a:bodyPr lIns="0" tIns="0" rIns="0" bIns="0" rtlCol="0" anchor="t">
            <a:spAutoFit/>
          </a:bodyPr>
          <a:lstStyle/>
          <a:p>
            <a:pPr marL="0" lvl="0" indent="0" algn="ctr">
              <a:lnSpc>
                <a:spcPts val="1960"/>
              </a:lnSpc>
              <a:spcBef>
                <a:spcPct val="0"/>
              </a:spcBef>
            </a:pPr>
            <a:r>
              <a:rPr lang="en-US" sz="1400">
                <a:solidFill>
                  <a:srgbClr val="282828"/>
                </a:solidFill>
                <a:latin typeface="프리텐다드"/>
                <a:ea typeface="프리텐다드"/>
                <a:cs typeface="프리텐다드"/>
                <a:sym typeface="프리텐다드"/>
              </a:rPr>
              <a:t>Gateway에서 토큰을 검증한 후 승인된 의료영상만 DICOM Viewer를 통해 조회</a:t>
            </a:r>
          </a:p>
        </p:txBody>
      </p:sp>
      <p:sp>
        <p:nvSpPr>
          <p:cNvPr id="54" name="TextBox 54"/>
          <p:cNvSpPr txBox="1"/>
          <p:nvPr/>
        </p:nvSpPr>
        <p:spPr>
          <a:xfrm>
            <a:off x="11097286" y="6285929"/>
            <a:ext cx="3233616" cy="397728"/>
          </a:xfrm>
          <a:prstGeom prst="rect">
            <a:avLst/>
          </a:prstGeom>
        </p:spPr>
        <p:txBody>
          <a:bodyPr lIns="0" tIns="0" rIns="0" bIns="0" rtlCol="0" anchor="t">
            <a:spAutoFit/>
          </a:bodyPr>
          <a:lstStyle/>
          <a:p>
            <a:pPr algn="ctr">
              <a:lnSpc>
                <a:spcPts val="3246"/>
              </a:lnSpc>
              <a:spcBef>
                <a:spcPct val="0"/>
              </a:spcBef>
            </a:pPr>
            <a:r>
              <a:rPr lang="en-US" sz="2318" b="1">
                <a:solidFill>
                  <a:srgbClr val="282828"/>
                </a:solidFill>
                <a:latin typeface="프리텐다드 Bold"/>
                <a:ea typeface="프리텐다드 Bold"/>
                <a:cs typeface="프리텐다드 Bold"/>
                <a:sym typeface="프리텐다드 Bold"/>
              </a:rPr>
              <a:t>DICOM 영상 조회</a:t>
            </a:r>
          </a:p>
        </p:txBody>
      </p:sp>
      <p:sp>
        <p:nvSpPr>
          <p:cNvPr id="55" name="TextBox 55"/>
          <p:cNvSpPr txBox="1"/>
          <p:nvPr/>
        </p:nvSpPr>
        <p:spPr>
          <a:xfrm>
            <a:off x="11810944" y="5868607"/>
            <a:ext cx="1808224" cy="282954"/>
          </a:xfrm>
          <a:prstGeom prst="rect">
            <a:avLst/>
          </a:prstGeom>
        </p:spPr>
        <p:txBody>
          <a:bodyPr lIns="0" tIns="0" rIns="0" bIns="0" rtlCol="0" anchor="t">
            <a:spAutoFit/>
          </a:bodyPr>
          <a:lstStyle/>
          <a:p>
            <a:pPr algn="ctr">
              <a:lnSpc>
                <a:spcPts val="2284"/>
              </a:lnSpc>
              <a:spcBef>
                <a:spcPct val="0"/>
              </a:spcBef>
            </a:pPr>
            <a:r>
              <a:rPr lang="en-US" sz="1631">
                <a:solidFill>
                  <a:srgbClr val="2A59C5"/>
                </a:solidFill>
                <a:latin typeface="프리텐다드"/>
                <a:ea typeface="프리텐다드"/>
                <a:cs typeface="프리텐다드"/>
                <a:sym typeface="프리텐다드"/>
              </a:rPr>
              <a:t>STEP 04</a:t>
            </a:r>
          </a:p>
        </p:txBody>
      </p:sp>
      <p:sp>
        <p:nvSpPr>
          <p:cNvPr id="57" name="TextBox 57"/>
          <p:cNvSpPr txBox="1"/>
          <p:nvPr/>
        </p:nvSpPr>
        <p:spPr>
          <a:xfrm>
            <a:off x="1697899" y="699369"/>
            <a:ext cx="15168620" cy="1972720"/>
          </a:xfrm>
          <a:prstGeom prst="rect">
            <a:avLst/>
          </a:prstGeom>
        </p:spPr>
        <p:txBody>
          <a:bodyPr wrap="square" lIns="0" tIns="0" rIns="0" bIns="0" rtlCol="0" anchor="t">
            <a:spAutoFit/>
          </a:bodyPr>
          <a:lstStyle/>
          <a:p>
            <a:pPr algn="l">
              <a:lnSpc>
                <a:spcPts val="7979"/>
              </a:lnSpc>
              <a:spcBef>
                <a:spcPct val="0"/>
              </a:spcBef>
            </a:pPr>
            <a:r>
              <a:rPr lang="en-US" sz="5699" b="1" dirty="0" err="1">
                <a:solidFill>
                  <a:srgbClr val="282828"/>
                </a:solidFill>
                <a:latin typeface="프리텐다드 Bold"/>
                <a:ea typeface="프리텐다드 Bold"/>
                <a:cs typeface="프리텐다드 Bold"/>
                <a:sym typeface="프리텐다드 Bold"/>
              </a:rPr>
              <a:t>MediQ</a:t>
            </a:r>
            <a:r>
              <a:rPr lang="en-US" sz="5699" b="1" dirty="0">
                <a:solidFill>
                  <a:srgbClr val="282828"/>
                </a:solidFill>
                <a:latin typeface="프리텐다드 Bold"/>
                <a:ea typeface="프리텐다드 Bold"/>
                <a:cs typeface="프리텐다드 Bold"/>
                <a:sym typeface="프리텐다드 Bold"/>
              </a:rPr>
              <a:t> </a:t>
            </a:r>
            <a:r>
              <a:rPr lang="en-US" sz="5699" b="1" dirty="0" err="1">
                <a:solidFill>
                  <a:srgbClr val="282828"/>
                </a:solidFill>
                <a:latin typeface="프리텐다드 Bold"/>
                <a:ea typeface="프리텐다드 Bold"/>
                <a:cs typeface="프리텐다드 Bold"/>
                <a:sym typeface="프리텐다드 Bold"/>
              </a:rPr>
              <a:t>핵심</a:t>
            </a:r>
            <a:r>
              <a:rPr lang="en-US" sz="5699" b="1" dirty="0">
                <a:solidFill>
                  <a:srgbClr val="282828"/>
                </a:solidFill>
                <a:latin typeface="프리텐다드 Bold"/>
                <a:ea typeface="프리텐다드 Bold"/>
                <a:cs typeface="프리텐다드 Bold"/>
                <a:sym typeface="프리텐다드 Bold"/>
              </a:rPr>
              <a:t> </a:t>
            </a:r>
            <a:r>
              <a:rPr lang="en-US" sz="5699" b="1" dirty="0" err="1">
                <a:solidFill>
                  <a:srgbClr val="282828"/>
                </a:solidFill>
                <a:latin typeface="프리텐다드 Bold"/>
                <a:ea typeface="프리텐다드 Bold"/>
                <a:cs typeface="프리텐다드 Bold"/>
                <a:sym typeface="프리텐다드 Bold"/>
              </a:rPr>
              <a:t>동작</a:t>
            </a:r>
            <a:r>
              <a:rPr lang="en-US" sz="5699" b="1" dirty="0">
                <a:solidFill>
                  <a:srgbClr val="282828"/>
                </a:solidFill>
                <a:latin typeface="프리텐다드 Bold"/>
                <a:ea typeface="프리텐다드 Bold"/>
                <a:cs typeface="프리텐다드 Bold"/>
                <a:sym typeface="프리텐다드 Bold"/>
              </a:rPr>
              <a:t> </a:t>
            </a:r>
            <a:r>
              <a:rPr lang="en-US" sz="5699" b="1" dirty="0" err="1">
                <a:solidFill>
                  <a:srgbClr val="282828"/>
                </a:solidFill>
                <a:latin typeface="프리텐다드 Bold"/>
                <a:ea typeface="프리텐다드 Bold"/>
                <a:cs typeface="프리텐다드 Bold"/>
                <a:sym typeface="프리텐다드 Bold"/>
              </a:rPr>
              <a:t>흐름</a:t>
            </a:r>
            <a:endParaRPr lang="en-US" sz="5699" b="1" dirty="0">
              <a:solidFill>
                <a:srgbClr val="282828"/>
              </a:solidFill>
              <a:latin typeface="프리텐다드 Bold"/>
              <a:ea typeface="프리텐다드 Bold"/>
              <a:cs typeface="프리텐다드 Bold"/>
              <a:sym typeface="프리텐다드 Bold"/>
            </a:endParaRPr>
          </a:p>
          <a:p>
            <a:pPr algn="l">
              <a:lnSpc>
                <a:spcPts val="7979"/>
              </a:lnSpc>
              <a:spcBef>
                <a:spcPct val="0"/>
              </a:spcBef>
            </a:pPr>
            <a:r>
              <a:rPr lang="ko-KR" altLang="en-US" sz="5699" b="1" dirty="0">
                <a:solidFill>
                  <a:srgbClr val="282828"/>
                </a:solidFill>
                <a:latin typeface="프리텐다드 Bold"/>
                <a:ea typeface="프리텐다드 Bold"/>
                <a:cs typeface="프리텐다드 Bold"/>
                <a:sym typeface="프리텐다드 Bold"/>
              </a:rPr>
              <a:t>환자 동의로 열고 로그와 감사로 닫는다</a:t>
            </a:r>
            <a:endParaRPr lang="en-US" sz="5699" b="1" dirty="0">
              <a:solidFill>
                <a:srgbClr val="282828"/>
              </a:solidFill>
              <a:latin typeface="프리텐다드 Bold"/>
              <a:ea typeface="프리텐다드 Bold"/>
              <a:cs typeface="프리텐다드 Bold"/>
              <a:sym typeface="프리텐다드 Bold"/>
            </a:endParaRPr>
          </a:p>
        </p:txBody>
      </p:sp>
      <p:sp>
        <p:nvSpPr>
          <p:cNvPr id="58" name="TextBox 58"/>
          <p:cNvSpPr txBox="1"/>
          <p:nvPr/>
        </p:nvSpPr>
        <p:spPr>
          <a:xfrm>
            <a:off x="14664277" y="7437034"/>
            <a:ext cx="3231498" cy="488315"/>
          </a:xfrm>
          <a:prstGeom prst="rect">
            <a:avLst/>
          </a:prstGeom>
        </p:spPr>
        <p:txBody>
          <a:bodyPr lIns="0" tIns="0" rIns="0" bIns="0" rtlCol="0" anchor="t">
            <a:spAutoFit/>
          </a:bodyPr>
          <a:lstStyle/>
          <a:p>
            <a:pPr marL="0" lvl="0" indent="0" algn="ctr">
              <a:lnSpc>
                <a:spcPts val="1960"/>
              </a:lnSpc>
              <a:spcBef>
                <a:spcPct val="0"/>
              </a:spcBef>
            </a:pPr>
            <a:r>
              <a:rPr lang="en-US" sz="1400">
                <a:solidFill>
                  <a:srgbClr val="282828"/>
                </a:solidFill>
                <a:latin typeface="프리텐다드"/>
                <a:ea typeface="프리텐다드"/>
                <a:cs typeface="프리텐다드"/>
                <a:sym typeface="프리텐다드"/>
              </a:rPr>
              <a:t>동의 변경, 접근 허용·거부 및 의료영상 조회 이력을 기록하여 모든 주요 접근 행위를 추적</a:t>
            </a:r>
          </a:p>
        </p:txBody>
      </p:sp>
      <p:sp>
        <p:nvSpPr>
          <p:cNvPr id="59" name="TextBox 59"/>
          <p:cNvSpPr txBox="1"/>
          <p:nvPr/>
        </p:nvSpPr>
        <p:spPr>
          <a:xfrm>
            <a:off x="14662159" y="6285929"/>
            <a:ext cx="3233616" cy="397728"/>
          </a:xfrm>
          <a:prstGeom prst="rect">
            <a:avLst/>
          </a:prstGeom>
        </p:spPr>
        <p:txBody>
          <a:bodyPr lIns="0" tIns="0" rIns="0" bIns="0" rtlCol="0" anchor="t">
            <a:spAutoFit/>
          </a:bodyPr>
          <a:lstStyle/>
          <a:p>
            <a:pPr algn="ctr">
              <a:lnSpc>
                <a:spcPts val="3246"/>
              </a:lnSpc>
              <a:spcBef>
                <a:spcPct val="0"/>
              </a:spcBef>
            </a:pPr>
            <a:r>
              <a:rPr lang="en-US" sz="2318" b="1">
                <a:solidFill>
                  <a:srgbClr val="282828"/>
                </a:solidFill>
                <a:latin typeface="프리텐다드 Bold"/>
                <a:ea typeface="프리텐다드 Bold"/>
                <a:cs typeface="프리텐다드 Bold"/>
                <a:sym typeface="프리텐다드 Bold"/>
              </a:rPr>
              <a:t>감사로그</a:t>
            </a:r>
          </a:p>
        </p:txBody>
      </p:sp>
      <p:sp>
        <p:nvSpPr>
          <p:cNvPr id="60" name="TextBox 60"/>
          <p:cNvSpPr txBox="1"/>
          <p:nvPr/>
        </p:nvSpPr>
        <p:spPr>
          <a:xfrm>
            <a:off x="15375817" y="5868607"/>
            <a:ext cx="1808224" cy="282954"/>
          </a:xfrm>
          <a:prstGeom prst="rect">
            <a:avLst/>
          </a:prstGeom>
        </p:spPr>
        <p:txBody>
          <a:bodyPr lIns="0" tIns="0" rIns="0" bIns="0" rtlCol="0" anchor="t">
            <a:spAutoFit/>
          </a:bodyPr>
          <a:lstStyle/>
          <a:p>
            <a:pPr algn="ctr">
              <a:lnSpc>
                <a:spcPts val="2284"/>
              </a:lnSpc>
              <a:spcBef>
                <a:spcPct val="0"/>
              </a:spcBef>
            </a:pPr>
            <a:r>
              <a:rPr lang="en-US" sz="1631">
                <a:solidFill>
                  <a:srgbClr val="2A59C5"/>
                </a:solidFill>
                <a:latin typeface="프리텐다드"/>
                <a:ea typeface="프리텐다드"/>
                <a:cs typeface="프리텐다드"/>
                <a:sym typeface="프리텐다드"/>
              </a:rPr>
              <a:t>STEP 05</a:t>
            </a:r>
          </a:p>
        </p:txBody>
      </p:sp>
    </p:spTree>
    <p:extLst>
      <p:ext uri="{BB962C8B-B14F-4D97-AF65-F5344CB8AC3E}">
        <p14:creationId xmlns:p14="http://schemas.microsoft.com/office/powerpoint/2010/main" val="145893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5278433" y="-189268"/>
            <a:ext cx="3268199" cy="7739024"/>
            <a:chOff x="0" y="0"/>
            <a:chExt cx="860760" cy="2038262"/>
          </a:xfrm>
        </p:grpSpPr>
        <p:sp>
          <p:nvSpPr>
            <p:cNvPr id="3" name="Freeform 3"/>
            <p:cNvSpPr/>
            <p:nvPr/>
          </p:nvSpPr>
          <p:spPr>
            <a:xfrm>
              <a:off x="0" y="0"/>
              <a:ext cx="860760" cy="2038262"/>
            </a:xfrm>
            <a:custGeom>
              <a:avLst/>
              <a:gdLst/>
              <a:ahLst/>
              <a:cxnLst/>
              <a:rect l="l" t="t" r="r" b="b"/>
              <a:pathLst>
                <a:path w="860760" h="2038262">
                  <a:moveTo>
                    <a:pt x="0" y="0"/>
                  </a:moveTo>
                  <a:lnTo>
                    <a:pt x="860760" y="0"/>
                  </a:lnTo>
                  <a:lnTo>
                    <a:pt x="860760" y="2038262"/>
                  </a:lnTo>
                  <a:lnTo>
                    <a:pt x="0" y="2038262"/>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860760" cy="2085887"/>
            </a:xfrm>
            <a:prstGeom prst="rect">
              <a:avLst/>
            </a:prstGeom>
          </p:spPr>
          <p:txBody>
            <a:bodyPr lIns="50800" tIns="50800" rIns="50800" bIns="50800" rtlCol="0" anchor="ctr"/>
            <a:lstStyle/>
            <a:p>
              <a:pPr algn="ctr">
                <a:lnSpc>
                  <a:spcPts val="3156"/>
                </a:lnSpc>
              </a:pPr>
              <a:endParaRPr/>
            </a:p>
          </p:txBody>
        </p:sp>
      </p:grpSp>
      <p:sp>
        <p:nvSpPr>
          <p:cNvPr id="5" name="Freeform 5">
            <a:extLst>
              <a:ext uri="{C183D7F6-B498-43B3-948B-1728B52AA6E4}">
                <adec:decorative xmlns:adec="http://schemas.microsoft.com/office/drawing/2017/decorative" val="1"/>
              </a:ext>
            </a:extLst>
          </p:cNvPr>
          <p:cNvSpPr/>
          <p:nvPr/>
        </p:nvSpPr>
        <p:spPr>
          <a:xfrm>
            <a:off x="0" y="7075598"/>
            <a:ext cx="18288000" cy="5818426"/>
          </a:xfrm>
          <a:custGeom>
            <a:avLst/>
            <a:gdLst/>
            <a:ahLst/>
            <a:cxnLst/>
            <a:rect l="l" t="t" r="r" b="b"/>
            <a:pathLst>
              <a:path w="18288000" h="5818426">
                <a:moveTo>
                  <a:pt x="0" y="0"/>
                </a:moveTo>
                <a:lnTo>
                  <a:pt x="18288000" y="0"/>
                </a:lnTo>
                <a:lnTo>
                  <a:pt x="18288000" y="5818426"/>
                </a:lnTo>
                <a:lnTo>
                  <a:pt x="0" y="5818426"/>
                </a:lnTo>
                <a:lnTo>
                  <a:pt x="0" y="0"/>
                </a:lnTo>
                <a:close/>
              </a:path>
            </a:pathLst>
          </a:custGeom>
          <a:blipFill>
            <a:blip r:embed="rId2"/>
            <a:stretch>
              <a:fillRect b="-4705"/>
            </a:stretch>
          </a:blipFill>
        </p:spPr>
        <p:txBody>
          <a:bodyPr/>
          <a:lstStyle/>
          <a:p>
            <a:endParaRPr lang="ko-KR" altLang="en-US"/>
          </a:p>
        </p:txBody>
      </p:sp>
      <p:sp>
        <p:nvSpPr>
          <p:cNvPr id="6" name="TextBox 6"/>
          <p:cNvSpPr txBox="1"/>
          <p:nvPr/>
        </p:nvSpPr>
        <p:spPr>
          <a:xfrm>
            <a:off x="1028700" y="2214108"/>
            <a:ext cx="8441160" cy="1584983"/>
          </a:xfrm>
          <a:prstGeom prst="rect">
            <a:avLst/>
          </a:prstGeom>
        </p:spPr>
        <p:txBody>
          <a:bodyPr lIns="0" tIns="0" rIns="0" bIns="0" rtlCol="0" anchor="t">
            <a:spAutoFit/>
          </a:bodyPr>
          <a:lstStyle/>
          <a:p>
            <a:pPr algn="l">
              <a:lnSpc>
                <a:spcPts val="12979"/>
              </a:lnSpc>
              <a:spcBef>
                <a:spcPct val="0"/>
              </a:spcBef>
            </a:pPr>
            <a:r>
              <a:rPr lang="en-US" sz="9270" b="1">
                <a:solidFill>
                  <a:srgbClr val="2A59C5"/>
                </a:solidFill>
                <a:latin typeface="프리텐다드 Bold"/>
                <a:ea typeface="프리텐다드 Bold"/>
                <a:cs typeface="프리텐다드 Bold"/>
                <a:sym typeface="프리텐다드 Bold"/>
              </a:rPr>
              <a:t>03</a:t>
            </a:r>
          </a:p>
        </p:txBody>
      </p:sp>
      <p:sp>
        <p:nvSpPr>
          <p:cNvPr id="7" name="TextBox 7"/>
          <p:cNvSpPr txBox="1"/>
          <p:nvPr/>
        </p:nvSpPr>
        <p:spPr>
          <a:xfrm>
            <a:off x="1028700" y="3516926"/>
            <a:ext cx="7056707" cy="1584983"/>
          </a:xfrm>
          <a:prstGeom prst="rect">
            <a:avLst/>
          </a:prstGeom>
        </p:spPr>
        <p:txBody>
          <a:bodyPr lIns="0" tIns="0" rIns="0" bIns="0" rtlCol="0" anchor="t">
            <a:spAutoFit/>
          </a:bodyPr>
          <a:lstStyle/>
          <a:p>
            <a:pPr algn="l">
              <a:lnSpc>
                <a:spcPts val="12979"/>
              </a:lnSpc>
              <a:spcBef>
                <a:spcPct val="0"/>
              </a:spcBef>
            </a:pPr>
            <a:r>
              <a:rPr lang="en-US" sz="9270" b="1">
                <a:solidFill>
                  <a:srgbClr val="282828"/>
                </a:solidFill>
                <a:latin typeface="프리텐다드 Bold"/>
                <a:ea typeface="프리텐다드 Bold"/>
                <a:cs typeface="프리텐다드 Bold"/>
                <a:sym typeface="프리텐다드 Bold"/>
              </a:rPr>
              <a:t>서비스 기획</a:t>
            </a:r>
          </a:p>
        </p:txBody>
      </p:sp>
      <p:sp>
        <p:nvSpPr>
          <p:cNvPr id="8" name="TextBox 8"/>
          <p:cNvSpPr txBox="1"/>
          <p:nvPr/>
        </p:nvSpPr>
        <p:spPr>
          <a:xfrm>
            <a:off x="1028700" y="1848967"/>
            <a:ext cx="3836759" cy="356036"/>
          </a:xfrm>
          <a:prstGeom prst="rect">
            <a:avLst/>
          </a:prstGeom>
        </p:spPr>
        <p:txBody>
          <a:bodyPr lIns="0" tIns="0" rIns="0" bIns="0" rtlCol="0" anchor="t">
            <a:spAutoFit/>
          </a:bodyPr>
          <a:lstStyle/>
          <a:p>
            <a:pPr algn="l">
              <a:lnSpc>
                <a:spcPts val="2950"/>
              </a:lnSpc>
              <a:spcBef>
                <a:spcPct val="0"/>
              </a:spcBef>
            </a:pPr>
            <a:r>
              <a:rPr lang="en-US" sz="2107" spc="210">
                <a:solidFill>
                  <a:srgbClr val="282828"/>
                </a:solidFill>
                <a:latin typeface="프리텐다드"/>
                <a:ea typeface="프리텐다드"/>
                <a:cs typeface="프리텐다드"/>
                <a:sym typeface="프리텐다드"/>
              </a:rPr>
              <a:t>SECTION</a:t>
            </a:r>
          </a:p>
        </p:txBody>
      </p:sp>
      <p:sp>
        <p:nvSpPr>
          <p:cNvPr id="9" name="TextBox 9"/>
          <p:cNvSpPr txBox="1"/>
          <p:nvPr/>
        </p:nvSpPr>
        <p:spPr>
          <a:xfrm>
            <a:off x="1028700" y="5244784"/>
            <a:ext cx="6505897" cy="308739"/>
          </a:xfrm>
          <a:prstGeom prst="rect">
            <a:avLst/>
          </a:prstGeom>
        </p:spPr>
        <p:txBody>
          <a:bodyPr lIns="0" tIns="0" rIns="0" bIns="0" rtlCol="0" anchor="t">
            <a:spAutoFit/>
          </a:bodyPr>
          <a:lstStyle/>
          <a:p>
            <a:pPr marL="0" lvl="0" indent="0" algn="just">
              <a:lnSpc>
                <a:spcPts val="2640"/>
              </a:lnSpc>
              <a:spcBef>
                <a:spcPct val="0"/>
              </a:spcBef>
            </a:pPr>
            <a:r>
              <a:rPr lang="en-US" sz="1886" spc="335">
                <a:solidFill>
                  <a:srgbClr val="282828"/>
                </a:solidFill>
                <a:latin typeface="프리텐다드"/>
                <a:ea typeface="프리텐다드"/>
                <a:cs typeface="프리텐다드"/>
                <a:sym typeface="프리텐다드"/>
              </a:rPr>
              <a:t>SERVICE PLANNING</a:t>
            </a:r>
          </a:p>
        </p:txBody>
      </p:sp>
      <p:sp>
        <p:nvSpPr>
          <p:cNvPr id="40" name="Section pages"/>
          <p:cNvSpPr txBox="1"/>
          <p:nvPr/>
        </p:nvSpPr>
        <p:spPr>
          <a:xfrm>
            <a:off x="1485900" y="7874000"/>
            <a:ext cx="15240000" cy="1524000"/>
          </a:xfrm>
          <a:prstGeom prst="rect">
            <a:avLst/>
          </a:prstGeom>
          <a:noFill/>
        </p:spPr>
        <p:txBody>
          <a:bodyPr wrap="square" lIns="0" tIns="0" rIns="0" bIns="0" anchor="ctr">
            <a:noAutofit/>
          </a:bodyPr>
          <a:lstStyle/>
          <a:p>
            <a:pPr marL="0" indent="0">
              <a:lnSpc>
                <a:spcPts val="3000"/>
              </a:lnSpc>
              <a:buNone/>
            </a:pPr>
            <a:r>
              <a:rPr lang="ko-KR" sz="1800" b="1" spc="200" dirty="0">
                <a:solidFill>
                  <a:srgbClr val="FFFFFF"/>
                </a:solidFill>
                <a:latin typeface="프리텐다드 Semi-Bold"/>
                <a:ea typeface="프리텐다드 Semi-Bold"/>
                <a:cs typeface="프리텐다드 Semi-Bold"/>
                <a:sym typeface="프리텐다드 Semi-Bold"/>
              </a:rPr>
              <a:t>IN THIS SECTION</a:t>
            </a:r>
          </a:p>
          <a:p>
            <a:pPr marL="0" indent="0">
              <a:lnSpc>
                <a:spcPts val="3600"/>
              </a:lnSpc>
              <a:spcBef>
                <a:spcPts val="600"/>
              </a:spcBef>
              <a:buNone/>
            </a:pPr>
            <a:r>
              <a:rPr lang="ko-KR" sz="2400" dirty="0">
                <a:solidFill>
                  <a:srgbClr val="FFFFFF"/>
                </a:solidFill>
                <a:latin typeface="프리텐다드"/>
                <a:ea typeface="프리텐다드"/>
                <a:cs typeface="프리텐다드"/>
                <a:sym typeface="프리텐다드"/>
              </a:rPr>
              <a:t>서비스 사례 조사 · 서비스 기획 · 서비스 비교 · 기존 방식 vs MediQ 이용 흐름</a:t>
            </a:r>
          </a:p>
        </p:txBody>
      </p:sp>
    </p:spTree>
    <p:extLst>
      <p:ext uri="{BB962C8B-B14F-4D97-AF65-F5344CB8AC3E}">
        <p14:creationId xmlns:p14="http://schemas.microsoft.com/office/powerpoint/2010/main" val="1590541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4362450" y="3494616"/>
            <a:ext cx="9563100" cy="1950198"/>
            <a:chOff x="0" y="0"/>
            <a:chExt cx="2518677" cy="513632"/>
          </a:xfrm>
        </p:grpSpPr>
        <p:sp>
          <p:nvSpPr>
            <p:cNvPr id="9" name="Freeform 9"/>
            <p:cNvSpPr/>
            <p:nvPr/>
          </p:nvSpPr>
          <p:spPr>
            <a:xfrm>
              <a:off x="0" y="0"/>
              <a:ext cx="2518676" cy="513632"/>
            </a:xfrm>
            <a:custGeom>
              <a:avLst/>
              <a:gdLst/>
              <a:ahLst/>
              <a:cxnLst/>
              <a:rect l="l" t="t" r="r" b="b"/>
              <a:pathLst>
                <a:path w="2518676" h="513632">
                  <a:moveTo>
                    <a:pt x="0" y="0"/>
                  </a:moveTo>
                  <a:lnTo>
                    <a:pt x="2518676" y="0"/>
                  </a:lnTo>
                  <a:lnTo>
                    <a:pt x="2518676" y="513632"/>
                  </a:lnTo>
                  <a:lnTo>
                    <a:pt x="0" y="513632"/>
                  </a:lnTo>
                  <a:close/>
                </a:path>
              </a:pathLst>
            </a:custGeom>
            <a:solidFill>
              <a:srgbClr val="D7E1F7"/>
            </a:solidFill>
            <a:ln w="9525" cap="sq">
              <a:solidFill>
                <a:srgbClr val="FFFFFF"/>
              </a:solidFill>
              <a:prstDash val="solid"/>
              <a:miter/>
            </a:ln>
          </p:spPr>
          <p:txBody>
            <a:bodyPr/>
            <a:lstStyle/>
            <a:p>
              <a:endParaRPr lang="ko-KR" altLang="en-US"/>
            </a:p>
          </p:txBody>
        </p:sp>
        <p:sp>
          <p:nvSpPr>
            <p:cNvPr id="10" name="TextBox 10"/>
            <p:cNvSpPr txBox="1"/>
            <p:nvPr/>
          </p:nvSpPr>
          <p:spPr>
            <a:xfrm>
              <a:off x="0" y="-47625"/>
              <a:ext cx="2518677" cy="561257"/>
            </a:xfrm>
            <a:prstGeom prst="rect">
              <a:avLst/>
            </a:prstGeom>
          </p:spPr>
          <p:txBody>
            <a:bodyPr lIns="50800" tIns="50800" rIns="50800" bIns="50800" rtlCol="0" anchor="ctr"/>
            <a:lstStyle/>
            <a:p>
              <a:pPr algn="ctr">
                <a:lnSpc>
                  <a:spcPts val="3156"/>
                </a:lnSpc>
              </a:pPr>
              <a:endParaRPr/>
            </a:p>
          </p:txBody>
        </p:sp>
      </p:grpSp>
      <p:grpSp>
        <p:nvGrpSpPr>
          <p:cNvPr id="11" name="Group 11"/>
          <p:cNvGrpSpPr/>
          <p:nvPr/>
        </p:nvGrpSpPr>
        <p:grpSpPr>
          <a:xfrm>
            <a:off x="4362450" y="5444814"/>
            <a:ext cx="9563100" cy="1931148"/>
            <a:chOff x="0" y="0"/>
            <a:chExt cx="2518677" cy="508615"/>
          </a:xfrm>
        </p:grpSpPr>
        <p:sp>
          <p:nvSpPr>
            <p:cNvPr id="12" name="Freeform 12"/>
            <p:cNvSpPr/>
            <p:nvPr/>
          </p:nvSpPr>
          <p:spPr>
            <a:xfrm>
              <a:off x="0" y="0"/>
              <a:ext cx="2518676" cy="508615"/>
            </a:xfrm>
            <a:custGeom>
              <a:avLst/>
              <a:gdLst/>
              <a:ahLst/>
              <a:cxnLst/>
              <a:rect l="l" t="t" r="r" b="b"/>
              <a:pathLst>
                <a:path w="2518676" h="508615">
                  <a:moveTo>
                    <a:pt x="0" y="0"/>
                  </a:moveTo>
                  <a:lnTo>
                    <a:pt x="2518676" y="0"/>
                  </a:lnTo>
                  <a:lnTo>
                    <a:pt x="2518676" y="508615"/>
                  </a:lnTo>
                  <a:lnTo>
                    <a:pt x="0" y="508615"/>
                  </a:lnTo>
                  <a:close/>
                </a:path>
              </a:pathLst>
            </a:custGeom>
            <a:solidFill>
              <a:srgbClr val="D7E1F7"/>
            </a:solidFill>
            <a:ln w="9525" cap="sq">
              <a:solidFill>
                <a:srgbClr val="FFFFFF"/>
              </a:solidFill>
              <a:prstDash val="solid"/>
              <a:miter/>
            </a:ln>
          </p:spPr>
          <p:txBody>
            <a:bodyPr/>
            <a:lstStyle/>
            <a:p>
              <a:endParaRPr lang="ko-KR" altLang="en-US"/>
            </a:p>
          </p:txBody>
        </p:sp>
        <p:sp>
          <p:nvSpPr>
            <p:cNvPr id="13" name="TextBox 13"/>
            <p:cNvSpPr txBox="1"/>
            <p:nvPr/>
          </p:nvSpPr>
          <p:spPr>
            <a:xfrm>
              <a:off x="0" y="-47625"/>
              <a:ext cx="2518677" cy="556240"/>
            </a:xfrm>
            <a:prstGeom prst="rect">
              <a:avLst/>
            </a:prstGeom>
          </p:spPr>
          <p:txBody>
            <a:bodyPr lIns="50800" tIns="50800" rIns="50800" bIns="50800" rtlCol="0" anchor="ctr"/>
            <a:lstStyle/>
            <a:p>
              <a:pPr algn="ctr">
                <a:lnSpc>
                  <a:spcPts val="3156"/>
                </a:lnSpc>
              </a:pPr>
              <a:endParaRPr/>
            </a:p>
          </p:txBody>
        </p:sp>
      </p:grpSp>
      <p:grpSp>
        <p:nvGrpSpPr>
          <p:cNvPr id="14" name="Group 14"/>
          <p:cNvGrpSpPr/>
          <p:nvPr/>
        </p:nvGrpSpPr>
        <p:grpSpPr>
          <a:xfrm>
            <a:off x="4362450" y="7375962"/>
            <a:ext cx="9563100" cy="1931148"/>
            <a:chOff x="0" y="0"/>
            <a:chExt cx="2518677" cy="508615"/>
          </a:xfrm>
        </p:grpSpPr>
        <p:sp>
          <p:nvSpPr>
            <p:cNvPr id="15" name="Freeform 15"/>
            <p:cNvSpPr/>
            <p:nvPr/>
          </p:nvSpPr>
          <p:spPr>
            <a:xfrm>
              <a:off x="0" y="0"/>
              <a:ext cx="2518676" cy="508615"/>
            </a:xfrm>
            <a:custGeom>
              <a:avLst/>
              <a:gdLst/>
              <a:ahLst/>
              <a:cxnLst/>
              <a:rect l="l" t="t" r="r" b="b"/>
              <a:pathLst>
                <a:path w="2518676" h="508615">
                  <a:moveTo>
                    <a:pt x="0" y="0"/>
                  </a:moveTo>
                  <a:lnTo>
                    <a:pt x="2518676" y="0"/>
                  </a:lnTo>
                  <a:lnTo>
                    <a:pt x="2518676" y="508615"/>
                  </a:lnTo>
                  <a:lnTo>
                    <a:pt x="0" y="508615"/>
                  </a:lnTo>
                  <a:close/>
                </a:path>
              </a:pathLst>
            </a:custGeom>
            <a:solidFill>
              <a:srgbClr val="D7E1F7"/>
            </a:solidFill>
            <a:ln w="9525" cap="sq">
              <a:solidFill>
                <a:srgbClr val="FFFFFF"/>
              </a:solidFill>
              <a:prstDash val="solid"/>
              <a:miter/>
            </a:ln>
          </p:spPr>
          <p:txBody>
            <a:bodyPr/>
            <a:lstStyle/>
            <a:p>
              <a:endParaRPr lang="ko-KR" altLang="en-US"/>
            </a:p>
          </p:txBody>
        </p:sp>
        <p:sp>
          <p:nvSpPr>
            <p:cNvPr id="16" name="TextBox 16"/>
            <p:cNvSpPr txBox="1"/>
            <p:nvPr/>
          </p:nvSpPr>
          <p:spPr>
            <a:xfrm>
              <a:off x="0" y="-47625"/>
              <a:ext cx="2518677" cy="556240"/>
            </a:xfrm>
            <a:prstGeom prst="rect">
              <a:avLst/>
            </a:prstGeom>
          </p:spPr>
          <p:txBody>
            <a:bodyPr lIns="50800" tIns="50800" rIns="50800" bIns="50800" rtlCol="0" anchor="ctr"/>
            <a:lstStyle/>
            <a:p>
              <a:pPr algn="ctr">
                <a:lnSpc>
                  <a:spcPts val="3156"/>
                </a:lnSpc>
              </a:pPr>
              <a:endParaRPr/>
            </a:p>
          </p:txBody>
        </p:sp>
      </p:grpSp>
      <p:sp>
        <p:nvSpPr>
          <p:cNvPr id="17" name="Freeform 17">
            <a:extLst>
              <a:ext uri="{C183D7F6-B498-43B3-948B-1728B52AA6E4}">
                <adec:decorative xmlns:adec="http://schemas.microsoft.com/office/drawing/2017/decorative" val="1"/>
              </a:ext>
            </a:extLst>
          </p:cNvPr>
          <p:cNvSpPr/>
          <p:nvPr/>
        </p:nvSpPr>
        <p:spPr>
          <a:xfrm>
            <a:off x="2601885" y="8499912"/>
            <a:ext cx="13084230" cy="4407750"/>
          </a:xfrm>
          <a:custGeom>
            <a:avLst/>
            <a:gdLst/>
            <a:ahLst/>
            <a:cxnLst/>
            <a:rect l="l" t="t" r="r" b="b"/>
            <a:pathLst>
              <a:path w="13084230" h="4407750">
                <a:moveTo>
                  <a:pt x="0" y="0"/>
                </a:moveTo>
                <a:lnTo>
                  <a:pt x="13084230" y="0"/>
                </a:lnTo>
                <a:lnTo>
                  <a:pt x="13084230" y="4407750"/>
                </a:lnTo>
                <a:lnTo>
                  <a:pt x="0" y="4407750"/>
                </a:lnTo>
                <a:lnTo>
                  <a:pt x="0" y="0"/>
                </a:lnTo>
                <a:close/>
              </a:path>
            </a:pathLst>
          </a:custGeom>
          <a:blipFill>
            <a:blip r:embed="rId2"/>
            <a:stretch>
              <a:fillRect/>
            </a:stretch>
          </a:blipFill>
        </p:spPr>
        <p:txBody>
          <a:bodyPr/>
          <a:lstStyle/>
          <a:p>
            <a:endParaRPr lang="ko-KR" altLang="en-US" dirty="0"/>
          </a:p>
        </p:txBody>
      </p:sp>
      <p:sp>
        <p:nvSpPr>
          <p:cNvPr id="18" name="TextBox 18"/>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SERVICE PLANNING</a:t>
            </a:r>
          </a:p>
        </p:txBody>
      </p:sp>
      <p:sp>
        <p:nvSpPr>
          <p:cNvPr id="19" name="TextBox 19"/>
          <p:cNvSpPr txBox="1"/>
          <p:nvPr/>
        </p:nvSpPr>
        <p:spPr>
          <a:xfrm>
            <a:off x="1421481" y="1253961"/>
            <a:ext cx="5652545"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서비스 사례 조사</a:t>
            </a:r>
          </a:p>
        </p:txBody>
      </p:sp>
      <p:sp>
        <p:nvSpPr>
          <p:cNvPr id="20" name="TextBox 20"/>
          <p:cNvSpPr txBox="1"/>
          <p:nvPr/>
        </p:nvSpPr>
        <p:spPr>
          <a:xfrm>
            <a:off x="5077953" y="3908432"/>
            <a:ext cx="6802128" cy="1253490"/>
          </a:xfrm>
          <a:prstGeom prst="rect">
            <a:avLst/>
          </a:prstGeom>
        </p:spPr>
        <p:txBody>
          <a:bodyPr lIns="0" tIns="0" rIns="0" bIns="0" rtlCol="0" anchor="t">
            <a:spAutoFit/>
          </a:bodyPr>
          <a:lstStyle/>
          <a:p>
            <a:pPr algn="l">
              <a:lnSpc>
                <a:spcPts val="3359"/>
              </a:lnSpc>
            </a:pPr>
            <a:r>
              <a:rPr lang="en-US" sz="2400" b="1">
                <a:solidFill>
                  <a:srgbClr val="2A59C5"/>
                </a:solidFill>
                <a:latin typeface="프리텐다드 Semi-Bold"/>
                <a:ea typeface="프리텐다드 Semi-Bold"/>
                <a:cs typeface="프리텐다드 Semi-Bold"/>
                <a:sym typeface="프리텐다드 Semi-Bold"/>
              </a:rPr>
              <a:t>건강보험심사평가원 실시간 의료이용 관리 제도</a:t>
            </a:r>
          </a:p>
          <a:p>
            <a:pPr algn="l">
              <a:lnSpc>
                <a:spcPts val="3359"/>
              </a:lnSpc>
            </a:pPr>
            <a:endParaRPr lang="en-US" sz="2400" b="1">
              <a:solidFill>
                <a:srgbClr val="2A59C5"/>
              </a:solidFill>
              <a:latin typeface="프리텐다드 Semi-Bold"/>
              <a:ea typeface="프리텐다드 Semi-Bold"/>
              <a:cs typeface="프리텐다드 Semi-Bold"/>
              <a:sym typeface="프리텐다드 Semi-Bold"/>
            </a:endParaRPr>
          </a:p>
          <a:p>
            <a:pPr algn="l">
              <a:lnSpc>
                <a:spcPts val="3359"/>
              </a:lnSpc>
              <a:spcBef>
                <a:spcPct val="0"/>
              </a:spcBef>
            </a:pPr>
            <a:endParaRPr lang="en-US" sz="2400" b="1">
              <a:solidFill>
                <a:srgbClr val="2A59C5"/>
              </a:solidFill>
              <a:latin typeface="프리텐다드 Semi-Bold"/>
              <a:ea typeface="프리텐다드 Semi-Bold"/>
              <a:cs typeface="프리텐다드 Semi-Bold"/>
              <a:sym typeface="프리텐다드 Semi-Bold"/>
            </a:endParaRPr>
          </a:p>
        </p:txBody>
      </p:sp>
      <p:sp>
        <p:nvSpPr>
          <p:cNvPr id="21" name="TextBox 21"/>
          <p:cNvSpPr txBox="1"/>
          <p:nvPr/>
        </p:nvSpPr>
        <p:spPr>
          <a:xfrm>
            <a:off x="5077953" y="4438022"/>
            <a:ext cx="7933317" cy="621030"/>
          </a:xfrm>
          <a:prstGeom prst="rect">
            <a:avLst/>
          </a:prstGeom>
        </p:spPr>
        <p:txBody>
          <a:bodyPr lIns="0" tIns="0" rIns="0" bIns="0" rtlCol="0" anchor="t">
            <a:spAutoFit/>
          </a:bodyPr>
          <a:lstStyle/>
          <a:p>
            <a:pPr algn="l">
              <a:lnSpc>
                <a:spcPts val="2520"/>
              </a:lnSpc>
            </a:pPr>
            <a:r>
              <a:rPr lang="en-US" sz="1800">
                <a:solidFill>
                  <a:srgbClr val="282828"/>
                </a:solidFill>
                <a:latin typeface="프리텐다드"/>
                <a:ea typeface="프리텐다드"/>
                <a:cs typeface="프리텐다드"/>
                <a:sym typeface="프리텐다드"/>
              </a:rPr>
              <a:t>환자별 CT·MRI 촬영 이력을 실시간으로 관리하고 의료진에게 제공하여 </a:t>
            </a:r>
          </a:p>
          <a:p>
            <a:pPr algn="l">
              <a:lnSpc>
                <a:spcPts val="2520"/>
              </a:lnSpc>
            </a:pPr>
            <a:r>
              <a:rPr lang="en-US" sz="1800">
                <a:solidFill>
                  <a:srgbClr val="282828"/>
                </a:solidFill>
                <a:latin typeface="프리텐다드"/>
                <a:ea typeface="프리텐다드"/>
                <a:cs typeface="프리텐다드"/>
                <a:sym typeface="프리텐다드"/>
              </a:rPr>
              <a:t>불필요한 중복 촬영을 예방하는 제도</a:t>
            </a:r>
          </a:p>
        </p:txBody>
      </p:sp>
      <p:sp>
        <p:nvSpPr>
          <p:cNvPr id="22" name="TextBox 22"/>
          <p:cNvSpPr txBox="1"/>
          <p:nvPr/>
        </p:nvSpPr>
        <p:spPr>
          <a:xfrm>
            <a:off x="5077953" y="5771720"/>
            <a:ext cx="8003885" cy="1253652"/>
          </a:xfrm>
          <a:prstGeom prst="rect">
            <a:avLst/>
          </a:prstGeom>
        </p:spPr>
        <p:txBody>
          <a:bodyPr lIns="0" tIns="0" rIns="0" bIns="0" rtlCol="0" anchor="t">
            <a:spAutoFit/>
          </a:bodyPr>
          <a:lstStyle/>
          <a:p>
            <a:pPr algn="l">
              <a:lnSpc>
                <a:spcPts val="3359"/>
              </a:lnSpc>
            </a:pPr>
            <a:r>
              <a:rPr lang="en-US" sz="2400" b="1">
                <a:solidFill>
                  <a:srgbClr val="2A59C5"/>
                </a:solidFill>
                <a:latin typeface="프리텐다드 Semi-Bold"/>
                <a:ea typeface="프리텐다드 Semi-Bold"/>
                <a:cs typeface="프리텐다드 Semi-Bold"/>
                <a:sym typeface="프리텐다드 Semi-Bold"/>
              </a:rPr>
              <a:t>보건복지부·한국보건의료정보원 진료정보교류 마이차트 사업</a:t>
            </a:r>
          </a:p>
          <a:p>
            <a:pPr algn="l">
              <a:lnSpc>
                <a:spcPts val="3359"/>
              </a:lnSpc>
            </a:pPr>
            <a:endParaRPr lang="en-US" sz="2400" b="1">
              <a:solidFill>
                <a:srgbClr val="2A59C5"/>
              </a:solidFill>
              <a:latin typeface="프리텐다드 Semi-Bold"/>
              <a:ea typeface="프리텐다드 Semi-Bold"/>
              <a:cs typeface="프리텐다드 Semi-Bold"/>
              <a:sym typeface="프리텐다드 Semi-Bold"/>
            </a:endParaRPr>
          </a:p>
          <a:p>
            <a:pPr algn="l">
              <a:lnSpc>
                <a:spcPts val="3359"/>
              </a:lnSpc>
              <a:spcBef>
                <a:spcPct val="0"/>
              </a:spcBef>
            </a:pPr>
            <a:endParaRPr lang="en-US" sz="2400" b="1">
              <a:solidFill>
                <a:srgbClr val="2A59C5"/>
              </a:solidFill>
              <a:latin typeface="프리텐다드 Semi-Bold"/>
              <a:ea typeface="프리텐다드 Semi-Bold"/>
              <a:cs typeface="프리텐다드 Semi-Bold"/>
              <a:sym typeface="프리텐다드 Semi-Bold"/>
            </a:endParaRPr>
          </a:p>
        </p:txBody>
      </p:sp>
      <p:sp>
        <p:nvSpPr>
          <p:cNvPr id="23" name="TextBox 23"/>
          <p:cNvSpPr txBox="1"/>
          <p:nvPr/>
        </p:nvSpPr>
        <p:spPr>
          <a:xfrm>
            <a:off x="5077953" y="6301310"/>
            <a:ext cx="7933317" cy="621030"/>
          </a:xfrm>
          <a:prstGeom prst="rect">
            <a:avLst/>
          </a:prstGeom>
        </p:spPr>
        <p:txBody>
          <a:bodyPr lIns="0" tIns="0" rIns="0" bIns="0" rtlCol="0" anchor="t">
            <a:spAutoFit/>
          </a:bodyPr>
          <a:lstStyle/>
          <a:p>
            <a:pPr algn="l">
              <a:lnSpc>
                <a:spcPts val="2520"/>
              </a:lnSpc>
            </a:pPr>
            <a:r>
              <a:rPr lang="en-US" sz="1800">
                <a:solidFill>
                  <a:srgbClr val="282828"/>
                </a:solidFill>
                <a:latin typeface="프리텐다드"/>
                <a:ea typeface="프리텐다드"/>
                <a:cs typeface="프리텐다드"/>
                <a:sym typeface="프리텐다드"/>
              </a:rPr>
              <a:t>환자의 동의를 기반으로 의료기관 간 진료기록과 CT·MRI 영상정보를 </a:t>
            </a:r>
          </a:p>
          <a:p>
            <a:pPr algn="l">
              <a:lnSpc>
                <a:spcPts val="2520"/>
              </a:lnSpc>
            </a:pPr>
            <a:r>
              <a:rPr lang="en-US" sz="1800">
                <a:solidFill>
                  <a:srgbClr val="282828"/>
                </a:solidFill>
                <a:latin typeface="프리텐다드"/>
                <a:ea typeface="프리텐다드"/>
                <a:cs typeface="프리텐다드"/>
                <a:sym typeface="프리텐다드"/>
              </a:rPr>
              <a:t>전자적으로 공유하여 진료의 연속성을 지원하는 서비스</a:t>
            </a:r>
          </a:p>
        </p:txBody>
      </p:sp>
      <p:sp>
        <p:nvSpPr>
          <p:cNvPr id="24" name="TextBox 24"/>
          <p:cNvSpPr txBox="1"/>
          <p:nvPr/>
        </p:nvSpPr>
        <p:spPr>
          <a:xfrm>
            <a:off x="5077953" y="7636715"/>
            <a:ext cx="7933317" cy="1253652"/>
          </a:xfrm>
          <a:prstGeom prst="rect">
            <a:avLst/>
          </a:prstGeom>
        </p:spPr>
        <p:txBody>
          <a:bodyPr lIns="0" tIns="0" rIns="0" bIns="0" rtlCol="0" anchor="t">
            <a:spAutoFit/>
          </a:bodyPr>
          <a:lstStyle/>
          <a:p>
            <a:pPr algn="l">
              <a:lnSpc>
                <a:spcPts val="3359"/>
              </a:lnSpc>
            </a:pPr>
            <a:r>
              <a:rPr lang="en-US" sz="2400" b="1">
                <a:solidFill>
                  <a:srgbClr val="2A59C5"/>
                </a:solidFill>
                <a:latin typeface="프리텐다드 Semi-Bold"/>
                <a:ea typeface="프리텐다드 Semi-Bold"/>
                <a:cs typeface="프리텐다드 Semi-Bold"/>
                <a:sym typeface="프리텐다드 Semi-Bold"/>
              </a:rPr>
              <a:t>보건복지부 QR코드 기반 영상정보공유시스템</a:t>
            </a:r>
          </a:p>
          <a:p>
            <a:pPr algn="l">
              <a:lnSpc>
                <a:spcPts val="3359"/>
              </a:lnSpc>
            </a:pPr>
            <a:endParaRPr lang="en-US" sz="2400" b="1">
              <a:solidFill>
                <a:srgbClr val="2A59C5"/>
              </a:solidFill>
              <a:latin typeface="프리텐다드 Semi-Bold"/>
              <a:ea typeface="프리텐다드 Semi-Bold"/>
              <a:cs typeface="프리텐다드 Semi-Bold"/>
              <a:sym typeface="프리텐다드 Semi-Bold"/>
            </a:endParaRPr>
          </a:p>
          <a:p>
            <a:pPr algn="l">
              <a:lnSpc>
                <a:spcPts val="3359"/>
              </a:lnSpc>
              <a:spcBef>
                <a:spcPct val="0"/>
              </a:spcBef>
            </a:pPr>
            <a:endParaRPr lang="en-US" sz="2400" b="1">
              <a:solidFill>
                <a:srgbClr val="2A59C5"/>
              </a:solidFill>
              <a:latin typeface="프리텐다드 Semi-Bold"/>
              <a:ea typeface="프리텐다드 Semi-Bold"/>
              <a:cs typeface="프리텐다드 Semi-Bold"/>
              <a:sym typeface="프리텐다드 Semi-Bold"/>
            </a:endParaRPr>
          </a:p>
        </p:txBody>
      </p:sp>
      <p:sp>
        <p:nvSpPr>
          <p:cNvPr id="25" name="TextBox 25"/>
          <p:cNvSpPr txBox="1"/>
          <p:nvPr/>
        </p:nvSpPr>
        <p:spPr>
          <a:xfrm>
            <a:off x="5077953" y="8166305"/>
            <a:ext cx="7933317" cy="621030"/>
          </a:xfrm>
          <a:prstGeom prst="rect">
            <a:avLst/>
          </a:prstGeom>
        </p:spPr>
        <p:txBody>
          <a:bodyPr lIns="0" tIns="0" rIns="0" bIns="0" rtlCol="0" anchor="t">
            <a:spAutoFit/>
          </a:bodyPr>
          <a:lstStyle/>
          <a:p>
            <a:pPr algn="l">
              <a:lnSpc>
                <a:spcPts val="2520"/>
              </a:lnSpc>
            </a:pPr>
            <a:r>
              <a:rPr lang="en-US" sz="1800">
                <a:solidFill>
                  <a:srgbClr val="282828"/>
                </a:solidFill>
                <a:latin typeface="프리텐다드"/>
                <a:ea typeface="프리텐다드"/>
                <a:cs typeface="프리텐다드"/>
                <a:sym typeface="프리텐다드"/>
              </a:rPr>
              <a:t>환자가 스마트폰 QR코드를 이용하여 기존 CT·MRI 영상을 원하는 의료기관으로 </a:t>
            </a:r>
          </a:p>
          <a:p>
            <a:pPr algn="l">
              <a:lnSpc>
                <a:spcPts val="2520"/>
              </a:lnSpc>
            </a:pPr>
            <a:r>
              <a:rPr lang="en-US" sz="1800">
                <a:solidFill>
                  <a:srgbClr val="282828"/>
                </a:solidFill>
                <a:latin typeface="프리텐다드"/>
                <a:ea typeface="프리텐다드"/>
                <a:cs typeface="프리텐다드"/>
                <a:sym typeface="프리텐다드"/>
              </a:rPr>
              <a:t>전송할 수 있도록 추진 중인 시스템</a:t>
            </a:r>
          </a:p>
        </p:txBody>
      </p:sp>
    </p:spTree>
    <p:extLst>
      <p:ext uri="{BB962C8B-B14F-4D97-AF65-F5344CB8AC3E}">
        <p14:creationId xmlns:p14="http://schemas.microsoft.com/office/powerpoint/2010/main" val="3935788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graphicFrame>
        <p:nvGraphicFramePr>
          <p:cNvPr id="8" name="Table 8"/>
          <p:cNvGraphicFramePr>
            <a:graphicFrameLocks noGrp="1"/>
          </p:cNvGraphicFramePr>
          <p:nvPr/>
        </p:nvGraphicFramePr>
        <p:xfrm>
          <a:off x="1713028" y="3635913"/>
          <a:ext cx="14830156" cy="4648110"/>
        </p:xfrm>
        <a:graphic>
          <a:graphicData uri="http://schemas.openxmlformats.org/drawingml/2006/table">
            <a:tbl>
              <a:tblPr/>
              <a:tblGrid>
                <a:gridCol w="3785840">
                  <a:extLst>
                    <a:ext uri="{9D8B030D-6E8A-4147-A177-3AD203B41FA5}">
                      <a16:colId xmlns:a16="http://schemas.microsoft.com/office/drawing/2014/main" val="20000"/>
                    </a:ext>
                  </a:extLst>
                </a:gridCol>
                <a:gridCol w="2761079">
                  <a:extLst>
                    <a:ext uri="{9D8B030D-6E8A-4147-A177-3AD203B41FA5}">
                      <a16:colId xmlns:a16="http://schemas.microsoft.com/office/drawing/2014/main" val="20001"/>
                    </a:ext>
                  </a:extLst>
                </a:gridCol>
                <a:gridCol w="2761079">
                  <a:extLst>
                    <a:ext uri="{9D8B030D-6E8A-4147-A177-3AD203B41FA5}">
                      <a16:colId xmlns:a16="http://schemas.microsoft.com/office/drawing/2014/main" val="20002"/>
                    </a:ext>
                  </a:extLst>
                </a:gridCol>
                <a:gridCol w="2761079">
                  <a:extLst>
                    <a:ext uri="{9D8B030D-6E8A-4147-A177-3AD203B41FA5}">
                      <a16:colId xmlns:a16="http://schemas.microsoft.com/office/drawing/2014/main" val="20003"/>
                    </a:ext>
                  </a:extLst>
                </a:gridCol>
                <a:gridCol w="2761079">
                  <a:extLst>
                    <a:ext uri="{9D8B030D-6E8A-4147-A177-3AD203B41FA5}">
                      <a16:colId xmlns:a16="http://schemas.microsoft.com/office/drawing/2014/main" val="20004"/>
                    </a:ext>
                  </a:extLst>
                </a:gridCol>
              </a:tblGrid>
              <a:tr h="774685">
                <a:tc>
                  <a:txBody>
                    <a:bodyPr/>
                    <a:lstStyle/>
                    <a:p>
                      <a:pPr algn="ctr">
                        <a:lnSpc>
                          <a:spcPts val="2940"/>
                        </a:lnSpc>
                        <a:defRPr/>
                      </a:pP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solidFill>
                      <a:srgbClr val="737373"/>
                    </a:solidFill>
                  </a:tcPr>
                </a:tc>
                <a:tc>
                  <a:txBody>
                    <a:bodyPr/>
                    <a:lstStyle/>
                    <a:p>
                      <a:pPr algn="ctr">
                        <a:lnSpc>
                          <a:spcPts val="2940"/>
                        </a:lnSpc>
                        <a:defRPr/>
                      </a:pPr>
                      <a:r>
                        <a:rPr lang="en-US" sz="2100" b="1">
                          <a:solidFill>
                            <a:srgbClr val="FFFFFF"/>
                          </a:solidFill>
                          <a:latin typeface="프리텐다드 Medium"/>
                          <a:ea typeface="프리텐다드 Medium"/>
                          <a:cs typeface="프리텐다드 Medium"/>
                          <a:sym typeface="프리텐다드 Medium"/>
                        </a:rPr>
                        <a:t>건강보험심사평가원</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solidFill>
                      <a:srgbClr val="737373"/>
                    </a:solidFill>
                  </a:tcPr>
                </a:tc>
                <a:tc>
                  <a:txBody>
                    <a:bodyPr/>
                    <a:lstStyle/>
                    <a:p>
                      <a:pPr algn="ctr">
                        <a:lnSpc>
                          <a:spcPts val="2940"/>
                        </a:lnSpc>
                        <a:defRPr/>
                      </a:pPr>
                      <a:r>
                        <a:rPr lang="en-US" sz="2100" b="1">
                          <a:solidFill>
                            <a:srgbClr val="FFFFFF"/>
                          </a:solidFill>
                          <a:latin typeface="프리텐다드 Medium"/>
                          <a:ea typeface="프리텐다드 Medium"/>
                          <a:cs typeface="프리텐다드 Medium"/>
                          <a:sym typeface="프리텐다드 Medium"/>
                        </a:rPr>
                        <a:t>진료정보교류 사업</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solidFill>
                      <a:srgbClr val="737373"/>
                    </a:solidFill>
                  </a:tcPr>
                </a:tc>
                <a:tc>
                  <a:txBody>
                    <a:bodyPr/>
                    <a:lstStyle/>
                    <a:p>
                      <a:pPr algn="ctr">
                        <a:lnSpc>
                          <a:spcPts val="2940"/>
                        </a:lnSpc>
                        <a:defRPr/>
                      </a:pPr>
                      <a:r>
                        <a:rPr lang="en-US" sz="2100" b="1">
                          <a:solidFill>
                            <a:srgbClr val="FFFFFF"/>
                          </a:solidFill>
                          <a:latin typeface="프리텐다드 Medium"/>
                          <a:ea typeface="프리텐다드 Medium"/>
                          <a:cs typeface="프리텐다드 Medium"/>
                          <a:sym typeface="프리텐다드 Medium"/>
                        </a:rPr>
                        <a:t>정부 QR공유</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solidFill>
                      <a:srgbClr val="737373"/>
                    </a:solidFill>
                  </a:tcPr>
                </a:tc>
                <a:tc>
                  <a:txBody>
                    <a:bodyPr/>
                    <a:lstStyle/>
                    <a:p>
                      <a:pPr algn="ctr">
                        <a:lnSpc>
                          <a:spcPts val="2940"/>
                        </a:lnSpc>
                        <a:defRPr/>
                      </a:pPr>
                      <a:r>
                        <a:rPr lang="en-US" sz="2100">
                          <a:solidFill>
                            <a:srgbClr val="FFFFFF"/>
                          </a:solidFill>
                          <a:latin typeface="프리텐다드"/>
                          <a:ea typeface="프리텐다드"/>
                          <a:cs typeface="프리텐다드"/>
                          <a:sym typeface="프리텐다드"/>
                        </a:rPr>
                        <a:t>MediQ</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solidFill>
                      <a:srgbClr val="737373"/>
                    </a:solidFill>
                  </a:tcPr>
                </a:tc>
                <a:extLst>
                  <a:ext uri="{0D108BD9-81ED-4DB2-BD59-A6C34878D82A}">
                    <a16:rowId xmlns:a16="http://schemas.microsoft.com/office/drawing/2014/main" val="10000"/>
                  </a:ext>
                </a:extLst>
              </a:tr>
              <a:tr h="774685">
                <a:tc>
                  <a:txBody>
                    <a:bodyPr/>
                    <a:lstStyle/>
                    <a:p>
                      <a:pPr algn="ctr">
                        <a:lnSpc>
                          <a:spcPts val="2940"/>
                        </a:lnSpc>
                        <a:defRPr/>
                      </a:pPr>
                      <a:r>
                        <a:rPr lang="en-US" sz="2100" b="1">
                          <a:solidFill>
                            <a:srgbClr val="282828"/>
                          </a:solidFill>
                          <a:latin typeface="프리텐다드 Medium"/>
                          <a:ea typeface="프리텐다드 Medium"/>
                          <a:cs typeface="프리텐다드 Medium"/>
                          <a:sym typeface="프리텐다드 Medium"/>
                        </a:rPr>
                        <a:t>CT·MRI 촬영 이력 조회</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solidFill>
                      <a:srgbClr val="E9E9E9"/>
                    </a:solidFill>
                  </a:tcPr>
                </a:tc>
                <a:tc>
                  <a:txBody>
                    <a:bodyPr/>
                    <a:lstStyle/>
                    <a:p>
                      <a:pPr algn="ctr">
                        <a:lnSpc>
                          <a:spcPts val="2940"/>
                        </a:lnSpc>
                        <a:defRPr/>
                      </a:pP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2940"/>
                        </a:lnSpc>
                        <a:defRPr/>
                      </a:pPr>
                      <a:r>
                        <a:rPr lang="en-US" sz="2100" b="1">
                          <a:solidFill>
                            <a:srgbClr val="282828"/>
                          </a:solidFill>
                          <a:latin typeface="프리텐다드 Bold"/>
                          <a:ea typeface="프리텐다드 Bold"/>
                          <a:cs typeface="프리텐다드 Bold"/>
                          <a:sym typeface="프리텐다드 Bold"/>
                        </a:rPr>
                        <a:t>—</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2940"/>
                        </a:lnSpc>
                        <a:defRPr/>
                      </a:pPr>
                      <a:r>
                        <a:rPr lang="en-US" sz="2100" b="1">
                          <a:solidFill>
                            <a:srgbClr val="282828"/>
                          </a:solidFill>
                          <a:latin typeface="프리텐다드 Bold"/>
                          <a:ea typeface="프리텐다드 Bold"/>
                          <a:cs typeface="프리텐다드 Bold"/>
                          <a:sym typeface="프리텐다드 Bold"/>
                        </a:rPr>
                        <a:t>—</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2940"/>
                        </a:lnSpc>
                        <a:defRPr/>
                      </a:pP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extLst>
                  <a:ext uri="{0D108BD9-81ED-4DB2-BD59-A6C34878D82A}">
                    <a16:rowId xmlns:a16="http://schemas.microsoft.com/office/drawing/2014/main" val="10001"/>
                  </a:ext>
                </a:extLst>
              </a:tr>
              <a:tr h="774685">
                <a:tc>
                  <a:txBody>
                    <a:bodyPr/>
                    <a:lstStyle/>
                    <a:p>
                      <a:pPr algn="ctr">
                        <a:lnSpc>
                          <a:spcPts val="2940"/>
                        </a:lnSpc>
                        <a:defRPr/>
                      </a:pPr>
                      <a:r>
                        <a:rPr lang="en-US" sz="2100" b="1">
                          <a:solidFill>
                            <a:srgbClr val="282828"/>
                          </a:solidFill>
                          <a:latin typeface="프리텐다드 Medium"/>
                          <a:ea typeface="프리텐다드 Medium"/>
                          <a:cs typeface="프리텐다드 Medium"/>
                          <a:sym typeface="프리텐다드 Medium"/>
                        </a:rPr>
                        <a:t>CT·MRI 의료영상 공유</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solidFill>
                      <a:srgbClr val="E9E9E9"/>
                    </a:solidFill>
                  </a:tcPr>
                </a:tc>
                <a:tc>
                  <a:txBody>
                    <a:bodyPr/>
                    <a:lstStyle/>
                    <a:p>
                      <a:pPr algn="ctr">
                        <a:lnSpc>
                          <a:spcPts val="2940"/>
                        </a:lnSpc>
                        <a:defRPr/>
                      </a:pPr>
                      <a:r>
                        <a:rPr lang="en-US" sz="2100" b="1">
                          <a:solidFill>
                            <a:srgbClr val="282828"/>
                          </a:solidFill>
                          <a:latin typeface="프리텐다드 Bold"/>
                          <a:ea typeface="프리텐다드 Bold"/>
                          <a:cs typeface="프리텐다드 Bold"/>
                          <a:sym typeface="프리텐다드 Bold"/>
                        </a:rPr>
                        <a:t>—</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2940"/>
                        </a:lnSpc>
                        <a:defRPr/>
                      </a:pP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2940"/>
                        </a:lnSpc>
                        <a:defRPr/>
                      </a:pP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2940"/>
                        </a:lnSpc>
                        <a:defRPr/>
                      </a:pP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extLst>
                  <a:ext uri="{0D108BD9-81ED-4DB2-BD59-A6C34878D82A}">
                    <a16:rowId xmlns:a16="http://schemas.microsoft.com/office/drawing/2014/main" val="10002"/>
                  </a:ext>
                </a:extLst>
              </a:tr>
              <a:tr h="774685">
                <a:tc>
                  <a:txBody>
                    <a:bodyPr/>
                    <a:lstStyle/>
                    <a:p>
                      <a:pPr algn="ctr">
                        <a:lnSpc>
                          <a:spcPts val="2940"/>
                        </a:lnSpc>
                        <a:defRPr/>
                      </a:pPr>
                      <a:r>
                        <a:rPr lang="en-US" sz="2100" b="1">
                          <a:solidFill>
                            <a:srgbClr val="282828"/>
                          </a:solidFill>
                          <a:latin typeface="프리텐다드 Medium"/>
                          <a:ea typeface="프리텐다드 Medium"/>
                          <a:cs typeface="프리텐다드 Medium"/>
                          <a:sym typeface="프리텐다드 Medium"/>
                        </a:rPr>
                        <a:t>환자 동의 기반 공유</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solidFill>
                      <a:srgbClr val="E9E9E9"/>
                    </a:solidFill>
                  </a:tcPr>
                </a:tc>
                <a:tc>
                  <a:txBody>
                    <a:bodyPr/>
                    <a:lstStyle/>
                    <a:p>
                      <a:pPr algn="ctr">
                        <a:lnSpc>
                          <a:spcPts val="2940"/>
                        </a:lnSpc>
                        <a:defRPr/>
                      </a:pPr>
                      <a:r>
                        <a:rPr lang="en-US" sz="2100" b="1">
                          <a:solidFill>
                            <a:srgbClr val="282828"/>
                          </a:solidFill>
                          <a:latin typeface="프리텐다드 Bold"/>
                          <a:ea typeface="프리텐다드 Bold"/>
                          <a:cs typeface="프리텐다드 Bold"/>
                          <a:sym typeface="프리텐다드 Bold"/>
                        </a:rPr>
                        <a:t>—</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2940"/>
                        </a:lnSpc>
                        <a:defRPr/>
                      </a:pP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2940"/>
                        </a:lnSpc>
                        <a:defRPr/>
                      </a:pP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2940"/>
                        </a:lnSpc>
                        <a:defRPr/>
                      </a:pP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extLst>
                  <a:ext uri="{0D108BD9-81ED-4DB2-BD59-A6C34878D82A}">
                    <a16:rowId xmlns:a16="http://schemas.microsoft.com/office/drawing/2014/main" val="10003"/>
                  </a:ext>
                </a:extLst>
              </a:tr>
              <a:tr h="774685">
                <a:tc>
                  <a:txBody>
                    <a:bodyPr/>
                    <a:lstStyle/>
                    <a:p>
                      <a:pPr algn="ctr">
                        <a:lnSpc>
                          <a:spcPts val="2940"/>
                        </a:lnSpc>
                        <a:defRPr/>
                      </a:pPr>
                      <a:r>
                        <a:rPr lang="en-US" sz="2100" b="1">
                          <a:solidFill>
                            <a:srgbClr val="282828"/>
                          </a:solidFill>
                          <a:latin typeface="프리텐다드 Medium"/>
                          <a:ea typeface="프리텐다드 Medium"/>
                          <a:cs typeface="프리텐다드 Medium"/>
                          <a:sym typeface="프리텐다드 Medium"/>
                        </a:rPr>
                        <a:t>영상별 접근권한 제어</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solidFill>
                      <a:srgbClr val="E9E9E9"/>
                    </a:solidFill>
                  </a:tcPr>
                </a:tc>
                <a:tc>
                  <a:txBody>
                    <a:bodyPr/>
                    <a:lstStyle/>
                    <a:p>
                      <a:pPr algn="ctr">
                        <a:lnSpc>
                          <a:spcPts val="2940"/>
                        </a:lnSpc>
                        <a:defRPr/>
                      </a:pPr>
                      <a:r>
                        <a:rPr lang="en-US" sz="2100" b="1">
                          <a:solidFill>
                            <a:srgbClr val="282828"/>
                          </a:solidFill>
                          <a:latin typeface="프리텐다드 Bold"/>
                          <a:ea typeface="프리텐다드 Bold"/>
                          <a:cs typeface="프리텐다드 Bold"/>
                          <a:sym typeface="프리텐다드 Bold"/>
                        </a:rPr>
                        <a:t>—</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4200"/>
                        </a:lnSpc>
                        <a:defRPr/>
                      </a:pPr>
                      <a:r>
                        <a:rPr lang="en-US" sz="3000">
                          <a:solidFill>
                            <a:srgbClr val="282828"/>
                          </a:solidFill>
                          <a:latin typeface="프리텐다드"/>
                          <a:ea typeface="프리텐다드"/>
                          <a:cs typeface="프리텐다드"/>
                          <a:sym typeface="프리텐다드"/>
                        </a:rPr>
                        <a:t>?</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2940"/>
                        </a:lnSpc>
                        <a:defRPr/>
                      </a:pP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2940"/>
                        </a:lnSpc>
                        <a:defRPr/>
                      </a:pP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extLst>
                  <a:ext uri="{0D108BD9-81ED-4DB2-BD59-A6C34878D82A}">
                    <a16:rowId xmlns:a16="http://schemas.microsoft.com/office/drawing/2014/main" val="10004"/>
                  </a:ext>
                </a:extLst>
              </a:tr>
              <a:tr h="774685">
                <a:tc>
                  <a:txBody>
                    <a:bodyPr/>
                    <a:lstStyle/>
                    <a:p>
                      <a:pPr algn="ctr">
                        <a:lnSpc>
                          <a:spcPts val="2940"/>
                        </a:lnSpc>
                        <a:defRPr/>
                      </a:pPr>
                      <a:r>
                        <a:rPr lang="en-US" sz="2100" b="1">
                          <a:solidFill>
                            <a:srgbClr val="282828"/>
                          </a:solidFill>
                          <a:latin typeface="프리텐다드 Medium"/>
                          <a:ea typeface="프리텐다드 Medium"/>
                          <a:cs typeface="프리텐다드 Medium"/>
                          <a:sym typeface="프리텐다드 Medium"/>
                        </a:rPr>
                        <a:t>단기 토큰·접근 감사</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solidFill>
                      <a:srgbClr val="E9E9E9"/>
                    </a:solidFill>
                  </a:tcPr>
                </a:tc>
                <a:tc>
                  <a:txBody>
                    <a:bodyPr/>
                    <a:lstStyle/>
                    <a:p>
                      <a:pPr algn="ctr">
                        <a:lnSpc>
                          <a:spcPts val="2940"/>
                        </a:lnSpc>
                        <a:defRPr/>
                      </a:pPr>
                      <a:r>
                        <a:rPr lang="en-US" sz="2100" b="1">
                          <a:solidFill>
                            <a:srgbClr val="282828"/>
                          </a:solidFill>
                          <a:latin typeface="프리텐다드 Bold"/>
                          <a:ea typeface="프리텐다드 Bold"/>
                          <a:cs typeface="프리텐다드 Bold"/>
                          <a:sym typeface="프리텐다드 Bold"/>
                        </a:rPr>
                        <a:t>—</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4200"/>
                        </a:lnSpc>
                        <a:defRPr/>
                      </a:pPr>
                      <a:r>
                        <a:rPr lang="en-US" sz="3000">
                          <a:solidFill>
                            <a:srgbClr val="282828"/>
                          </a:solidFill>
                          <a:latin typeface="프리텐다드"/>
                          <a:ea typeface="프리텐다드"/>
                          <a:cs typeface="프리텐다드"/>
                          <a:sym typeface="프리텐다드"/>
                        </a:rPr>
                        <a:t>?</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4200"/>
                        </a:lnSpc>
                        <a:defRPr/>
                      </a:pPr>
                      <a:r>
                        <a:rPr lang="en-US" sz="3000">
                          <a:solidFill>
                            <a:srgbClr val="282828"/>
                          </a:solidFill>
                          <a:latin typeface="프리텐다드"/>
                          <a:ea typeface="프리텐다드"/>
                          <a:cs typeface="프리텐다드"/>
                          <a:sym typeface="프리텐다드"/>
                        </a:rPr>
                        <a:t>?</a:t>
                      </a: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tc>
                  <a:txBody>
                    <a:bodyPr/>
                    <a:lstStyle/>
                    <a:p>
                      <a:pPr algn="ctr">
                        <a:lnSpc>
                          <a:spcPts val="2940"/>
                        </a:lnSpc>
                        <a:defRPr/>
                      </a:pPr>
                      <a:endParaRPr lang="en-US" sz="1100"/>
                    </a:p>
                  </a:txBody>
                  <a:tcPr marL="0" marR="0" marT="0" marB="0" anchor="ctr">
                    <a:lnL w="9525" cap="flat" cmpd="sng" algn="ctr">
                      <a:solidFill>
                        <a:srgbClr val="BCBCBC"/>
                      </a:solidFill>
                      <a:prstDash val="solid"/>
                      <a:round/>
                      <a:headEnd type="none" w="med" len="med"/>
                      <a:tailEnd type="none" w="med" len="med"/>
                    </a:lnL>
                    <a:lnR w="9525" cap="flat" cmpd="sng" algn="ctr">
                      <a:solidFill>
                        <a:srgbClr val="BCBCBC"/>
                      </a:solidFill>
                      <a:prstDash val="solid"/>
                      <a:round/>
                      <a:headEnd type="none" w="med" len="med"/>
                      <a:tailEnd type="none" w="med" len="med"/>
                    </a:lnR>
                    <a:lnT w="9525" cap="flat" cmpd="sng" algn="ctr">
                      <a:solidFill>
                        <a:srgbClr val="BCBCBC"/>
                      </a:solidFill>
                      <a:prstDash val="solid"/>
                      <a:round/>
                      <a:headEnd type="none" w="med" len="med"/>
                      <a:tailEnd type="none" w="med" len="med"/>
                    </a:lnT>
                    <a:lnB w="9525" cap="flat" cmpd="sng" algn="ctr">
                      <a:solidFill>
                        <a:srgbClr val="BCBCB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Freeform 9">
            <a:extLst>
              <a:ext uri="{C183D7F6-B498-43B3-948B-1728B52AA6E4}">
                <adec:decorative xmlns:adec="http://schemas.microsoft.com/office/drawing/2017/decorative" val="1"/>
              </a:ext>
            </a:extLst>
          </p:cNvPr>
          <p:cNvSpPr/>
          <p:nvPr/>
        </p:nvSpPr>
        <p:spPr>
          <a:xfrm>
            <a:off x="9464911" y="5426479"/>
            <a:ext cx="330573" cy="330573"/>
          </a:xfrm>
          <a:custGeom>
            <a:avLst/>
            <a:gdLst/>
            <a:ahLst/>
            <a:cxnLst/>
            <a:rect l="l" t="t" r="r" b="b"/>
            <a:pathLst>
              <a:path w="330573" h="330573">
                <a:moveTo>
                  <a:pt x="0" y="0"/>
                </a:moveTo>
                <a:lnTo>
                  <a:pt x="330573" y="0"/>
                </a:lnTo>
                <a:lnTo>
                  <a:pt x="330573" y="330573"/>
                </a:lnTo>
                <a:lnTo>
                  <a:pt x="0" y="3305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0" name="Freeform 10">
            <a:extLst>
              <a:ext uri="{C183D7F6-B498-43B3-948B-1728B52AA6E4}">
                <adec:decorative xmlns:adec="http://schemas.microsoft.com/office/drawing/2017/decorative" val="1"/>
              </a:ext>
            </a:extLst>
          </p:cNvPr>
          <p:cNvSpPr/>
          <p:nvPr/>
        </p:nvSpPr>
        <p:spPr>
          <a:xfrm>
            <a:off x="9464911" y="6176600"/>
            <a:ext cx="330573" cy="330573"/>
          </a:xfrm>
          <a:custGeom>
            <a:avLst/>
            <a:gdLst/>
            <a:ahLst/>
            <a:cxnLst/>
            <a:rect l="l" t="t" r="r" b="b"/>
            <a:pathLst>
              <a:path w="330573" h="330573">
                <a:moveTo>
                  <a:pt x="0" y="0"/>
                </a:moveTo>
                <a:lnTo>
                  <a:pt x="330573" y="0"/>
                </a:lnTo>
                <a:lnTo>
                  <a:pt x="330573" y="330573"/>
                </a:lnTo>
                <a:lnTo>
                  <a:pt x="0" y="3305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1" name="Freeform 11">
            <a:extLst>
              <a:ext uri="{C183D7F6-B498-43B3-948B-1728B52AA6E4}">
                <adec:decorative xmlns:adec="http://schemas.microsoft.com/office/drawing/2017/decorative" val="1"/>
              </a:ext>
            </a:extLst>
          </p:cNvPr>
          <p:cNvSpPr/>
          <p:nvPr/>
        </p:nvSpPr>
        <p:spPr>
          <a:xfrm>
            <a:off x="15012529" y="4669948"/>
            <a:ext cx="330573" cy="330573"/>
          </a:xfrm>
          <a:custGeom>
            <a:avLst/>
            <a:gdLst/>
            <a:ahLst/>
            <a:cxnLst/>
            <a:rect l="l" t="t" r="r" b="b"/>
            <a:pathLst>
              <a:path w="330573" h="330573">
                <a:moveTo>
                  <a:pt x="0" y="0"/>
                </a:moveTo>
                <a:lnTo>
                  <a:pt x="330573" y="0"/>
                </a:lnTo>
                <a:lnTo>
                  <a:pt x="330573" y="330573"/>
                </a:lnTo>
                <a:lnTo>
                  <a:pt x="0" y="3305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2" name="Freeform 12">
            <a:extLst>
              <a:ext uri="{C183D7F6-B498-43B3-948B-1728B52AA6E4}">
                <adec:decorative xmlns:adec="http://schemas.microsoft.com/office/drawing/2017/decorative" val="1"/>
              </a:ext>
            </a:extLst>
          </p:cNvPr>
          <p:cNvSpPr/>
          <p:nvPr/>
        </p:nvSpPr>
        <p:spPr>
          <a:xfrm>
            <a:off x="15012529" y="5420069"/>
            <a:ext cx="330573" cy="330573"/>
          </a:xfrm>
          <a:custGeom>
            <a:avLst/>
            <a:gdLst/>
            <a:ahLst/>
            <a:cxnLst/>
            <a:rect l="l" t="t" r="r" b="b"/>
            <a:pathLst>
              <a:path w="330573" h="330573">
                <a:moveTo>
                  <a:pt x="0" y="0"/>
                </a:moveTo>
                <a:lnTo>
                  <a:pt x="330573" y="0"/>
                </a:lnTo>
                <a:lnTo>
                  <a:pt x="330573" y="330573"/>
                </a:lnTo>
                <a:lnTo>
                  <a:pt x="0" y="3305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3" name="Freeform 13">
            <a:extLst>
              <a:ext uri="{C183D7F6-B498-43B3-948B-1728B52AA6E4}">
                <adec:decorative xmlns:adec="http://schemas.microsoft.com/office/drawing/2017/decorative" val="1"/>
              </a:ext>
            </a:extLst>
          </p:cNvPr>
          <p:cNvSpPr/>
          <p:nvPr/>
        </p:nvSpPr>
        <p:spPr>
          <a:xfrm>
            <a:off x="15012529" y="6169742"/>
            <a:ext cx="330573" cy="330573"/>
          </a:xfrm>
          <a:custGeom>
            <a:avLst/>
            <a:gdLst/>
            <a:ahLst/>
            <a:cxnLst/>
            <a:rect l="l" t="t" r="r" b="b"/>
            <a:pathLst>
              <a:path w="330573" h="330573">
                <a:moveTo>
                  <a:pt x="0" y="0"/>
                </a:moveTo>
                <a:lnTo>
                  <a:pt x="330573" y="0"/>
                </a:lnTo>
                <a:lnTo>
                  <a:pt x="330573" y="330573"/>
                </a:lnTo>
                <a:lnTo>
                  <a:pt x="0" y="3305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4" name="Freeform 14">
            <a:extLst>
              <a:ext uri="{C183D7F6-B498-43B3-948B-1728B52AA6E4}">
                <adec:decorative xmlns:adec="http://schemas.microsoft.com/office/drawing/2017/decorative" val="1"/>
              </a:ext>
            </a:extLst>
          </p:cNvPr>
          <p:cNvSpPr/>
          <p:nvPr/>
        </p:nvSpPr>
        <p:spPr>
          <a:xfrm>
            <a:off x="15012529" y="6919415"/>
            <a:ext cx="330573" cy="330573"/>
          </a:xfrm>
          <a:custGeom>
            <a:avLst/>
            <a:gdLst/>
            <a:ahLst/>
            <a:cxnLst/>
            <a:rect l="l" t="t" r="r" b="b"/>
            <a:pathLst>
              <a:path w="330573" h="330573">
                <a:moveTo>
                  <a:pt x="0" y="0"/>
                </a:moveTo>
                <a:lnTo>
                  <a:pt x="330573" y="0"/>
                </a:lnTo>
                <a:lnTo>
                  <a:pt x="330573" y="330573"/>
                </a:lnTo>
                <a:lnTo>
                  <a:pt x="0" y="3305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5" name="Freeform 15">
            <a:extLst>
              <a:ext uri="{C183D7F6-B498-43B3-948B-1728B52AA6E4}">
                <adec:decorative xmlns:adec="http://schemas.microsoft.com/office/drawing/2017/decorative" val="1"/>
              </a:ext>
            </a:extLst>
          </p:cNvPr>
          <p:cNvSpPr/>
          <p:nvPr/>
        </p:nvSpPr>
        <p:spPr>
          <a:xfrm>
            <a:off x="15012529" y="7669088"/>
            <a:ext cx="330573" cy="330573"/>
          </a:xfrm>
          <a:custGeom>
            <a:avLst/>
            <a:gdLst/>
            <a:ahLst/>
            <a:cxnLst/>
            <a:rect l="l" t="t" r="r" b="b"/>
            <a:pathLst>
              <a:path w="330573" h="330573">
                <a:moveTo>
                  <a:pt x="0" y="0"/>
                </a:moveTo>
                <a:lnTo>
                  <a:pt x="330573" y="0"/>
                </a:lnTo>
                <a:lnTo>
                  <a:pt x="330573" y="330574"/>
                </a:lnTo>
                <a:lnTo>
                  <a:pt x="0" y="33057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6" name="Freeform 16">
            <a:extLst>
              <a:ext uri="{C183D7F6-B498-43B3-948B-1728B52AA6E4}">
                <adec:decorative xmlns:adec="http://schemas.microsoft.com/office/drawing/2017/decorative" val="1"/>
              </a:ext>
            </a:extLst>
          </p:cNvPr>
          <p:cNvSpPr/>
          <p:nvPr/>
        </p:nvSpPr>
        <p:spPr>
          <a:xfrm>
            <a:off x="12241792" y="6919415"/>
            <a:ext cx="330573" cy="330573"/>
          </a:xfrm>
          <a:custGeom>
            <a:avLst/>
            <a:gdLst/>
            <a:ahLst/>
            <a:cxnLst/>
            <a:rect l="l" t="t" r="r" b="b"/>
            <a:pathLst>
              <a:path w="330573" h="330573">
                <a:moveTo>
                  <a:pt x="0" y="0"/>
                </a:moveTo>
                <a:lnTo>
                  <a:pt x="330573" y="0"/>
                </a:lnTo>
                <a:lnTo>
                  <a:pt x="330573" y="330573"/>
                </a:lnTo>
                <a:lnTo>
                  <a:pt x="0" y="3305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grpSp>
        <p:nvGrpSpPr>
          <p:cNvPr id="17" name="Group 17"/>
          <p:cNvGrpSpPr/>
          <p:nvPr/>
        </p:nvGrpSpPr>
        <p:grpSpPr>
          <a:xfrm>
            <a:off x="1713028" y="8442967"/>
            <a:ext cx="6490395" cy="301625"/>
            <a:chOff x="0" y="0"/>
            <a:chExt cx="8653859" cy="402167"/>
          </a:xfrm>
        </p:grpSpPr>
        <p:sp>
          <p:nvSpPr>
            <p:cNvPr id="18" name="TextBox 18"/>
            <p:cNvSpPr txBox="1"/>
            <p:nvPr/>
          </p:nvSpPr>
          <p:spPr>
            <a:xfrm>
              <a:off x="25400" y="5927"/>
              <a:ext cx="8628459" cy="396240"/>
            </a:xfrm>
            <a:prstGeom prst="rect">
              <a:avLst/>
            </a:prstGeom>
          </p:spPr>
          <p:txBody>
            <a:bodyPr lIns="0" tIns="0" rIns="0" bIns="0" rtlCol="0" anchor="t">
              <a:spAutoFit/>
            </a:bodyPr>
            <a:lstStyle/>
            <a:p>
              <a:pPr algn="ctr">
                <a:lnSpc>
                  <a:spcPts val="2520"/>
                </a:lnSpc>
                <a:spcBef>
                  <a:spcPct val="0"/>
                </a:spcBef>
              </a:pPr>
              <a:r>
                <a:rPr lang="en-US" sz="1800">
                  <a:solidFill>
                    <a:srgbClr val="000000"/>
                  </a:solidFill>
                  <a:latin typeface="프리텐다드"/>
                  <a:ea typeface="프리텐다드"/>
                  <a:cs typeface="프리텐다드"/>
                  <a:sym typeface="프리텐다드"/>
                </a:rPr>
                <a:t>     지원  ·       도입 예정 · </a:t>
              </a:r>
              <a:r>
                <a:rPr lang="en-US" sz="1800" b="1">
                  <a:solidFill>
                    <a:srgbClr val="000000"/>
                  </a:solidFill>
                  <a:latin typeface="프리텐다드 Bold"/>
                  <a:ea typeface="프리텐다드 Bold"/>
                  <a:cs typeface="프리텐다드 Bold"/>
                  <a:sym typeface="프리텐다드 Bold"/>
                </a:rPr>
                <a:t>—</a:t>
              </a:r>
              <a:r>
                <a:rPr lang="en-US" sz="1800">
                  <a:solidFill>
                    <a:srgbClr val="000000"/>
                  </a:solidFill>
                  <a:latin typeface="프리텐다드"/>
                  <a:ea typeface="프리텐다드"/>
                  <a:cs typeface="프리텐다드"/>
                  <a:sym typeface="프리텐다드"/>
                </a:rPr>
                <a:t>  사업 핵심 범위 밖 · </a:t>
              </a:r>
              <a:r>
                <a:rPr lang="en-US" sz="1800" b="1">
                  <a:solidFill>
                    <a:srgbClr val="000000"/>
                  </a:solidFill>
                  <a:latin typeface="프리텐다드 Bold"/>
                  <a:ea typeface="프리텐다드 Bold"/>
                  <a:cs typeface="프리텐다드 Bold"/>
                  <a:sym typeface="프리텐다드 Bold"/>
                </a:rPr>
                <a:t>?</a:t>
              </a:r>
              <a:r>
                <a:rPr lang="en-US" sz="1800">
                  <a:solidFill>
                    <a:srgbClr val="000000"/>
                  </a:solidFill>
                  <a:latin typeface="프리텐다드"/>
                  <a:ea typeface="프리텐다드"/>
                  <a:cs typeface="프리텐다드"/>
                  <a:sym typeface="프리텐다드"/>
                </a:rPr>
                <a:t>  공개자료상 확인 필요</a:t>
              </a:r>
            </a:p>
          </p:txBody>
        </p:sp>
        <p:sp>
          <p:nvSpPr>
            <p:cNvPr id="19" name="Freeform 19"/>
            <p:cNvSpPr/>
            <p:nvPr/>
          </p:nvSpPr>
          <p:spPr>
            <a:xfrm>
              <a:off x="0" y="44027"/>
              <a:ext cx="358140" cy="358140"/>
            </a:xfrm>
            <a:custGeom>
              <a:avLst/>
              <a:gdLst/>
              <a:ahLst/>
              <a:cxnLst/>
              <a:rect l="l" t="t" r="r" b="b"/>
              <a:pathLst>
                <a:path w="358140" h="358140">
                  <a:moveTo>
                    <a:pt x="0" y="0"/>
                  </a:moveTo>
                  <a:lnTo>
                    <a:pt x="358140" y="0"/>
                  </a:lnTo>
                  <a:lnTo>
                    <a:pt x="358140" y="358140"/>
                  </a:lnTo>
                  <a:lnTo>
                    <a:pt x="0" y="35814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20" name="TextBox 20"/>
            <p:cNvSpPr txBox="1"/>
            <p:nvPr/>
          </p:nvSpPr>
          <p:spPr>
            <a:xfrm>
              <a:off x="1302785" y="-47625"/>
              <a:ext cx="412552" cy="449792"/>
            </a:xfrm>
            <a:prstGeom prst="rect">
              <a:avLst/>
            </a:prstGeom>
          </p:spPr>
          <p:txBody>
            <a:bodyPr lIns="0" tIns="0" rIns="0" bIns="0" rtlCol="0" anchor="t">
              <a:spAutoFit/>
            </a:bodyPr>
            <a:lstStyle/>
            <a:p>
              <a:pPr algn="ctr">
                <a:lnSpc>
                  <a:spcPts val="2800"/>
                </a:lnSpc>
                <a:spcBef>
                  <a:spcPct val="0"/>
                </a:spcBef>
              </a:pPr>
              <a:r>
                <a:rPr lang="en-US" sz="2000">
                  <a:solidFill>
                    <a:srgbClr val="FF751F"/>
                  </a:solidFill>
                  <a:latin typeface="프리텐다드"/>
                  <a:ea typeface="프리텐다드"/>
                  <a:cs typeface="프리텐다드"/>
                  <a:sym typeface="프리텐다드"/>
                </a:rPr>
                <a:t>△ </a:t>
              </a:r>
            </a:p>
          </p:txBody>
        </p:sp>
      </p:grpSp>
      <p:sp>
        <p:nvSpPr>
          <p:cNvPr id="21" name="TextBox 21"/>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SERVICE PLANNING</a:t>
            </a:r>
          </a:p>
        </p:txBody>
      </p:sp>
      <p:sp>
        <p:nvSpPr>
          <p:cNvPr id="22" name="TextBox 22"/>
          <p:cNvSpPr txBox="1"/>
          <p:nvPr/>
        </p:nvSpPr>
        <p:spPr>
          <a:xfrm>
            <a:off x="1421481" y="1253961"/>
            <a:ext cx="3894213"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서비스 비교</a:t>
            </a:r>
          </a:p>
        </p:txBody>
      </p:sp>
      <p:sp>
        <p:nvSpPr>
          <p:cNvPr id="23" name="TextBox 23"/>
          <p:cNvSpPr txBox="1"/>
          <p:nvPr/>
        </p:nvSpPr>
        <p:spPr>
          <a:xfrm>
            <a:off x="9926307" y="8357242"/>
            <a:ext cx="6616878" cy="750189"/>
          </a:xfrm>
          <a:prstGeom prst="rect">
            <a:avLst/>
          </a:prstGeom>
        </p:spPr>
        <p:txBody>
          <a:bodyPr lIns="0" tIns="0" rIns="0" bIns="0" rtlCol="0" anchor="t">
            <a:spAutoFit/>
          </a:bodyPr>
          <a:lstStyle/>
          <a:p>
            <a:pPr marL="388620" lvl="1" indent="-194310" algn="l">
              <a:lnSpc>
                <a:spcPts val="3078"/>
              </a:lnSpc>
              <a:buFont typeface="Arial"/>
              <a:buChar char="•"/>
            </a:pPr>
            <a:r>
              <a:rPr lang="en-US" sz="1800">
                <a:solidFill>
                  <a:srgbClr val="282828"/>
                </a:solidFill>
                <a:latin typeface="프리텐다드"/>
                <a:ea typeface="프리텐다드"/>
                <a:cs typeface="프리텐다드"/>
                <a:sym typeface="프리텐다드"/>
              </a:rPr>
              <a:t>기존 의료영상 공유 체계에 세밀한 환자 동의 및 접근권한 제어를 적용</a:t>
            </a:r>
          </a:p>
          <a:p>
            <a:pPr marL="388620" lvl="1" indent="-194310" algn="l">
              <a:lnSpc>
                <a:spcPts val="3078"/>
              </a:lnSpc>
              <a:buFont typeface="Arial"/>
              <a:buChar char="•"/>
            </a:pPr>
            <a:r>
              <a:rPr lang="en-US" sz="1800">
                <a:solidFill>
                  <a:srgbClr val="282828"/>
                </a:solidFill>
                <a:latin typeface="프리텐다드"/>
                <a:ea typeface="프리텐다드"/>
                <a:cs typeface="프리텐다드"/>
                <a:sym typeface="프리텐다드"/>
              </a:rPr>
              <a:t>단기 접근토큰과 감사로그로 의료영상 접근의 보안성과 추적성 강화</a:t>
            </a:r>
          </a:p>
        </p:txBody>
      </p:sp>
      <p:sp>
        <p:nvSpPr>
          <p:cNvPr id="24" name="TextBox 24"/>
          <p:cNvSpPr txBox="1"/>
          <p:nvPr/>
        </p:nvSpPr>
        <p:spPr>
          <a:xfrm>
            <a:off x="6663410" y="4492335"/>
            <a:ext cx="464046" cy="523875"/>
          </a:xfrm>
          <a:prstGeom prst="rect">
            <a:avLst/>
          </a:prstGeom>
        </p:spPr>
        <p:txBody>
          <a:bodyPr lIns="0" tIns="0" rIns="0" bIns="0" rtlCol="0" anchor="t">
            <a:spAutoFit/>
          </a:bodyPr>
          <a:lstStyle/>
          <a:p>
            <a:pPr algn="ctr">
              <a:lnSpc>
                <a:spcPts val="4200"/>
              </a:lnSpc>
              <a:spcBef>
                <a:spcPct val="0"/>
              </a:spcBef>
            </a:pPr>
            <a:r>
              <a:rPr lang="en-US" sz="3000">
                <a:solidFill>
                  <a:srgbClr val="FF751F"/>
                </a:solidFill>
                <a:latin typeface="프리텐다드"/>
                <a:ea typeface="프리텐다드"/>
                <a:cs typeface="프리텐다드"/>
                <a:sym typeface="프리텐다드"/>
              </a:rPr>
              <a:t>△ </a:t>
            </a:r>
          </a:p>
        </p:txBody>
      </p:sp>
      <p:sp>
        <p:nvSpPr>
          <p:cNvPr id="25" name="TextBox 25"/>
          <p:cNvSpPr txBox="1"/>
          <p:nvPr/>
        </p:nvSpPr>
        <p:spPr>
          <a:xfrm>
            <a:off x="12184642" y="5271031"/>
            <a:ext cx="454378" cy="514350"/>
          </a:xfrm>
          <a:prstGeom prst="rect">
            <a:avLst/>
          </a:prstGeom>
        </p:spPr>
        <p:txBody>
          <a:bodyPr lIns="0" tIns="0" rIns="0" bIns="0" rtlCol="0" anchor="t">
            <a:spAutoFit/>
          </a:bodyPr>
          <a:lstStyle/>
          <a:p>
            <a:pPr algn="ctr">
              <a:lnSpc>
                <a:spcPts val="4112"/>
              </a:lnSpc>
              <a:spcBef>
                <a:spcPct val="0"/>
              </a:spcBef>
            </a:pPr>
            <a:r>
              <a:rPr lang="en-US" sz="2937">
                <a:solidFill>
                  <a:srgbClr val="FF751F"/>
                </a:solidFill>
                <a:latin typeface="프리텐다드"/>
                <a:ea typeface="프리텐다드"/>
                <a:cs typeface="프리텐다드"/>
                <a:sym typeface="프리텐다드"/>
              </a:rPr>
              <a:t>△ </a:t>
            </a:r>
          </a:p>
        </p:txBody>
      </p:sp>
      <p:sp>
        <p:nvSpPr>
          <p:cNvPr id="26" name="TextBox 26"/>
          <p:cNvSpPr txBox="1"/>
          <p:nvPr/>
        </p:nvSpPr>
        <p:spPr>
          <a:xfrm>
            <a:off x="12184642" y="6044516"/>
            <a:ext cx="454378" cy="514350"/>
          </a:xfrm>
          <a:prstGeom prst="rect">
            <a:avLst/>
          </a:prstGeom>
        </p:spPr>
        <p:txBody>
          <a:bodyPr lIns="0" tIns="0" rIns="0" bIns="0" rtlCol="0" anchor="t">
            <a:spAutoFit/>
          </a:bodyPr>
          <a:lstStyle/>
          <a:p>
            <a:pPr algn="ctr">
              <a:lnSpc>
                <a:spcPts val="4112"/>
              </a:lnSpc>
              <a:spcBef>
                <a:spcPct val="0"/>
              </a:spcBef>
            </a:pPr>
            <a:r>
              <a:rPr lang="en-US" sz="2937">
                <a:solidFill>
                  <a:srgbClr val="FF751F"/>
                </a:solidFill>
                <a:latin typeface="프리텐다드"/>
                <a:ea typeface="프리텐다드"/>
                <a:cs typeface="프리텐다드"/>
                <a:sym typeface="프리텐다드"/>
              </a:rPr>
              <a:t>△ </a:t>
            </a:r>
          </a:p>
        </p:txBody>
      </p:sp>
    </p:spTree>
    <p:extLst>
      <p:ext uri="{BB962C8B-B14F-4D97-AF65-F5344CB8AC3E}">
        <p14:creationId xmlns:p14="http://schemas.microsoft.com/office/powerpoint/2010/main" val="3272085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SERVICE PLANNING</a:t>
            </a:r>
          </a:p>
        </p:txBody>
      </p:sp>
      <p:sp>
        <p:nvSpPr>
          <p:cNvPr id="10" name="TextBox 10"/>
          <p:cNvSpPr txBox="1"/>
          <p:nvPr/>
        </p:nvSpPr>
        <p:spPr>
          <a:xfrm>
            <a:off x="1421481" y="1253961"/>
            <a:ext cx="5652545"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서비스 기획</a:t>
            </a:r>
          </a:p>
        </p:txBody>
      </p:sp>
      <p:sp>
        <p:nvSpPr>
          <p:cNvPr id="40" name="Direction band"/>
          <p:cNvSpPr/>
          <p:nvPr/>
        </p:nvSpPr>
        <p:spPr>
          <a:xfrm>
            <a:off x="1028700" y="3149600"/>
            <a:ext cx="16230600" cy="812800"/>
          </a:xfrm>
          <a:prstGeom prst="rect">
            <a:avLst/>
          </a:prstGeom>
          <a:solidFill>
            <a:srgbClr val="E8EEFA"/>
          </a:solidFill>
          <a:ln>
            <a:noFill/>
          </a:ln>
        </p:spPr>
        <p:txBody>
          <a:bodyPr wrap="square" lIns="304800" tIns="0" rIns="304800" bIns="0" rtlCol="0" anchor="ctr">
            <a:noAutofit/>
          </a:bodyPr>
          <a:lstStyle/>
          <a:p>
            <a:pPr marL="0" indent="0" algn="l">
              <a:lnSpc>
                <a:spcPts val="3000"/>
              </a:lnSpc>
              <a:spcBef>
                <a:spcPts val="0"/>
              </a:spcBef>
              <a:buNone/>
            </a:pPr>
            <a:r>
              <a:rPr lang="ko-KR" sz="2200" b="1" dirty="0">
                <a:solidFill>
                  <a:srgbClr val="2A59C5"/>
                </a:solidFill>
                <a:latin typeface="프리텐다드 Bold"/>
                <a:ea typeface="프리텐다드 Bold"/>
                <a:cs typeface="프리텐다드 Bold"/>
                <a:sym typeface="프리텐다드 Bold"/>
              </a:rPr>
              <a:t>기획 방향   </a:t>
            </a:r>
            <a:r>
              <a:rPr lang="ko-KR" sz="2000" dirty="0">
                <a:solidFill>
                  <a:srgbClr val="282828"/>
                </a:solidFill>
                <a:latin typeface="프리텐다드"/>
                <a:ea typeface="프리텐다드"/>
                <a:cs typeface="프리텐다드"/>
                <a:sym typeface="프리텐다드"/>
              </a:rPr>
              <a:t>기존 사례의 영상 조회·전송에 </a:t>
            </a:r>
            <a:r>
              <a:rPr lang="ko-KR" sz="2000" b="1" dirty="0">
                <a:solidFill>
                  <a:srgbClr val="2A59C5"/>
                </a:solidFill>
                <a:latin typeface="프리텐다드 Semi-Bold"/>
                <a:ea typeface="프리텐다드 Semi-Bold"/>
                <a:cs typeface="프리텐다드 Semi-Bold"/>
                <a:sym typeface="프리텐다드 Semi-Bold"/>
              </a:rPr>
              <a:t>환자 동의 · 영상별 접근권한 · 접근 감사</a:t>
            </a:r>
            <a:r>
              <a:rPr lang="ko-KR" sz="2000" dirty="0">
                <a:solidFill>
                  <a:srgbClr val="282828"/>
                </a:solidFill>
                <a:latin typeface="프리텐다드"/>
                <a:ea typeface="프리텐다드"/>
                <a:cs typeface="프리텐다드"/>
                <a:sym typeface="프리텐다드"/>
              </a:rPr>
              <a:t>를 결합한다</a:t>
            </a:r>
          </a:p>
        </p:txBody>
      </p:sp>
      <p:sp>
        <p:nvSpPr>
          <p:cNvPr id="41" name="Direction bar">
            <a:extLst>
              <a:ext uri="{C183D7F6-B498-43B3-948B-1728B52AA6E4}">
                <adec:decorative xmlns:adec="http://schemas.microsoft.com/office/drawing/2017/decorative" val="1"/>
              </a:ext>
            </a:extLst>
          </p:cNvPr>
          <p:cNvSpPr/>
          <p:nvPr/>
        </p:nvSpPr>
        <p:spPr>
          <a:xfrm>
            <a:off x="1028700" y="3149600"/>
            <a:ext cx="76200" cy="812800"/>
          </a:xfrm>
          <a:prstGeom prst="rect">
            <a:avLst/>
          </a:prstGeom>
          <a:solidFill>
            <a:srgbClr val="2A59C5"/>
          </a:solidFill>
          <a:ln>
            <a:noFill/>
          </a:ln>
        </p:spPr>
        <p:txBody>
          <a:bodyPr wrap="square" lIns="0" tIns="0" rIns="0" bIns="0" rtlCol="0" anchor="t">
            <a:noAutofit/>
          </a:bodyPr>
          <a:lstStyle/>
          <a:p>
            <a:endParaRPr lang="ko-KR"/>
          </a:p>
        </p:txBody>
      </p:sp>
      <p:sp>
        <p:nvSpPr>
          <p:cNvPr id="42" name="Actor card">
            <a:extLst>
              <a:ext uri="{C183D7F6-B498-43B3-948B-1728B52AA6E4}">
                <adec:decorative xmlns:adec="http://schemas.microsoft.com/office/drawing/2017/decorative" val="1"/>
              </a:ext>
            </a:extLst>
          </p:cNvPr>
          <p:cNvSpPr/>
          <p:nvPr/>
        </p:nvSpPr>
        <p:spPr>
          <a:xfrm>
            <a:off x="1028700" y="4368800"/>
            <a:ext cx="4191000" cy="3327400"/>
          </a:xfrm>
          <a:prstGeom prst="rect">
            <a:avLst/>
          </a:prstGeom>
          <a:solidFill>
            <a:srgbClr val="FFFFFF"/>
          </a:solidFill>
          <a:ln w="9525">
            <a:solidFill>
              <a:srgbClr val="737373"/>
            </a:solidFill>
          </a:ln>
        </p:spPr>
        <p:txBody>
          <a:bodyPr wrap="square" lIns="0" tIns="0" rIns="0" bIns="0" rtlCol="0" anchor="t">
            <a:noAutofit/>
          </a:bodyPr>
          <a:lstStyle/>
          <a:p>
            <a:endParaRPr lang="ko-KR"/>
          </a:p>
        </p:txBody>
      </p:sp>
      <p:sp>
        <p:nvSpPr>
          <p:cNvPr id="43" name="Actor title"/>
          <p:cNvSpPr txBox="1"/>
          <p:nvPr/>
        </p:nvSpPr>
        <p:spPr>
          <a:xfrm>
            <a:off x="2120900" y="4622800"/>
            <a:ext cx="2870200" cy="812800"/>
          </a:xfrm>
          <a:prstGeom prst="rect">
            <a:avLst/>
          </a:prstGeom>
          <a:noFill/>
          <a:ln>
            <a:noFill/>
          </a:ln>
        </p:spPr>
        <p:txBody>
          <a:bodyPr wrap="square" lIns="0" tIns="0" rIns="0" bIns="0" rtlCol="0" anchor="ctr">
            <a:noAutofit/>
          </a:bodyPr>
          <a:lstStyle/>
          <a:p>
            <a:pPr marL="0" indent="0" algn="l">
              <a:lnSpc>
                <a:spcPts val="3200"/>
              </a:lnSpc>
              <a:spcBef>
                <a:spcPts val="0"/>
              </a:spcBef>
              <a:buNone/>
            </a:pPr>
            <a:r>
              <a:rPr lang="ko-KR" sz="2400" b="1" dirty="0">
                <a:solidFill>
                  <a:srgbClr val="282828"/>
                </a:solidFill>
                <a:latin typeface="프리텐다드 Bold"/>
                <a:ea typeface="프리텐다드 Bold"/>
                <a:cs typeface="프리텐다드 Bold"/>
                <a:sym typeface="프리텐다드 Bold"/>
              </a:rPr>
              <a:t>환자</a:t>
            </a:r>
          </a:p>
          <a:p>
            <a:pPr marL="0" indent="0" algn="l">
              <a:lnSpc>
                <a:spcPts val="2600"/>
              </a:lnSpc>
              <a:spcBef>
                <a:spcPts val="0"/>
              </a:spcBef>
              <a:buNone/>
            </a:pPr>
            <a:r>
              <a:rPr lang="ko-KR" altLang="en-US" sz="1800" b="1" dirty="0">
                <a:solidFill>
                  <a:srgbClr val="2A59C5"/>
                </a:solidFill>
                <a:latin typeface="프리텐다드 Semi-Bold"/>
                <a:ea typeface="프리텐다드 Semi-Bold"/>
                <a:cs typeface="프리텐다드 Semi-Bold"/>
                <a:sym typeface="프리텐다드 Semi-Bold"/>
              </a:rPr>
              <a:t>모바일기반</a:t>
            </a:r>
            <a:r>
              <a:rPr lang="ko-KR" sz="1800" b="1" dirty="0">
                <a:solidFill>
                  <a:srgbClr val="2A59C5"/>
                </a:solidFill>
                <a:latin typeface="프리텐다드 Semi-Bold"/>
                <a:ea typeface="프리텐다드 Semi-Bold"/>
                <a:cs typeface="프리텐다드 Semi-Bold"/>
                <a:sym typeface="프리텐다드 Semi-Bold"/>
              </a:rPr>
              <a:t> · QR 동의</a:t>
            </a:r>
          </a:p>
        </p:txBody>
      </p:sp>
      <p:sp>
        <p:nvSpPr>
          <p:cNvPr id="44" name="Actor divider">
            <a:extLst>
              <a:ext uri="{C183D7F6-B498-43B3-948B-1728B52AA6E4}">
                <adec:decorative xmlns:adec="http://schemas.microsoft.com/office/drawing/2017/decorative" val="1"/>
              </a:ext>
            </a:extLst>
          </p:cNvPr>
          <p:cNvSpPr/>
          <p:nvPr/>
        </p:nvSpPr>
        <p:spPr>
          <a:xfrm>
            <a:off x="1333500" y="5664200"/>
            <a:ext cx="3581400" cy="12700"/>
          </a:xfrm>
          <a:prstGeom prst="rect">
            <a:avLst/>
          </a:prstGeom>
          <a:solidFill>
            <a:srgbClr val="D0D0D0"/>
          </a:solidFill>
          <a:ln>
            <a:noFill/>
          </a:ln>
        </p:spPr>
        <p:txBody>
          <a:bodyPr wrap="square" lIns="0" tIns="0" rIns="0" bIns="0" rtlCol="0" anchor="t">
            <a:noAutofit/>
          </a:bodyPr>
          <a:lstStyle/>
          <a:p>
            <a:endParaRPr lang="ko-KR"/>
          </a:p>
        </p:txBody>
      </p:sp>
      <p:sp>
        <p:nvSpPr>
          <p:cNvPr id="45" name="Actor features"/>
          <p:cNvSpPr txBox="1"/>
          <p:nvPr/>
        </p:nvSpPr>
        <p:spPr>
          <a:xfrm>
            <a:off x="1333500" y="5842000"/>
            <a:ext cx="3683000" cy="1651000"/>
          </a:xfrm>
          <a:prstGeom prst="rect">
            <a:avLst/>
          </a:prstGeom>
          <a:noFill/>
          <a:ln>
            <a:noFill/>
          </a:ln>
        </p:spPr>
        <p:txBody>
          <a:bodyPr wrap="square" lIns="0" tIns="0" rIns="0" bIns="0" rtlCol="0" anchor="t">
            <a:noAutofit/>
          </a:bodyPr>
          <a:lstStyle/>
          <a:p>
            <a:pPr marL="0" indent="0" algn="l">
              <a:lnSpc>
                <a:spcPts val="2600"/>
              </a:lnSpc>
              <a:spcBef>
                <a:spcPts val="0"/>
              </a:spcBef>
              <a:buNone/>
            </a:pPr>
            <a:r>
              <a:rPr lang="ko-KR" sz="1800" b="1" dirty="0">
                <a:solidFill>
                  <a:srgbClr val="595959"/>
                </a:solidFill>
                <a:latin typeface="프리텐다드 Semi-Bold"/>
                <a:ea typeface="프리텐다드 Semi-Bold"/>
                <a:cs typeface="프리텐다드 Semi-Bold"/>
                <a:sym typeface="프리텐다드 Semi-Bold"/>
              </a:rPr>
              <a:t>이용 기능</a:t>
            </a:r>
          </a:p>
          <a:p>
            <a:pPr marL="285750" indent="-285750">
              <a:lnSpc>
                <a:spcPts val="3000"/>
              </a:lnSpc>
              <a:spcBef>
                <a:spcPts val="6"/>
              </a:spcBef>
              <a:buClr>
                <a:srgbClr val="2A59C5"/>
              </a:buClr>
              <a:buFont typeface="Arial"/>
              <a:buChar char="•"/>
            </a:pPr>
            <a:r>
              <a:rPr lang="ko-KR" sz="2000" dirty="0">
                <a:solidFill>
                  <a:srgbClr val="282828"/>
                </a:solidFill>
                <a:latin typeface="프리텐다드"/>
                <a:ea typeface="프리텐다드"/>
                <a:cs typeface="프리텐다드"/>
                <a:sym typeface="프리텐다드"/>
              </a:rPr>
              <a:t>공유 병원·목적·기간 설정</a:t>
            </a:r>
          </a:p>
          <a:p>
            <a:pPr marL="285750" indent="-285750">
              <a:lnSpc>
                <a:spcPts val="3000"/>
              </a:lnSpc>
              <a:spcBef>
                <a:spcPts val="4"/>
              </a:spcBef>
              <a:buClr>
                <a:srgbClr val="2A59C5"/>
              </a:buClr>
              <a:buFont typeface="Arial"/>
              <a:buChar char="•"/>
            </a:pPr>
            <a:r>
              <a:rPr lang="ko-KR" sz="2000" dirty="0">
                <a:solidFill>
                  <a:srgbClr val="282828"/>
                </a:solidFill>
                <a:latin typeface="프리텐다드"/>
                <a:ea typeface="프리텐다드"/>
                <a:cs typeface="프리텐다드"/>
                <a:sym typeface="프리텐다드"/>
              </a:rPr>
              <a:t>동의 생성·철회</a:t>
            </a:r>
          </a:p>
        </p:txBody>
      </p:sp>
      <p:sp>
        <p:nvSpPr>
          <p:cNvPr id="46" name="Actor card">
            <a:extLst>
              <a:ext uri="{C183D7F6-B498-43B3-948B-1728B52AA6E4}">
                <adec:decorative xmlns:adec="http://schemas.microsoft.com/office/drawing/2017/decorative" val="1"/>
              </a:ext>
            </a:extLst>
          </p:cNvPr>
          <p:cNvSpPr/>
          <p:nvPr/>
        </p:nvSpPr>
        <p:spPr>
          <a:xfrm>
            <a:off x="13068300" y="4368800"/>
            <a:ext cx="4191000" cy="3327400"/>
          </a:xfrm>
          <a:prstGeom prst="rect">
            <a:avLst/>
          </a:prstGeom>
          <a:solidFill>
            <a:srgbClr val="FFFFFF"/>
          </a:solidFill>
          <a:ln w="9525">
            <a:solidFill>
              <a:srgbClr val="737373"/>
            </a:solidFill>
          </a:ln>
        </p:spPr>
        <p:txBody>
          <a:bodyPr wrap="square" lIns="0" tIns="0" rIns="0" bIns="0" rtlCol="0" anchor="t">
            <a:noAutofit/>
          </a:bodyPr>
          <a:lstStyle/>
          <a:p>
            <a:endParaRPr lang="ko-KR"/>
          </a:p>
        </p:txBody>
      </p:sp>
      <p:sp>
        <p:nvSpPr>
          <p:cNvPr id="47" name="Actor title"/>
          <p:cNvSpPr txBox="1"/>
          <p:nvPr/>
        </p:nvSpPr>
        <p:spPr>
          <a:xfrm>
            <a:off x="14160500" y="4622800"/>
            <a:ext cx="2870200" cy="812800"/>
          </a:xfrm>
          <a:prstGeom prst="rect">
            <a:avLst/>
          </a:prstGeom>
          <a:noFill/>
          <a:ln>
            <a:noFill/>
          </a:ln>
        </p:spPr>
        <p:txBody>
          <a:bodyPr wrap="square" lIns="0" tIns="0" rIns="0" bIns="0" rtlCol="0" anchor="ctr">
            <a:noAutofit/>
          </a:bodyPr>
          <a:lstStyle/>
          <a:p>
            <a:pPr marL="0" indent="0" algn="l">
              <a:lnSpc>
                <a:spcPts val="3200"/>
              </a:lnSpc>
              <a:spcBef>
                <a:spcPts val="0"/>
              </a:spcBef>
              <a:buNone/>
            </a:pPr>
            <a:r>
              <a:rPr lang="ko-KR" sz="2400" b="1" dirty="0">
                <a:solidFill>
                  <a:srgbClr val="282828"/>
                </a:solidFill>
                <a:latin typeface="프리텐다드 Bold"/>
                <a:ea typeface="프리텐다드 Bold"/>
                <a:cs typeface="프리텐다드 Bold"/>
                <a:sym typeface="프리텐다드 Bold"/>
              </a:rPr>
              <a:t>의료진 (B병원)</a:t>
            </a:r>
          </a:p>
          <a:p>
            <a:pPr marL="0" indent="0" algn="l">
              <a:lnSpc>
                <a:spcPts val="2600"/>
              </a:lnSpc>
              <a:spcBef>
                <a:spcPts val="0"/>
              </a:spcBef>
              <a:buNone/>
            </a:pPr>
            <a:r>
              <a:rPr lang="ko-KR" sz="1800" b="1" dirty="0">
                <a:solidFill>
                  <a:srgbClr val="2A59C5"/>
                </a:solidFill>
                <a:latin typeface="프리텐다드 Semi-Bold"/>
                <a:ea typeface="프리텐다드 Semi-Bold"/>
                <a:cs typeface="프리텐다드 Semi-Bold"/>
                <a:sym typeface="프리텐다드 Semi-Bold"/>
              </a:rPr>
              <a:t>웹 포털 · DICOM Viewer</a:t>
            </a:r>
          </a:p>
        </p:txBody>
      </p:sp>
      <p:sp>
        <p:nvSpPr>
          <p:cNvPr id="48" name="Actor divider">
            <a:extLst>
              <a:ext uri="{C183D7F6-B498-43B3-948B-1728B52AA6E4}">
                <adec:decorative xmlns:adec="http://schemas.microsoft.com/office/drawing/2017/decorative" val="1"/>
              </a:ext>
            </a:extLst>
          </p:cNvPr>
          <p:cNvSpPr/>
          <p:nvPr/>
        </p:nvSpPr>
        <p:spPr>
          <a:xfrm>
            <a:off x="13373100" y="5664200"/>
            <a:ext cx="3581400" cy="12700"/>
          </a:xfrm>
          <a:prstGeom prst="rect">
            <a:avLst/>
          </a:prstGeom>
          <a:solidFill>
            <a:srgbClr val="D0D0D0"/>
          </a:solidFill>
          <a:ln>
            <a:noFill/>
          </a:ln>
        </p:spPr>
        <p:txBody>
          <a:bodyPr wrap="square" lIns="0" tIns="0" rIns="0" bIns="0" rtlCol="0" anchor="t">
            <a:noAutofit/>
          </a:bodyPr>
          <a:lstStyle/>
          <a:p>
            <a:endParaRPr lang="ko-KR"/>
          </a:p>
        </p:txBody>
      </p:sp>
      <p:sp>
        <p:nvSpPr>
          <p:cNvPr id="49" name="Actor features"/>
          <p:cNvSpPr txBox="1"/>
          <p:nvPr/>
        </p:nvSpPr>
        <p:spPr>
          <a:xfrm>
            <a:off x="13373100" y="5842000"/>
            <a:ext cx="3683000" cy="1651000"/>
          </a:xfrm>
          <a:prstGeom prst="rect">
            <a:avLst/>
          </a:prstGeom>
          <a:noFill/>
          <a:ln>
            <a:noFill/>
          </a:ln>
        </p:spPr>
        <p:txBody>
          <a:bodyPr wrap="square" lIns="0" tIns="0" rIns="0" bIns="0" rtlCol="0" anchor="t">
            <a:noAutofit/>
          </a:bodyPr>
          <a:lstStyle/>
          <a:p>
            <a:pPr marL="0" indent="0" algn="l">
              <a:lnSpc>
                <a:spcPts val="2600"/>
              </a:lnSpc>
              <a:spcBef>
                <a:spcPts val="0"/>
              </a:spcBef>
              <a:buNone/>
            </a:pPr>
            <a:r>
              <a:rPr lang="ko-KR" sz="1800" b="1" dirty="0">
                <a:solidFill>
                  <a:srgbClr val="595959"/>
                </a:solidFill>
                <a:latin typeface="프리텐다드 Semi-Bold"/>
                <a:ea typeface="프리텐다드 Semi-Bold"/>
                <a:cs typeface="프리텐다드 Semi-Bold"/>
                <a:sym typeface="프리텐다드 Semi-Bold"/>
              </a:rPr>
              <a:t>이용 기능</a:t>
            </a:r>
          </a:p>
          <a:p>
            <a:pPr marL="285750" indent="-285750">
              <a:lnSpc>
                <a:spcPts val="3000"/>
              </a:lnSpc>
              <a:spcBef>
                <a:spcPts val="6"/>
              </a:spcBef>
              <a:buClr>
                <a:srgbClr val="2A59C5"/>
              </a:buClr>
              <a:buFont typeface="Arial"/>
              <a:buChar char="•"/>
            </a:pPr>
            <a:r>
              <a:rPr lang="ko-KR" sz="2000" dirty="0">
                <a:solidFill>
                  <a:srgbClr val="282828"/>
                </a:solidFill>
                <a:latin typeface="프리텐다드"/>
                <a:ea typeface="프리텐다드"/>
                <a:cs typeface="프리텐다드"/>
                <a:sym typeface="프리텐다드"/>
              </a:rPr>
              <a:t>동의 범위 내 영상 조회</a:t>
            </a:r>
          </a:p>
          <a:p>
            <a:pPr marL="285750" indent="-285750">
              <a:lnSpc>
                <a:spcPts val="3000"/>
              </a:lnSpc>
              <a:spcBef>
                <a:spcPts val="4"/>
              </a:spcBef>
              <a:buClr>
                <a:srgbClr val="2A59C5"/>
              </a:buClr>
              <a:buFont typeface="Arial"/>
              <a:buChar char="•"/>
            </a:pPr>
            <a:r>
              <a:rPr lang="ko-KR" sz="2000" dirty="0">
                <a:solidFill>
                  <a:srgbClr val="282828"/>
                </a:solidFill>
                <a:latin typeface="프리텐다드"/>
                <a:ea typeface="프리텐다드"/>
                <a:cs typeface="프리텐다드"/>
                <a:sym typeface="프리텐다드"/>
              </a:rPr>
              <a:t>재촬영 필요 여부 판단</a:t>
            </a:r>
          </a:p>
        </p:txBody>
      </p:sp>
      <p:sp>
        <p:nvSpPr>
          <p:cNvPr id="50" name="Hub"/>
          <p:cNvSpPr/>
          <p:nvPr/>
        </p:nvSpPr>
        <p:spPr>
          <a:xfrm>
            <a:off x="7175500" y="4368800"/>
            <a:ext cx="3937000" cy="3327400"/>
          </a:xfrm>
          <a:prstGeom prst="rect">
            <a:avLst/>
          </a:prstGeom>
          <a:solidFill>
            <a:srgbClr val="2A59C5"/>
          </a:solidFill>
          <a:ln>
            <a:noFill/>
          </a:ln>
        </p:spPr>
        <p:txBody>
          <a:bodyPr wrap="square" lIns="152400" tIns="228600" rIns="152400" bIns="228600" rtlCol="0" anchor="t">
            <a:noAutofit/>
          </a:bodyPr>
          <a:lstStyle/>
          <a:p>
            <a:pPr marL="0" indent="0" algn="ctr">
              <a:lnSpc>
                <a:spcPts val="3800"/>
              </a:lnSpc>
              <a:spcBef>
                <a:spcPts val="0"/>
              </a:spcBef>
              <a:buNone/>
            </a:pPr>
            <a:r>
              <a:rPr lang="ko-KR" sz="3000" b="1" dirty="0">
                <a:solidFill>
                  <a:srgbClr val="FFFFFF"/>
                </a:solidFill>
                <a:latin typeface="프리텐다드 Bold"/>
                <a:ea typeface="프리텐다드 Bold"/>
                <a:cs typeface="프리텐다드 Bold"/>
                <a:sym typeface="프리텐다드 Bold"/>
              </a:rPr>
              <a:t>MediQ</a:t>
            </a:r>
          </a:p>
          <a:p>
            <a:pPr marL="0" indent="0" algn="ctr">
              <a:lnSpc>
                <a:spcPts val="2400"/>
              </a:lnSpc>
              <a:spcBef>
                <a:spcPts val="0"/>
              </a:spcBef>
              <a:buNone/>
            </a:pPr>
            <a:r>
              <a:rPr lang="ko-KR" sz="1700" dirty="0">
                <a:solidFill>
                  <a:srgbClr val="FFFFFF"/>
                </a:solidFill>
                <a:latin typeface="프리텐다드"/>
                <a:ea typeface="프리텐다드"/>
                <a:cs typeface="프리텐다드"/>
                <a:sym typeface="프리텐다드"/>
              </a:rPr>
              <a:t>환자 동의 기반 영상 공유 플랫폼</a:t>
            </a:r>
          </a:p>
        </p:txBody>
      </p:sp>
      <p:sp>
        <p:nvSpPr>
          <p:cNvPr id="51" name="Hub chip"/>
          <p:cNvSpPr/>
          <p:nvPr/>
        </p:nvSpPr>
        <p:spPr>
          <a:xfrm>
            <a:off x="7378700" y="5765800"/>
            <a:ext cx="1701800" cy="736600"/>
          </a:xfrm>
          <a:prstGeom prst="rect">
            <a:avLst/>
          </a:prstGeom>
          <a:solidFill>
            <a:srgbClr val="FFFFFF"/>
          </a:solidFill>
          <a:ln>
            <a:noFill/>
          </a:ln>
        </p:spPr>
        <p:txBody>
          <a:bodyPr wrap="square" lIns="50800" tIns="0" rIns="50800" bIns="0" rtlCol="0" anchor="ctr">
            <a:noAutofit/>
          </a:bodyPr>
          <a:lstStyle/>
          <a:p>
            <a:pPr marL="0" indent="0" algn="ctr">
              <a:lnSpc>
                <a:spcPts val="2400"/>
              </a:lnSpc>
              <a:spcBef>
                <a:spcPts val="0"/>
              </a:spcBef>
              <a:buNone/>
            </a:pPr>
            <a:r>
              <a:rPr lang="ko-KR" sz="1800" b="1" dirty="0">
                <a:solidFill>
                  <a:srgbClr val="2A59C5"/>
                </a:solidFill>
                <a:latin typeface="프리텐다드 Semi-Bold"/>
                <a:ea typeface="프리텐다드 Semi-Bold"/>
                <a:cs typeface="프리텐다드 Semi-Bold"/>
                <a:sym typeface="프리텐다드 Semi-Bold"/>
              </a:rPr>
              <a:t>동의 관리</a:t>
            </a:r>
          </a:p>
        </p:txBody>
      </p:sp>
      <p:sp>
        <p:nvSpPr>
          <p:cNvPr id="52" name="Hub chip"/>
          <p:cNvSpPr/>
          <p:nvPr/>
        </p:nvSpPr>
        <p:spPr>
          <a:xfrm>
            <a:off x="9194800" y="5765800"/>
            <a:ext cx="1701800" cy="736600"/>
          </a:xfrm>
          <a:prstGeom prst="rect">
            <a:avLst/>
          </a:prstGeom>
          <a:solidFill>
            <a:srgbClr val="FFFFFF"/>
          </a:solidFill>
          <a:ln>
            <a:noFill/>
          </a:ln>
        </p:spPr>
        <p:txBody>
          <a:bodyPr wrap="square" lIns="50800" tIns="0" rIns="50800" bIns="0" rtlCol="0" anchor="ctr">
            <a:noAutofit/>
          </a:bodyPr>
          <a:lstStyle/>
          <a:p>
            <a:pPr marL="0" indent="0" algn="ctr">
              <a:lnSpc>
                <a:spcPts val="2400"/>
              </a:lnSpc>
              <a:spcBef>
                <a:spcPts val="0"/>
              </a:spcBef>
              <a:buNone/>
            </a:pPr>
            <a:r>
              <a:rPr lang="ko-KR" sz="1800" b="1" dirty="0">
                <a:solidFill>
                  <a:srgbClr val="2A59C5"/>
                </a:solidFill>
                <a:latin typeface="프리텐다드 Semi-Bold"/>
                <a:ea typeface="프리텐다드 Semi-Bold"/>
                <a:cs typeface="프리텐다드 Semi-Bold"/>
                <a:sym typeface="프리텐다드 Semi-Bold"/>
              </a:rPr>
              <a:t>접근정책 검증</a:t>
            </a:r>
          </a:p>
        </p:txBody>
      </p:sp>
      <p:sp>
        <p:nvSpPr>
          <p:cNvPr id="53" name="Hub chip"/>
          <p:cNvSpPr/>
          <p:nvPr/>
        </p:nvSpPr>
        <p:spPr>
          <a:xfrm>
            <a:off x="7378700" y="6654800"/>
            <a:ext cx="1701800" cy="736600"/>
          </a:xfrm>
          <a:prstGeom prst="rect">
            <a:avLst/>
          </a:prstGeom>
          <a:solidFill>
            <a:srgbClr val="FFFFFF"/>
          </a:solidFill>
          <a:ln>
            <a:noFill/>
          </a:ln>
        </p:spPr>
        <p:txBody>
          <a:bodyPr wrap="square" lIns="50800" tIns="0" rIns="50800" bIns="0" rtlCol="0" anchor="ctr">
            <a:noAutofit/>
          </a:bodyPr>
          <a:lstStyle/>
          <a:p>
            <a:pPr marL="0" indent="0" algn="ctr">
              <a:lnSpc>
                <a:spcPts val="2400"/>
              </a:lnSpc>
              <a:spcBef>
                <a:spcPts val="0"/>
              </a:spcBef>
              <a:buNone/>
            </a:pPr>
            <a:r>
              <a:rPr lang="ko-KR" sz="1800" b="1" dirty="0">
                <a:solidFill>
                  <a:srgbClr val="2A59C5"/>
                </a:solidFill>
                <a:latin typeface="프리텐다드 Semi-Bold"/>
                <a:ea typeface="프리텐다드 Semi-Bold"/>
                <a:cs typeface="프리텐다드 Semi-Bold"/>
                <a:sym typeface="프리텐다드 Semi-Bold"/>
              </a:rPr>
              <a:t>5분 단기 토큰</a:t>
            </a:r>
          </a:p>
        </p:txBody>
      </p:sp>
      <p:sp>
        <p:nvSpPr>
          <p:cNvPr id="54" name="Hub chip"/>
          <p:cNvSpPr/>
          <p:nvPr/>
        </p:nvSpPr>
        <p:spPr>
          <a:xfrm>
            <a:off x="9194800" y="6654800"/>
            <a:ext cx="1701800" cy="736600"/>
          </a:xfrm>
          <a:prstGeom prst="rect">
            <a:avLst/>
          </a:prstGeom>
          <a:solidFill>
            <a:srgbClr val="FFFFFF"/>
          </a:solidFill>
          <a:ln>
            <a:noFill/>
          </a:ln>
        </p:spPr>
        <p:txBody>
          <a:bodyPr wrap="square" lIns="50800" tIns="0" rIns="50800" bIns="0" rtlCol="0" anchor="ctr">
            <a:noAutofit/>
          </a:bodyPr>
          <a:lstStyle/>
          <a:p>
            <a:pPr marL="0" indent="0" algn="ctr">
              <a:lnSpc>
                <a:spcPts val="2400"/>
              </a:lnSpc>
              <a:spcBef>
                <a:spcPts val="0"/>
              </a:spcBef>
              <a:buNone/>
            </a:pPr>
            <a:r>
              <a:rPr lang="ko-KR" sz="1800" b="1" dirty="0">
                <a:solidFill>
                  <a:srgbClr val="2A59C5"/>
                </a:solidFill>
                <a:latin typeface="프리텐다드 Semi-Bold"/>
                <a:ea typeface="프리텐다드 Semi-Bold"/>
                <a:cs typeface="프리텐다드 Semi-Bold"/>
                <a:sym typeface="프리텐다드 Semi-Bold"/>
              </a:rPr>
              <a:t>감사로그</a:t>
            </a:r>
          </a:p>
        </p:txBody>
      </p:sp>
      <p:cxnSp>
        <p:nvCxnSpPr>
          <p:cNvPr id="55" name="Flow arrow">
            <a:extLst>
              <a:ext uri="{C183D7F6-B498-43B3-948B-1728B52AA6E4}">
                <adec:decorative xmlns:adec="http://schemas.microsoft.com/office/drawing/2017/decorative" val="1"/>
              </a:ext>
            </a:extLst>
          </p:cNvPr>
          <p:cNvCxnSpPr/>
          <p:nvPr/>
        </p:nvCxnSpPr>
        <p:spPr>
          <a:xfrm>
            <a:off x="5245100" y="5537200"/>
            <a:ext cx="1905000" cy="0"/>
          </a:xfrm>
          <a:prstGeom prst="line">
            <a:avLst/>
          </a:prstGeom>
          <a:ln w="25400">
            <a:solidFill>
              <a:srgbClr val="2A59C5"/>
            </a:solidFill>
            <a:tailEnd type="triangle" w="med" len="med"/>
          </a:ln>
        </p:spPr>
      </p:cxnSp>
      <p:sp>
        <p:nvSpPr>
          <p:cNvPr id="56" name="Flow label"/>
          <p:cNvSpPr txBox="1"/>
          <p:nvPr/>
        </p:nvSpPr>
        <p:spPr>
          <a:xfrm>
            <a:off x="5245100" y="4978400"/>
            <a:ext cx="1905000" cy="508000"/>
          </a:xfrm>
          <a:prstGeom prst="rect">
            <a:avLst/>
          </a:prstGeom>
          <a:noFill/>
          <a:ln>
            <a:noFill/>
          </a:ln>
        </p:spPr>
        <p:txBody>
          <a:bodyPr wrap="square" lIns="0" tIns="0" rIns="0" bIns="0" rtlCol="0" anchor="b">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QR 동의 등록</a:t>
            </a:r>
          </a:p>
        </p:txBody>
      </p:sp>
      <p:cxnSp>
        <p:nvCxnSpPr>
          <p:cNvPr id="57" name="Flow arrow">
            <a:extLst>
              <a:ext uri="{C183D7F6-B498-43B3-948B-1728B52AA6E4}">
                <adec:decorative xmlns:adec="http://schemas.microsoft.com/office/drawing/2017/decorative" val="1"/>
              </a:ext>
            </a:extLst>
          </p:cNvPr>
          <p:cNvCxnSpPr/>
          <p:nvPr/>
        </p:nvCxnSpPr>
        <p:spPr>
          <a:xfrm flipH="1">
            <a:off x="5245100" y="6553200"/>
            <a:ext cx="1905000" cy="0"/>
          </a:xfrm>
          <a:prstGeom prst="line">
            <a:avLst/>
          </a:prstGeom>
          <a:ln w="25400">
            <a:solidFill>
              <a:srgbClr val="2A59C5"/>
            </a:solidFill>
            <a:prstDash val="dash"/>
            <a:tailEnd type="triangle" w="med" len="med"/>
          </a:ln>
        </p:spPr>
      </p:cxnSp>
      <p:sp>
        <p:nvSpPr>
          <p:cNvPr id="58" name="Flow label"/>
          <p:cNvSpPr txBox="1"/>
          <p:nvPr/>
        </p:nvSpPr>
        <p:spPr>
          <a:xfrm>
            <a:off x="5245100" y="6629400"/>
            <a:ext cx="1905000" cy="508000"/>
          </a:xfrm>
          <a:prstGeom prst="rect">
            <a:avLst/>
          </a:prstGeom>
          <a:noFill/>
          <a:ln>
            <a:noFill/>
          </a:ln>
        </p:spPr>
        <p:txBody>
          <a:bodyPr wrap="square" lIns="0" tIns="0" rIns="0" bIns="0" rtlCol="0" anchor="t">
            <a:noAutofit/>
          </a:bodyPr>
          <a:lstStyle/>
          <a:p>
            <a:pPr marL="0" indent="0" algn="ctr">
              <a:lnSpc>
                <a:spcPts val="2400"/>
              </a:lnSpc>
              <a:spcBef>
                <a:spcPts val="0"/>
              </a:spcBef>
              <a:buNone/>
            </a:pPr>
            <a:r>
              <a:rPr lang="ko-KR" sz="1800" dirty="0">
                <a:solidFill>
                  <a:srgbClr val="595959"/>
                </a:solidFill>
                <a:latin typeface="프리텐다드"/>
                <a:ea typeface="프리텐다드"/>
                <a:cs typeface="프리텐다드"/>
                <a:sym typeface="프리텐다드"/>
              </a:rPr>
              <a:t>조회 이력 확인</a:t>
            </a:r>
          </a:p>
        </p:txBody>
      </p:sp>
      <p:cxnSp>
        <p:nvCxnSpPr>
          <p:cNvPr id="59" name="Flow arrow">
            <a:extLst>
              <a:ext uri="{C183D7F6-B498-43B3-948B-1728B52AA6E4}">
                <adec:decorative xmlns:adec="http://schemas.microsoft.com/office/drawing/2017/decorative" val="1"/>
              </a:ext>
            </a:extLst>
          </p:cNvPr>
          <p:cNvCxnSpPr/>
          <p:nvPr/>
        </p:nvCxnSpPr>
        <p:spPr>
          <a:xfrm flipH="1">
            <a:off x="11137900" y="5537200"/>
            <a:ext cx="1905000" cy="0"/>
          </a:xfrm>
          <a:prstGeom prst="line">
            <a:avLst/>
          </a:prstGeom>
          <a:ln w="25400">
            <a:solidFill>
              <a:srgbClr val="2A59C5"/>
            </a:solidFill>
            <a:tailEnd type="triangle" w="med" len="med"/>
          </a:ln>
        </p:spPr>
      </p:cxnSp>
      <p:sp>
        <p:nvSpPr>
          <p:cNvPr id="60" name="Flow label"/>
          <p:cNvSpPr txBox="1"/>
          <p:nvPr/>
        </p:nvSpPr>
        <p:spPr>
          <a:xfrm>
            <a:off x="11137900" y="4978400"/>
            <a:ext cx="1905000" cy="508000"/>
          </a:xfrm>
          <a:prstGeom prst="rect">
            <a:avLst/>
          </a:prstGeom>
          <a:noFill/>
          <a:ln>
            <a:noFill/>
          </a:ln>
        </p:spPr>
        <p:txBody>
          <a:bodyPr wrap="square" lIns="0" tIns="0" rIns="0" bIns="0" rtlCol="0" anchor="b">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영상 조회 요청</a:t>
            </a:r>
          </a:p>
        </p:txBody>
      </p:sp>
      <p:cxnSp>
        <p:nvCxnSpPr>
          <p:cNvPr id="61" name="Flow arrow">
            <a:extLst>
              <a:ext uri="{C183D7F6-B498-43B3-948B-1728B52AA6E4}">
                <adec:decorative xmlns:adec="http://schemas.microsoft.com/office/drawing/2017/decorative" val="1"/>
              </a:ext>
            </a:extLst>
          </p:cNvPr>
          <p:cNvCxnSpPr/>
          <p:nvPr/>
        </p:nvCxnSpPr>
        <p:spPr>
          <a:xfrm>
            <a:off x="11137900" y="6553200"/>
            <a:ext cx="1905000" cy="0"/>
          </a:xfrm>
          <a:prstGeom prst="line">
            <a:avLst/>
          </a:prstGeom>
          <a:ln w="25400">
            <a:solidFill>
              <a:srgbClr val="2A59C5"/>
            </a:solidFill>
            <a:tailEnd type="triangle" w="med" len="med"/>
          </a:ln>
        </p:spPr>
      </p:cxnSp>
      <p:sp>
        <p:nvSpPr>
          <p:cNvPr id="62" name="Flow label"/>
          <p:cNvSpPr txBox="1"/>
          <p:nvPr/>
        </p:nvSpPr>
        <p:spPr>
          <a:xfrm>
            <a:off x="11137900" y="6629400"/>
            <a:ext cx="1905000" cy="508000"/>
          </a:xfrm>
          <a:prstGeom prst="rect">
            <a:avLst/>
          </a:prstGeom>
          <a:noFill/>
          <a:ln>
            <a:noFill/>
          </a:ln>
        </p:spPr>
        <p:txBody>
          <a:bodyPr wrap="square" lIns="0" tIns="0" rIns="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승인된 영상만</a:t>
            </a:r>
          </a:p>
        </p:txBody>
      </p:sp>
      <p:cxnSp>
        <p:nvCxnSpPr>
          <p:cNvPr id="63" name="Flow arrow">
            <a:extLst>
              <a:ext uri="{C183D7F6-B498-43B3-948B-1728B52AA6E4}">
                <adec:decorative xmlns:adec="http://schemas.microsoft.com/office/drawing/2017/decorative" val="1"/>
              </a:ext>
            </a:extLst>
          </p:cNvPr>
          <p:cNvCxnSpPr/>
          <p:nvPr/>
        </p:nvCxnSpPr>
        <p:spPr>
          <a:xfrm>
            <a:off x="9144000" y="7721600"/>
            <a:ext cx="0" cy="482600"/>
          </a:xfrm>
          <a:prstGeom prst="line">
            <a:avLst/>
          </a:prstGeom>
          <a:ln w="25400">
            <a:solidFill>
              <a:srgbClr val="2A59C5"/>
            </a:solidFill>
            <a:headEnd type="triangle" w="med" len="med"/>
            <a:tailEnd type="triangle" w="med" len="med"/>
          </a:ln>
        </p:spPr>
      </p:cxnSp>
      <p:sp>
        <p:nvSpPr>
          <p:cNvPr id="64" name="Flow label"/>
          <p:cNvSpPr txBox="1"/>
          <p:nvPr/>
        </p:nvSpPr>
        <p:spPr>
          <a:xfrm>
            <a:off x="9296400" y="7645400"/>
            <a:ext cx="3302000" cy="660400"/>
          </a:xfrm>
          <a:prstGeom prst="rect">
            <a:avLst/>
          </a:prstGeom>
          <a:noFill/>
          <a:ln>
            <a:noFill/>
          </a:ln>
        </p:spPr>
        <p:txBody>
          <a:bodyPr wrap="square" lIns="0" tIns="0" rIns="0" bIns="0" rtlCol="0" anchor="ctr">
            <a:noAutofit/>
          </a:bodyPr>
          <a:lstStyle/>
          <a:p>
            <a:pPr marL="0" indent="0" algn="l">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정책 설정 · 로그 모니터링</a:t>
            </a:r>
          </a:p>
        </p:txBody>
      </p:sp>
      <p:sp>
        <p:nvSpPr>
          <p:cNvPr id="65" name="Admin card">
            <a:extLst>
              <a:ext uri="{C183D7F6-B498-43B3-948B-1728B52AA6E4}">
                <adec:decorative xmlns:adec="http://schemas.microsoft.com/office/drawing/2017/decorative" val="1"/>
              </a:ext>
            </a:extLst>
          </p:cNvPr>
          <p:cNvSpPr/>
          <p:nvPr/>
        </p:nvSpPr>
        <p:spPr>
          <a:xfrm>
            <a:off x="4699000" y="8229600"/>
            <a:ext cx="8890000" cy="1346200"/>
          </a:xfrm>
          <a:prstGeom prst="rect">
            <a:avLst/>
          </a:prstGeom>
          <a:solidFill>
            <a:srgbClr val="FFFFFF"/>
          </a:solidFill>
          <a:ln w="9525">
            <a:solidFill>
              <a:srgbClr val="737373"/>
            </a:solidFill>
          </a:ln>
        </p:spPr>
        <p:txBody>
          <a:bodyPr wrap="square" lIns="0" tIns="0" rIns="0" bIns="0" rtlCol="0" anchor="t">
            <a:noAutofit/>
          </a:bodyPr>
          <a:lstStyle/>
          <a:p>
            <a:endParaRPr lang="ko-KR"/>
          </a:p>
        </p:txBody>
      </p:sp>
      <p:sp>
        <p:nvSpPr>
          <p:cNvPr id="66" name="Admin title"/>
          <p:cNvSpPr txBox="1"/>
          <p:nvPr/>
        </p:nvSpPr>
        <p:spPr>
          <a:xfrm>
            <a:off x="5791200" y="8229600"/>
            <a:ext cx="3048000" cy="1346200"/>
          </a:xfrm>
          <a:prstGeom prst="rect">
            <a:avLst/>
          </a:prstGeom>
          <a:noFill/>
          <a:ln>
            <a:noFill/>
          </a:ln>
        </p:spPr>
        <p:txBody>
          <a:bodyPr wrap="square" lIns="0" tIns="0" rIns="0" bIns="0" rtlCol="0" anchor="ctr">
            <a:noAutofit/>
          </a:bodyPr>
          <a:lstStyle/>
          <a:p>
            <a:pPr marL="0" indent="0" algn="l">
              <a:lnSpc>
                <a:spcPts val="3200"/>
              </a:lnSpc>
              <a:spcBef>
                <a:spcPts val="0"/>
              </a:spcBef>
              <a:buNone/>
            </a:pPr>
            <a:r>
              <a:rPr lang="ko-KR" sz="2400" b="1" dirty="0">
                <a:solidFill>
                  <a:srgbClr val="282828"/>
                </a:solidFill>
                <a:latin typeface="프리텐다드 Bold"/>
                <a:ea typeface="프리텐다드 Bold"/>
                <a:cs typeface="프리텐다드 Bold"/>
                <a:sym typeface="프리텐다드 Bold"/>
              </a:rPr>
              <a:t>병원 관리자</a:t>
            </a:r>
          </a:p>
          <a:p>
            <a:pPr marL="0" indent="0" algn="l">
              <a:lnSpc>
                <a:spcPts val="2600"/>
              </a:lnSpc>
              <a:spcBef>
                <a:spcPts val="0"/>
              </a:spcBef>
              <a:buNone/>
            </a:pPr>
            <a:r>
              <a:rPr lang="ko-KR" sz="1800" b="1" dirty="0">
                <a:solidFill>
                  <a:srgbClr val="2A59C5"/>
                </a:solidFill>
                <a:latin typeface="프리텐다드 Semi-Bold"/>
                <a:ea typeface="프리텐다드 Semi-Bold"/>
                <a:cs typeface="프리텐다드 Semi-Bold"/>
                <a:sym typeface="프리텐다드 Semi-Bold"/>
              </a:rPr>
              <a:t>관리자 대시보드</a:t>
            </a:r>
          </a:p>
        </p:txBody>
      </p:sp>
      <p:sp>
        <p:nvSpPr>
          <p:cNvPr id="67" name="Admin divider">
            <a:extLst>
              <a:ext uri="{C183D7F6-B498-43B3-948B-1728B52AA6E4}">
                <adec:decorative xmlns:adec="http://schemas.microsoft.com/office/drawing/2017/decorative" val="1"/>
              </a:ext>
            </a:extLst>
          </p:cNvPr>
          <p:cNvSpPr/>
          <p:nvPr/>
        </p:nvSpPr>
        <p:spPr>
          <a:xfrm>
            <a:off x="8890000" y="8509000"/>
            <a:ext cx="12700" cy="787400"/>
          </a:xfrm>
          <a:prstGeom prst="rect">
            <a:avLst/>
          </a:prstGeom>
          <a:solidFill>
            <a:srgbClr val="D0D0D0"/>
          </a:solidFill>
          <a:ln>
            <a:noFill/>
          </a:ln>
        </p:spPr>
        <p:txBody>
          <a:bodyPr wrap="square" lIns="0" tIns="0" rIns="0" bIns="0" rtlCol="0" anchor="t">
            <a:noAutofit/>
          </a:bodyPr>
          <a:lstStyle/>
          <a:p>
            <a:endParaRPr lang="ko-KR"/>
          </a:p>
        </p:txBody>
      </p:sp>
      <p:sp>
        <p:nvSpPr>
          <p:cNvPr id="68" name="Admin features"/>
          <p:cNvSpPr txBox="1"/>
          <p:nvPr/>
        </p:nvSpPr>
        <p:spPr>
          <a:xfrm>
            <a:off x="9194800" y="8229600"/>
            <a:ext cx="4191000" cy="1346200"/>
          </a:xfrm>
          <a:prstGeom prst="rect">
            <a:avLst/>
          </a:prstGeom>
          <a:noFill/>
          <a:ln>
            <a:noFill/>
          </a:ln>
        </p:spPr>
        <p:txBody>
          <a:bodyPr wrap="square" lIns="0" tIns="0" rIns="0" bIns="0" rtlCol="0" anchor="ctr">
            <a:noAutofit/>
          </a:bodyPr>
          <a:lstStyle/>
          <a:p>
            <a:pPr marL="285750" indent="-285750">
              <a:lnSpc>
                <a:spcPts val="3000"/>
              </a:lnSpc>
              <a:spcBef>
                <a:spcPts val="0"/>
              </a:spcBef>
              <a:buClr>
                <a:srgbClr val="2A59C5"/>
              </a:buClr>
              <a:buFont typeface="Arial"/>
              <a:buChar char="•"/>
            </a:pPr>
            <a:r>
              <a:rPr lang="ko-KR" sz="2000" dirty="0">
                <a:solidFill>
                  <a:srgbClr val="282828"/>
                </a:solidFill>
                <a:latin typeface="프리텐다드"/>
                <a:ea typeface="프리텐다드"/>
                <a:cs typeface="프리텐다드"/>
                <a:sym typeface="프리텐다드"/>
              </a:rPr>
              <a:t>역할·접근정책 관리</a:t>
            </a:r>
          </a:p>
          <a:p>
            <a:pPr marL="285750" indent="-285750">
              <a:lnSpc>
                <a:spcPts val="3000"/>
              </a:lnSpc>
              <a:spcBef>
                <a:spcPts val="4"/>
              </a:spcBef>
              <a:buClr>
                <a:srgbClr val="2A59C5"/>
              </a:buClr>
              <a:buFont typeface="Arial"/>
              <a:buChar char="•"/>
            </a:pPr>
            <a:r>
              <a:rPr lang="ko-KR" sz="2000" dirty="0">
                <a:solidFill>
                  <a:srgbClr val="282828"/>
                </a:solidFill>
                <a:latin typeface="프리텐다드"/>
                <a:ea typeface="프리텐다드"/>
                <a:cs typeface="프리텐다드"/>
                <a:sym typeface="프리텐다드"/>
              </a:rPr>
              <a:t>접근 승인·거부·감사로그 추적</a:t>
            </a:r>
          </a:p>
        </p:txBody>
      </p:sp>
      <p:pic>
        <p:nvPicPr>
          <p:cNvPr id="69" name="Graphic 69" descr="환자"/>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33500" y="4699000"/>
            <a:ext cx="660400" cy="660400"/>
          </a:xfrm>
          <a:prstGeom prst="rect">
            <a:avLst/>
          </a:prstGeom>
        </p:spPr>
      </p:pic>
      <p:pic>
        <p:nvPicPr>
          <p:cNvPr id="70" name="Graphic 70" descr="의료진"/>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373100" y="4699000"/>
            <a:ext cx="660400" cy="660400"/>
          </a:xfrm>
          <a:prstGeom prst="rect">
            <a:avLst/>
          </a:prstGeom>
        </p:spPr>
      </p:pic>
      <p:pic>
        <p:nvPicPr>
          <p:cNvPr id="71" name="Graphic 71" descr="병원 관리자"/>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78400" y="8572500"/>
            <a:ext cx="660400" cy="660400"/>
          </a:xfrm>
          <a:prstGeom prst="rect">
            <a:avLst/>
          </a:prstGeom>
        </p:spPr>
      </p:pic>
    </p:spTree>
    <p:extLst>
      <p:ext uri="{BB962C8B-B14F-4D97-AF65-F5344CB8AC3E}">
        <p14:creationId xmlns:p14="http://schemas.microsoft.com/office/powerpoint/2010/main" val="2881528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SERVICE PLANNING</a:t>
            </a:r>
          </a:p>
        </p:txBody>
      </p:sp>
      <p:sp>
        <p:nvSpPr>
          <p:cNvPr id="10" name="TextBox 10"/>
          <p:cNvSpPr txBox="1"/>
          <p:nvPr/>
        </p:nvSpPr>
        <p:spPr>
          <a:xfrm>
            <a:off x="1421481" y="1253961"/>
            <a:ext cx="13970000"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기존 방식 vs MediQ 이용 흐름</a:t>
            </a:r>
          </a:p>
        </p:txBody>
      </p:sp>
      <p:sp>
        <p:nvSpPr>
          <p:cNvPr id="200" name="Panel card">
            <a:extLst>
              <a:ext uri="{C183D7F6-B498-43B3-948B-1728B52AA6E4}">
                <adec:decorative xmlns:adec="http://schemas.microsoft.com/office/drawing/2017/decorative" val="1"/>
              </a:ext>
            </a:extLst>
          </p:cNvPr>
          <p:cNvSpPr/>
          <p:nvPr/>
        </p:nvSpPr>
        <p:spPr>
          <a:xfrm>
            <a:off x="1028700" y="3124200"/>
            <a:ext cx="7734300" cy="6654800"/>
          </a:xfrm>
          <a:prstGeom prst="rect">
            <a:avLst/>
          </a:prstGeom>
          <a:solidFill>
            <a:schemeClr val="bg1"/>
          </a:solidFill>
          <a:ln w="9525">
            <a:solidFill>
              <a:srgbClr val="737373"/>
            </a:solidFill>
          </a:ln>
        </p:spPr>
        <p:txBody>
          <a:bodyPr wrap="square" lIns="0" tIns="0" rIns="0" bIns="0" rtlCol="0" anchor="t">
            <a:noAutofit/>
          </a:bodyPr>
          <a:lstStyle/>
          <a:p>
            <a:endParaRPr lang="ko-KR" dirty="0"/>
          </a:p>
        </p:txBody>
      </p:sp>
      <p:sp>
        <p:nvSpPr>
          <p:cNvPr id="201" name="Panel header"/>
          <p:cNvSpPr/>
          <p:nvPr/>
        </p:nvSpPr>
        <p:spPr>
          <a:xfrm>
            <a:off x="1028700" y="3124200"/>
            <a:ext cx="7734300" cy="787400"/>
          </a:xfrm>
          <a:prstGeom prst="rect">
            <a:avLst/>
          </a:prstGeom>
          <a:solidFill>
            <a:srgbClr val="737373"/>
          </a:solidFill>
          <a:ln>
            <a:noFill/>
          </a:ln>
        </p:spPr>
        <p:txBody>
          <a:bodyPr wrap="square" lIns="304800" tIns="0" rIns="304800" bIns="0" rtlCol="0" anchor="ctr">
            <a:noAutofit/>
          </a:bodyPr>
          <a:lstStyle/>
          <a:p>
            <a:pPr marL="0" indent="0" algn="l">
              <a:lnSpc>
                <a:spcPts val="3400"/>
              </a:lnSpc>
              <a:spcBef>
                <a:spcPts val="0"/>
              </a:spcBef>
              <a:buNone/>
            </a:pPr>
            <a:r>
              <a:rPr lang="ko-KR" sz="2600" b="1" dirty="0">
                <a:solidFill>
                  <a:srgbClr val="FFFFFF"/>
                </a:solidFill>
                <a:latin typeface="프리텐다드 Bold"/>
                <a:ea typeface="프리텐다드 Bold"/>
                <a:cs typeface="프리텐다드 Bold"/>
                <a:sym typeface="프리텐다드 Bold"/>
              </a:rPr>
              <a:t>기존 방식</a:t>
            </a:r>
            <a:r>
              <a:rPr lang="ko-KR" sz="1800" dirty="0">
                <a:solidFill>
                  <a:srgbClr val="FFFFFF"/>
                </a:solidFill>
                <a:latin typeface="프리텐다드"/>
                <a:ea typeface="프리텐다드"/>
                <a:cs typeface="프리텐다드"/>
                <a:sym typeface="프리텐다드"/>
              </a:rPr>
              <a:t>   CD 기반 의료영상 전달</a:t>
            </a:r>
          </a:p>
        </p:txBody>
      </p:sp>
      <p:sp>
        <p:nvSpPr>
          <p:cNvPr id="219" name="Panel card">
            <a:extLst>
              <a:ext uri="{C183D7F6-B498-43B3-948B-1728B52AA6E4}">
                <adec:decorative xmlns:adec="http://schemas.microsoft.com/office/drawing/2017/decorative" val="1"/>
              </a:ext>
            </a:extLst>
          </p:cNvPr>
          <p:cNvSpPr/>
          <p:nvPr/>
        </p:nvSpPr>
        <p:spPr>
          <a:xfrm>
            <a:off x="9525000" y="3124200"/>
            <a:ext cx="7734300" cy="6654800"/>
          </a:xfrm>
          <a:prstGeom prst="rect">
            <a:avLst/>
          </a:prstGeom>
          <a:solidFill>
            <a:schemeClr val="bg1"/>
          </a:solidFill>
          <a:ln w="9525">
            <a:solidFill>
              <a:srgbClr val="737373"/>
            </a:solidFill>
          </a:ln>
        </p:spPr>
        <p:txBody>
          <a:bodyPr wrap="square" lIns="0" tIns="0" rIns="0" bIns="0" rtlCol="0" anchor="t">
            <a:noAutofit/>
          </a:bodyPr>
          <a:lstStyle/>
          <a:p>
            <a:endParaRPr lang="ko-KR"/>
          </a:p>
        </p:txBody>
      </p:sp>
      <p:sp>
        <p:nvSpPr>
          <p:cNvPr id="220" name="Panel header"/>
          <p:cNvSpPr/>
          <p:nvPr/>
        </p:nvSpPr>
        <p:spPr>
          <a:xfrm>
            <a:off x="9525000" y="3124200"/>
            <a:ext cx="7734300" cy="787400"/>
          </a:xfrm>
          <a:prstGeom prst="rect">
            <a:avLst/>
          </a:prstGeom>
          <a:solidFill>
            <a:srgbClr val="2A59C5"/>
          </a:solidFill>
          <a:ln>
            <a:noFill/>
          </a:ln>
        </p:spPr>
        <p:txBody>
          <a:bodyPr wrap="square" lIns="304800" tIns="0" rIns="304800" bIns="0" rtlCol="0" anchor="ctr">
            <a:noAutofit/>
          </a:bodyPr>
          <a:lstStyle/>
          <a:p>
            <a:pPr marL="0" indent="0" algn="l">
              <a:lnSpc>
                <a:spcPts val="3400"/>
              </a:lnSpc>
              <a:spcBef>
                <a:spcPts val="0"/>
              </a:spcBef>
              <a:buNone/>
            </a:pPr>
            <a:r>
              <a:rPr lang="ko-KR" sz="2600" b="1" dirty="0">
                <a:solidFill>
                  <a:srgbClr val="FFFFFF"/>
                </a:solidFill>
                <a:latin typeface="프리텐다드 Bold"/>
                <a:ea typeface="프리텐다드 Bold"/>
                <a:cs typeface="프리텐다드 Bold"/>
                <a:sym typeface="프리텐다드 Bold"/>
              </a:rPr>
              <a:t>MediQ</a:t>
            </a:r>
            <a:r>
              <a:rPr lang="ko-KR" sz="1800" dirty="0">
                <a:solidFill>
                  <a:srgbClr val="FFFFFF"/>
                </a:solidFill>
                <a:latin typeface="프리텐다드"/>
                <a:ea typeface="프리텐다드"/>
                <a:cs typeface="프리텐다드"/>
                <a:sym typeface="프리텐다드"/>
              </a:rPr>
              <a:t>   환자 동의 기반 디지털 영상 공유</a:t>
            </a:r>
          </a:p>
        </p:txBody>
      </p:sp>
      <p:pic>
        <p:nvPicPr>
          <p:cNvPr id="77" name="Graphic 77" descr="환자"/>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43025" y="4470400"/>
            <a:ext cx="660400" cy="660400"/>
          </a:xfrm>
          <a:prstGeom prst="rect">
            <a:avLst/>
          </a:prstGeom>
        </p:spPr>
      </p:pic>
      <p:pic>
        <p:nvPicPr>
          <p:cNvPr id="78" name="Graphic 78" descr="병원 A 검사"/>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32075" y="4470400"/>
            <a:ext cx="660400" cy="660400"/>
          </a:xfrm>
          <a:prstGeom prst="rect">
            <a:avLst/>
          </a:prstGeom>
        </p:spPr>
      </p:pic>
      <p:pic>
        <p:nvPicPr>
          <p:cNvPr id="79" name="Graphic 79" descr="CD 발급"/>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1125" y="4470400"/>
            <a:ext cx="660400" cy="660400"/>
          </a:xfrm>
          <a:prstGeom prst="rect">
            <a:avLst/>
          </a:prstGeom>
        </p:spPr>
      </p:pic>
      <p:pic>
        <p:nvPicPr>
          <p:cNvPr id="80" name="Graphic 80" descr="환자 직접 이동"/>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10175" y="4470400"/>
            <a:ext cx="660400" cy="660400"/>
          </a:xfrm>
          <a:prstGeom prst="rect">
            <a:avLst/>
          </a:prstGeom>
        </p:spPr>
      </p:pic>
      <p:pic>
        <p:nvPicPr>
          <p:cNvPr id="81" name="Graphic 81" descr="병원 B 등록"/>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99225" y="4470400"/>
            <a:ext cx="660400" cy="660400"/>
          </a:xfrm>
          <a:prstGeom prst="rect">
            <a:avLst/>
          </a:prstGeom>
        </p:spPr>
      </p:pic>
      <p:pic>
        <p:nvPicPr>
          <p:cNvPr id="82" name="Graphic 82" descr="환자 동의"/>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39325" y="4470400"/>
            <a:ext cx="660400" cy="660400"/>
          </a:xfrm>
          <a:prstGeom prst="rect">
            <a:avLst/>
          </a:prstGeom>
        </p:spPr>
      </p:pic>
      <p:pic>
        <p:nvPicPr>
          <p:cNvPr id="83" name="Graphic 83" descr="접근정책 검증"/>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28375" y="4470400"/>
            <a:ext cx="660400" cy="660400"/>
          </a:xfrm>
          <a:prstGeom prst="rect">
            <a:avLst/>
          </a:prstGeom>
        </p:spPr>
      </p:pic>
      <p:pic>
        <p:nvPicPr>
          <p:cNvPr id="84" name="Graphic 84" descr="단기 토큰 발급"/>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417425" y="4470400"/>
            <a:ext cx="660400" cy="660400"/>
          </a:xfrm>
          <a:prstGeom prst="rect">
            <a:avLst/>
          </a:prstGeom>
        </p:spPr>
      </p:pic>
      <p:pic>
        <p:nvPicPr>
          <p:cNvPr id="85" name="Graphic 85" descr="DICOM 영상 조회"/>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3706475" y="4470400"/>
            <a:ext cx="660400" cy="660400"/>
          </a:xfrm>
          <a:prstGeom prst="rect">
            <a:avLst/>
          </a:prstGeom>
        </p:spPr>
      </p:pic>
      <p:pic>
        <p:nvPicPr>
          <p:cNvPr id="86" name="Graphic 86" descr="진료"/>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4995525" y="4470400"/>
            <a:ext cx="660400" cy="660400"/>
          </a:xfrm>
          <a:prstGeom prst="rect">
            <a:avLst/>
          </a:prstGeom>
        </p:spPr>
      </p:pic>
      <p:pic>
        <p:nvPicPr>
          <p:cNvPr id="87" name="Graphic 87" descr="감사로그"/>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6284575" y="4470400"/>
            <a:ext cx="660400" cy="660400"/>
          </a:xfrm>
          <a:prstGeom prst="rect">
            <a:avLst/>
          </a:prstGeom>
        </p:spPr>
      </p:pic>
      <p:pic>
        <p:nvPicPr>
          <p:cNvPr id="88" name="Graphic 88" descr="진료"/>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788275" y="4470400"/>
            <a:ext cx="660400" cy="660400"/>
          </a:xfrm>
          <a:prstGeom prst="rect">
            <a:avLst/>
          </a:prstGeom>
        </p:spPr>
      </p:pic>
      <p:sp>
        <p:nvSpPr>
          <p:cNvPr id="202" name="Step label"/>
          <p:cNvSpPr txBox="1"/>
          <p:nvPr/>
        </p:nvSpPr>
        <p:spPr>
          <a:xfrm>
            <a:off x="1028700" y="5283200"/>
            <a:ext cx="1289050" cy="762000"/>
          </a:xfrm>
          <a:prstGeom prst="rect">
            <a:avLst/>
          </a:prstGeom>
          <a:noFill/>
          <a:ln>
            <a:noFill/>
          </a:ln>
        </p:spPr>
        <p:txBody>
          <a:bodyPr wrap="square" lIns="25400" tIns="0" rIns="2540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환자</a:t>
            </a:r>
          </a:p>
        </p:txBody>
      </p:sp>
      <p:sp>
        <p:nvSpPr>
          <p:cNvPr id="203" name="Step label"/>
          <p:cNvSpPr txBox="1"/>
          <p:nvPr/>
        </p:nvSpPr>
        <p:spPr>
          <a:xfrm>
            <a:off x="2317750" y="5283200"/>
            <a:ext cx="1289050" cy="762000"/>
          </a:xfrm>
          <a:prstGeom prst="rect">
            <a:avLst/>
          </a:prstGeom>
          <a:noFill/>
          <a:ln>
            <a:noFill/>
          </a:ln>
        </p:spPr>
        <p:txBody>
          <a:bodyPr wrap="square" lIns="25400" tIns="0" rIns="2540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병원 A 검사</a:t>
            </a:r>
          </a:p>
          <a:p>
            <a:pPr marL="0" indent="0" algn="ctr">
              <a:lnSpc>
                <a:spcPts val="2200"/>
              </a:lnSpc>
              <a:spcBef>
                <a:spcPts val="0"/>
              </a:spcBef>
              <a:buNone/>
            </a:pPr>
            <a:r>
              <a:rPr lang="ko-KR" sz="1600" dirty="0">
                <a:solidFill>
                  <a:srgbClr val="595959"/>
                </a:solidFill>
                <a:latin typeface="프리텐다드"/>
                <a:ea typeface="프리텐다드"/>
                <a:cs typeface="프리텐다드"/>
                <a:sym typeface="프리텐다드"/>
              </a:rPr>
              <a:t>CT / MRI</a:t>
            </a:r>
          </a:p>
        </p:txBody>
      </p:sp>
      <p:sp>
        <p:nvSpPr>
          <p:cNvPr id="204" name="Step arrow">
            <a:extLst>
              <a:ext uri="{C183D7F6-B498-43B3-948B-1728B52AA6E4}">
                <adec:decorative xmlns:adec="http://schemas.microsoft.com/office/drawing/2017/decorative" val="1"/>
              </a:ext>
            </a:extLst>
          </p:cNvPr>
          <p:cNvSpPr/>
          <p:nvPr/>
        </p:nvSpPr>
        <p:spPr>
          <a:xfrm>
            <a:off x="2228850" y="4648200"/>
            <a:ext cx="177800" cy="304800"/>
          </a:xfrm>
          <a:prstGeom prst="chevron">
            <a:avLst/>
          </a:prstGeom>
          <a:solidFill>
            <a:srgbClr val="A6A6A6"/>
          </a:solidFill>
          <a:ln>
            <a:noFill/>
          </a:ln>
        </p:spPr>
        <p:txBody>
          <a:bodyPr wrap="square" lIns="0" tIns="0" rIns="0" bIns="0" rtlCol="0" anchor="t">
            <a:noAutofit/>
          </a:bodyPr>
          <a:lstStyle/>
          <a:p>
            <a:endParaRPr lang="ko-KR"/>
          </a:p>
        </p:txBody>
      </p:sp>
      <p:sp>
        <p:nvSpPr>
          <p:cNvPr id="205" name="Step label"/>
          <p:cNvSpPr txBox="1"/>
          <p:nvPr/>
        </p:nvSpPr>
        <p:spPr>
          <a:xfrm>
            <a:off x="3606800" y="5283200"/>
            <a:ext cx="1289050" cy="762000"/>
          </a:xfrm>
          <a:prstGeom prst="rect">
            <a:avLst/>
          </a:prstGeom>
          <a:noFill/>
          <a:ln>
            <a:noFill/>
          </a:ln>
        </p:spPr>
        <p:txBody>
          <a:bodyPr wrap="square" lIns="25400" tIns="0" rIns="2540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CD 발급</a:t>
            </a:r>
          </a:p>
        </p:txBody>
      </p:sp>
      <p:sp>
        <p:nvSpPr>
          <p:cNvPr id="206" name="Cost tag"/>
          <p:cNvSpPr/>
          <p:nvPr/>
        </p:nvSpPr>
        <p:spPr>
          <a:xfrm>
            <a:off x="3667125" y="6121400"/>
            <a:ext cx="1168400" cy="381000"/>
          </a:xfrm>
          <a:prstGeom prst="rect">
            <a:avLst/>
          </a:prstGeom>
          <a:solidFill>
            <a:srgbClr val="E9E9E9"/>
          </a:solidFill>
          <a:ln w="9525">
            <a:solidFill>
              <a:srgbClr val="737373"/>
            </a:solidFill>
          </a:ln>
        </p:spPr>
        <p:txBody>
          <a:bodyPr wrap="square" lIns="0" tIns="0" rIns="0" bIns="0" rtlCol="0" anchor="ctr">
            <a:noAutofit/>
          </a:bodyPr>
          <a:lstStyle/>
          <a:p>
            <a:pPr marL="0" indent="0" algn="ctr">
              <a:lnSpc>
                <a:spcPts val="2200"/>
              </a:lnSpc>
              <a:spcBef>
                <a:spcPts val="0"/>
              </a:spcBef>
              <a:buNone/>
            </a:pPr>
            <a:r>
              <a:rPr lang="ko-KR" sz="1600" b="1" dirty="0">
                <a:solidFill>
                  <a:srgbClr val="282828"/>
                </a:solidFill>
                <a:latin typeface="프리텐다드 Semi-Bold"/>
                <a:ea typeface="프리텐다드 Semi-Bold"/>
                <a:cs typeface="프리텐다드 Semi-Bold"/>
                <a:sym typeface="프리텐다드 Semi-Bold"/>
              </a:rPr>
              <a:t>비용 발생</a:t>
            </a:r>
          </a:p>
        </p:txBody>
      </p:sp>
      <p:sp>
        <p:nvSpPr>
          <p:cNvPr id="207" name="Step arrow">
            <a:extLst>
              <a:ext uri="{C183D7F6-B498-43B3-948B-1728B52AA6E4}">
                <adec:decorative xmlns:adec="http://schemas.microsoft.com/office/drawing/2017/decorative" val="1"/>
              </a:ext>
            </a:extLst>
          </p:cNvPr>
          <p:cNvSpPr/>
          <p:nvPr/>
        </p:nvSpPr>
        <p:spPr>
          <a:xfrm>
            <a:off x="3517900" y="4648200"/>
            <a:ext cx="177800" cy="304800"/>
          </a:xfrm>
          <a:prstGeom prst="chevron">
            <a:avLst/>
          </a:prstGeom>
          <a:solidFill>
            <a:srgbClr val="A6A6A6"/>
          </a:solidFill>
          <a:ln>
            <a:noFill/>
          </a:ln>
        </p:spPr>
        <p:txBody>
          <a:bodyPr wrap="square" lIns="0" tIns="0" rIns="0" bIns="0" rtlCol="0" anchor="t">
            <a:noAutofit/>
          </a:bodyPr>
          <a:lstStyle/>
          <a:p>
            <a:endParaRPr lang="ko-KR"/>
          </a:p>
        </p:txBody>
      </p:sp>
      <p:sp>
        <p:nvSpPr>
          <p:cNvPr id="208" name="Step label"/>
          <p:cNvSpPr txBox="1"/>
          <p:nvPr/>
        </p:nvSpPr>
        <p:spPr>
          <a:xfrm>
            <a:off x="4895850" y="5283200"/>
            <a:ext cx="1289050" cy="762000"/>
          </a:xfrm>
          <a:prstGeom prst="rect">
            <a:avLst/>
          </a:prstGeom>
          <a:noFill/>
          <a:ln>
            <a:noFill/>
          </a:ln>
        </p:spPr>
        <p:txBody>
          <a:bodyPr wrap="square" lIns="25400" tIns="0" rIns="2540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환자 직접 이동</a:t>
            </a:r>
          </a:p>
        </p:txBody>
      </p:sp>
      <p:sp>
        <p:nvSpPr>
          <p:cNvPr id="209" name="Step arrow">
            <a:extLst>
              <a:ext uri="{C183D7F6-B498-43B3-948B-1728B52AA6E4}">
                <adec:decorative xmlns:adec="http://schemas.microsoft.com/office/drawing/2017/decorative" val="1"/>
              </a:ext>
            </a:extLst>
          </p:cNvPr>
          <p:cNvSpPr/>
          <p:nvPr/>
        </p:nvSpPr>
        <p:spPr>
          <a:xfrm>
            <a:off x="4806950" y="4648200"/>
            <a:ext cx="177800" cy="304800"/>
          </a:xfrm>
          <a:prstGeom prst="chevron">
            <a:avLst/>
          </a:prstGeom>
          <a:solidFill>
            <a:srgbClr val="A6A6A6"/>
          </a:solidFill>
          <a:ln>
            <a:noFill/>
          </a:ln>
        </p:spPr>
        <p:txBody>
          <a:bodyPr wrap="square" lIns="0" tIns="0" rIns="0" bIns="0" rtlCol="0" anchor="t">
            <a:noAutofit/>
          </a:bodyPr>
          <a:lstStyle/>
          <a:p>
            <a:endParaRPr lang="ko-KR"/>
          </a:p>
        </p:txBody>
      </p:sp>
      <p:sp>
        <p:nvSpPr>
          <p:cNvPr id="210" name="Step label"/>
          <p:cNvSpPr txBox="1"/>
          <p:nvPr/>
        </p:nvSpPr>
        <p:spPr>
          <a:xfrm>
            <a:off x="6184900" y="5283200"/>
            <a:ext cx="1289050" cy="762000"/>
          </a:xfrm>
          <a:prstGeom prst="rect">
            <a:avLst/>
          </a:prstGeom>
          <a:noFill/>
          <a:ln>
            <a:noFill/>
          </a:ln>
        </p:spPr>
        <p:txBody>
          <a:bodyPr wrap="square" lIns="25400" tIns="0" rIns="2540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병원 B 등록</a:t>
            </a:r>
          </a:p>
        </p:txBody>
      </p:sp>
      <p:sp>
        <p:nvSpPr>
          <p:cNvPr id="211" name="Cost tag"/>
          <p:cNvSpPr/>
          <p:nvPr/>
        </p:nvSpPr>
        <p:spPr>
          <a:xfrm>
            <a:off x="6245225" y="6121400"/>
            <a:ext cx="1168400" cy="381000"/>
          </a:xfrm>
          <a:prstGeom prst="rect">
            <a:avLst/>
          </a:prstGeom>
          <a:solidFill>
            <a:srgbClr val="E9E9E9"/>
          </a:solidFill>
          <a:ln w="9525">
            <a:solidFill>
              <a:srgbClr val="737373"/>
            </a:solidFill>
          </a:ln>
        </p:spPr>
        <p:txBody>
          <a:bodyPr wrap="square" lIns="0" tIns="0" rIns="0" bIns="0" rtlCol="0" anchor="ctr">
            <a:noAutofit/>
          </a:bodyPr>
          <a:lstStyle/>
          <a:p>
            <a:pPr marL="0" indent="0" algn="ctr">
              <a:lnSpc>
                <a:spcPts val="2200"/>
              </a:lnSpc>
              <a:spcBef>
                <a:spcPts val="0"/>
              </a:spcBef>
              <a:buNone/>
            </a:pPr>
            <a:r>
              <a:rPr lang="ko-KR" sz="1600" b="1" dirty="0">
                <a:solidFill>
                  <a:srgbClr val="282828"/>
                </a:solidFill>
                <a:latin typeface="프리텐다드 Semi-Bold"/>
                <a:ea typeface="프리텐다드 Semi-Bold"/>
                <a:cs typeface="프리텐다드 Semi-Bold"/>
                <a:sym typeface="프리텐다드 Semi-Bold"/>
              </a:rPr>
              <a:t>대기 시간</a:t>
            </a:r>
          </a:p>
        </p:txBody>
      </p:sp>
      <p:sp>
        <p:nvSpPr>
          <p:cNvPr id="212" name="Step arrow">
            <a:extLst>
              <a:ext uri="{C183D7F6-B498-43B3-948B-1728B52AA6E4}">
                <adec:decorative xmlns:adec="http://schemas.microsoft.com/office/drawing/2017/decorative" val="1"/>
              </a:ext>
            </a:extLst>
          </p:cNvPr>
          <p:cNvSpPr/>
          <p:nvPr/>
        </p:nvSpPr>
        <p:spPr>
          <a:xfrm>
            <a:off x="6096000" y="4648200"/>
            <a:ext cx="177800" cy="304800"/>
          </a:xfrm>
          <a:prstGeom prst="chevron">
            <a:avLst/>
          </a:prstGeom>
          <a:solidFill>
            <a:srgbClr val="A6A6A6"/>
          </a:solidFill>
          <a:ln>
            <a:noFill/>
          </a:ln>
        </p:spPr>
        <p:txBody>
          <a:bodyPr wrap="square" lIns="0" tIns="0" rIns="0" bIns="0" rtlCol="0" anchor="t">
            <a:noAutofit/>
          </a:bodyPr>
          <a:lstStyle/>
          <a:p>
            <a:endParaRPr lang="ko-KR"/>
          </a:p>
        </p:txBody>
      </p:sp>
      <p:sp>
        <p:nvSpPr>
          <p:cNvPr id="213" name="Step label"/>
          <p:cNvSpPr txBox="1"/>
          <p:nvPr/>
        </p:nvSpPr>
        <p:spPr>
          <a:xfrm>
            <a:off x="7473950" y="5283200"/>
            <a:ext cx="1289050" cy="762000"/>
          </a:xfrm>
          <a:prstGeom prst="rect">
            <a:avLst/>
          </a:prstGeom>
          <a:noFill/>
          <a:ln>
            <a:noFill/>
          </a:ln>
        </p:spPr>
        <p:txBody>
          <a:bodyPr wrap="square" lIns="25400" tIns="0" rIns="2540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진료</a:t>
            </a:r>
          </a:p>
        </p:txBody>
      </p:sp>
      <p:sp>
        <p:nvSpPr>
          <p:cNvPr id="214" name="Step arrow">
            <a:extLst>
              <a:ext uri="{C183D7F6-B498-43B3-948B-1728B52AA6E4}">
                <adec:decorative xmlns:adec="http://schemas.microsoft.com/office/drawing/2017/decorative" val="1"/>
              </a:ext>
            </a:extLst>
          </p:cNvPr>
          <p:cNvSpPr/>
          <p:nvPr/>
        </p:nvSpPr>
        <p:spPr>
          <a:xfrm>
            <a:off x="7385050" y="4648200"/>
            <a:ext cx="177800" cy="304800"/>
          </a:xfrm>
          <a:prstGeom prst="chevron">
            <a:avLst/>
          </a:prstGeom>
          <a:solidFill>
            <a:srgbClr val="A6A6A6"/>
          </a:solidFill>
          <a:ln>
            <a:noFill/>
          </a:ln>
        </p:spPr>
        <p:txBody>
          <a:bodyPr wrap="square" lIns="0" tIns="0" rIns="0" bIns="0" rtlCol="0" anchor="t">
            <a:noAutofit/>
          </a:bodyPr>
          <a:lstStyle/>
          <a:p>
            <a:endParaRPr lang="ko-KR"/>
          </a:p>
        </p:txBody>
      </p:sp>
      <p:sp>
        <p:nvSpPr>
          <p:cNvPr id="215" name="Panel divider">
            <a:extLst>
              <a:ext uri="{C183D7F6-B498-43B3-948B-1728B52AA6E4}">
                <adec:decorative xmlns:adec="http://schemas.microsoft.com/office/drawing/2017/decorative" val="1"/>
              </a:ext>
            </a:extLst>
          </p:cNvPr>
          <p:cNvSpPr/>
          <p:nvPr/>
        </p:nvSpPr>
        <p:spPr>
          <a:xfrm>
            <a:off x="1333500" y="6858000"/>
            <a:ext cx="7124700" cy="12700"/>
          </a:xfrm>
          <a:prstGeom prst="rect">
            <a:avLst/>
          </a:prstGeom>
          <a:solidFill>
            <a:srgbClr val="D0D0D0"/>
          </a:solidFill>
          <a:ln>
            <a:noFill/>
          </a:ln>
        </p:spPr>
        <p:txBody>
          <a:bodyPr wrap="square" lIns="0" tIns="0" rIns="0" bIns="0" rtlCol="0" anchor="t">
            <a:noAutofit/>
          </a:bodyPr>
          <a:lstStyle/>
          <a:p>
            <a:endParaRPr lang="ko-KR"/>
          </a:p>
        </p:txBody>
      </p:sp>
      <p:sp>
        <p:nvSpPr>
          <p:cNvPr id="216" name="Summary bar">
            <a:extLst>
              <a:ext uri="{C183D7F6-B498-43B3-948B-1728B52AA6E4}">
                <adec:decorative xmlns:adec="http://schemas.microsoft.com/office/drawing/2017/decorative" val="1"/>
              </a:ext>
            </a:extLst>
          </p:cNvPr>
          <p:cNvSpPr/>
          <p:nvPr/>
        </p:nvSpPr>
        <p:spPr>
          <a:xfrm>
            <a:off x="1333500" y="7620000"/>
            <a:ext cx="63500" cy="711200"/>
          </a:xfrm>
          <a:prstGeom prst="rect">
            <a:avLst/>
          </a:prstGeom>
          <a:solidFill>
            <a:srgbClr val="737373"/>
          </a:solidFill>
          <a:ln>
            <a:noFill/>
          </a:ln>
        </p:spPr>
        <p:txBody>
          <a:bodyPr wrap="square" lIns="0" tIns="0" rIns="0" bIns="0" rtlCol="0" anchor="t">
            <a:noAutofit/>
          </a:bodyPr>
          <a:lstStyle/>
          <a:p>
            <a:endParaRPr lang="ko-KR"/>
          </a:p>
        </p:txBody>
      </p:sp>
      <p:sp>
        <p:nvSpPr>
          <p:cNvPr id="217" name="Summary label"/>
          <p:cNvSpPr txBox="1"/>
          <p:nvPr/>
        </p:nvSpPr>
        <p:spPr>
          <a:xfrm>
            <a:off x="1562100" y="7543800"/>
            <a:ext cx="1397000" cy="863600"/>
          </a:xfrm>
          <a:prstGeom prst="rect">
            <a:avLst/>
          </a:prstGeom>
          <a:noFill/>
          <a:ln>
            <a:noFill/>
          </a:ln>
        </p:spPr>
        <p:txBody>
          <a:bodyPr wrap="square" lIns="0" tIns="0" rIns="0" bIns="0" rtlCol="0" anchor="ctr">
            <a:noAutofit/>
          </a:bodyPr>
          <a:lstStyle/>
          <a:p>
            <a:pPr marL="0" indent="0" algn="l">
              <a:lnSpc>
                <a:spcPts val="3600"/>
              </a:lnSpc>
              <a:spcBef>
                <a:spcPts val="0"/>
              </a:spcBef>
              <a:buNone/>
            </a:pPr>
            <a:r>
              <a:rPr lang="ko-KR" sz="2800" b="1" dirty="0">
                <a:solidFill>
                  <a:srgbClr val="282828"/>
                </a:solidFill>
                <a:latin typeface="프리텐다드 Bold"/>
                <a:ea typeface="프리텐다드 Bold"/>
                <a:cs typeface="프리텐다드 Bold"/>
                <a:sym typeface="프리텐다드 Bold"/>
              </a:rPr>
              <a:t>한계</a:t>
            </a:r>
          </a:p>
        </p:txBody>
      </p:sp>
      <p:sp>
        <p:nvSpPr>
          <p:cNvPr id="218" name="Summary bullets"/>
          <p:cNvSpPr txBox="1"/>
          <p:nvPr/>
        </p:nvSpPr>
        <p:spPr>
          <a:xfrm>
            <a:off x="3187700" y="7061200"/>
            <a:ext cx="5270500" cy="2489200"/>
          </a:xfrm>
          <a:prstGeom prst="rect">
            <a:avLst/>
          </a:prstGeom>
          <a:noFill/>
          <a:ln>
            <a:noFill/>
          </a:ln>
        </p:spPr>
        <p:txBody>
          <a:bodyPr wrap="square" lIns="0" tIns="0" rIns="0" bIns="0" rtlCol="0" anchor="ctr">
            <a:noAutofit/>
          </a:bodyPr>
          <a:lstStyle/>
          <a:p>
            <a:pPr marL="285750" indent="-285750">
              <a:lnSpc>
                <a:spcPts val="3200"/>
              </a:lnSpc>
              <a:spcBef>
                <a:spcPts val="0"/>
              </a:spcBef>
              <a:buClr>
                <a:srgbClr val="595959"/>
              </a:buClr>
              <a:buFont typeface="Arial"/>
              <a:buChar char="•"/>
            </a:pPr>
            <a:r>
              <a:rPr lang="ko-KR" sz="2200" dirty="0">
                <a:solidFill>
                  <a:srgbClr val="282828"/>
                </a:solidFill>
                <a:latin typeface="프리텐다드"/>
                <a:ea typeface="프리텐다드"/>
                <a:cs typeface="프리텐다드"/>
                <a:sym typeface="프리텐다드"/>
              </a:rPr>
              <a:t>환자가 </a:t>
            </a:r>
            <a:r>
              <a:rPr lang="ko-KR" sz="2200" b="1" dirty="0">
                <a:solidFill>
                  <a:srgbClr val="282828"/>
                </a:solidFill>
                <a:latin typeface="프리텐다드 Semi-Bold"/>
                <a:ea typeface="프리텐다드 Semi-Bold"/>
                <a:cs typeface="프리텐다드 Semi-Bold"/>
                <a:sym typeface="프리텐다드 Semi-Bold"/>
              </a:rPr>
              <a:t>직접 전달</a:t>
            </a:r>
          </a:p>
          <a:p>
            <a:pPr marL="285750" indent="-285750">
              <a:lnSpc>
                <a:spcPts val="3200"/>
              </a:lnSpc>
              <a:spcBef>
                <a:spcPts val="4"/>
              </a:spcBef>
              <a:buClr>
                <a:srgbClr val="595959"/>
              </a:buClr>
              <a:buFont typeface="Arial"/>
              <a:buChar char="•"/>
            </a:pPr>
            <a:r>
              <a:rPr lang="ko-KR" sz="2200" dirty="0">
                <a:solidFill>
                  <a:srgbClr val="282828"/>
                </a:solidFill>
                <a:latin typeface="프리텐다드"/>
                <a:ea typeface="프리텐다드"/>
                <a:cs typeface="프리텐다드"/>
                <a:sym typeface="프리텐다드"/>
              </a:rPr>
              <a:t>CD 발급 </a:t>
            </a:r>
            <a:r>
              <a:rPr lang="ko-KR" sz="2200" b="1" dirty="0">
                <a:solidFill>
                  <a:srgbClr val="282828"/>
                </a:solidFill>
                <a:latin typeface="프리텐다드 Semi-Bold"/>
                <a:ea typeface="프리텐다드 Semi-Bold"/>
                <a:cs typeface="프리텐다드 Semi-Bold"/>
                <a:sym typeface="프리텐다드 Semi-Bold"/>
              </a:rPr>
              <a:t>비용 발생</a:t>
            </a:r>
          </a:p>
          <a:p>
            <a:pPr marL="285750" indent="-285750">
              <a:lnSpc>
                <a:spcPts val="3200"/>
              </a:lnSpc>
              <a:spcBef>
                <a:spcPts val="4"/>
              </a:spcBef>
              <a:buClr>
                <a:srgbClr val="595959"/>
              </a:buClr>
              <a:buFont typeface="Arial"/>
              <a:buChar char="•"/>
            </a:pPr>
            <a:r>
              <a:rPr lang="ko-KR" sz="2200" b="1" dirty="0">
                <a:solidFill>
                  <a:srgbClr val="282828"/>
                </a:solidFill>
                <a:latin typeface="프리텐다드 Semi-Bold"/>
                <a:ea typeface="프리텐다드 Semi-Bold"/>
                <a:cs typeface="프리텐다드 Semi-Bold"/>
                <a:sym typeface="프리텐다드 Semi-Bold"/>
              </a:rPr>
              <a:t>분실·손상</a:t>
            </a:r>
            <a:r>
              <a:rPr lang="ko-KR" sz="2200" dirty="0">
                <a:solidFill>
                  <a:srgbClr val="282828"/>
                </a:solidFill>
                <a:latin typeface="프리텐다드"/>
                <a:ea typeface="프리텐다드"/>
                <a:cs typeface="프리텐다드"/>
                <a:sym typeface="프리텐다드"/>
              </a:rPr>
              <a:t> 위험</a:t>
            </a:r>
          </a:p>
          <a:p>
            <a:pPr marL="285750" indent="-285750">
              <a:lnSpc>
                <a:spcPts val="3200"/>
              </a:lnSpc>
              <a:spcBef>
                <a:spcPts val="4"/>
              </a:spcBef>
              <a:buClr>
                <a:srgbClr val="595959"/>
              </a:buClr>
              <a:buFont typeface="Arial"/>
              <a:buChar char="•"/>
            </a:pPr>
            <a:r>
              <a:rPr lang="ko-KR" sz="2200" b="1" dirty="0">
                <a:solidFill>
                  <a:srgbClr val="282828"/>
                </a:solidFill>
                <a:latin typeface="프리텐다드 Semi-Bold"/>
                <a:ea typeface="프리텐다드 Semi-Bold"/>
                <a:cs typeface="프리텐다드 Semi-Bold"/>
                <a:sym typeface="프리텐다드 Semi-Bold"/>
              </a:rPr>
              <a:t>중복 촬영</a:t>
            </a:r>
            <a:r>
              <a:rPr lang="ko-KR" sz="2200" dirty="0">
                <a:solidFill>
                  <a:srgbClr val="282828"/>
                </a:solidFill>
                <a:latin typeface="프리텐다드"/>
                <a:ea typeface="프리텐다드"/>
                <a:cs typeface="프리텐다드"/>
                <a:sym typeface="프리텐다드"/>
              </a:rPr>
              <a:t> 가능성</a:t>
            </a:r>
          </a:p>
        </p:txBody>
      </p:sp>
      <p:sp>
        <p:nvSpPr>
          <p:cNvPr id="221" name="Step label"/>
          <p:cNvSpPr txBox="1"/>
          <p:nvPr/>
        </p:nvSpPr>
        <p:spPr>
          <a:xfrm>
            <a:off x="9525000" y="5283200"/>
            <a:ext cx="1289050" cy="762000"/>
          </a:xfrm>
          <a:prstGeom prst="rect">
            <a:avLst/>
          </a:prstGeom>
          <a:noFill/>
          <a:ln>
            <a:noFill/>
          </a:ln>
        </p:spPr>
        <p:txBody>
          <a:bodyPr wrap="square" lIns="25400" tIns="0" rIns="2540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환자 동의</a:t>
            </a:r>
          </a:p>
        </p:txBody>
      </p:sp>
      <p:sp>
        <p:nvSpPr>
          <p:cNvPr id="222" name="Step label"/>
          <p:cNvSpPr txBox="1"/>
          <p:nvPr/>
        </p:nvSpPr>
        <p:spPr>
          <a:xfrm>
            <a:off x="10814050" y="5283200"/>
            <a:ext cx="1289050" cy="762000"/>
          </a:xfrm>
          <a:prstGeom prst="rect">
            <a:avLst/>
          </a:prstGeom>
          <a:noFill/>
          <a:ln>
            <a:noFill/>
          </a:ln>
        </p:spPr>
        <p:txBody>
          <a:bodyPr wrap="square" lIns="25400" tIns="0" rIns="2540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접근정책 검증</a:t>
            </a:r>
          </a:p>
        </p:txBody>
      </p:sp>
      <p:sp>
        <p:nvSpPr>
          <p:cNvPr id="223" name="Step arrow">
            <a:extLst>
              <a:ext uri="{C183D7F6-B498-43B3-948B-1728B52AA6E4}">
                <adec:decorative xmlns:adec="http://schemas.microsoft.com/office/drawing/2017/decorative" val="1"/>
              </a:ext>
            </a:extLst>
          </p:cNvPr>
          <p:cNvSpPr/>
          <p:nvPr/>
        </p:nvSpPr>
        <p:spPr>
          <a:xfrm>
            <a:off x="10725150" y="4648200"/>
            <a:ext cx="177800" cy="304800"/>
          </a:xfrm>
          <a:prstGeom prst="chevron">
            <a:avLst/>
          </a:prstGeom>
          <a:solidFill>
            <a:srgbClr val="2A59C5"/>
          </a:solidFill>
          <a:ln>
            <a:noFill/>
          </a:ln>
        </p:spPr>
        <p:txBody>
          <a:bodyPr wrap="square" lIns="0" tIns="0" rIns="0" bIns="0" rtlCol="0" anchor="t">
            <a:noAutofit/>
          </a:bodyPr>
          <a:lstStyle/>
          <a:p>
            <a:endParaRPr lang="ko-KR"/>
          </a:p>
        </p:txBody>
      </p:sp>
      <p:sp>
        <p:nvSpPr>
          <p:cNvPr id="224" name="Step label"/>
          <p:cNvSpPr txBox="1"/>
          <p:nvPr/>
        </p:nvSpPr>
        <p:spPr>
          <a:xfrm>
            <a:off x="12103100" y="5283200"/>
            <a:ext cx="1289050" cy="762000"/>
          </a:xfrm>
          <a:prstGeom prst="rect">
            <a:avLst/>
          </a:prstGeom>
          <a:noFill/>
          <a:ln>
            <a:noFill/>
          </a:ln>
        </p:spPr>
        <p:txBody>
          <a:bodyPr wrap="square" lIns="25400" tIns="0" rIns="2540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단기 토큰 발급</a:t>
            </a:r>
          </a:p>
        </p:txBody>
      </p:sp>
      <p:sp>
        <p:nvSpPr>
          <p:cNvPr id="225" name="Step arrow">
            <a:extLst>
              <a:ext uri="{C183D7F6-B498-43B3-948B-1728B52AA6E4}">
                <adec:decorative xmlns:adec="http://schemas.microsoft.com/office/drawing/2017/decorative" val="1"/>
              </a:ext>
            </a:extLst>
          </p:cNvPr>
          <p:cNvSpPr/>
          <p:nvPr/>
        </p:nvSpPr>
        <p:spPr>
          <a:xfrm>
            <a:off x="12014200" y="4648200"/>
            <a:ext cx="177800" cy="304800"/>
          </a:xfrm>
          <a:prstGeom prst="chevron">
            <a:avLst/>
          </a:prstGeom>
          <a:solidFill>
            <a:srgbClr val="2A59C5"/>
          </a:solidFill>
          <a:ln>
            <a:noFill/>
          </a:ln>
        </p:spPr>
        <p:txBody>
          <a:bodyPr wrap="square" lIns="0" tIns="0" rIns="0" bIns="0" rtlCol="0" anchor="t">
            <a:noAutofit/>
          </a:bodyPr>
          <a:lstStyle/>
          <a:p>
            <a:endParaRPr lang="ko-KR"/>
          </a:p>
        </p:txBody>
      </p:sp>
      <p:sp>
        <p:nvSpPr>
          <p:cNvPr id="226" name="Step label"/>
          <p:cNvSpPr txBox="1"/>
          <p:nvPr/>
        </p:nvSpPr>
        <p:spPr>
          <a:xfrm>
            <a:off x="13392150" y="5283200"/>
            <a:ext cx="1289050" cy="762000"/>
          </a:xfrm>
          <a:prstGeom prst="rect">
            <a:avLst/>
          </a:prstGeom>
          <a:noFill/>
          <a:ln>
            <a:noFill/>
          </a:ln>
        </p:spPr>
        <p:txBody>
          <a:bodyPr wrap="square" lIns="25400" tIns="0" rIns="2540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DICOM 영상 조회</a:t>
            </a:r>
          </a:p>
        </p:txBody>
      </p:sp>
      <p:sp>
        <p:nvSpPr>
          <p:cNvPr id="227" name="Step arrow">
            <a:extLst>
              <a:ext uri="{C183D7F6-B498-43B3-948B-1728B52AA6E4}">
                <adec:decorative xmlns:adec="http://schemas.microsoft.com/office/drawing/2017/decorative" val="1"/>
              </a:ext>
            </a:extLst>
          </p:cNvPr>
          <p:cNvSpPr/>
          <p:nvPr/>
        </p:nvSpPr>
        <p:spPr>
          <a:xfrm>
            <a:off x="13303250" y="4648200"/>
            <a:ext cx="177800" cy="304800"/>
          </a:xfrm>
          <a:prstGeom prst="chevron">
            <a:avLst/>
          </a:prstGeom>
          <a:solidFill>
            <a:srgbClr val="2A59C5"/>
          </a:solidFill>
          <a:ln>
            <a:noFill/>
          </a:ln>
        </p:spPr>
        <p:txBody>
          <a:bodyPr wrap="square" lIns="0" tIns="0" rIns="0" bIns="0" rtlCol="0" anchor="t">
            <a:noAutofit/>
          </a:bodyPr>
          <a:lstStyle/>
          <a:p>
            <a:endParaRPr lang="ko-KR"/>
          </a:p>
        </p:txBody>
      </p:sp>
      <p:sp>
        <p:nvSpPr>
          <p:cNvPr id="228" name="Step label"/>
          <p:cNvSpPr txBox="1"/>
          <p:nvPr/>
        </p:nvSpPr>
        <p:spPr>
          <a:xfrm>
            <a:off x="14681200" y="5283200"/>
            <a:ext cx="1289050" cy="762000"/>
          </a:xfrm>
          <a:prstGeom prst="rect">
            <a:avLst/>
          </a:prstGeom>
          <a:noFill/>
          <a:ln>
            <a:noFill/>
          </a:ln>
        </p:spPr>
        <p:txBody>
          <a:bodyPr wrap="square" lIns="25400" tIns="0" rIns="2540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진료</a:t>
            </a:r>
          </a:p>
        </p:txBody>
      </p:sp>
      <p:sp>
        <p:nvSpPr>
          <p:cNvPr id="229" name="Step arrow">
            <a:extLst>
              <a:ext uri="{C183D7F6-B498-43B3-948B-1728B52AA6E4}">
                <adec:decorative xmlns:adec="http://schemas.microsoft.com/office/drawing/2017/decorative" val="1"/>
              </a:ext>
            </a:extLst>
          </p:cNvPr>
          <p:cNvSpPr/>
          <p:nvPr/>
        </p:nvSpPr>
        <p:spPr>
          <a:xfrm>
            <a:off x="14592300" y="4648200"/>
            <a:ext cx="177800" cy="304800"/>
          </a:xfrm>
          <a:prstGeom prst="chevron">
            <a:avLst/>
          </a:prstGeom>
          <a:solidFill>
            <a:srgbClr val="2A59C5"/>
          </a:solidFill>
          <a:ln>
            <a:noFill/>
          </a:ln>
        </p:spPr>
        <p:txBody>
          <a:bodyPr wrap="square" lIns="0" tIns="0" rIns="0" bIns="0" rtlCol="0" anchor="t">
            <a:noAutofit/>
          </a:bodyPr>
          <a:lstStyle/>
          <a:p>
            <a:endParaRPr lang="ko-KR"/>
          </a:p>
        </p:txBody>
      </p:sp>
      <p:sp>
        <p:nvSpPr>
          <p:cNvPr id="230" name="Step label"/>
          <p:cNvSpPr txBox="1"/>
          <p:nvPr/>
        </p:nvSpPr>
        <p:spPr>
          <a:xfrm>
            <a:off x="15970250" y="5283200"/>
            <a:ext cx="1289050" cy="762000"/>
          </a:xfrm>
          <a:prstGeom prst="rect">
            <a:avLst/>
          </a:prstGeom>
          <a:noFill/>
          <a:ln>
            <a:noFill/>
          </a:ln>
        </p:spPr>
        <p:txBody>
          <a:bodyPr wrap="square" lIns="25400" tIns="0" rIns="25400" bIns="0" rtlCol="0" anchor="t">
            <a:noAutofit/>
          </a:bodyPr>
          <a:lstStyle/>
          <a:p>
            <a:pPr marL="0" indent="0" algn="ctr">
              <a:lnSpc>
                <a:spcPts val="2400"/>
              </a:lnSpc>
              <a:spcBef>
                <a:spcPts val="0"/>
              </a:spcBef>
              <a:buNone/>
            </a:pPr>
            <a:r>
              <a:rPr lang="ko-KR" sz="1800" b="1" dirty="0">
                <a:solidFill>
                  <a:srgbClr val="282828"/>
                </a:solidFill>
                <a:latin typeface="프리텐다드 Semi-Bold"/>
                <a:ea typeface="프리텐다드 Semi-Bold"/>
                <a:cs typeface="프리텐다드 Semi-Bold"/>
                <a:sym typeface="프리텐다드 Semi-Bold"/>
              </a:rPr>
              <a:t>감사로그</a:t>
            </a:r>
          </a:p>
        </p:txBody>
      </p:sp>
      <p:sp>
        <p:nvSpPr>
          <p:cNvPr id="231" name="Step arrow">
            <a:extLst>
              <a:ext uri="{C183D7F6-B498-43B3-948B-1728B52AA6E4}">
                <adec:decorative xmlns:adec="http://schemas.microsoft.com/office/drawing/2017/decorative" val="1"/>
              </a:ext>
            </a:extLst>
          </p:cNvPr>
          <p:cNvSpPr/>
          <p:nvPr/>
        </p:nvSpPr>
        <p:spPr>
          <a:xfrm>
            <a:off x="15881350" y="4648200"/>
            <a:ext cx="177800" cy="304800"/>
          </a:xfrm>
          <a:prstGeom prst="chevron">
            <a:avLst/>
          </a:prstGeom>
          <a:solidFill>
            <a:srgbClr val="2A59C5"/>
          </a:solidFill>
          <a:ln>
            <a:noFill/>
          </a:ln>
        </p:spPr>
        <p:txBody>
          <a:bodyPr wrap="square" lIns="0" tIns="0" rIns="0" bIns="0" rtlCol="0" anchor="t">
            <a:noAutofit/>
          </a:bodyPr>
          <a:lstStyle/>
          <a:p>
            <a:endParaRPr lang="ko-KR"/>
          </a:p>
        </p:txBody>
      </p:sp>
      <p:sp>
        <p:nvSpPr>
          <p:cNvPr id="232" name="Panel divider">
            <a:extLst>
              <a:ext uri="{C183D7F6-B498-43B3-948B-1728B52AA6E4}">
                <adec:decorative xmlns:adec="http://schemas.microsoft.com/office/drawing/2017/decorative" val="1"/>
              </a:ext>
            </a:extLst>
          </p:cNvPr>
          <p:cNvSpPr/>
          <p:nvPr/>
        </p:nvSpPr>
        <p:spPr>
          <a:xfrm>
            <a:off x="9829800" y="6858000"/>
            <a:ext cx="7124700" cy="12700"/>
          </a:xfrm>
          <a:prstGeom prst="rect">
            <a:avLst/>
          </a:prstGeom>
          <a:solidFill>
            <a:srgbClr val="D0D0D0"/>
          </a:solidFill>
          <a:ln>
            <a:noFill/>
          </a:ln>
        </p:spPr>
        <p:txBody>
          <a:bodyPr wrap="square" lIns="0" tIns="0" rIns="0" bIns="0" rtlCol="0" anchor="t">
            <a:noAutofit/>
          </a:bodyPr>
          <a:lstStyle/>
          <a:p>
            <a:endParaRPr lang="ko-KR"/>
          </a:p>
        </p:txBody>
      </p:sp>
      <p:sp>
        <p:nvSpPr>
          <p:cNvPr id="233" name="Summary bar">
            <a:extLst>
              <a:ext uri="{C183D7F6-B498-43B3-948B-1728B52AA6E4}">
                <adec:decorative xmlns:adec="http://schemas.microsoft.com/office/drawing/2017/decorative" val="1"/>
              </a:ext>
            </a:extLst>
          </p:cNvPr>
          <p:cNvSpPr/>
          <p:nvPr/>
        </p:nvSpPr>
        <p:spPr>
          <a:xfrm>
            <a:off x="9829800" y="7620000"/>
            <a:ext cx="63500" cy="711200"/>
          </a:xfrm>
          <a:prstGeom prst="rect">
            <a:avLst/>
          </a:prstGeom>
          <a:solidFill>
            <a:srgbClr val="2A59C5"/>
          </a:solidFill>
          <a:ln>
            <a:noFill/>
          </a:ln>
        </p:spPr>
        <p:txBody>
          <a:bodyPr wrap="square" lIns="0" tIns="0" rIns="0" bIns="0" rtlCol="0" anchor="t">
            <a:noAutofit/>
          </a:bodyPr>
          <a:lstStyle/>
          <a:p>
            <a:endParaRPr lang="ko-KR"/>
          </a:p>
        </p:txBody>
      </p:sp>
      <p:sp>
        <p:nvSpPr>
          <p:cNvPr id="234" name="Summary label"/>
          <p:cNvSpPr txBox="1"/>
          <p:nvPr/>
        </p:nvSpPr>
        <p:spPr>
          <a:xfrm>
            <a:off x="10058400" y="7543800"/>
            <a:ext cx="1397000" cy="863600"/>
          </a:xfrm>
          <a:prstGeom prst="rect">
            <a:avLst/>
          </a:prstGeom>
          <a:noFill/>
          <a:ln>
            <a:noFill/>
          </a:ln>
        </p:spPr>
        <p:txBody>
          <a:bodyPr wrap="square" lIns="0" tIns="0" rIns="0" bIns="0" rtlCol="0" anchor="ctr">
            <a:noAutofit/>
          </a:bodyPr>
          <a:lstStyle/>
          <a:p>
            <a:pPr marL="0" indent="0" algn="l">
              <a:lnSpc>
                <a:spcPts val="3600"/>
              </a:lnSpc>
              <a:spcBef>
                <a:spcPts val="0"/>
              </a:spcBef>
              <a:buNone/>
            </a:pPr>
            <a:r>
              <a:rPr lang="ko-KR" sz="2800" b="1" dirty="0">
                <a:solidFill>
                  <a:srgbClr val="2A59C5"/>
                </a:solidFill>
                <a:latin typeface="프리텐다드 Bold"/>
                <a:ea typeface="프리텐다드 Bold"/>
                <a:cs typeface="프리텐다드 Bold"/>
                <a:sym typeface="프리텐다드 Bold"/>
              </a:rPr>
              <a:t>개선</a:t>
            </a:r>
          </a:p>
        </p:txBody>
      </p:sp>
      <p:sp>
        <p:nvSpPr>
          <p:cNvPr id="235" name="Summary bullets"/>
          <p:cNvSpPr txBox="1"/>
          <p:nvPr/>
        </p:nvSpPr>
        <p:spPr>
          <a:xfrm>
            <a:off x="11684000" y="7061200"/>
            <a:ext cx="5270500" cy="2489200"/>
          </a:xfrm>
          <a:prstGeom prst="rect">
            <a:avLst/>
          </a:prstGeom>
          <a:noFill/>
          <a:ln>
            <a:noFill/>
          </a:ln>
        </p:spPr>
        <p:txBody>
          <a:bodyPr wrap="square" lIns="0" tIns="0" rIns="0" bIns="0" rtlCol="0" anchor="ctr">
            <a:noAutofit/>
          </a:bodyPr>
          <a:lstStyle/>
          <a:p>
            <a:pPr marL="285750" indent="-285750">
              <a:lnSpc>
                <a:spcPts val="3200"/>
              </a:lnSpc>
              <a:spcBef>
                <a:spcPts val="0"/>
              </a:spcBef>
              <a:buClr>
                <a:srgbClr val="2A59C5"/>
              </a:buClr>
              <a:buFont typeface="Arial"/>
              <a:buChar char="•"/>
            </a:pPr>
            <a:r>
              <a:rPr lang="ko-KR" sz="2200" b="1" dirty="0">
                <a:solidFill>
                  <a:srgbClr val="2A59C5"/>
                </a:solidFill>
                <a:latin typeface="프리텐다드 Semi-Bold"/>
                <a:ea typeface="프리텐다드 Semi-Bold"/>
                <a:cs typeface="프리텐다드 Semi-Bold"/>
                <a:sym typeface="프리텐다드 Semi-Bold"/>
              </a:rPr>
              <a:t>CD 없이</a:t>
            </a:r>
            <a:r>
              <a:rPr lang="ko-KR" sz="2200" dirty="0">
                <a:solidFill>
                  <a:srgbClr val="282828"/>
                </a:solidFill>
                <a:latin typeface="프리텐다드"/>
                <a:ea typeface="프리텐다드"/>
                <a:cs typeface="프리텐다드"/>
                <a:sym typeface="프리텐다드"/>
              </a:rPr>
              <a:t> 영상 공유</a:t>
            </a:r>
          </a:p>
          <a:p>
            <a:pPr marL="285750" indent="-285750">
              <a:lnSpc>
                <a:spcPts val="3200"/>
              </a:lnSpc>
              <a:spcBef>
                <a:spcPts val="4"/>
              </a:spcBef>
              <a:buClr>
                <a:srgbClr val="2A59C5"/>
              </a:buClr>
              <a:buFont typeface="Arial"/>
              <a:buChar char="•"/>
            </a:pPr>
            <a:r>
              <a:rPr lang="ko-KR" sz="2200" b="1" dirty="0">
                <a:solidFill>
                  <a:srgbClr val="2A59C5"/>
                </a:solidFill>
                <a:latin typeface="프리텐다드 Semi-Bold"/>
                <a:ea typeface="프리텐다드 Semi-Bold"/>
                <a:cs typeface="프리텐다드 Semi-Bold"/>
                <a:sym typeface="프리텐다드 Semi-Bold"/>
              </a:rPr>
              <a:t>빠른</a:t>
            </a:r>
            <a:r>
              <a:rPr lang="ko-KR" sz="2200" dirty="0">
                <a:solidFill>
                  <a:srgbClr val="282828"/>
                </a:solidFill>
                <a:latin typeface="프리텐다드"/>
                <a:ea typeface="프리텐다드"/>
                <a:cs typeface="프리텐다드"/>
                <a:sym typeface="프리텐다드"/>
              </a:rPr>
              <a:t> 영상 조회</a:t>
            </a:r>
          </a:p>
          <a:p>
            <a:pPr marL="285750" indent="-285750">
              <a:lnSpc>
                <a:spcPts val="3200"/>
              </a:lnSpc>
              <a:spcBef>
                <a:spcPts val="4"/>
              </a:spcBef>
              <a:buClr>
                <a:srgbClr val="2A59C5"/>
              </a:buClr>
              <a:buFont typeface="Arial"/>
              <a:buChar char="•"/>
            </a:pPr>
            <a:r>
              <a:rPr lang="ko-KR" sz="2200" dirty="0">
                <a:solidFill>
                  <a:srgbClr val="282828"/>
                </a:solidFill>
                <a:latin typeface="프리텐다드"/>
                <a:ea typeface="프리텐다드"/>
                <a:cs typeface="프리텐다드"/>
                <a:sym typeface="프리텐다드"/>
              </a:rPr>
              <a:t>영상별 </a:t>
            </a:r>
            <a:r>
              <a:rPr lang="ko-KR" sz="2200" b="1" dirty="0">
                <a:solidFill>
                  <a:srgbClr val="2A59C5"/>
                </a:solidFill>
                <a:latin typeface="프리텐다드 Semi-Bold"/>
                <a:ea typeface="프리텐다드 Semi-Bold"/>
                <a:cs typeface="프리텐다드 Semi-Bold"/>
                <a:sym typeface="프리텐다드 Semi-Bold"/>
              </a:rPr>
              <a:t>접근통제</a:t>
            </a:r>
          </a:p>
          <a:p>
            <a:pPr marL="285750" indent="-285750">
              <a:lnSpc>
                <a:spcPts val="3200"/>
              </a:lnSpc>
              <a:spcBef>
                <a:spcPts val="4"/>
              </a:spcBef>
              <a:buClr>
                <a:srgbClr val="2A59C5"/>
              </a:buClr>
              <a:buFont typeface="Arial"/>
              <a:buChar char="•"/>
            </a:pPr>
            <a:r>
              <a:rPr lang="ko-KR" sz="2200" dirty="0">
                <a:solidFill>
                  <a:srgbClr val="282828"/>
                </a:solidFill>
                <a:latin typeface="프리텐다드"/>
                <a:ea typeface="프리텐다드"/>
                <a:cs typeface="프리텐다드"/>
                <a:sym typeface="프리텐다드"/>
              </a:rPr>
              <a:t>추적 가능한 </a:t>
            </a:r>
            <a:r>
              <a:rPr lang="ko-KR" sz="2200" b="1" dirty="0">
                <a:solidFill>
                  <a:srgbClr val="2A59C5"/>
                </a:solidFill>
                <a:latin typeface="프리텐다드 Semi-Bold"/>
                <a:ea typeface="프리텐다드 Semi-Bold"/>
                <a:cs typeface="프리텐다드 Semi-Bold"/>
                <a:sym typeface="프리텐다드 Semi-Bold"/>
              </a:rPr>
              <a:t>감사로그</a:t>
            </a:r>
          </a:p>
        </p:txBody>
      </p:sp>
    </p:spTree>
    <p:extLst>
      <p:ext uri="{BB962C8B-B14F-4D97-AF65-F5344CB8AC3E}">
        <p14:creationId xmlns:p14="http://schemas.microsoft.com/office/powerpoint/2010/main" val="3907151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5278433" y="-189268"/>
            <a:ext cx="3268199" cy="7739024"/>
            <a:chOff x="0" y="0"/>
            <a:chExt cx="860760" cy="2038262"/>
          </a:xfrm>
        </p:grpSpPr>
        <p:sp>
          <p:nvSpPr>
            <p:cNvPr id="3" name="Freeform 3"/>
            <p:cNvSpPr/>
            <p:nvPr/>
          </p:nvSpPr>
          <p:spPr>
            <a:xfrm>
              <a:off x="0" y="0"/>
              <a:ext cx="860760" cy="2038262"/>
            </a:xfrm>
            <a:custGeom>
              <a:avLst/>
              <a:gdLst/>
              <a:ahLst/>
              <a:cxnLst/>
              <a:rect l="l" t="t" r="r" b="b"/>
              <a:pathLst>
                <a:path w="860760" h="2038262">
                  <a:moveTo>
                    <a:pt x="0" y="0"/>
                  </a:moveTo>
                  <a:lnTo>
                    <a:pt x="860760" y="0"/>
                  </a:lnTo>
                  <a:lnTo>
                    <a:pt x="860760" y="2038262"/>
                  </a:lnTo>
                  <a:lnTo>
                    <a:pt x="0" y="2038262"/>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860760" cy="2085887"/>
            </a:xfrm>
            <a:prstGeom prst="rect">
              <a:avLst/>
            </a:prstGeom>
          </p:spPr>
          <p:txBody>
            <a:bodyPr lIns="50800" tIns="50800" rIns="50800" bIns="50800" rtlCol="0" anchor="ctr"/>
            <a:lstStyle/>
            <a:p>
              <a:pPr algn="ctr">
                <a:lnSpc>
                  <a:spcPts val="3156"/>
                </a:lnSpc>
              </a:pPr>
              <a:endParaRPr/>
            </a:p>
          </p:txBody>
        </p:sp>
      </p:grpSp>
      <p:sp>
        <p:nvSpPr>
          <p:cNvPr id="5" name="Freeform 5">
            <a:extLst>
              <a:ext uri="{C183D7F6-B498-43B3-948B-1728B52AA6E4}">
                <adec:decorative xmlns:adec="http://schemas.microsoft.com/office/drawing/2017/decorative" val="1"/>
              </a:ext>
            </a:extLst>
          </p:cNvPr>
          <p:cNvSpPr/>
          <p:nvPr/>
        </p:nvSpPr>
        <p:spPr>
          <a:xfrm>
            <a:off x="0" y="7075598"/>
            <a:ext cx="18288000" cy="5818426"/>
          </a:xfrm>
          <a:custGeom>
            <a:avLst/>
            <a:gdLst/>
            <a:ahLst/>
            <a:cxnLst/>
            <a:rect l="l" t="t" r="r" b="b"/>
            <a:pathLst>
              <a:path w="18288000" h="5818426">
                <a:moveTo>
                  <a:pt x="0" y="0"/>
                </a:moveTo>
                <a:lnTo>
                  <a:pt x="18288000" y="0"/>
                </a:lnTo>
                <a:lnTo>
                  <a:pt x="18288000" y="5818426"/>
                </a:lnTo>
                <a:lnTo>
                  <a:pt x="0" y="5818426"/>
                </a:lnTo>
                <a:lnTo>
                  <a:pt x="0" y="0"/>
                </a:lnTo>
                <a:close/>
              </a:path>
            </a:pathLst>
          </a:custGeom>
          <a:blipFill>
            <a:blip r:embed="rId2"/>
            <a:stretch>
              <a:fillRect b="-4705"/>
            </a:stretch>
          </a:blipFill>
        </p:spPr>
        <p:txBody>
          <a:bodyPr/>
          <a:lstStyle/>
          <a:p>
            <a:endParaRPr lang="ko-KR" altLang="en-US"/>
          </a:p>
        </p:txBody>
      </p:sp>
      <p:sp>
        <p:nvSpPr>
          <p:cNvPr id="6" name="TextBox 6"/>
          <p:cNvSpPr txBox="1"/>
          <p:nvPr/>
        </p:nvSpPr>
        <p:spPr>
          <a:xfrm>
            <a:off x="1028700" y="2214108"/>
            <a:ext cx="8441160" cy="1584983"/>
          </a:xfrm>
          <a:prstGeom prst="rect">
            <a:avLst/>
          </a:prstGeom>
        </p:spPr>
        <p:txBody>
          <a:bodyPr lIns="0" tIns="0" rIns="0" bIns="0" rtlCol="0" anchor="t">
            <a:spAutoFit/>
          </a:bodyPr>
          <a:lstStyle/>
          <a:p>
            <a:pPr algn="l">
              <a:lnSpc>
                <a:spcPts val="12979"/>
              </a:lnSpc>
              <a:spcBef>
                <a:spcPct val="0"/>
              </a:spcBef>
            </a:pPr>
            <a:r>
              <a:rPr lang="en-US" sz="9270" b="1">
                <a:solidFill>
                  <a:srgbClr val="2A59C5"/>
                </a:solidFill>
                <a:latin typeface="프리텐다드 Bold"/>
                <a:ea typeface="프리텐다드 Bold"/>
                <a:cs typeface="프리텐다드 Bold"/>
                <a:sym typeface="프리텐다드 Bold"/>
              </a:rPr>
              <a:t>04</a:t>
            </a:r>
          </a:p>
        </p:txBody>
      </p:sp>
      <p:sp>
        <p:nvSpPr>
          <p:cNvPr id="7" name="TextBox 7"/>
          <p:cNvSpPr txBox="1"/>
          <p:nvPr/>
        </p:nvSpPr>
        <p:spPr>
          <a:xfrm>
            <a:off x="1028700" y="3516926"/>
            <a:ext cx="7056707" cy="1584983"/>
          </a:xfrm>
          <a:prstGeom prst="rect">
            <a:avLst/>
          </a:prstGeom>
        </p:spPr>
        <p:txBody>
          <a:bodyPr lIns="0" tIns="0" rIns="0" bIns="0" rtlCol="0" anchor="t">
            <a:spAutoFit/>
          </a:bodyPr>
          <a:lstStyle/>
          <a:p>
            <a:pPr algn="l">
              <a:lnSpc>
                <a:spcPts val="12979"/>
              </a:lnSpc>
              <a:spcBef>
                <a:spcPct val="0"/>
              </a:spcBef>
            </a:pPr>
            <a:r>
              <a:rPr lang="en-US" sz="9270" b="1">
                <a:solidFill>
                  <a:srgbClr val="282828"/>
                </a:solidFill>
                <a:latin typeface="프리텐다드 Bold"/>
                <a:ea typeface="프리텐다드 Bold"/>
                <a:cs typeface="프리텐다드 Bold"/>
                <a:sym typeface="프리텐다드 Bold"/>
              </a:rPr>
              <a:t>시스템 설계</a:t>
            </a:r>
          </a:p>
        </p:txBody>
      </p:sp>
      <p:sp>
        <p:nvSpPr>
          <p:cNvPr id="8" name="TextBox 8"/>
          <p:cNvSpPr txBox="1"/>
          <p:nvPr/>
        </p:nvSpPr>
        <p:spPr>
          <a:xfrm>
            <a:off x="1028700" y="1848967"/>
            <a:ext cx="3836759" cy="356036"/>
          </a:xfrm>
          <a:prstGeom prst="rect">
            <a:avLst/>
          </a:prstGeom>
        </p:spPr>
        <p:txBody>
          <a:bodyPr lIns="0" tIns="0" rIns="0" bIns="0" rtlCol="0" anchor="t">
            <a:spAutoFit/>
          </a:bodyPr>
          <a:lstStyle/>
          <a:p>
            <a:pPr algn="l">
              <a:lnSpc>
                <a:spcPts val="2950"/>
              </a:lnSpc>
              <a:spcBef>
                <a:spcPct val="0"/>
              </a:spcBef>
            </a:pPr>
            <a:r>
              <a:rPr lang="en-US" sz="2107" spc="210">
                <a:solidFill>
                  <a:srgbClr val="282828"/>
                </a:solidFill>
                <a:latin typeface="프리텐다드"/>
                <a:ea typeface="프리텐다드"/>
                <a:cs typeface="프리텐다드"/>
                <a:sym typeface="프리텐다드"/>
              </a:rPr>
              <a:t>SECTION</a:t>
            </a:r>
          </a:p>
        </p:txBody>
      </p:sp>
      <p:sp>
        <p:nvSpPr>
          <p:cNvPr id="9" name="TextBox 9"/>
          <p:cNvSpPr txBox="1"/>
          <p:nvPr/>
        </p:nvSpPr>
        <p:spPr>
          <a:xfrm>
            <a:off x="1028700" y="5244784"/>
            <a:ext cx="6505897" cy="308739"/>
          </a:xfrm>
          <a:prstGeom prst="rect">
            <a:avLst/>
          </a:prstGeom>
        </p:spPr>
        <p:txBody>
          <a:bodyPr lIns="0" tIns="0" rIns="0" bIns="0" rtlCol="0" anchor="t">
            <a:spAutoFit/>
          </a:bodyPr>
          <a:lstStyle/>
          <a:p>
            <a:pPr marL="0" lvl="0" indent="0" algn="just">
              <a:lnSpc>
                <a:spcPts val="2640"/>
              </a:lnSpc>
              <a:spcBef>
                <a:spcPct val="0"/>
              </a:spcBef>
            </a:pPr>
            <a:r>
              <a:rPr lang="en-US" sz="1886" spc="335">
                <a:solidFill>
                  <a:srgbClr val="282828"/>
                </a:solidFill>
                <a:latin typeface="프리텐다드"/>
                <a:ea typeface="프리텐다드"/>
                <a:cs typeface="프리텐다드"/>
                <a:sym typeface="프리텐다드"/>
              </a:rPr>
              <a:t>SYSTEM DESIGN</a:t>
            </a:r>
          </a:p>
        </p:txBody>
      </p:sp>
      <p:sp>
        <p:nvSpPr>
          <p:cNvPr id="40" name="Section pages"/>
          <p:cNvSpPr txBox="1"/>
          <p:nvPr/>
        </p:nvSpPr>
        <p:spPr>
          <a:xfrm>
            <a:off x="1485900" y="7874000"/>
            <a:ext cx="15240000" cy="1524000"/>
          </a:xfrm>
          <a:prstGeom prst="rect">
            <a:avLst/>
          </a:prstGeom>
          <a:noFill/>
        </p:spPr>
        <p:txBody>
          <a:bodyPr wrap="square" lIns="0" tIns="0" rIns="0" bIns="0" anchor="ctr">
            <a:noAutofit/>
          </a:bodyPr>
          <a:lstStyle/>
          <a:p>
            <a:pPr marL="0" indent="0">
              <a:lnSpc>
                <a:spcPts val="3000"/>
              </a:lnSpc>
              <a:buNone/>
            </a:pPr>
            <a:r>
              <a:rPr lang="ko-KR" sz="1800" b="1" spc="200" dirty="0">
                <a:solidFill>
                  <a:srgbClr val="FFFFFF"/>
                </a:solidFill>
                <a:latin typeface="프리텐다드 Semi-Bold"/>
                <a:ea typeface="프리텐다드 Semi-Bold"/>
                <a:cs typeface="프리텐다드 Semi-Bold"/>
                <a:sym typeface="프리텐다드 Semi-Bold"/>
              </a:rPr>
              <a:t>IN THIS SECTION</a:t>
            </a:r>
          </a:p>
          <a:p>
            <a:pPr marL="0" indent="0">
              <a:lnSpc>
                <a:spcPts val="3600"/>
              </a:lnSpc>
              <a:spcBef>
                <a:spcPts val="600"/>
              </a:spcBef>
              <a:buNone/>
            </a:pPr>
            <a:r>
              <a:rPr lang="ko-KR" sz="2400" dirty="0">
                <a:solidFill>
                  <a:srgbClr val="FFFFFF"/>
                </a:solidFill>
                <a:latin typeface="프리텐다드"/>
                <a:ea typeface="프리텐다드"/>
                <a:cs typeface="프리텐다드"/>
                <a:sym typeface="프리텐다드"/>
              </a:rPr>
              <a:t>MediQ 통합 구성도 · 구현 범위와 목표 운영 · MediQ 인증·영상 접근 절차</a:t>
            </a:r>
          </a:p>
        </p:txBody>
      </p:sp>
    </p:spTree>
    <p:extLst>
      <p:ext uri="{BB962C8B-B14F-4D97-AF65-F5344CB8AC3E}">
        <p14:creationId xmlns:p14="http://schemas.microsoft.com/office/powerpoint/2010/main" val="3585915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a:effectLst/>
          </p:spPr>
          <p:txBody>
            <a:bodyPr/>
            <a:lstStyle/>
            <a:p>
              <a:endParaRPr lang="ko-KR" altLang="en-US"/>
            </a:p>
          </p:txBody>
        </p:sp>
        <p:sp>
          <p:nvSpPr>
            <p:cNvPr id="4" name="TextBox 4"/>
            <p:cNvSpPr txBox="1"/>
            <p:nvPr/>
          </p:nvSpPr>
          <p:spPr>
            <a:xfrm>
              <a:off x="0" y="-47625"/>
              <a:ext cx="4902378" cy="825422"/>
            </a:xfrm>
            <a:prstGeom prst="rect">
              <a:avLst/>
            </a:prstGeom>
            <a:effectLst/>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a:effectLst/>
          </p:spPr>
          <p:txBody>
            <a:bodyPr/>
            <a:lstStyle/>
            <a:p>
              <a:endParaRPr lang="ko-KR" altLang="en-US"/>
            </a:p>
          </p:txBody>
        </p:sp>
        <p:sp>
          <p:nvSpPr>
            <p:cNvPr id="7" name="TextBox 7"/>
            <p:cNvSpPr txBox="1"/>
            <p:nvPr/>
          </p:nvSpPr>
          <p:spPr>
            <a:xfrm>
              <a:off x="0" y="-38100"/>
              <a:ext cx="40474" cy="406645"/>
            </a:xfrm>
            <a:prstGeom prst="rect">
              <a:avLst/>
            </a:prstGeom>
            <a:effectLst/>
          </p:spPr>
          <p:txBody>
            <a:bodyPr lIns="50800" tIns="50800" rIns="50800" bIns="50800" rtlCol="0" anchor="ctr"/>
            <a:lstStyle/>
            <a:p>
              <a:pPr algn="ctr">
                <a:lnSpc>
                  <a:spcPts val="2520"/>
                </a:lnSpc>
              </a:pPr>
              <a:endParaRPr/>
            </a:p>
          </p:txBody>
        </p:sp>
      </p:grpSp>
      <p:sp>
        <p:nvSpPr>
          <p:cNvPr id="8" name="TextBox 8"/>
          <p:cNvSpPr txBox="1"/>
          <p:nvPr/>
        </p:nvSpPr>
        <p:spPr>
          <a:xfrm>
            <a:off x="1421481" y="990600"/>
            <a:ext cx="3894213" cy="261354"/>
          </a:xfrm>
          <a:prstGeom prst="rect">
            <a:avLst/>
          </a:prstGeom>
          <a:effectLst/>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SYSTEM DESIGN</a:t>
            </a:r>
          </a:p>
        </p:txBody>
      </p:sp>
      <p:sp>
        <p:nvSpPr>
          <p:cNvPr id="9" name="슬라이드 제목"/>
          <p:cNvSpPr txBox="1"/>
          <p:nvPr/>
        </p:nvSpPr>
        <p:spPr>
          <a:xfrm>
            <a:off x="1421481" y="1253961"/>
            <a:ext cx="15636240" cy="979170"/>
          </a:xfrm>
          <a:prstGeom prst="rect">
            <a:avLst/>
          </a:prstGeom>
          <a:effectLst/>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MediQ 통합 구성도</a:t>
            </a:r>
          </a:p>
        </p:txBody>
      </p:sp>
      <p:sp>
        <p:nvSpPr>
          <p:cNvPr id="10" name="PoC 상태 표시"/>
          <p:cNvSpPr txBox="1"/>
          <p:nvPr/>
        </p:nvSpPr>
        <p:spPr>
          <a:xfrm>
            <a:off x="13990320" y="2295144"/>
            <a:ext cx="3264408" cy="274320"/>
          </a:xfrm>
          <a:prstGeom prst="rect">
            <a:avLst/>
          </a:prstGeom>
          <a:noFill/>
          <a:effectLst/>
        </p:spPr>
        <p:txBody>
          <a:bodyPr wrap="square" lIns="0" tIns="54864" rIns="0" bIns="54864" anchor="ctr">
            <a:noAutofit/>
          </a:bodyPr>
          <a:lstStyle/>
          <a:p>
            <a:pPr algn="r">
              <a:lnSpc>
                <a:spcPct val="110000"/>
              </a:lnSpc>
              <a:spcBef>
                <a:spcPts val="0"/>
              </a:spcBef>
              <a:spcAft>
                <a:spcPts val="0"/>
              </a:spcAft>
            </a:pPr>
            <a:r>
              <a:rPr lang="ko-KR" altLang="en-US" sz="1600" b="0">
                <a:solidFill>
                  <a:srgbClr val="595959"/>
                </a:solidFill>
                <a:latin typeface="프리텐다드"/>
                <a:ea typeface="프리텐다드"/>
              </a:rPr>
              <a:t>합성 데이터 기반 MVP / PoC</a:t>
            </a:r>
          </a:p>
        </p:txBody>
      </p:sp>
      <p:sp>
        <p:nvSpPr>
          <p:cNvPr id="11" name="TextBox 10"/>
          <p:cNvSpPr txBox="1"/>
          <p:nvPr/>
        </p:nvSpPr>
        <p:spPr>
          <a:xfrm>
            <a:off x="1033271" y="3108960"/>
            <a:ext cx="2377440" cy="365760"/>
          </a:xfrm>
          <a:prstGeom prst="rect">
            <a:avLst/>
          </a:prstGeom>
          <a:noFill/>
        </p:spPr>
        <p:txBody>
          <a:bodyPr wrap="square" lIns="0" tIns="0" rIns="0" bIns="0" anchor="ctr">
            <a:spAutoFit/>
          </a:bodyPr>
          <a:lstStyle/>
          <a:p>
            <a:pPr algn="l">
              <a:lnSpc>
                <a:spcPct val="100000"/>
              </a:lnSpc>
              <a:spcAft>
                <a:spcPts val="0"/>
              </a:spcAft>
            </a:pPr>
            <a:r>
              <a:rPr sz="2000" b="1">
                <a:solidFill>
                  <a:srgbClr val="262626"/>
                </a:solidFill>
                <a:latin typeface="프리텐다드 Bold"/>
              </a:rPr>
              <a:t>사용자</a:t>
            </a:r>
          </a:p>
        </p:txBody>
      </p:sp>
      <p:sp>
        <p:nvSpPr>
          <p:cNvPr id="12" name="TextBox 11"/>
          <p:cNvSpPr txBox="1"/>
          <p:nvPr/>
        </p:nvSpPr>
        <p:spPr>
          <a:xfrm>
            <a:off x="4315968" y="3108960"/>
            <a:ext cx="4754880" cy="365760"/>
          </a:xfrm>
          <a:prstGeom prst="rect">
            <a:avLst/>
          </a:prstGeom>
          <a:noFill/>
        </p:spPr>
        <p:txBody>
          <a:bodyPr wrap="square" lIns="0" tIns="0" rIns="0" bIns="0" anchor="ctr">
            <a:spAutoFit/>
          </a:bodyPr>
          <a:lstStyle/>
          <a:p>
            <a:pPr algn="l">
              <a:lnSpc>
                <a:spcPct val="100000"/>
              </a:lnSpc>
              <a:spcAft>
                <a:spcPts val="0"/>
              </a:spcAft>
            </a:pPr>
            <a:r>
              <a:rPr sz="2000" b="1">
                <a:solidFill>
                  <a:srgbClr val="3060CA"/>
                </a:solidFill>
                <a:latin typeface="프리텐다드 Bold"/>
              </a:rPr>
              <a:t>Azure 제어 영역</a:t>
            </a:r>
          </a:p>
        </p:txBody>
      </p:sp>
      <p:sp>
        <p:nvSpPr>
          <p:cNvPr id="13" name="TextBox 12"/>
          <p:cNvSpPr txBox="1"/>
          <p:nvPr/>
        </p:nvSpPr>
        <p:spPr>
          <a:xfrm>
            <a:off x="12207240" y="3108960"/>
            <a:ext cx="4572000" cy="365760"/>
          </a:xfrm>
          <a:prstGeom prst="rect">
            <a:avLst/>
          </a:prstGeom>
          <a:noFill/>
        </p:spPr>
        <p:txBody>
          <a:bodyPr wrap="square" lIns="0" tIns="0" rIns="0" bIns="0" anchor="ctr">
            <a:spAutoFit/>
          </a:bodyPr>
          <a:lstStyle/>
          <a:p>
            <a:pPr algn="l">
              <a:lnSpc>
                <a:spcPct val="100000"/>
              </a:lnSpc>
              <a:spcAft>
                <a:spcPts val="0"/>
              </a:spcAft>
            </a:pPr>
            <a:r>
              <a:rPr sz="2000" b="1">
                <a:solidFill>
                  <a:srgbClr val="262626"/>
                </a:solidFill>
                <a:latin typeface="프리텐다드 Bold"/>
              </a:rPr>
              <a:t>병원 데이터 영역</a:t>
            </a:r>
          </a:p>
        </p:txBody>
      </p:sp>
      <p:sp>
        <p:nvSpPr>
          <p:cNvPr id="14" name="사용자 패널"/>
          <p:cNvSpPr/>
          <p:nvPr/>
        </p:nvSpPr>
        <p:spPr>
          <a:xfrm>
            <a:off x="1033271" y="3657600"/>
            <a:ext cx="2514600" cy="4160520"/>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61872" y="3931920"/>
            <a:ext cx="1554480" cy="310896"/>
          </a:xfrm>
          <a:prstGeom prst="rect">
            <a:avLst/>
          </a:prstGeom>
          <a:noFill/>
        </p:spPr>
        <p:txBody>
          <a:bodyPr wrap="square" lIns="0" tIns="0" rIns="0" bIns="0" anchor="ctr">
            <a:spAutoFit/>
          </a:bodyPr>
          <a:lstStyle/>
          <a:p>
            <a:pPr algn="l">
              <a:lnSpc>
                <a:spcPct val="100000"/>
              </a:lnSpc>
              <a:spcAft>
                <a:spcPts val="0"/>
              </a:spcAft>
            </a:pPr>
            <a:r>
              <a:rPr sz="1850" b="1">
                <a:solidFill>
                  <a:srgbClr val="262626"/>
                </a:solidFill>
                <a:latin typeface="프리텐다드 Bold"/>
              </a:rPr>
              <a:t>환자</a:t>
            </a:r>
          </a:p>
        </p:txBody>
      </p:sp>
      <p:sp>
        <p:nvSpPr>
          <p:cNvPr id="16" name="TextBox 15"/>
          <p:cNvSpPr txBox="1"/>
          <p:nvPr/>
        </p:nvSpPr>
        <p:spPr>
          <a:xfrm>
            <a:off x="1261872" y="4462272"/>
            <a:ext cx="1874519" cy="960120"/>
          </a:xfrm>
          <a:prstGeom prst="rect">
            <a:avLst/>
          </a:prstGeom>
          <a:noFill/>
        </p:spPr>
        <p:txBody>
          <a:bodyPr wrap="square" lIns="0" tIns="0" rIns="0" bIns="0" anchor="ctr">
            <a:spAutoFit/>
          </a:bodyPr>
          <a:lstStyle/>
          <a:p>
            <a:pPr algn="l">
              <a:lnSpc>
                <a:spcPct val="100000"/>
              </a:lnSpc>
              <a:spcAft>
                <a:spcPts val="0"/>
              </a:spcAft>
            </a:pPr>
            <a:r>
              <a:rPr sz="1400" b="0">
                <a:solidFill>
                  <a:srgbClr val="262626"/>
                </a:solidFill>
                <a:latin typeface="프리텐다드"/>
              </a:rPr>
              <a:t>공유 병원·기간</a:t>
            </a:r>
            <a:br/>
            <a:r>
              <a:rPr sz="1400" b="0">
                <a:solidFill>
                  <a:srgbClr val="262626"/>
                </a:solidFill>
                <a:latin typeface="프리텐다드"/>
              </a:rPr>
              <a:t>영상 범위 선택</a:t>
            </a:r>
            <a:br/>
            <a:r>
              <a:rPr sz="1400" b="0">
                <a:solidFill>
                  <a:srgbClr val="262626"/>
                </a:solidFill>
                <a:latin typeface="프리텐다드"/>
              </a:rPr>
              <a:t>동의·QR 발급</a:t>
            </a:r>
          </a:p>
        </p:txBody>
      </p:sp>
      <p:cxnSp>
        <p:nvCxnSpPr>
          <p:cNvPr id="17" name="Connector 16"/>
          <p:cNvCxnSpPr/>
          <p:nvPr/>
        </p:nvCxnSpPr>
        <p:spPr>
          <a:xfrm>
            <a:off x="1261872" y="5623560"/>
            <a:ext cx="1984248" cy="0"/>
          </a:xfrm>
          <a:prstGeom prst="line">
            <a:avLst/>
          </a:prstGeom>
          <a:ln w="11430">
            <a:solidFill>
              <a:srgbClr val="CDCDC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261872" y="5943600"/>
            <a:ext cx="1554480" cy="310896"/>
          </a:xfrm>
          <a:prstGeom prst="rect">
            <a:avLst/>
          </a:prstGeom>
          <a:noFill/>
        </p:spPr>
        <p:txBody>
          <a:bodyPr wrap="square" lIns="0" tIns="0" rIns="0" bIns="0" anchor="ctr">
            <a:spAutoFit/>
          </a:bodyPr>
          <a:lstStyle/>
          <a:p>
            <a:pPr algn="l">
              <a:lnSpc>
                <a:spcPct val="100000"/>
              </a:lnSpc>
              <a:spcAft>
                <a:spcPts val="0"/>
              </a:spcAft>
            </a:pPr>
            <a:r>
              <a:rPr sz="1850" b="1">
                <a:solidFill>
                  <a:srgbClr val="262626"/>
                </a:solidFill>
                <a:latin typeface="프리텐다드 Bold"/>
              </a:rPr>
              <a:t>의료진</a:t>
            </a:r>
          </a:p>
        </p:txBody>
      </p:sp>
      <p:sp>
        <p:nvSpPr>
          <p:cNvPr id="19" name="TextBox 18"/>
          <p:cNvSpPr txBox="1"/>
          <p:nvPr/>
        </p:nvSpPr>
        <p:spPr>
          <a:xfrm>
            <a:off x="1261872" y="6473952"/>
            <a:ext cx="1874519" cy="960120"/>
          </a:xfrm>
          <a:prstGeom prst="rect">
            <a:avLst/>
          </a:prstGeom>
          <a:noFill/>
        </p:spPr>
        <p:txBody>
          <a:bodyPr wrap="square" lIns="0" tIns="0" rIns="0" bIns="0" anchor="ctr">
            <a:spAutoFit/>
          </a:bodyPr>
          <a:lstStyle/>
          <a:p>
            <a:pPr algn="l">
              <a:lnSpc>
                <a:spcPct val="100000"/>
              </a:lnSpc>
              <a:spcAft>
                <a:spcPts val="0"/>
              </a:spcAft>
            </a:pPr>
            <a:r>
              <a:rPr sz="1400" b="0">
                <a:solidFill>
                  <a:srgbClr val="262626"/>
                </a:solidFill>
                <a:latin typeface="프리텐다드"/>
              </a:rPr>
              <a:t>QR 접수</a:t>
            </a:r>
            <a:br/>
            <a:r>
              <a:rPr sz="1400" b="0">
                <a:solidFill>
                  <a:srgbClr val="262626"/>
                </a:solidFill>
                <a:latin typeface="프리텐다드"/>
              </a:rPr>
              <a:t>승인 영상 열람</a:t>
            </a:r>
            <a:br/>
            <a:r>
              <a:rPr sz="1400" b="0">
                <a:solidFill>
                  <a:srgbClr val="262626"/>
                </a:solidFill>
                <a:latin typeface="프리텐다드"/>
              </a:rPr>
              <a:t>웹·모바일 PWA</a:t>
            </a:r>
          </a:p>
        </p:txBody>
      </p:sp>
      <p:sp>
        <p:nvSpPr>
          <p:cNvPr id="20" name="Microsoft Entra ID"/>
          <p:cNvSpPr/>
          <p:nvPr/>
        </p:nvSpPr>
        <p:spPr>
          <a:xfrm>
            <a:off x="6675120" y="3611880"/>
            <a:ext cx="3703320" cy="868680"/>
          </a:xfrm>
          <a:prstGeom prst="rect">
            <a:avLst/>
          </a:prstGeom>
          <a:solidFill>
            <a:srgbClr val="FFFFFF"/>
          </a:solidFill>
          <a:ln w="12700">
            <a:solidFill>
              <a:srgbClr val="C3C3C3"/>
            </a:solidFill>
          </a:ln>
        </p:spPr>
        <p:style>
          <a:lnRef idx="1">
            <a:schemeClr val="accent1"/>
          </a:lnRef>
          <a:fillRef idx="3">
            <a:schemeClr val="accent1"/>
          </a:fillRef>
          <a:effectRef idx="2">
            <a:schemeClr val="accent1"/>
          </a:effectRef>
          <a:fontRef idx="minor">
            <a:schemeClr val="lt1"/>
          </a:fontRef>
        </p:style>
        <p:txBody>
          <a:bodyPr wrap="square" lIns="164592" tIns="73152" rIns="73152" bIns="36576" rtlCol="0" anchor="ctr"/>
          <a:lstStyle/>
          <a:p>
            <a:pPr algn="l">
              <a:lnSpc>
                <a:spcPct val="100000"/>
              </a:lnSpc>
              <a:spcAft>
                <a:spcPts val="0"/>
              </a:spcAft>
            </a:pPr>
            <a:r>
              <a:rPr sz="1750" b="1">
                <a:solidFill>
                  <a:srgbClr val="262626"/>
                </a:solidFill>
                <a:latin typeface="프리텐다드 Bold"/>
              </a:rPr>
              <a:t>Microsoft Entra ID</a:t>
            </a:r>
          </a:p>
          <a:p>
            <a:pPr algn="l">
              <a:lnSpc>
                <a:spcPct val="100000"/>
              </a:lnSpc>
              <a:spcAft>
                <a:spcPts val="0"/>
              </a:spcAft>
            </a:pPr>
            <a:r>
              <a:rPr sz="1320" b="0">
                <a:solidFill>
                  <a:srgbClr val="5C5C5C"/>
                </a:solidFill>
                <a:latin typeface="프리텐다드"/>
              </a:rPr>
              <a:t>사용자 인증 · 계정 매핑</a:t>
            </a:r>
          </a:p>
        </p:txBody>
      </p:sp>
      <p:sp>
        <p:nvSpPr>
          <p:cNvPr id="21" name="TextBox 20"/>
          <p:cNvSpPr txBox="1"/>
          <p:nvPr/>
        </p:nvSpPr>
        <p:spPr>
          <a:xfrm>
            <a:off x="4315968" y="3785615"/>
            <a:ext cx="2240280" cy="256032"/>
          </a:xfrm>
          <a:prstGeom prst="rect">
            <a:avLst/>
          </a:prstGeom>
          <a:noFill/>
        </p:spPr>
        <p:txBody>
          <a:bodyPr wrap="square" lIns="0" tIns="0" rIns="0" bIns="0" anchor="ctr">
            <a:spAutoFit/>
          </a:bodyPr>
          <a:lstStyle/>
          <a:p>
            <a:pPr algn="l">
              <a:lnSpc>
                <a:spcPct val="100000"/>
              </a:lnSpc>
              <a:spcAft>
                <a:spcPts val="0"/>
              </a:spcAft>
            </a:pPr>
            <a:r>
              <a:rPr sz="1370" b="1">
                <a:solidFill>
                  <a:srgbClr val="3060CA"/>
                </a:solidFill>
                <a:latin typeface="프리텐다드 Bold"/>
              </a:rPr>
              <a:t>Microsoft 계정 로그인</a:t>
            </a:r>
          </a:p>
        </p:txBody>
      </p:sp>
      <p:cxnSp>
        <p:nvCxnSpPr>
          <p:cNvPr id="22" name="Connector 21"/>
          <p:cNvCxnSpPr/>
          <p:nvPr/>
        </p:nvCxnSpPr>
        <p:spPr>
          <a:xfrm>
            <a:off x="3547872" y="4206240"/>
            <a:ext cx="3127248" cy="0"/>
          </a:xfrm>
          <a:prstGeom prst="line">
            <a:avLst/>
          </a:prstGeom>
          <a:ln w="19050">
            <a:solidFill>
              <a:srgbClr val="3060CA"/>
            </a:solidFill>
          </a:ln>
        </p:spPr>
        <p:style>
          <a:lnRef idx="2">
            <a:schemeClr val="accent1"/>
          </a:lnRef>
          <a:fillRef idx="0">
            <a:schemeClr val="accent1"/>
          </a:fillRef>
          <a:effectRef idx="1">
            <a:schemeClr val="accent1"/>
          </a:effectRef>
          <a:fontRef idx="minor">
            <a:schemeClr val="tx1"/>
          </a:fontRef>
        </p:style>
      </p:cxnSp>
      <p:sp>
        <p:nvSpPr>
          <p:cNvPr id="23" name="Azure Cloud VM 영역"/>
          <p:cNvSpPr/>
          <p:nvPr/>
        </p:nvSpPr>
        <p:spPr>
          <a:xfrm>
            <a:off x="4315968" y="4754880"/>
            <a:ext cx="6537960" cy="3063240"/>
          </a:xfrm>
          <a:prstGeom prst="rect">
            <a:avLst/>
          </a:prstGeom>
          <a:solidFill>
            <a:srgbClr val="FAFCFF"/>
          </a:solidFill>
          <a:ln w="15240">
            <a:solidFill>
              <a:srgbClr val="3060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53712" y="4919472"/>
            <a:ext cx="3108960" cy="256032"/>
          </a:xfrm>
          <a:prstGeom prst="rect">
            <a:avLst/>
          </a:prstGeom>
          <a:noFill/>
        </p:spPr>
        <p:txBody>
          <a:bodyPr wrap="square" lIns="0" tIns="0" rIns="0" bIns="0" anchor="ctr">
            <a:spAutoFit/>
          </a:bodyPr>
          <a:lstStyle/>
          <a:p>
            <a:pPr algn="l">
              <a:lnSpc>
                <a:spcPct val="100000"/>
              </a:lnSpc>
              <a:spcAft>
                <a:spcPts val="0"/>
              </a:spcAft>
            </a:pPr>
            <a:r>
              <a:rPr sz="1350" b="1">
                <a:solidFill>
                  <a:srgbClr val="3060CA"/>
                </a:solidFill>
                <a:latin typeface="프리텐다드 Bold"/>
              </a:rPr>
              <a:t>Cloud VM · Docker Compose</a:t>
            </a:r>
          </a:p>
        </p:txBody>
      </p:sp>
      <p:sp>
        <p:nvSpPr>
          <p:cNvPr id="25" name="HTTPS Edge"/>
          <p:cNvSpPr/>
          <p:nvPr/>
        </p:nvSpPr>
        <p:spPr>
          <a:xfrm>
            <a:off x="4553712" y="5349240"/>
            <a:ext cx="1993392" cy="1234440"/>
          </a:xfrm>
          <a:prstGeom prst="rect">
            <a:avLst/>
          </a:prstGeom>
          <a:solidFill>
            <a:srgbClr val="FFFFFF"/>
          </a:solidFill>
          <a:ln w="12700">
            <a:solidFill>
              <a:srgbClr val="C3C3C3"/>
            </a:solidFill>
          </a:ln>
        </p:spPr>
        <p:style>
          <a:lnRef idx="1">
            <a:schemeClr val="accent1"/>
          </a:lnRef>
          <a:fillRef idx="3">
            <a:schemeClr val="accent1"/>
          </a:fillRef>
          <a:effectRef idx="2">
            <a:schemeClr val="accent1"/>
          </a:effectRef>
          <a:fontRef idx="minor">
            <a:schemeClr val="lt1"/>
          </a:fontRef>
        </p:style>
        <p:txBody>
          <a:bodyPr wrap="square" lIns="146304" tIns="73152" rIns="73152" bIns="27432" rtlCol="0" anchor="ctr"/>
          <a:lstStyle/>
          <a:p>
            <a:pPr algn="l">
              <a:lnSpc>
                <a:spcPct val="100000"/>
              </a:lnSpc>
              <a:spcAft>
                <a:spcPts val="0"/>
              </a:spcAft>
            </a:pPr>
            <a:r>
              <a:rPr sz="1700" b="1">
                <a:solidFill>
                  <a:srgbClr val="262626"/>
                </a:solidFill>
                <a:latin typeface="프리텐다드 Bold"/>
              </a:rPr>
              <a:t>HTTPS Edge</a:t>
            </a:r>
          </a:p>
          <a:p>
            <a:pPr algn="l">
              <a:lnSpc>
                <a:spcPct val="100000"/>
              </a:lnSpc>
              <a:spcAft>
                <a:spcPts val="0"/>
              </a:spcAft>
            </a:pPr>
            <a:r>
              <a:rPr sz="1320" b="0">
                <a:solidFill>
                  <a:srgbClr val="5C5C5C"/>
                </a:solidFill>
                <a:latin typeface="프리텐다드"/>
              </a:rPr>
              <a:t>Caddy + Coraza</a:t>
            </a:r>
          </a:p>
          <a:p>
            <a:pPr algn="l">
              <a:lnSpc>
                <a:spcPct val="100000"/>
              </a:lnSpc>
              <a:spcAft>
                <a:spcPts val="0"/>
              </a:spcAft>
            </a:pPr>
            <a:r>
              <a:rPr sz="1280" b="1">
                <a:solidFill>
                  <a:srgbClr val="3060CA"/>
                </a:solidFill>
                <a:latin typeface="프리텐다드 Bold"/>
              </a:rPr>
              <a:t>OWASP CRS</a:t>
            </a:r>
          </a:p>
        </p:txBody>
      </p:sp>
      <p:sp>
        <p:nvSpPr>
          <p:cNvPr id="26" name="MediQ Control API"/>
          <p:cNvSpPr/>
          <p:nvPr/>
        </p:nvSpPr>
        <p:spPr>
          <a:xfrm>
            <a:off x="6903720" y="5349240"/>
            <a:ext cx="3611880" cy="1234440"/>
          </a:xfrm>
          <a:prstGeom prst="rect">
            <a:avLst/>
          </a:prstGeom>
          <a:solidFill>
            <a:srgbClr val="3060CA"/>
          </a:solidFill>
          <a:ln w="12700">
            <a:solidFill>
              <a:srgbClr val="3060CA"/>
            </a:solidFill>
          </a:ln>
        </p:spPr>
        <p:style>
          <a:lnRef idx="1">
            <a:schemeClr val="accent1"/>
          </a:lnRef>
          <a:fillRef idx="3">
            <a:schemeClr val="accent1"/>
          </a:fillRef>
          <a:effectRef idx="2">
            <a:schemeClr val="accent1"/>
          </a:effectRef>
          <a:fontRef idx="minor">
            <a:schemeClr val="lt1"/>
          </a:fontRef>
        </p:style>
        <p:txBody>
          <a:bodyPr wrap="square" lIns="164592" tIns="73152" bIns="27432" rtlCol="0" anchor="ctr"/>
          <a:lstStyle/>
          <a:p>
            <a:pPr algn="l">
              <a:lnSpc>
                <a:spcPct val="100000"/>
              </a:lnSpc>
              <a:spcAft>
                <a:spcPts val="0"/>
              </a:spcAft>
            </a:pPr>
            <a:r>
              <a:rPr sz="1800" b="1">
                <a:solidFill>
                  <a:srgbClr val="FFFFFF"/>
                </a:solidFill>
                <a:latin typeface="프리텐다드 Bold"/>
              </a:rPr>
              <a:t>MediQ Control API</a:t>
            </a:r>
          </a:p>
          <a:p>
            <a:pPr algn="l">
              <a:lnSpc>
                <a:spcPct val="100000"/>
              </a:lnSpc>
              <a:spcAft>
                <a:spcPts val="0"/>
              </a:spcAft>
            </a:pPr>
            <a:r>
              <a:rPr sz="1300" b="0">
                <a:solidFill>
                  <a:srgbClr val="FFFFFF"/>
                </a:solidFill>
                <a:latin typeface="프리텐다드"/>
              </a:rPr>
              <a:t>동의 · RBAC/ABAC · 단기 토큰</a:t>
            </a:r>
          </a:p>
          <a:p>
            <a:pPr algn="l">
              <a:lnSpc>
                <a:spcPct val="100000"/>
              </a:lnSpc>
              <a:spcAft>
                <a:spcPts val="0"/>
              </a:spcAft>
            </a:pPr>
            <a:r>
              <a:rPr sz="1280" b="0">
                <a:solidFill>
                  <a:srgbClr val="FFFFFF"/>
                </a:solidFill>
                <a:latin typeface="프리텐다드"/>
              </a:rPr>
              <a:t>영상 범위 · 접근 이력</a:t>
            </a:r>
          </a:p>
        </p:txBody>
      </p:sp>
      <p:sp>
        <p:nvSpPr>
          <p:cNvPr id="27" name="PostgreSQL"/>
          <p:cNvSpPr/>
          <p:nvPr/>
        </p:nvSpPr>
        <p:spPr>
          <a:xfrm>
            <a:off x="4553712" y="6903720"/>
            <a:ext cx="2377440" cy="777240"/>
          </a:xfrm>
          <a:prstGeom prst="rect">
            <a:avLst/>
          </a:prstGeom>
          <a:solidFill>
            <a:srgbClr val="FFFFFF"/>
          </a:solidFill>
          <a:ln w="12700">
            <a:solidFill>
              <a:srgbClr val="C3C3C3"/>
            </a:solidFill>
          </a:ln>
        </p:spPr>
        <p:style>
          <a:lnRef idx="1">
            <a:schemeClr val="accent1"/>
          </a:lnRef>
          <a:fillRef idx="3">
            <a:schemeClr val="accent1"/>
          </a:fillRef>
          <a:effectRef idx="2">
            <a:schemeClr val="accent1"/>
          </a:effectRef>
          <a:fontRef idx="minor">
            <a:schemeClr val="lt1"/>
          </a:fontRef>
        </p:style>
        <p:txBody>
          <a:bodyPr wrap="square" lIns="137160" rIns="54864" bIns="18288" rtlCol="0" anchor="ctr"/>
          <a:lstStyle/>
          <a:p>
            <a:pPr algn="l">
              <a:lnSpc>
                <a:spcPct val="100000"/>
              </a:lnSpc>
              <a:spcAft>
                <a:spcPts val="0"/>
              </a:spcAft>
            </a:pPr>
            <a:r>
              <a:rPr sz="1530" b="1">
                <a:solidFill>
                  <a:srgbClr val="262626"/>
                </a:solidFill>
                <a:latin typeface="프리텐다드 Bold"/>
              </a:rPr>
              <a:t>PostgreSQL</a:t>
            </a:r>
          </a:p>
          <a:p>
            <a:pPr algn="l">
              <a:lnSpc>
                <a:spcPct val="100000"/>
              </a:lnSpc>
              <a:spcAft>
                <a:spcPts val="0"/>
              </a:spcAft>
            </a:pPr>
            <a:r>
              <a:rPr sz="1200" b="0">
                <a:solidFill>
                  <a:srgbClr val="5C5C5C"/>
                </a:solidFill>
                <a:latin typeface="프리텐다드"/>
              </a:rPr>
              <a:t>동의 · 정책 · 감사로그</a:t>
            </a:r>
          </a:p>
        </p:txBody>
      </p:sp>
      <p:sp>
        <p:nvSpPr>
          <p:cNvPr id="28" name="Azure Key Vault"/>
          <p:cNvSpPr/>
          <p:nvPr/>
        </p:nvSpPr>
        <p:spPr>
          <a:xfrm>
            <a:off x="7424927" y="6903720"/>
            <a:ext cx="3090672" cy="777240"/>
          </a:xfrm>
          <a:prstGeom prst="rect">
            <a:avLst/>
          </a:prstGeom>
          <a:solidFill>
            <a:srgbClr val="FFFFFF"/>
          </a:solidFill>
          <a:ln w="12700">
            <a:solidFill>
              <a:srgbClr val="C3C3C3"/>
            </a:solidFill>
          </a:ln>
        </p:spPr>
        <p:style>
          <a:lnRef idx="1">
            <a:schemeClr val="accent1"/>
          </a:lnRef>
          <a:fillRef idx="3">
            <a:schemeClr val="accent1"/>
          </a:fillRef>
          <a:effectRef idx="2">
            <a:schemeClr val="accent1"/>
          </a:effectRef>
          <a:fontRef idx="minor">
            <a:schemeClr val="lt1"/>
          </a:fontRef>
        </p:style>
        <p:txBody>
          <a:bodyPr wrap="square" lIns="137160" rIns="54864" bIns="18288" rtlCol="0" anchor="ctr"/>
          <a:lstStyle/>
          <a:p>
            <a:pPr algn="l">
              <a:lnSpc>
                <a:spcPct val="100000"/>
              </a:lnSpc>
              <a:spcAft>
                <a:spcPts val="0"/>
              </a:spcAft>
            </a:pPr>
            <a:r>
              <a:rPr sz="1530" b="1">
                <a:solidFill>
                  <a:srgbClr val="262626"/>
                </a:solidFill>
                <a:latin typeface="프리텐다드 Bold"/>
              </a:rPr>
              <a:t>Azure Key Vault</a:t>
            </a:r>
          </a:p>
          <a:p>
            <a:pPr algn="l">
              <a:lnSpc>
                <a:spcPct val="100000"/>
              </a:lnSpc>
              <a:spcAft>
                <a:spcPts val="0"/>
              </a:spcAft>
            </a:pPr>
            <a:r>
              <a:rPr sz="1200" b="0">
                <a:solidFill>
                  <a:srgbClr val="5C5C5C"/>
                </a:solidFill>
                <a:latin typeface="프리텐다드"/>
              </a:rPr>
              <a:t>키 · 인증서 보호</a:t>
            </a:r>
          </a:p>
        </p:txBody>
      </p:sp>
      <p:cxnSp>
        <p:nvCxnSpPr>
          <p:cNvPr id="29" name="Connector 28"/>
          <p:cNvCxnSpPr/>
          <p:nvPr/>
        </p:nvCxnSpPr>
        <p:spPr>
          <a:xfrm>
            <a:off x="3547872" y="5971032"/>
            <a:ext cx="1005840" cy="0"/>
          </a:xfrm>
          <a:prstGeom prst="line">
            <a:avLst/>
          </a:prstGeom>
          <a:ln w="19050">
            <a:solidFill>
              <a:srgbClr val="3060C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730752" y="5550408"/>
            <a:ext cx="685800" cy="219456"/>
          </a:xfrm>
          <a:prstGeom prst="rect">
            <a:avLst/>
          </a:prstGeom>
          <a:noFill/>
        </p:spPr>
        <p:txBody>
          <a:bodyPr wrap="square" lIns="0" tIns="0" rIns="0" bIns="0" anchor="ctr">
            <a:spAutoFit/>
          </a:bodyPr>
          <a:lstStyle/>
          <a:p>
            <a:pPr algn="l">
              <a:lnSpc>
                <a:spcPct val="100000"/>
              </a:lnSpc>
              <a:spcAft>
                <a:spcPts val="0"/>
              </a:spcAft>
            </a:pPr>
            <a:r>
              <a:rPr sz="1200" b="1">
                <a:solidFill>
                  <a:srgbClr val="3060CA"/>
                </a:solidFill>
                <a:latin typeface="프리텐다드 Bold"/>
              </a:rPr>
              <a:t>HTTPS</a:t>
            </a:r>
          </a:p>
        </p:txBody>
      </p:sp>
      <p:cxnSp>
        <p:nvCxnSpPr>
          <p:cNvPr id="31" name="Connector 30"/>
          <p:cNvCxnSpPr/>
          <p:nvPr/>
        </p:nvCxnSpPr>
        <p:spPr>
          <a:xfrm>
            <a:off x="6547104" y="5971032"/>
            <a:ext cx="356616" cy="0"/>
          </a:xfrm>
          <a:prstGeom prst="line">
            <a:avLst/>
          </a:prstGeom>
          <a:ln w="19050">
            <a:solidFill>
              <a:srgbClr val="3060C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03920" y="4480560"/>
            <a:ext cx="0" cy="868680"/>
          </a:xfrm>
          <a:prstGeom prst="line">
            <a:avLst/>
          </a:prstGeom>
          <a:ln w="14604">
            <a:solidFill>
              <a:srgbClr val="204EAD"/>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714232" y="4608576"/>
            <a:ext cx="1481328" cy="237744"/>
          </a:xfrm>
          <a:prstGeom prst="rect">
            <a:avLst/>
          </a:prstGeom>
          <a:noFill/>
        </p:spPr>
        <p:txBody>
          <a:bodyPr wrap="square" lIns="0" tIns="0" rIns="0" bIns="0" anchor="ctr">
            <a:spAutoFit/>
          </a:bodyPr>
          <a:lstStyle/>
          <a:p>
            <a:pPr algn="l">
              <a:lnSpc>
                <a:spcPct val="100000"/>
              </a:lnSpc>
              <a:spcAft>
                <a:spcPts val="0"/>
              </a:spcAft>
            </a:pPr>
            <a:r>
              <a:rPr sz="1090" b="0">
                <a:solidFill>
                  <a:srgbClr val="5C5C5C"/>
                </a:solidFill>
                <a:latin typeface="프리텐다드"/>
              </a:rPr>
              <a:t>인증 후 권한 검증</a:t>
            </a:r>
          </a:p>
        </p:txBody>
      </p:sp>
      <p:cxnSp>
        <p:nvCxnSpPr>
          <p:cNvPr id="34" name="Connector 33"/>
          <p:cNvCxnSpPr/>
          <p:nvPr/>
        </p:nvCxnSpPr>
        <p:spPr>
          <a:xfrm>
            <a:off x="8732520" y="6583680"/>
            <a:ext cx="0" cy="320040"/>
          </a:xfrm>
          <a:prstGeom prst="line">
            <a:avLst/>
          </a:prstGeom>
          <a:ln w="12700">
            <a:solidFill>
              <a:srgbClr val="204EA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5742432" y="6766560"/>
            <a:ext cx="2990088" cy="0"/>
          </a:xfrm>
          <a:prstGeom prst="line">
            <a:avLst/>
          </a:prstGeom>
          <a:ln w="12700">
            <a:solidFill>
              <a:srgbClr val="204EA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42432" y="6766560"/>
            <a:ext cx="0" cy="137160"/>
          </a:xfrm>
          <a:prstGeom prst="line">
            <a:avLst/>
          </a:prstGeom>
          <a:ln w="12700">
            <a:solidFill>
              <a:srgbClr val="204EA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515600" y="5971032"/>
            <a:ext cx="1691640" cy="0"/>
          </a:xfrm>
          <a:prstGeom prst="line">
            <a:avLst/>
          </a:prstGeom>
          <a:ln w="19050">
            <a:solidFill>
              <a:srgbClr val="3060C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735056" y="5376672"/>
            <a:ext cx="868680" cy="502920"/>
          </a:xfrm>
          <a:prstGeom prst="rect">
            <a:avLst/>
          </a:prstGeom>
          <a:noFill/>
        </p:spPr>
        <p:txBody>
          <a:bodyPr wrap="square" lIns="0" tIns="0" rIns="0" bIns="0" anchor="ctr">
            <a:spAutoFit/>
          </a:bodyPr>
          <a:lstStyle/>
          <a:p>
            <a:pPr algn="ctr">
              <a:lnSpc>
                <a:spcPct val="100000"/>
              </a:lnSpc>
              <a:spcAft>
                <a:spcPts val="0"/>
              </a:spcAft>
            </a:pPr>
            <a:r>
              <a:rPr sz="1240" b="1">
                <a:solidFill>
                  <a:srgbClr val="3060CA"/>
                </a:solidFill>
                <a:latin typeface="프리텐다드 Bold"/>
              </a:rPr>
              <a:t>동의·</a:t>
            </a:r>
            <a:br/>
            <a:r>
              <a:rPr sz="1240" b="1">
                <a:solidFill>
                  <a:srgbClr val="3060CA"/>
                </a:solidFill>
                <a:latin typeface="프리텐다드 Bold"/>
              </a:rPr>
              <a:t>권한</a:t>
            </a:r>
          </a:p>
        </p:txBody>
      </p:sp>
      <p:sp>
        <p:nvSpPr>
          <p:cNvPr id="39" name="TextBox 38"/>
          <p:cNvSpPr txBox="1"/>
          <p:nvPr/>
        </p:nvSpPr>
        <p:spPr>
          <a:xfrm>
            <a:off x="11137392" y="6446520"/>
            <a:ext cx="777240" cy="502920"/>
          </a:xfrm>
          <a:prstGeom prst="rect">
            <a:avLst/>
          </a:prstGeom>
          <a:noFill/>
        </p:spPr>
        <p:txBody>
          <a:bodyPr wrap="square" lIns="0" tIns="0" rIns="0" bIns="0" anchor="ctr">
            <a:spAutoFit/>
          </a:bodyPr>
          <a:lstStyle/>
          <a:p>
            <a:pPr algn="ctr">
              <a:lnSpc>
                <a:spcPct val="100000"/>
              </a:lnSpc>
              <a:spcAft>
                <a:spcPts val="0"/>
              </a:spcAft>
            </a:pPr>
            <a:r>
              <a:rPr sz="1100" b="0">
                <a:solidFill>
                  <a:srgbClr val="5C5C5C"/>
                </a:solidFill>
                <a:latin typeface="프리텐다드"/>
              </a:rPr>
              <a:t>사설</a:t>
            </a:r>
            <a:br/>
            <a:r>
              <a:rPr sz="1100" b="0">
                <a:solidFill>
                  <a:srgbClr val="5C5C5C"/>
                </a:solidFill>
                <a:latin typeface="프리텐다드"/>
              </a:rPr>
              <a:t>연계</a:t>
            </a:r>
          </a:p>
        </p:txBody>
      </p:sp>
      <p:sp>
        <p:nvSpPr>
          <p:cNvPr id="40" name="TextBox 39"/>
          <p:cNvSpPr txBox="1"/>
          <p:nvPr/>
        </p:nvSpPr>
        <p:spPr>
          <a:xfrm>
            <a:off x="10927080" y="6967728"/>
            <a:ext cx="1143000" cy="237744"/>
          </a:xfrm>
          <a:prstGeom prst="rect">
            <a:avLst/>
          </a:prstGeom>
          <a:noFill/>
        </p:spPr>
        <p:txBody>
          <a:bodyPr wrap="square" lIns="0" tIns="0" rIns="0" bIns="0" anchor="ctr">
            <a:spAutoFit/>
          </a:bodyPr>
          <a:lstStyle/>
          <a:p>
            <a:pPr algn="ctr">
              <a:lnSpc>
                <a:spcPct val="100000"/>
              </a:lnSpc>
              <a:spcAft>
                <a:spcPts val="0"/>
              </a:spcAft>
            </a:pPr>
            <a:r>
              <a:rPr sz="1080" b="1">
                <a:solidFill>
                  <a:srgbClr val="279165"/>
                </a:solidFill>
                <a:latin typeface="프리텐다드 Bold"/>
              </a:rPr>
              <a:t>WireGuard</a:t>
            </a:r>
          </a:p>
        </p:txBody>
      </p:sp>
      <p:sp>
        <p:nvSpPr>
          <p:cNvPr id="41" name="TextBox 40"/>
          <p:cNvSpPr txBox="1"/>
          <p:nvPr/>
        </p:nvSpPr>
        <p:spPr>
          <a:xfrm>
            <a:off x="4315968" y="7936992"/>
            <a:ext cx="6629400" cy="274320"/>
          </a:xfrm>
          <a:prstGeom prst="rect">
            <a:avLst/>
          </a:prstGeom>
          <a:noFill/>
        </p:spPr>
        <p:txBody>
          <a:bodyPr wrap="square" lIns="0" tIns="0" rIns="0" bIns="0" anchor="ctr">
            <a:spAutoFit/>
          </a:bodyPr>
          <a:lstStyle/>
          <a:p>
            <a:pPr algn="l">
              <a:lnSpc>
                <a:spcPct val="100000"/>
              </a:lnSpc>
              <a:spcAft>
                <a:spcPts val="0"/>
              </a:spcAft>
            </a:pPr>
            <a:r>
              <a:rPr sz="1180" b="0">
                <a:solidFill>
                  <a:srgbClr val="5C5C5C"/>
                </a:solidFill>
                <a:latin typeface="프리텐다드"/>
              </a:rPr>
              <a:t>Control API에는 DICOM 영상 지속 저장 없음</a:t>
            </a:r>
          </a:p>
        </p:txBody>
      </p:sp>
      <p:sp>
        <p:nvSpPr>
          <p:cNvPr id="42" name="병원 데이터 영역"/>
          <p:cNvSpPr/>
          <p:nvPr/>
        </p:nvSpPr>
        <p:spPr>
          <a:xfrm>
            <a:off x="12207240" y="3657600"/>
            <a:ext cx="5029200" cy="4160520"/>
          </a:xfrm>
          <a:prstGeom prst="rect">
            <a:avLst/>
          </a:prstGeom>
          <a:solidFill>
            <a:srgbClr val="F0F9F5"/>
          </a:solidFill>
          <a:ln w="13335">
            <a:solidFill>
              <a:srgbClr val="2791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2435840" y="3867912"/>
            <a:ext cx="3108960" cy="256032"/>
          </a:xfrm>
          <a:prstGeom prst="rect">
            <a:avLst/>
          </a:prstGeom>
          <a:noFill/>
        </p:spPr>
        <p:txBody>
          <a:bodyPr wrap="square" lIns="0" tIns="0" rIns="0" bIns="0" anchor="ctr">
            <a:spAutoFit/>
          </a:bodyPr>
          <a:lstStyle/>
          <a:p>
            <a:pPr algn="l">
              <a:lnSpc>
                <a:spcPct val="100000"/>
              </a:lnSpc>
              <a:spcAft>
                <a:spcPts val="0"/>
              </a:spcAft>
            </a:pPr>
            <a:r>
              <a:rPr sz="1200" b="0">
                <a:solidFill>
                  <a:srgbClr val="5C5C5C"/>
                </a:solidFill>
                <a:latin typeface="프리텐다드"/>
              </a:rPr>
              <a:t>로컬 VMware · 가상 병원 A / B</a:t>
            </a:r>
          </a:p>
        </p:txBody>
      </p:sp>
      <p:sp>
        <p:nvSpPr>
          <p:cNvPr id="44" name="A 병원 원본 제공"/>
          <p:cNvSpPr/>
          <p:nvPr/>
        </p:nvSpPr>
        <p:spPr>
          <a:xfrm>
            <a:off x="12454128" y="4343400"/>
            <a:ext cx="4526280" cy="1143000"/>
          </a:xfrm>
          <a:prstGeom prst="rect">
            <a:avLst/>
          </a:prstGeom>
          <a:solidFill>
            <a:srgbClr val="FFFFFF"/>
          </a:solidFill>
          <a:ln w="12700">
            <a:solidFill>
              <a:srgbClr val="DEDEDE"/>
            </a:solidFill>
          </a:ln>
        </p:spPr>
        <p:style>
          <a:lnRef idx="1">
            <a:schemeClr val="accent1"/>
          </a:lnRef>
          <a:fillRef idx="3">
            <a:schemeClr val="accent1"/>
          </a:fillRef>
          <a:effectRef idx="2">
            <a:schemeClr val="accent1"/>
          </a:effectRef>
          <a:fontRef idx="minor">
            <a:schemeClr val="lt1"/>
          </a:fontRef>
        </p:style>
        <p:txBody>
          <a:bodyPr wrap="square" lIns="146304" tIns="64008" rIns="73152" bIns="27432" rtlCol="0" anchor="ctr"/>
          <a:lstStyle/>
          <a:p>
            <a:pPr algn="l">
              <a:lnSpc>
                <a:spcPct val="100000"/>
              </a:lnSpc>
              <a:spcAft>
                <a:spcPts val="0"/>
              </a:spcAft>
            </a:pPr>
            <a:r>
              <a:rPr sz="1730" b="1">
                <a:solidFill>
                  <a:srgbClr val="262626"/>
                </a:solidFill>
                <a:latin typeface="프리텐다드 Bold"/>
              </a:rPr>
              <a:t>A 병원 · 원본 제공</a:t>
            </a:r>
          </a:p>
          <a:p>
            <a:pPr algn="l">
              <a:lnSpc>
                <a:spcPct val="100000"/>
              </a:lnSpc>
              <a:spcAft>
                <a:spcPts val="0"/>
              </a:spcAft>
            </a:pPr>
            <a:r>
              <a:rPr sz="1280" b="0">
                <a:solidFill>
                  <a:srgbClr val="5C5C5C"/>
                </a:solidFill>
                <a:latin typeface="프리텐다드"/>
              </a:rPr>
              <a:t>Orthanc PACS · DICOMweb Gateway</a:t>
            </a:r>
          </a:p>
          <a:p>
            <a:pPr algn="l">
              <a:lnSpc>
                <a:spcPct val="100000"/>
              </a:lnSpc>
              <a:spcAft>
                <a:spcPts val="0"/>
              </a:spcAft>
            </a:pPr>
            <a:r>
              <a:rPr sz="1230" b="0">
                <a:solidFill>
                  <a:srgbClr val="5C5C5C"/>
                </a:solidFill>
                <a:latin typeface="프리텐다드"/>
              </a:rPr>
              <a:t>원본 보관 · mTLS 연계</a:t>
            </a:r>
          </a:p>
        </p:txBody>
      </p:sp>
      <p:sp>
        <p:nvSpPr>
          <p:cNvPr id="45" name="B 병원 승인 열람 수신"/>
          <p:cNvSpPr/>
          <p:nvPr/>
        </p:nvSpPr>
        <p:spPr>
          <a:xfrm>
            <a:off x="12454128" y="6245352"/>
            <a:ext cx="4526280" cy="1143000"/>
          </a:xfrm>
          <a:prstGeom prst="rect">
            <a:avLst/>
          </a:prstGeom>
          <a:solidFill>
            <a:srgbClr val="FFFFFF"/>
          </a:solidFill>
          <a:ln w="12700">
            <a:solidFill>
              <a:srgbClr val="DEDEDE"/>
            </a:solidFill>
          </a:ln>
        </p:spPr>
        <p:style>
          <a:lnRef idx="1">
            <a:schemeClr val="accent1"/>
          </a:lnRef>
          <a:fillRef idx="3">
            <a:schemeClr val="accent1"/>
          </a:fillRef>
          <a:effectRef idx="2">
            <a:schemeClr val="accent1"/>
          </a:effectRef>
          <a:fontRef idx="minor">
            <a:schemeClr val="lt1"/>
          </a:fontRef>
        </p:style>
        <p:txBody>
          <a:bodyPr wrap="square" lIns="146304" tIns="64008" rIns="73152" bIns="27432" rtlCol="0" anchor="ctr"/>
          <a:lstStyle/>
          <a:p>
            <a:pPr algn="l">
              <a:lnSpc>
                <a:spcPct val="100000"/>
              </a:lnSpc>
              <a:spcAft>
                <a:spcPts val="0"/>
              </a:spcAft>
            </a:pPr>
            <a:r>
              <a:rPr sz="1730" b="1">
                <a:solidFill>
                  <a:srgbClr val="262626"/>
                </a:solidFill>
                <a:latin typeface="프리텐다드 Bold"/>
              </a:rPr>
              <a:t>B 병원 · 승인 열람·수신</a:t>
            </a:r>
          </a:p>
          <a:p>
            <a:pPr algn="l">
              <a:lnSpc>
                <a:spcPct val="100000"/>
              </a:lnSpc>
              <a:spcAft>
                <a:spcPts val="0"/>
              </a:spcAft>
            </a:pPr>
            <a:r>
              <a:rPr sz="1280" b="0">
                <a:solidFill>
                  <a:srgbClr val="5C5C5C"/>
                </a:solidFill>
                <a:latin typeface="프리텐다드"/>
              </a:rPr>
              <a:t>Portal / Gateway · 수신 PACS</a:t>
            </a:r>
          </a:p>
          <a:p>
            <a:pPr algn="l">
              <a:lnSpc>
                <a:spcPct val="100000"/>
              </a:lnSpc>
              <a:spcAft>
                <a:spcPts val="0"/>
              </a:spcAft>
            </a:pPr>
            <a:r>
              <a:rPr sz="1230" b="0">
                <a:solidFill>
                  <a:srgbClr val="5C5C5C"/>
                </a:solidFill>
                <a:latin typeface="프리텐다드"/>
              </a:rPr>
              <a:t>병원 내부 암호화 저장</a:t>
            </a:r>
          </a:p>
        </p:txBody>
      </p:sp>
      <p:cxnSp>
        <p:nvCxnSpPr>
          <p:cNvPr id="46" name="Connector 45"/>
          <p:cNvCxnSpPr/>
          <p:nvPr/>
        </p:nvCxnSpPr>
        <p:spPr>
          <a:xfrm>
            <a:off x="14648688" y="5513832"/>
            <a:ext cx="0" cy="722376"/>
          </a:xfrm>
          <a:prstGeom prst="line">
            <a:avLst/>
          </a:prstGeom>
          <a:ln w="20320">
            <a:solidFill>
              <a:srgbClr val="E26F0E"/>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2508992" y="5687568"/>
            <a:ext cx="1188720" cy="256032"/>
          </a:xfrm>
          <a:prstGeom prst="rect">
            <a:avLst/>
          </a:prstGeom>
          <a:noFill/>
        </p:spPr>
        <p:txBody>
          <a:bodyPr wrap="square" lIns="0" tIns="0" rIns="0" bIns="0" anchor="ctr">
            <a:spAutoFit/>
          </a:bodyPr>
          <a:lstStyle/>
          <a:p>
            <a:pPr algn="l">
              <a:lnSpc>
                <a:spcPct val="100000"/>
              </a:lnSpc>
              <a:spcAft>
                <a:spcPts val="0"/>
              </a:spcAft>
            </a:pPr>
            <a:r>
              <a:rPr sz="1240" b="1">
                <a:solidFill>
                  <a:srgbClr val="E26F0E"/>
                </a:solidFill>
                <a:latin typeface="프리텐다드 Bold"/>
              </a:rPr>
              <a:t>승인 영상</a:t>
            </a:r>
          </a:p>
        </p:txBody>
      </p:sp>
      <p:sp>
        <p:nvSpPr>
          <p:cNvPr id="48" name="TextBox 47"/>
          <p:cNvSpPr txBox="1"/>
          <p:nvPr/>
        </p:nvSpPr>
        <p:spPr>
          <a:xfrm>
            <a:off x="14977872" y="5650992"/>
            <a:ext cx="1417320" cy="457200"/>
          </a:xfrm>
          <a:prstGeom prst="rect">
            <a:avLst/>
          </a:prstGeom>
          <a:noFill/>
        </p:spPr>
        <p:txBody>
          <a:bodyPr wrap="square" lIns="0" tIns="0" rIns="0" bIns="0" anchor="ctr">
            <a:spAutoFit/>
          </a:bodyPr>
          <a:lstStyle/>
          <a:p>
            <a:pPr algn="l">
              <a:lnSpc>
                <a:spcPct val="100000"/>
              </a:lnSpc>
              <a:spcAft>
                <a:spcPts val="0"/>
              </a:spcAft>
            </a:pPr>
            <a:r>
              <a:rPr sz="1120" b="0">
                <a:solidFill>
                  <a:srgbClr val="5C5C5C"/>
                </a:solidFill>
                <a:latin typeface="프리텐다드"/>
              </a:rPr>
              <a:t>DICOMweb</a:t>
            </a:r>
            <a:br/>
            <a:r>
              <a:rPr sz="1120" b="0">
                <a:solidFill>
                  <a:srgbClr val="5C5C5C"/>
                </a:solidFill>
                <a:latin typeface="프리텐다드"/>
              </a:rPr>
              <a:t>Lazy Loading</a:t>
            </a:r>
          </a:p>
        </p:txBody>
      </p:sp>
      <p:sp>
        <p:nvSpPr>
          <p:cNvPr id="49" name="TextBox 48"/>
          <p:cNvSpPr txBox="1"/>
          <p:nvPr/>
        </p:nvSpPr>
        <p:spPr>
          <a:xfrm>
            <a:off x="1033271" y="8449056"/>
            <a:ext cx="2194560" cy="310896"/>
          </a:xfrm>
          <a:prstGeom prst="rect">
            <a:avLst/>
          </a:prstGeom>
          <a:noFill/>
        </p:spPr>
        <p:txBody>
          <a:bodyPr wrap="square" lIns="0" tIns="0" rIns="0" bIns="0" anchor="ctr">
            <a:spAutoFit/>
          </a:bodyPr>
          <a:lstStyle/>
          <a:p>
            <a:pPr algn="l">
              <a:lnSpc>
                <a:spcPct val="100000"/>
              </a:lnSpc>
              <a:spcAft>
                <a:spcPts val="0"/>
              </a:spcAft>
            </a:pPr>
            <a:r>
              <a:rPr sz="1750" b="1">
                <a:solidFill>
                  <a:srgbClr val="262626"/>
                </a:solidFill>
                <a:latin typeface="프리텐다드 Bold"/>
              </a:rPr>
              <a:t>영상 전송 경로</a:t>
            </a:r>
          </a:p>
        </p:txBody>
      </p:sp>
      <p:sp>
        <p:nvSpPr>
          <p:cNvPr id="50" name="TextBox 49"/>
          <p:cNvSpPr txBox="1"/>
          <p:nvPr/>
        </p:nvSpPr>
        <p:spPr>
          <a:xfrm>
            <a:off x="1033271" y="8823960"/>
            <a:ext cx="2468880" cy="256032"/>
          </a:xfrm>
          <a:prstGeom prst="rect">
            <a:avLst/>
          </a:prstGeom>
          <a:noFill/>
        </p:spPr>
        <p:txBody>
          <a:bodyPr wrap="square" lIns="0" tIns="0" rIns="0" bIns="0" anchor="ctr">
            <a:spAutoFit/>
          </a:bodyPr>
          <a:lstStyle/>
          <a:p>
            <a:pPr algn="l">
              <a:lnSpc>
                <a:spcPct val="100000"/>
              </a:lnSpc>
              <a:spcAft>
                <a:spcPts val="0"/>
              </a:spcAft>
            </a:pPr>
            <a:r>
              <a:rPr sz="1220" b="0">
                <a:solidFill>
                  <a:srgbClr val="5C5C5C"/>
                </a:solidFill>
                <a:latin typeface="프리텐다드"/>
              </a:rPr>
              <a:t>Control API 경유 아님</a:t>
            </a:r>
          </a:p>
        </p:txBody>
      </p:sp>
      <p:sp>
        <p:nvSpPr>
          <p:cNvPr id="51" name="의료진 브라우저"/>
          <p:cNvSpPr/>
          <p:nvPr/>
        </p:nvSpPr>
        <p:spPr>
          <a:xfrm>
            <a:off x="4315968" y="8357616"/>
            <a:ext cx="2606040" cy="640080"/>
          </a:xfrm>
          <a:prstGeom prst="rect">
            <a:avLst/>
          </a:prstGeom>
          <a:solidFill>
            <a:srgbClr val="FFFFFF"/>
          </a:solidFill>
          <a:ln w="12700">
            <a:solidFill>
              <a:srgbClr val="C3C3C3"/>
            </a:solidFill>
          </a:ln>
        </p:spPr>
        <p:style>
          <a:lnRef idx="1">
            <a:schemeClr val="accent1"/>
          </a:lnRef>
          <a:fillRef idx="3">
            <a:schemeClr val="accent1"/>
          </a:fillRef>
          <a:effectRef idx="2">
            <a:schemeClr val="accent1"/>
          </a:effectRef>
          <a:fontRef idx="minor">
            <a:schemeClr val="lt1"/>
          </a:fontRef>
        </p:style>
        <p:txBody>
          <a:bodyPr wrap="square" lIns="45720" tIns="18288" rIns="45720" bIns="9144" rtlCol="0" anchor="ctr"/>
          <a:lstStyle/>
          <a:p>
            <a:pPr algn="ctr">
              <a:lnSpc>
                <a:spcPct val="100000"/>
              </a:lnSpc>
              <a:spcAft>
                <a:spcPts val="0"/>
              </a:spcAft>
            </a:pPr>
            <a:r>
              <a:rPr sz="1480" b="1">
                <a:solidFill>
                  <a:srgbClr val="262626"/>
                </a:solidFill>
                <a:latin typeface="프리텐다드 Bold"/>
              </a:rPr>
              <a:t>의료진 브라우저</a:t>
            </a:r>
          </a:p>
        </p:txBody>
      </p:sp>
      <p:sp>
        <p:nvSpPr>
          <p:cNvPr id="52" name="B 병원 전용 TCP 중계"/>
          <p:cNvSpPr/>
          <p:nvPr/>
        </p:nvSpPr>
        <p:spPr>
          <a:xfrm>
            <a:off x="7360920" y="8357616"/>
            <a:ext cx="3291840" cy="640080"/>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wrap="square" lIns="45720" tIns="9144" rIns="45720" bIns="9144" rtlCol="0" anchor="ctr"/>
          <a:lstStyle/>
          <a:p>
            <a:pPr algn="ctr">
              <a:lnSpc>
                <a:spcPct val="100000"/>
              </a:lnSpc>
              <a:spcAft>
                <a:spcPts val="0"/>
              </a:spcAft>
            </a:pPr>
            <a:r>
              <a:rPr sz="1480" b="1">
                <a:solidFill>
                  <a:srgbClr val="262626"/>
                </a:solidFill>
                <a:latin typeface="프리텐다드 Bold"/>
              </a:rPr>
              <a:t>B 병원 전용 TCP 중계</a:t>
            </a:r>
          </a:p>
          <a:p>
            <a:pPr algn="ctr">
              <a:lnSpc>
                <a:spcPct val="100000"/>
              </a:lnSpc>
              <a:spcAft>
                <a:spcPts val="0"/>
              </a:spcAft>
            </a:pPr>
            <a:r>
              <a:rPr sz="1130" b="0">
                <a:solidFill>
                  <a:srgbClr val="5C5C5C"/>
                </a:solidFill>
                <a:latin typeface="프리텐다드"/>
              </a:rPr>
              <a:t>L4 · TLS 패스스루</a:t>
            </a:r>
          </a:p>
        </p:txBody>
      </p:sp>
      <p:sp>
        <p:nvSpPr>
          <p:cNvPr id="53" name="B Portal Gateway"/>
          <p:cNvSpPr/>
          <p:nvPr/>
        </p:nvSpPr>
        <p:spPr>
          <a:xfrm>
            <a:off x="12207240" y="8357616"/>
            <a:ext cx="5029200" cy="640080"/>
          </a:xfrm>
          <a:prstGeom prst="rect">
            <a:avLst/>
          </a:prstGeom>
          <a:solidFill>
            <a:srgbClr val="FFFFFF"/>
          </a:solidFill>
          <a:ln w="12700">
            <a:solidFill>
              <a:srgbClr val="C3C3C3"/>
            </a:solidFill>
          </a:ln>
        </p:spPr>
        <p:style>
          <a:lnRef idx="1">
            <a:schemeClr val="accent1"/>
          </a:lnRef>
          <a:fillRef idx="3">
            <a:schemeClr val="accent1"/>
          </a:fillRef>
          <a:effectRef idx="2">
            <a:schemeClr val="accent1"/>
          </a:effectRef>
          <a:fontRef idx="minor">
            <a:schemeClr val="lt1"/>
          </a:fontRef>
        </p:style>
        <p:txBody>
          <a:bodyPr wrap="square" lIns="45720" tIns="9144" rIns="45720" bIns="9144" rtlCol="0" anchor="ctr"/>
          <a:lstStyle/>
          <a:p>
            <a:pPr algn="ctr">
              <a:lnSpc>
                <a:spcPct val="100000"/>
              </a:lnSpc>
              <a:spcAft>
                <a:spcPts val="0"/>
              </a:spcAft>
            </a:pPr>
            <a:r>
              <a:rPr sz="1480" b="1">
                <a:solidFill>
                  <a:srgbClr val="262626"/>
                </a:solidFill>
                <a:latin typeface="프리텐다드 Bold"/>
              </a:rPr>
              <a:t>B Portal / Gateway</a:t>
            </a:r>
          </a:p>
          <a:p>
            <a:pPr algn="ctr">
              <a:lnSpc>
                <a:spcPct val="100000"/>
              </a:lnSpc>
              <a:spcAft>
                <a:spcPts val="0"/>
              </a:spcAft>
            </a:pPr>
            <a:r>
              <a:rPr sz="1130" b="0">
                <a:solidFill>
                  <a:srgbClr val="5C5C5C"/>
                </a:solidFill>
                <a:latin typeface="프리텐다드"/>
              </a:rPr>
              <a:t>TLS 종료는 병원 B에서 수행</a:t>
            </a:r>
          </a:p>
        </p:txBody>
      </p:sp>
      <p:cxnSp>
        <p:nvCxnSpPr>
          <p:cNvPr id="54" name="Connector 53"/>
          <p:cNvCxnSpPr/>
          <p:nvPr/>
        </p:nvCxnSpPr>
        <p:spPr>
          <a:xfrm>
            <a:off x="6922008" y="8677656"/>
            <a:ext cx="438912" cy="0"/>
          </a:xfrm>
          <a:prstGeom prst="line">
            <a:avLst/>
          </a:prstGeom>
          <a:ln w="20320">
            <a:solidFill>
              <a:srgbClr val="E26F0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652760" y="8677656"/>
            <a:ext cx="1554480" cy="0"/>
          </a:xfrm>
          <a:prstGeom prst="line">
            <a:avLst/>
          </a:prstGeom>
          <a:ln w="20320">
            <a:solidFill>
              <a:srgbClr val="E26F0E"/>
            </a:solidFill>
          </a:ln>
        </p:spPr>
        <p:style>
          <a:lnRef idx="2">
            <a:schemeClr val="accent1"/>
          </a:lnRef>
          <a:fillRef idx="0">
            <a:schemeClr val="accent1"/>
          </a:fillRef>
          <a:effectRef idx="1">
            <a:schemeClr val="accent1"/>
          </a:effectRef>
          <a:fontRef idx="minor">
            <a:schemeClr val="tx1"/>
          </a:fontRef>
        </p:style>
      </p:cxnSp>
      <p:sp>
        <p:nvSpPr>
          <p:cNvPr id="56" name="핵심 메시지 배경"/>
          <p:cNvSpPr/>
          <p:nvPr/>
        </p:nvSpPr>
        <p:spPr>
          <a:xfrm>
            <a:off x="4663440" y="9326880"/>
            <a:ext cx="8869680" cy="420624"/>
          </a:xfrm>
          <a:prstGeom prst="rect">
            <a:avLst/>
          </a:prstGeom>
          <a:solidFill>
            <a:srgbClr val="EFF4FF"/>
          </a:solidFill>
          <a:ln w="12700">
            <a:solidFill>
              <a:srgbClr val="EF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핵심 메시지"/>
          <p:cNvSpPr txBox="1"/>
          <p:nvPr/>
        </p:nvSpPr>
        <p:spPr>
          <a:xfrm>
            <a:off x="4736592" y="9354312"/>
            <a:ext cx="8723376" cy="347472"/>
          </a:xfrm>
          <a:prstGeom prst="rect">
            <a:avLst/>
          </a:prstGeom>
          <a:noFill/>
        </p:spPr>
        <p:txBody>
          <a:bodyPr wrap="square" lIns="0" tIns="0" rIns="0" bIns="0" anchor="ctr">
            <a:spAutoFit/>
          </a:bodyPr>
          <a:lstStyle/>
          <a:p>
            <a:pPr algn="ctr">
              <a:lnSpc>
                <a:spcPct val="100000"/>
              </a:lnSpc>
              <a:spcAft>
                <a:spcPts val="0"/>
              </a:spcAft>
            </a:pPr>
            <a:r>
              <a:rPr sz="1520" b="1">
                <a:solidFill>
                  <a:srgbClr val="3060CA"/>
                </a:solidFill>
                <a:latin typeface="프리텐다드 Bold"/>
              </a:rPr>
              <a:t>동의·권한은 Azure에서, 원본·승인 수신본은 병원에서 관리</a:t>
            </a:r>
          </a:p>
        </p:txBody>
      </p:sp>
    </p:spTree>
    <p:extLst>
      <p:ext uri="{BB962C8B-B14F-4D97-AF65-F5344CB8AC3E}">
        <p14:creationId xmlns:p14="http://schemas.microsoft.com/office/powerpoint/2010/main" val="2395226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a:effectLst/>
          </p:spPr>
          <p:txBody>
            <a:bodyPr/>
            <a:lstStyle/>
            <a:p>
              <a:endParaRPr lang="ko-KR" altLang="en-US"/>
            </a:p>
          </p:txBody>
        </p:sp>
        <p:sp>
          <p:nvSpPr>
            <p:cNvPr id="4" name="TextBox 4"/>
            <p:cNvSpPr txBox="1"/>
            <p:nvPr/>
          </p:nvSpPr>
          <p:spPr>
            <a:xfrm>
              <a:off x="0" y="-47625"/>
              <a:ext cx="4902378" cy="825422"/>
            </a:xfrm>
            <a:prstGeom prst="rect">
              <a:avLst/>
            </a:prstGeom>
            <a:effectLst/>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a:effectLst/>
          </p:spPr>
          <p:txBody>
            <a:bodyPr/>
            <a:lstStyle/>
            <a:p>
              <a:endParaRPr lang="ko-KR" altLang="en-US"/>
            </a:p>
          </p:txBody>
        </p:sp>
        <p:sp>
          <p:nvSpPr>
            <p:cNvPr id="7" name="TextBox 7"/>
            <p:cNvSpPr txBox="1"/>
            <p:nvPr/>
          </p:nvSpPr>
          <p:spPr>
            <a:xfrm>
              <a:off x="0" y="-38100"/>
              <a:ext cx="40474" cy="406645"/>
            </a:xfrm>
            <a:prstGeom prst="rect">
              <a:avLst/>
            </a:prstGeom>
            <a:effectLst/>
          </p:spPr>
          <p:txBody>
            <a:bodyPr lIns="50800" tIns="50800" rIns="50800" bIns="50800" rtlCol="0" anchor="ctr"/>
            <a:lstStyle/>
            <a:p>
              <a:pPr algn="ctr">
                <a:lnSpc>
                  <a:spcPts val="2520"/>
                </a:lnSpc>
              </a:pPr>
              <a:endParaRPr/>
            </a:p>
          </p:txBody>
        </p:sp>
      </p:grpSp>
      <p:sp>
        <p:nvSpPr>
          <p:cNvPr id="8" name="TextBox 8"/>
          <p:cNvSpPr txBox="1"/>
          <p:nvPr/>
        </p:nvSpPr>
        <p:spPr>
          <a:xfrm>
            <a:off x="1421481" y="990600"/>
            <a:ext cx="3894213" cy="261354"/>
          </a:xfrm>
          <a:prstGeom prst="rect">
            <a:avLst/>
          </a:prstGeom>
          <a:effectLst/>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SYSTEM DESIGN</a:t>
            </a:r>
          </a:p>
        </p:txBody>
      </p:sp>
      <p:sp>
        <p:nvSpPr>
          <p:cNvPr id="9" name="슬라이드 제목"/>
          <p:cNvSpPr txBox="1"/>
          <p:nvPr/>
        </p:nvSpPr>
        <p:spPr>
          <a:xfrm>
            <a:off x="1421481" y="1253961"/>
            <a:ext cx="15636240" cy="979170"/>
          </a:xfrm>
          <a:prstGeom prst="rect">
            <a:avLst/>
          </a:prstGeom>
          <a:effectLst/>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MediQ 인증·영상 접근 절차</a:t>
            </a:r>
          </a:p>
        </p:txBody>
      </p:sp>
      <p:sp>
        <p:nvSpPr>
          <p:cNvPr id="10" name="단계 영역 제목"/>
          <p:cNvSpPr txBox="1"/>
          <p:nvPr/>
        </p:nvSpPr>
        <p:spPr>
          <a:xfrm>
            <a:off x="1028700" y="3172968"/>
            <a:ext cx="5029200" cy="365760"/>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300" b="1">
                <a:solidFill>
                  <a:srgbClr val="282828"/>
                </a:solidFill>
                <a:latin typeface="프리텐다드 Bold"/>
                <a:ea typeface="프리텐다드 Bold"/>
              </a:rPr>
              <a:t>환자 동의에서 승인 영상까지</a:t>
            </a:r>
          </a:p>
        </p:txBody>
      </p:sp>
      <p:sp>
        <p:nvSpPr>
          <p:cNvPr id="11" name="흐름 해석 안내"/>
          <p:cNvSpPr txBox="1"/>
          <p:nvPr/>
        </p:nvSpPr>
        <p:spPr>
          <a:xfrm>
            <a:off x="1028700" y="3602736"/>
            <a:ext cx="5157216" cy="301752"/>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1750" b="0">
                <a:solidFill>
                  <a:srgbClr val="595959"/>
                </a:solidFill>
                <a:latin typeface="프리텐다드"/>
                <a:ea typeface="프리텐다드"/>
              </a:rPr>
              <a:t>로그인 인증과 영상 열람 권한은 별도 검증</a:t>
            </a:r>
          </a:p>
        </p:txBody>
      </p:sp>
      <p:cxnSp>
        <p:nvCxnSpPr>
          <p:cNvPr id="23" name="행 01 구분선"/>
          <p:cNvCxnSpPr/>
          <p:nvPr/>
        </p:nvCxnSpPr>
        <p:spPr>
          <a:xfrm>
            <a:off x="1028700" y="4773168"/>
            <a:ext cx="16230600" cy="0"/>
          </a:xfrm>
          <a:prstGeom prst="line">
            <a:avLst/>
          </a:prstGeom>
          <a:ln w="6350">
            <a:solidFill>
              <a:srgbClr val="E2E2E2"/>
            </a:solidFill>
          </a:ln>
          <a:effectLst/>
        </p:spPr>
        <p:style>
          <a:lnRef idx="2">
            <a:schemeClr val="accent1"/>
          </a:lnRef>
          <a:fillRef idx="0">
            <a:schemeClr val="accent1"/>
          </a:fillRef>
          <a:effectRef idx="0">
            <a:schemeClr val="accent1"/>
          </a:effectRef>
          <a:fontRef idx="minor">
            <a:schemeClr val="tx1"/>
          </a:fontRef>
        </p:style>
      </p:cxnSp>
      <p:cxnSp>
        <p:nvCxnSpPr>
          <p:cNvPr id="27" name="행 02 구분선"/>
          <p:cNvCxnSpPr/>
          <p:nvPr/>
        </p:nvCxnSpPr>
        <p:spPr>
          <a:xfrm>
            <a:off x="1028700" y="5413248"/>
            <a:ext cx="16230600" cy="0"/>
          </a:xfrm>
          <a:prstGeom prst="line">
            <a:avLst/>
          </a:prstGeom>
          <a:ln w="6350">
            <a:solidFill>
              <a:srgbClr val="E2E2E2"/>
            </a:solidFill>
          </a:ln>
          <a:effectLst/>
        </p:spPr>
        <p:style>
          <a:lnRef idx="2">
            <a:schemeClr val="accent1"/>
          </a:lnRef>
          <a:fillRef idx="0">
            <a:schemeClr val="accent1"/>
          </a:fillRef>
          <a:effectRef idx="0">
            <a:schemeClr val="accent1"/>
          </a:effectRef>
          <a:fontRef idx="minor">
            <a:schemeClr val="tx1"/>
          </a:fontRef>
        </p:style>
      </p:cxnSp>
      <p:cxnSp>
        <p:nvCxnSpPr>
          <p:cNvPr id="31" name="행 03 구분선"/>
          <p:cNvCxnSpPr/>
          <p:nvPr/>
        </p:nvCxnSpPr>
        <p:spPr>
          <a:xfrm>
            <a:off x="1028700" y="6053328"/>
            <a:ext cx="16230600" cy="0"/>
          </a:xfrm>
          <a:prstGeom prst="line">
            <a:avLst/>
          </a:prstGeom>
          <a:ln w="6350">
            <a:solidFill>
              <a:srgbClr val="E2E2E2"/>
            </a:solidFill>
          </a:ln>
          <a:effectLst/>
        </p:spPr>
        <p:style>
          <a:lnRef idx="2">
            <a:schemeClr val="accent1"/>
          </a:lnRef>
          <a:fillRef idx="0">
            <a:schemeClr val="accent1"/>
          </a:fillRef>
          <a:effectRef idx="0">
            <a:schemeClr val="accent1"/>
          </a:effectRef>
          <a:fontRef idx="minor">
            <a:schemeClr val="tx1"/>
          </a:fontRef>
        </p:style>
      </p:cxnSp>
      <p:cxnSp>
        <p:nvCxnSpPr>
          <p:cNvPr id="35" name="행 04 구분선"/>
          <p:cNvCxnSpPr/>
          <p:nvPr/>
        </p:nvCxnSpPr>
        <p:spPr>
          <a:xfrm>
            <a:off x="1028700" y="6693407"/>
            <a:ext cx="16230600" cy="0"/>
          </a:xfrm>
          <a:prstGeom prst="line">
            <a:avLst/>
          </a:prstGeom>
          <a:ln w="6350">
            <a:solidFill>
              <a:srgbClr val="E2E2E2"/>
            </a:solidFill>
          </a:ln>
          <a:effectLst/>
        </p:spPr>
        <p:style>
          <a:lnRef idx="2">
            <a:schemeClr val="accent1"/>
          </a:lnRef>
          <a:fillRef idx="0">
            <a:schemeClr val="accent1"/>
          </a:fillRef>
          <a:effectRef idx="0">
            <a:schemeClr val="accent1"/>
          </a:effectRef>
          <a:fontRef idx="minor">
            <a:schemeClr val="tx1"/>
          </a:fontRef>
        </p:style>
      </p:cxnSp>
      <p:cxnSp>
        <p:nvCxnSpPr>
          <p:cNvPr id="39" name="행 05 구분선"/>
          <p:cNvCxnSpPr/>
          <p:nvPr/>
        </p:nvCxnSpPr>
        <p:spPr>
          <a:xfrm>
            <a:off x="1028700" y="7333488"/>
            <a:ext cx="16230600" cy="0"/>
          </a:xfrm>
          <a:prstGeom prst="line">
            <a:avLst/>
          </a:prstGeom>
          <a:ln w="6350">
            <a:solidFill>
              <a:srgbClr val="E2E2E2"/>
            </a:solidFill>
          </a:ln>
          <a:effectLst/>
        </p:spPr>
        <p:style>
          <a:lnRef idx="2">
            <a:schemeClr val="accent1"/>
          </a:lnRef>
          <a:fillRef idx="0">
            <a:schemeClr val="accent1"/>
          </a:fillRef>
          <a:effectRef idx="0">
            <a:schemeClr val="accent1"/>
          </a:effectRef>
          <a:fontRef idx="minor">
            <a:schemeClr val="tx1"/>
          </a:fontRef>
        </p:style>
      </p:cxnSp>
      <p:cxnSp>
        <p:nvCxnSpPr>
          <p:cNvPr id="43" name="행 06 구분선"/>
          <p:cNvCxnSpPr/>
          <p:nvPr/>
        </p:nvCxnSpPr>
        <p:spPr>
          <a:xfrm>
            <a:off x="1028700" y="7973567"/>
            <a:ext cx="16230600" cy="0"/>
          </a:xfrm>
          <a:prstGeom prst="line">
            <a:avLst/>
          </a:prstGeom>
          <a:ln w="6350">
            <a:solidFill>
              <a:srgbClr val="E2E2E2"/>
            </a:solidFill>
          </a:ln>
          <a:effectLst/>
        </p:spPr>
        <p:style>
          <a:lnRef idx="2">
            <a:schemeClr val="accent1"/>
          </a:lnRef>
          <a:fillRef idx="0">
            <a:schemeClr val="accent1"/>
          </a:fillRef>
          <a:effectRef idx="0">
            <a:schemeClr val="accent1"/>
          </a:effectRef>
          <a:fontRef idx="minor">
            <a:schemeClr val="tx1"/>
          </a:fontRef>
        </p:style>
      </p:cxnSp>
      <p:cxnSp>
        <p:nvCxnSpPr>
          <p:cNvPr id="47" name="행 07 구분선"/>
          <p:cNvCxnSpPr/>
          <p:nvPr/>
        </p:nvCxnSpPr>
        <p:spPr>
          <a:xfrm>
            <a:off x="1028700" y="8613647"/>
            <a:ext cx="16230600" cy="0"/>
          </a:xfrm>
          <a:prstGeom prst="line">
            <a:avLst/>
          </a:prstGeom>
          <a:ln w="6350">
            <a:solidFill>
              <a:srgbClr val="E2E2E2"/>
            </a:solidFill>
          </a:ln>
          <a:effectLst/>
        </p:spPr>
        <p:style>
          <a:lnRef idx="2">
            <a:schemeClr val="accent1"/>
          </a:lnRef>
          <a:fillRef idx="0">
            <a:schemeClr val="accent1"/>
          </a:fillRef>
          <a:effectRef idx="0">
            <a:schemeClr val="accent1"/>
          </a:effectRef>
          <a:fontRef idx="minor">
            <a:schemeClr val="tx1"/>
          </a:fontRef>
        </p:style>
      </p:cxnSp>
      <p:cxnSp>
        <p:nvCxnSpPr>
          <p:cNvPr id="53" name="01 사용자 인증"/>
          <p:cNvCxnSpPr>
            <a:stCxn id="51" idx="3"/>
            <a:endCxn id="52" idx="1"/>
          </p:cNvCxnSpPr>
          <p:nvPr/>
        </p:nvCxnSpPr>
        <p:spPr>
          <a:xfrm>
            <a:off x="7755940" y="4434840"/>
            <a:ext cx="2675535" cy="0"/>
          </a:xfrm>
          <a:prstGeom prst="line">
            <a:avLst/>
          </a:prstGeom>
          <a:ln w="22225">
            <a:solidFill>
              <a:srgbClr val="2A59C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4" name="01 화살표 설명"/>
          <p:cNvSpPr txBox="1"/>
          <p:nvPr/>
        </p:nvSpPr>
        <p:spPr>
          <a:xfrm>
            <a:off x="7872983" y="4114800"/>
            <a:ext cx="2441447" cy="256032"/>
          </a:xfrm>
          <a:prstGeom prst="rect">
            <a:avLst/>
          </a:prstGeom>
          <a:noFill/>
          <a:effectLst/>
        </p:spPr>
        <p:txBody>
          <a:bodyPr wrap="square" lIns="0" tIns="54864" rIns="0" bIns="54864" anchor="ctr">
            <a:noAutofit/>
          </a:bodyPr>
          <a:lstStyle/>
          <a:p>
            <a:pPr algn="ctr">
              <a:lnSpc>
                <a:spcPct val="110000"/>
              </a:lnSpc>
              <a:spcBef>
                <a:spcPts val="0"/>
              </a:spcBef>
              <a:spcAft>
                <a:spcPts val="0"/>
              </a:spcAft>
            </a:pPr>
            <a:r>
              <a:rPr lang="ko-KR" altLang="en-US" sz="1680" b="1">
                <a:solidFill>
                  <a:srgbClr val="2A59C5"/>
                </a:solidFill>
                <a:latin typeface="프리텐다드 Bold"/>
                <a:ea typeface="프리텐다드 Bold"/>
              </a:rPr>
              <a:t>사용자 인증</a:t>
            </a:r>
          </a:p>
        </p:txBody>
      </p:sp>
      <p:cxnSp>
        <p:nvCxnSpPr>
          <p:cNvPr id="57" name="02 공유 조건"/>
          <p:cNvCxnSpPr>
            <a:stCxn id="55" idx="3"/>
            <a:endCxn id="56" idx="1"/>
          </p:cNvCxnSpPr>
          <p:nvPr/>
        </p:nvCxnSpPr>
        <p:spPr>
          <a:xfrm>
            <a:off x="7755940" y="5074920"/>
            <a:ext cx="2675535" cy="0"/>
          </a:xfrm>
          <a:prstGeom prst="line">
            <a:avLst/>
          </a:prstGeom>
          <a:ln w="22225">
            <a:solidFill>
              <a:srgbClr val="2A59C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02 화살표 설명"/>
          <p:cNvSpPr txBox="1"/>
          <p:nvPr/>
        </p:nvSpPr>
        <p:spPr>
          <a:xfrm>
            <a:off x="7872983" y="4754880"/>
            <a:ext cx="2441447" cy="256032"/>
          </a:xfrm>
          <a:prstGeom prst="rect">
            <a:avLst/>
          </a:prstGeom>
          <a:noFill/>
          <a:effectLst/>
        </p:spPr>
        <p:txBody>
          <a:bodyPr wrap="square" lIns="0" tIns="54864" rIns="0" bIns="54864" anchor="ctr">
            <a:noAutofit/>
          </a:bodyPr>
          <a:lstStyle/>
          <a:p>
            <a:pPr algn="ctr">
              <a:lnSpc>
                <a:spcPct val="110000"/>
              </a:lnSpc>
              <a:spcBef>
                <a:spcPts val="0"/>
              </a:spcBef>
              <a:spcAft>
                <a:spcPts val="0"/>
              </a:spcAft>
            </a:pPr>
            <a:r>
              <a:rPr lang="ko-KR" altLang="en-US" sz="1680" b="1">
                <a:solidFill>
                  <a:srgbClr val="2A59C5"/>
                </a:solidFill>
                <a:latin typeface="프리텐다드 Bold"/>
                <a:ea typeface="프리텐다드 Bold"/>
              </a:rPr>
              <a:t>공유 조건</a:t>
            </a:r>
          </a:p>
        </p:txBody>
      </p:sp>
      <p:cxnSp>
        <p:nvCxnSpPr>
          <p:cNvPr id="61" name="03 QR 티켓"/>
          <p:cNvCxnSpPr>
            <a:stCxn id="59" idx="1"/>
            <a:endCxn id="60" idx="3"/>
          </p:cNvCxnSpPr>
          <p:nvPr/>
        </p:nvCxnSpPr>
        <p:spPr>
          <a:xfrm flipH="1">
            <a:off x="7755940" y="5715000"/>
            <a:ext cx="2675535" cy="0"/>
          </a:xfrm>
          <a:prstGeom prst="line">
            <a:avLst/>
          </a:prstGeom>
          <a:ln w="22225">
            <a:solidFill>
              <a:srgbClr val="2A59C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03 화살표 설명"/>
          <p:cNvSpPr txBox="1"/>
          <p:nvPr/>
        </p:nvSpPr>
        <p:spPr>
          <a:xfrm>
            <a:off x="7872983" y="5394960"/>
            <a:ext cx="2441447" cy="256032"/>
          </a:xfrm>
          <a:prstGeom prst="rect">
            <a:avLst/>
          </a:prstGeom>
          <a:noFill/>
          <a:effectLst/>
        </p:spPr>
        <p:txBody>
          <a:bodyPr wrap="square" lIns="0" tIns="54864" rIns="0" bIns="54864" anchor="ctr">
            <a:noAutofit/>
          </a:bodyPr>
          <a:lstStyle/>
          <a:p>
            <a:pPr algn="ctr">
              <a:lnSpc>
                <a:spcPct val="110000"/>
              </a:lnSpc>
              <a:spcBef>
                <a:spcPts val="0"/>
              </a:spcBef>
              <a:spcAft>
                <a:spcPts val="0"/>
              </a:spcAft>
            </a:pPr>
            <a:r>
              <a:rPr lang="ko-KR" altLang="en-US" sz="1680" b="1">
                <a:solidFill>
                  <a:srgbClr val="2A59C5"/>
                </a:solidFill>
                <a:latin typeface="프리텐다드 Bold"/>
                <a:ea typeface="프리텐다드 Bold"/>
              </a:rPr>
              <a:t>QR 티켓</a:t>
            </a:r>
          </a:p>
        </p:txBody>
      </p:sp>
      <p:cxnSp>
        <p:nvCxnSpPr>
          <p:cNvPr id="65" name="04 QR 접수"/>
          <p:cNvCxnSpPr>
            <a:stCxn id="63" idx="3"/>
            <a:endCxn id="64" idx="1"/>
          </p:cNvCxnSpPr>
          <p:nvPr/>
        </p:nvCxnSpPr>
        <p:spPr>
          <a:xfrm flipV="1">
            <a:off x="7755940" y="6355080"/>
            <a:ext cx="5446167" cy="0"/>
          </a:xfrm>
          <a:prstGeom prst="line">
            <a:avLst/>
          </a:prstGeom>
          <a:ln w="22225">
            <a:solidFill>
              <a:srgbClr val="2A59C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6" name="04 화살표 설명"/>
          <p:cNvSpPr txBox="1"/>
          <p:nvPr/>
        </p:nvSpPr>
        <p:spPr>
          <a:xfrm>
            <a:off x="7872983" y="6035040"/>
            <a:ext cx="5212080" cy="256032"/>
          </a:xfrm>
          <a:prstGeom prst="rect">
            <a:avLst/>
          </a:prstGeom>
          <a:noFill/>
          <a:effectLst/>
        </p:spPr>
        <p:txBody>
          <a:bodyPr wrap="square" lIns="0" tIns="54864" rIns="0" bIns="54864" anchor="ctr">
            <a:noAutofit/>
          </a:bodyPr>
          <a:lstStyle/>
          <a:p>
            <a:pPr algn="ctr">
              <a:lnSpc>
                <a:spcPct val="110000"/>
              </a:lnSpc>
              <a:spcBef>
                <a:spcPts val="0"/>
              </a:spcBef>
              <a:spcAft>
                <a:spcPts val="0"/>
              </a:spcAft>
            </a:pPr>
            <a:r>
              <a:rPr lang="ko-KR" altLang="en-US" sz="1680" b="1">
                <a:solidFill>
                  <a:srgbClr val="2A59C5"/>
                </a:solidFill>
                <a:latin typeface="프리텐다드 Bold"/>
                <a:ea typeface="프리텐다드 Bold"/>
              </a:rPr>
              <a:t>QR 접수</a:t>
            </a:r>
          </a:p>
        </p:txBody>
      </p:sp>
      <p:cxnSp>
        <p:nvCxnSpPr>
          <p:cNvPr id="69" name="05 동의·범위 조회"/>
          <p:cNvCxnSpPr>
            <a:stCxn id="67" idx="1"/>
            <a:endCxn id="68" idx="3"/>
          </p:cNvCxnSpPr>
          <p:nvPr/>
        </p:nvCxnSpPr>
        <p:spPr>
          <a:xfrm flipH="1" flipV="1">
            <a:off x="10526572" y="6995160"/>
            <a:ext cx="2675535" cy="0"/>
          </a:xfrm>
          <a:prstGeom prst="line">
            <a:avLst/>
          </a:prstGeom>
          <a:ln w="22225">
            <a:solidFill>
              <a:srgbClr val="2A59C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0" name="05 화살표 설명"/>
          <p:cNvSpPr txBox="1"/>
          <p:nvPr/>
        </p:nvSpPr>
        <p:spPr>
          <a:xfrm>
            <a:off x="10643615" y="6675120"/>
            <a:ext cx="2441448" cy="256032"/>
          </a:xfrm>
          <a:prstGeom prst="rect">
            <a:avLst/>
          </a:prstGeom>
          <a:noFill/>
          <a:effectLst/>
        </p:spPr>
        <p:txBody>
          <a:bodyPr wrap="square" lIns="0" tIns="54864" rIns="0" bIns="54864" anchor="ctr">
            <a:noAutofit/>
          </a:bodyPr>
          <a:lstStyle/>
          <a:p>
            <a:pPr algn="ctr">
              <a:lnSpc>
                <a:spcPct val="110000"/>
              </a:lnSpc>
              <a:spcBef>
                <a:spcPts val="0"/>
              </a:spcBef>
              <a:spcAft>
                <a:spcPts val="0"/>
              </a:spcAft>
            </a:pPr>
            <a:r>
              <a:rPr lang="ko-KR" altLang="en-US" sz="1680" b="1">
                <a:solidFill>
                  <a:srgbClr val="2A59C5"/>
                </a:solidFill>
                <a:latin typeface="프리텐다드 Bold"/>
                <a:ea typeface="프리텐다드 Bold"/>
              </a:rPr>
              <a:t>동의·범위 조회</a:t>
            </a:r>
          </a:p>
        </p:txBody>
      </p:sp>
      <p:cxnSp>
        <p:nvCxnSpPr>
          <p:cNvPr id="73" name="06 단기 토큰"/>
          <p:cNvCxnSpPr>
            <a:stCxn id="71" idx="3"/>
            <a:endCxn id="72" idx="1"/>
          </p:cNvCxnSpPr>
          <p:nvPr/>
        </p:nvCxnSpPr>
        <p:spPr>
          <a:xfrm>
            <a:off x="10526572" y="7635240"/>
            <a:ext cx="2675535" cy="0"/>
          </a:xfrm>
          <a:prstGeom prst="line">
            <a:avLst/>
          </a:prstGeom>
          <a:ln w="22225">
            <a:solidFill>
              <a:srgbClr val="2A59C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4" name="06 화살표 설명"/>
          <p:cNvSpPr txBox="1"/>
          <p:nvPr/>
        </p:nvSpPr>
        <p:spPr>
          <a:xfrm>
            <a:off x="10643615" y="7315200"/>
            <a:ext cx="2441448" cy="256032"/>
          </a:xfrm>
          <a:prstGeom prst="rect">
            <a:avLst/>
          </a:prstGeom>
          <a:noFill/>
          <a:effectLst/>
        </p:spPr>
        <p:txBody>
          <a:bodyPr wrap="square" lIns="0" tIns="54864" rIns="0" bIns="54864" anchor="ctr">
            <a:noAutofit/>
          </a:bodyPr>
          <a:lstStyle/>
          <a:p>
            <a:pPr algn="ctr">
              <a:lnSpc>
                <a:spcPct val="110000"/>
              </a:lnSpc>
              <a:spcBef>
                <a:spcPts val="0"/>
              </a:spcBef>
              <a:spcAft>
                <a:spcPts val="0"/>
              </a:spcAft>
            </a:pPr>
            <a:r>
              <a:rPr lang="ko-KR" altLang="en-US" sz="1680" b="1">
                <a:solidFill>
                  <a:srgbClr val="2A59C5"/>
                </a:solidFill>
                <a:latin typeface="프리텐다드 Bold"/>
                <a:ea typeface="프리텐다드 Bold"/>
              </a:rPr>
              <a:t>단기 토큰</a:t>
            </a:r>
          </a:p>
        </p:txBody>
      </p:sp>
      <p:cxnSp>
        <p:nvCxnSpPr>
          <p:cNvPr id="77" name="07 재검증 후 요청"/>
          <p:cNvCxnSpPr>
            <a:stCxn id="75" idx="3"/>
            <a:endCxn id="76" idx="1"/>
          </p:cNvCxnSpPr>
          <p:nvPr/>
        </p:nvCxnSpPr>
        <p:spPr>
          <a:xfrm>
            <a:off x="13297204" y="8275319"/>
            <a:ext cx="2675535" cy="0"/>
          </a:xfrm>
          <a:prstGeom prst="line">
            <a:avLst/>
          </a:prstGeom>
          <a:ln w="22225">
            <a:solidFill>
              <a:srgbClr val="2A59C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8" name="07 화살표 설명"/>
          <p:cNvSpPr txBox="1"/>
          <p:nvPr/>
        </p:nvSpPr>
        <p:spPr>
          <a:xfrm>
            <a:off x="13414248" y="7955279"/>
            <a:ext cx="2441448" cy="256032"/>
          </a:xfrm>
          <a:prstGeom prst="rect">
            <a:avLst/>
          </a:prstGeom>
          <a:noFill/>
          <a:effectLst/>
        </p:spPr>
        <p:txBody>
          <a:bodyPr wrap="square" lIns="0" tIns="54864" rIns="0" bIns="54864" anchor="ctr">
            <a:noAutofit/>
          </a:bodyPr>
          <a:lstStyle/>
          <a:p>
            <a:pPr algn="ctr">
              <a:lnSpc>
                <a:spcPct val="110000"/>
              </a:lnSpc>
              <a:spcBef>
                <a:spcPts val="0"/>
              </a:spcBef>
              <a:spcAft>
                <a:spcPts val="0"/>
              </a:spcAft>
            </a:pPr>
            <a:r>
              <a:rPr lang="ko-KR" altLang="en-US" sz="1680" b="1">
                <a:solidFill>
                  <a:srgbClr val="2A59C5"/>
                </a:solidFill>
                <a:latin typeface="프리텐다드 Bold"/>
                <a:ea typeface="프리텐다드 Bold"/>
              </a:rPr>
              <a:t>재검증 후 요청</a:t>
            </a:r>
          </a:p>
        </p:txBody>
      </p:sp>
      <p:cxnSp>
        <p:nvCxnSpPr>
          <p:cNvPr id="81" name="08 선택 영상"/>
          <p:cNvCxnSpPr>
            <a:stCxn id="79" idx="1"/>
            <a:endCxn id="80" idx="3"/>
          </p:cNvCxnSpPr>
          <p:nvPr/>
        </p:nvCxnSpPr>
        <p:spPr>
          <a:xfrm flipH="1">
            <a:off x="13297204" y="8915400"/>
            <a:ext cx="2675535" cy="0"/>
          </a:xfrm>
          <a:prstGeom prst="line">
            <a:avLst/>
          </a:prstGeom>
          <a:ln w="22225">
            <a:solidFill>
              <a:srgbClr val="C76A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2" name="08 화살표 설명"/>
          <p:cNvSpPr txBox="1"/>
          <p:nvPr/>
        </p:nvSpPr>
        <p:spPr>
          <a:xfrm>
            <a:off x="13414248" y="8595360"/>
            <a:ext cx="2441448" cy="256032"/>
          </a:xfrm>
          <a:prstGeom prst="rect">
            <a:avLst/>
          </a:prstGeom>
          <a:noFill/>
          <a:effectLst/>
        </p:spPr>
        <p:txBody>
          <a:bodyPr wrap="square" lIns="0" tIns="54864" rIns="0" bIns="54864" anchor="ctr">
            <a:noAutofit/>
          </a:bodyPr>
          <a:lstStyle/>
          <a:p>
            <a:pPr algn="ctr">
              <a:lnSpc>
                <a:spcPct val="110000"/>
              </a:lnSpc>
              <a:spcBef>
                <a:spcPts val="0"/>
              </a:spcBef>
              <a:spcAft>
                <a:spcPts val="0"/>
              </a:spcAft>
            </a:pPr>
            <a:r>
              <a:rPr lang="ko-KR" altLang="en-US" sz="1680" b="1">
                <a:solidFill>
                  <a:srgbClr val="C76A24"/>
                </a:solidFill>
                <a:latin typeface="프리텐다드 Bold"/>
                <a:ea typeface="프리텐다드 Bold"/>
              </a:rPr>
              <a:t>선택 영상</a:t>
            </a:r>
          </a:p>
        </p:txBody>
      </p:sp>
      <p:cxnSp>
        <p:nvCxnSpPr>
          <p:cNvPr id="84" name="08 승인된 열람·수신"/>
          <p:cNvCxnSpPr>
            <a:stCxn id="80" idx="1"/>
            <a:endCxn id="83" idx="3"/>
          </p:cNvCxnSpPr>
          <p:nvPr/>
        </p:nvCxnSpPr>
        <p:spPr>
          <a:xfrm flipH="1">
            <a:off x="7755940" y="8915400"/>
            <a:ext cx="5446167" cy="0"/>
          </a:xfrm>
          <a:prstGeom prst="line">
            <a:avLst/>
          </a:prstGeom>
          <a:ln w="22225">
            <a:solidFill>
              <a:srgbClr val="C76A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5" name="08 화살표 설명"/>
          <p:cNvSpPr txBox="1"/>
          <p:nvPr/>
        </p:nvSpPr>
        <p:spPr>
          <a:xfrm>
            <a:off x="7872983" y="8595360"/>
            <a:ext cx="5212080" cy="256032"/>
          </a:xfrm>
          <a:prstGeom prst="rect">
            <a:avLst/>
          </a:prstGeom>
          <a:noFill/>
          <a:effectLst/>
        </p:spPr>
        <p:txBody>
          <a:bodyPr wrap="square" lIns="0" tIns="54864" rIns="0" bIns="54864" anchor="ctr">
            <a:noAutofit/>
          </a:bodyPr>
          <a:lstStyle/>
          <a:p>
            <a:pPr algn="ctr">
              <a:lnSpc>
                <a:spcPct val="110000"/>
              </a:lnSpc>
              <a:spcBef>
                <a:spcPts val="0"/>
              </a:spcBef>
              <a:spcAft>
                <a:spcPts val="0"/>
              </a:spcAft>
            </a:pPr>
            <a:r>
              <a:rPr lang="ko-KR" altLang="en-US" sz="1680" b="1">
                <a:solidFill>
                  <a:srgbClr val="C76A24"/>
                </a:solidFill>
                <a:latin typeface="프리텐다드 Bold"/>
                <a:ea typeface="프리텐다드 Bold"/>
              </a:rPr>
              <a:t>승인된 열람·수신</a:t>
            </a:r>
          </a:p>
        </p:txBody>
      </p:sp>
      <p:cxnSp>
        <p:nvCxnSpPr>
          <p:cNvPr id="88" name="영상 접근 감사로그"/>
          <p:cNvCxnSpPr>
            <a:stCxn id="86" idx="1"/>
            <a:endCxn id="87" idx="3"/>
          </p:cNvCxnSpPr>
          <p:nvPr/>
        </p:nvCxnSpPr>
        <p:spPr>
          <a:xfrm flipH="1">
            <a:off x="10504626" y="9189719"/>
            <a:ext cx="2719426" cy="0"/>
          </a:xfrm>
          <a:prstGeom prst="line">
            <a:avLst/>
          </a:prstGeom>
          <a:ln w="13970">
            <a:solidFill>
              <a:srgbClr val="595959"/>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89" name="감사로그 라벨"/>
          <p:cNvSpPr txBox="1"/>
          <p:nvPr/>
        </p:nvSpPr>
        <p:spPr>
          <a:xfrm>
            <a:off x="10753344" y="9015984"/>
            <a:ext cx="2194560" cy="228600"/>
          </a:xfrm>
          <a:prstGeom prst="rect">
            <a:avLst/>
          </a:prstGeom>
          <a:noFill/>
          <a:effectLst/>
        </p:spPr>
        <p:txBody>
          <a:bodyPr wrap="square" lIns="0" tIns="54864" rIns="0" bIns="54864" anchor="ctr">
            <a:noAutofit/>
          </a:bodyPr>
          <a:lstStyle/>
          <a:p>
            <a:pPr algn="ctr">
              <a:lnSpc>
                <a:spcPct val="110000"/>
              </a:lnSpc>
              <a:spcBef>
                <a:spcPts val="0"/>
              </a:spcBef>
              <a:spcAft>
                <a:spcPts val="0"/>
              </a:spcAft>
            </a:pPr>
            <a:r>
              <a:rPr lang="ko-KR" altLang="en-US" sz="1450" b="0">
                <a:solidFill>
                  <a:srgbClr val="595959"/>
                </a:solidFill>
                <a:latin typeface="프리텐다드"/>
                <a:ea typeface="프리텐다드"/>
              </a:rPr>
              <a:t>감사기록</a:t>
            </a:r>
          </a:p>
        </p:txBody>
      </p:sp>
      <p:sp>
        <p:nvSpPr>
          <p:cNvPr id="90" name="인증절차 핵심 원칙"/>
          <p:cNvSpPr/>
          <p:nvPr/>
        </p:nvSpPr>
        <p:spPr>
          <a:xfrm>
            <a:off x="1028700" y="9528048"/>
            <a:ext cx="16230600" cy="576072"/>
          </a:xfrm>
          <a:prstGeom prst="rect">
            <a:avLst/>
          </a:prstGeom>
          <a:solidFill>
            <a:srgbClr val="E9E9E9"/>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54864" rIns="146304" bIns="54864" rtlCol="0" anchor="ctr">
            <a:noAutofit/>
          </a:bodyPr>
          <a:lstStyle/>
          <a:p>
            <a:pPr algn="ctr">
              <a:lnSpc>
                <a:spcPct val="112000"/>
              </a:lnSpc>
              <a:spcBef>
                <a:spcPts val="0"/>
              </a:spcBef>
              <a:spcAft>
                <a:spcPts val="0"/>
              </a:spcAft>
            </a:pPr>
            <a:r>
              <a:rPr lang="ko-KR" altLang="en-US" sz="2100" b="1">
                <a:solidFill>
                  <a:srgbClr val="2A59C5"/>
                </a:solidFill>
                <a:latin typeface="프리텐다드 Bold"/>
                <a:ea typeface="프리텐다드 Bold"/>
              </a:rPr>
              <a:t>인증 ≠ 권한 부여   |   QR ≠ 접근 허가   |   </a:t>
            </a:r>
            <a:r>
              <a:rPr lang="ko-KR" altLang="en-US" sz="2000" b="0">
                <a:solidFill>
                  <a:srgbClr val="282828"/>
                </a:solidFill>
                <a:latin typeface="프리텐다드"/>
                <a:ea typeface="프리텐다드"/>
              </a:rPr>
              <a:t>검증 실패·범위 초과 요청은 영상 전달 차단</a:t>
            </a:r>
          </a:p>
        </p:txBody>
      </p:sp>
      <p:grpSp>
        <p:nvGrpSpPr>
          <p:cNvPr id="91" name="8단계 설명"/>
          <p:cNvGrpSpPr/>
          <p:nvPr/>
        </p:nvGrpSpPr>
        <p:grpSpPr>
          <a:xfrm>
            <a:off x="1028700" y="4160520"/>
            <a:ext cx="5234940" cy="5074920"/>
            <a:chOff x="1028700" y="4160520"/>
            <a:chExt cx="5234940" cy="5074920"/>
          </a:xfrm>
        </p:grpSpPr>
        <p:sp>
          <p:nvSpPr>
            <p:cNvPr id="20" name="단계 01"/>
            <p:cNvSpPr/>
            <p:nvPr/>
          </p:nvSpPr>
          <p:spPr>
            <a:xfrm>
              <a:off x="1028700" y="4288536"/>
              <a:ext cx="310896" cy="310896"/>
            </a:xfrm>
            <a:prstGeom prst="ellipse">
              <a:avLst/>
            </a:prstGeom>
            <a:solidFill>
              <a:srgbClr val="2A59C5"/>
            </a:solidFill>
            <a:ln>
              <a:no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ctr">
                <a:lnSpc>
                  <a:spcPct val="112000"/>
                </a:lnSpc>
                <a:spcBef>
                  <a:spcPts val="0"/>
                </a:spcBef>
                <a:spcAft>
                  <a:spcPts val="0"/>
                </a:spcAft>
              </a:pPr>
              <a:r>
                <a:rPr lang="ko-KR" altLang="en-US" sz="1600" b="1">
                  <a:solidFill>
                    <a:srgbClr val="FFFFFF"/>
                  </a:solidFill>
                  <a:latin typeface="프리텐다드 Bold"/>
                  <a:ea typeface="프리텐다드 Bold"/>
                </a:rPr>
                <a:t>1</a:t>
              </a:r>
            </a:p>
          </p:txBody>
        </p:sp>
        <p:sp>
          <p:nvSpPr>
            <p:cNvPr id="21" name="01 단계 제목"/>
            <p:cNvSpPr txBox="1"/>
            <p:nvPr/>
          </p:nvSpPr>
          <p:spPr>
            <a:xfrm>
              <a:off x="1508760" y="4160520"/>
              <a:ext cx="4745736" cy="329184"/>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100" b="1">
                  <a:solidFill>
                    <a:srgbClr val="282828"/>
                  </a:solidFill>
                  <a:latin typeface="프리텐다드 Bold"/>
                  <a:ea typeface="프리텐다드 Bold"/>
                </a:rPr>
                <a:t>Microsoft 로그인</a:t>
              </a:r>
            </a:p>
          </p:txBody>
        </p:sp>
        <p:sp>
          <p:nvSpPr>
            <p:cNvPr id="22" name="01 단계 설명"/>
            <p:cNvSpPr txBox="1"/>
            <p:nvPr/>
          </p:nvSpPr>
          <p:spPr>
            <a:xfrm>
              <a:off x="1508760" y="4480559"/>
              <a:ext cx="4754880" cy="274320"/>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1680" b="0">
                  <a:solidFill>
                    <a:srgbClr val="595959"/>
                  </a:solidFill>
                  <a:latin typeface="프리텐다드"/>
                  <a:ea typeface="프리텐다드"/>
                </a:rPr>
                <a:t>환자·의료진 신원 확인</a:t>
              </a:r>
            </a:p>
          </p:txBody>
        </p:sp>
        <p:sp>
          <p:nvSpPr>
            <p:cNvPr id="24" name="단계 02"/>
            <p:cNvSpPr/>
            <p:nvPr/>
          </p:nvSpPr>
          <p:spPr>
            <a:xfrm>
              <a:off x="1028700" y="4928616"/>
              <a:ext cx="310896" cy="310896"/>
            </a:xfrm>
            <a:prstGeom prst="ellipse">
              <a:avLst/>
            </a:prstGeom>
            <a:solidFill>
              <a:srgbClr val="2A59C5"/>
            </a:solidFill>
            <a:ln>
              <a:no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ctr">
                <a:lnSpc>
                  <a:spcPct val="112000"/>
                </a:lnSpc>
                <a:spcBef>
                  <a:spcPts val="0"/>
                </a:spcBef>
                <a:spcAft>
                  <a:spcPts val="0"/>
                </a:spcAft>
              </a:pPr>
              <a:r>
                <a:rPr lang="ko-KR" altLang="en-US" sz="1600" b="1">
                  <a:solidFill>
                    <a:srgbClr val="FFFFFF"/>
                  </a:solidFill>
                  <a:latin typeface="프리텐다드 Bold"/>
                  <a:ea typeface="프리텐다드 Bold"/>
                </a:rPr>
                <a:t>2</a:t>
              </a:r>
            </a:p>
          </p:txBody>
        </p:sp>
        <p:sp>
          <p:nvSpPr>
            <p:cNvPr id="25" name="02 단계 제목"/>
            <p:cNvSpPr txBox="1"/>
            <p:nvPr/>
          </p:nvSpPr>
          <p:spPr>
            <a:xfrm>
              <a:off x="1508760" y="4800600"/>
              <a:ext cx="4745736" cy="329184"/>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100" b="1">
                  <a:solidFill>
                    <a:srgbClr val="282828"/>
                  </a:solidFill>
                  <a:latin typeface="프리텐다드 Bold"/>
                  <a:ea typeface="프리텐다드 Bold"/>
                </a:rPr>
                <a:t>공유 범위 선택</a:t>
              </a:r>
            </a:p>
          </p:txBody>
        </p:sp>
        <p:sp>
          <p:nvSpPr>
            <p:cNvPr id="26" name="02 단계 설명"/>
            <p:cNvSpPr txBox="1"/>
            <p:nvPr/>
          </p:nvSpPr>
          <p:spPr>
            <a:xfrm>
              <a:off x="1508760" y="5120640"/>
              <a:ext cx="4754880" cy="274320"/>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1680" b="0">
                  <a:solidFill>
                    <a:srgbClr val="595959"/>
                  </a:solidFill>
                  <a:latin typeface="프리텐다드"/>
                  <a:ea typeface="프리텐다드"/>
                </a:rPr>
                <a:t>병원·기간·목적·영상 범위</a:t>
              </a:r>
            </a:p>
          </p:txBody>
        </p:sp>
        <p:sp>
          <p:nvSpPr>
            <p:cNvPr id="28" name="단계 03"/>
            <p:cNvSpPr/>
            <p:nvPr/>
          </p:nvSpPr>
          <p:spPr>
            <a:xfrm>
              <a:off x="1028700" y="5568696"/>
              <a:ext cx="310896" cy="310896"/>
            </a:xfrm>
            <a:prstGeom prst="ellipse">
              <a:avLst/>
            </a:prstGeom>
            <a:solidFill>
              <a:srgbClr val="2A59C5"/>
            </a:solidFill>
            <a:ln>
              <a:no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ctr">
                <a:lnSpc>
                  <a:spcPct val="112000"/>
                </a:lnSpc>
                <a:spcBef>
                  <a:spcPts val="0"/>
                </a:spcBef>
                <a:spcAft>
                  <a:spcPts val="0"/>
                </a:spcAft>
              </a:pPr>
              <a:r>
                <a:rPr lang="ko-KR" altLang="en-US" sz="1600" b="1">
                  <a:solidFill>
                    <a:srgbClr val="FFFFFF"/>
                  </a:solidFill>
                  <a:latin typeface="프리텐다드 Bold"/>
                  <a:ea typeface="프리텐다드 Bold"/>
                </a:rPr>
                <a:t>3</a:t>
              </a:r>
            </a:p>
          </p:txBody>
        </p:sp>
        <p:sp>
          <p:nvSpPr>
            <p:cNvPr id="29" name="03 단계 제목"/>
            <p:cNvSpPr txBox="1"/>
            <p:nvPr/>
          </p:nvSpPr>
          <p:spPr>
            <a:xfrm>
              <a:off x="1508760" y="5440680"/>
              <a:ext cx="4745736" cy="329184"/>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100" b="1">
                  <a:solidFill>
                    <a:srgbClr val="282828"/>
                  </a:solidFill>
                  <a:latin typeface="프리텐다드 Bold"/>
                  <a:ea typeface="프리텐다드 Bold"/>
                </a:rPr>
                <a:t>동의 저장·QR 발급</a:t>
              </a:r>
            </a:p>
          </p:txBody>
        </p:sp>
        <p:sp>
          <p:nvSpPr>
            <p:cNvPr id="30" name="03 단계 설명"/>
            <p:cNvSpPr txBox="1"/>
            <p:nvPr/>
          </p:nvSpPr>
          <p:spPr>
            <a:xfrm>
              <a:off x="1508760" y="5760720"/>
              <a:ext cx="4754880" cy="274320"/>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1680" b="0">
                  <a:solidFill>
                    <a:srgbClr val="595959"/>
                  </a:solidFill>
                  <a:latin typeface="프리텐다드"/>
                  <a:ea typeface="프리텐다드"/>
                </a:rPr>
                <a:t>QR은 접수 수단, 권한은 별도 검증</a:t>
              </a:r>
            </a:p>
          </p:txBody>
        </p:sp>
        <p:sp>
          <p:nvSpPr>
            <p:cNvPr id="32" name="단계 04"/>
            <p:cNvSpPr/>
            <p:nvPr/>
          </p:nvSpPr>
          <p:spPr>
            <a:xfrm>
              <a:off x="1028700" y="6208775"/>
              <a:ext cx="310896" cy="310896"/>
            </a:xfrm>
            <a:prstGeom prst="ellipse">
              <a:avLst/>
            </a:prstGeom>
            <a:solidFill>
              <a:srgbClr val="2A59C5"/>
            </a:solidFill>
            <a:ln>
              <a:no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ctr">
                <a:lnSpc>
                  <a:spcPct val="112000"/>
                </a:lnSpc>
                <a:spcBef>
                  <a:spcPts val="0"/>
                </a:spcBef>
                <a:spcAft>
                  <a:spcPts val="0"/>
                </a:spcAft>
              </a:pPr>
              <a:r>
                <a:rPr lang="ko-KR" altLang="en-US" sz="1600" b="1">
                  <a:solidFill>
                    <a:srgbClr val="FFFFFF"/>
                  </a:solidFill>
                  <a:latin typeface="프리텐다드 Bold"/>
                  <a:ea typeface="프리텐다드 Bold"/>
                </a:rPr>
                <a:t>4</a:t>
              </a:r>
            </a:p>
          </p:txBody>
        </p:sp>
        <p:sp>
          <p:nvSpPr>
            <p:cNvPr id="33" name="04 단계 제목"/>
            <p:cNvSpPr txBox="1"/>
            <p:nvPr/>
          </p:nvSpPr>
          <p:spPr>
            <a:xfrm>
              <a:off x="1508760" y="6080759"/>
              <a:ext cx="4745736" cy="329184"/>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100" b="1">
                  <a:solidFill>
                    <a:srgbClr val="282828"/>
                  </a:solidFill>
                  <a:latin typeface="프리텐다드 Bold"/>
                  <a:ea typeface="프리텐다드 Bold"/>
                </a:rPr>
                <a:t>의료진 QR 접수</a:t>
              </a:r>
            </a:p>
          </p:txBody>
        </p:sp>
        <p:sp>
          <p:nvSpPr>
            <p:cNvPr id="34" name="04 단계 설명"/>
            <p:cNvSpPr txBox="1"/>
            <p:nvPr/>
          </p:nvSpPr>
          <p:spPr>
            <a:xfrm>
              <a:off x="1508760" y="6400799"/>
              <a:ext cx="4754880" cy="274320"/>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1680" b="0">
                  <a:solidFill>
                    <a:srgbClr val="595959"/>
                  </a:solidFill>
                  <a:latin typeface="프리텐다드"/>
                  <a:ea typeface="프리텐다드"/>
                </a:rPr>
                <a:t>환자·병원·요청 범위 식별</a:t>
              </a:r>
            </a:p>
          </p:txBody>
        </p:sp>
        <p:sp>
          <p:nvSpPr>
            <p:cNvPr id="36" name="단계 05"/>
            <p:cNvSpPr/>
            <p:nvPr/>
          </p:nvSpPr>
          <p:spPr>
            <a:xfrm>
              <a:off x="1028700" y="6848855"/>
              <a:ext cx="310896" cy="310896"/>
            </a:xfrm>
            <a:prstGeom prst="ellipse">
              <a:avLst/>
            </a:prstGeom>
            <a:solidFill>
              <a:srgbClr val="2A59C5"/>
            </a:solidFill>
            <a:ln>
              <a:no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ctr">
                <a:lnSpc>
                  <a:spcPct val="112000"/>
                </a:lnSpc>
                <a:spcBef>
                  <a:spcPts val="0"/>
                </a:spcBef>
                <a:spcAft>
                  <a:spcPts val="0"/>
                </a:spcAft>
              </a:pPr>
              <a:r>
                <a:rPr lang="ko-KR" altLang="en-US" sz="1600" b="1">
                  <a:solidFill>
                    <a:srgbClr val="FFFFFF"/>
                  </a:solidFill>
                  <a:latin typeface="프리텐다드 Bold"/>
                  <a:ea typeface="프리텐다드 Bold"/>
                </a:rPr>
                <a:t>5</a:t>
              </a:r>
            </a:p>
          </p:txBody>
        </p:sp>
        <p:sp>
          <p:nvSpPr>
            <p:cNvPr id="37" name="05 단계 제목"/>
            <p:cNvSpPr txBox="1"/>
            <p:nvPr/>
          </p:nvSpPr>
          <p:spPr>
            <a:xfrm>
              <a:off x="1508760" y="6720840"/>
              <a:ext cx="4745736" cy="329184"/>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100" b="1">
                  <a:solidFill>
                    <a:srgbClr val="282828"/>
                  </a:solidFill>
                  <a:latin typeface="프리텐다드 Bold"/>
                  <a:ea typeface="프리텐다드 Bold"/>
                </a:rPr>
                <a:t>동의·영상 범위 조회</a:t>
              </a:r>
            </a:p>
          </p:txBody>
        </p:sp>
        <p:sp>
          <p:nvSpPr>
            <p:cNvPr id="38" name="05 단계 설명"/>
            <p:cNvSpPr txBox="1"/>
            <p:nvPr/>
          </p:nvSpPr>
          <p:spPr>
            <a:xfrm>
              <a:off x="1508760" y="7040879"/>
              <a:ext cx="4754880" cy="274320"/>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1680" b="0">
                  <a:solidFill>
                    <a:srgbClr val="595959"/>
                  </a:solidFill>
                  <a:latin typeface="프리텐다드"/>
                  <a:ea typeface="프리텐다드"/>
                </a:rPr>
                <a:t>유효 동의·목적·Study / Series</a:t>
              </a:r>
            </a:p>
          </p:txBody>
        </p:sp>
        <p:sp>
          <p:nvSpPr>
            <p:cNvPr id="40" name="단계 06"/>
            <p:cNvSpPr/>
            <p:nvPr/>
          </p:nvSpPr>
          <p:spPr>
            <a:xfrm>
              <a:off x="1028700" y="7488936"/>
              <a:ext cx="310896" cy="310896"/>
            </a:xfrm>
            <a:prstGeom prst="ellipse">
              <a:avLst/>
            </a:prstGeom>
            <a:solidFill>
              <a:srgbClr val="2A59C5"/>
            </a:solidFill>
            <a:ln>
              <a:no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ctr">
                <a:lnSpc>
                  <a:spcPct val="112000"/>
                </a:lnSpc>
                <a:spcBef>
                  <a:spcPts val="0"/>
                </a:spcBef>
                <a:spcAft>
                  <a:spcPts val="0"/>
                </a:spcAft>
              </a:pPr>
              <a:r>
                <a:rPr lang="ko-KR" altLang="en-US" sz="1600" b="1">
                  <a:solidFill>
                    <a:srgbClr val="FFFFFF"/>
                  </a:solidFill>
                  <a:latin typeface="프리텐다드 Bold"/>
                  <a:ea typeface="프리텐다드 Bold"/>
                </a:rPr>
                <a:t>6</a:t>
              </a:r>
            </a:p>
          </p:txBody>
        </p:sp>
        <p:sp>
          <p:nvSpPr>
            <p:cNvPr id="41" name="06 단계 제목"/>
            <p:cNvSpPr txBox="1"/>
            <p:nvPr/>
          </p:nvSpPr>
          <p:spPr>
            <a:xfrm>
              <a:off x="1508760" y="7360919"/>
              <a:ext cx="4745736" cy="329184"/>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100" b="1">
                  <a:solidFill>
                    <a:srgbClr val="282828"/>
                  </a:solidFill>
                  <a:latin typeface="프리텐다드 Bold"/>
                  <a:ea typeface="프리텐다드 Bold"/>
                </a:rPr>
                <a:t>권한 판정·단기 토큰</a:t>
              </a:r>
            </a:p>
          </p:txBody>
        </p:sp>
        <p:sp>
          <p:nvSpPr>
            <p:cNvPr id="42" name="06 단계 설명"/>
            <p:cNvSpPr txBox="1"/>
            <p:nvPr/>
          </p:nvSpPr>
          <p:spPr>
            <a:xfrm>
              <a:off x="1508760" y="7680960"/>
              <a:ext cx="4754880" cy="274320"/>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1680" b="0">
                  <a:solidFill>
                    <a:srgbClr val="595959"/>
                  </a:solidFill>
                  <a:latin typeface="프리텐다드"/>
                  <a:ea typeface="프리텐다드"/>
                </a:rPr>
                <a:t>RBAC / ABAC · 최소 범위 · 5분</a:t>
              </a:r>
            </a:p>
          </p:txBody>
        </p:sp>
        <p:sp>
          <p:nvSpPr>
            <p:cNvPr id="44" name="단계 07"/>
            <p:cNvSpPr/>
            <p:nvPr/>
          </p:nvSpPr>
          <p:spPr>
            <a:xfrm>
              <a:off x="1028700" y="8129015"/>
              <a:ext cx="310896" cy="310896"/>
            </a:xfrm>
            <a:prstGeom prst="ellipse">
              <a:avLst/>
            </a:prstGeom>
            <a:solidFill>
              <a:srgbClr val="2A59C5"/>
            </a:solidFill>
            <a:ln>
              <a:no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ctr">
                <a:lnSpc>
                  <a:spcPct val="112000"/>
                </a:lnSpc>
                <a:spcBef>
                  <a:spcPts val="0"/>
                </a:spcBef>
                <a:spcAft>
                  <a:spcPts val="0"/>
                </a:spcAft>
              </a:pPr>
              <a:r>
                <a:rPr lang="ko-KR" altLang="en-US" sz="1600" b="1">
                  <a:solidFill>
                    <a:srgbClr val="FFFFFF"/>
                  </a:solidFill>
                  <a:latin typeface="프리텐다드 Bold"/>
                  <a:ea typeface="프리텐다드 Bold"/>
                </a:rPr>
                <a:t>7</a:t>
              </a:r>
            </a:p>
          </p:txBody>
        </p:sp>
        <p:sp>
          <p:nvSpPr>
            <p:cNvPr id="45" name="07 단계 제목"/>
            <p:cNvSpPr txBox="1"/>
            <p:nvPr/>
          </p:nvSpPr>
          <p:spPr>
            <a:xfrm>
              <a:off x="1508760" y="8000999"/>
              <a:ext cx="4745736" cy="329184"/>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100" b="1">
                  <a:solidFill>
                    <a:srgbClr val="282828"/>
                  </a:solidFill>
                  <a:latin typeface="프리텐다드 Bold"/>
                  <a:ea typeface="프리텐다드 Bold"/>
                </a:rPr>
                <a:t>Gateway 재검증</a:t>
              </a:r>
            </a:p>
          </p:txBody>
        </p:sp>
        <p:sp>
          <p:nvSpPr>
            <p:cNvPr id="46" name="07 단계 설명"/>
            <p:cNvSpPr txBox="1"/>
            <p:nvPr/>
          </p:nvSpPr>
          <p:spPr>
            <a:xfrm>
              <a:off x="1508760" y="8321040"/>
              <a:ext cx="4754880" cy="274320"/>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1680" b="0">
                  <a:solidFill>
                    <a:srgbClr val="595959"/>
                  </a:solidFill>
                  <a:latin typeface="프리텐다드"/>
                  <a:ea typeface="프리텐다드"/>
                </a:rPr>
                <a:t>L2 · DPoP · 환자 동의·토큰 확인</a:t>
              </a:r>
            </a:p>
          </p:txBody>
        </p:sp>
        <p:sp>
          <p:nvSpPr>
            <p:cNvPr id="48" name="단계 08"/>
            <p:cNvSpPr/>
            <p:nvPr/>
          </p:nvSpPr>
          <p:spPr>
            <a:xfrm>
              <a:off x="1028700" y="8769096"/>
              <a:ext cx="310896" cy="310896"/>
            </a:xfrm>
            <a:prstGeom prst="ellipse">
              <a:avLst/>
            </a:prstGeom>
            <a:solidFill>
              <a:srgbClr val="C76A24"/>
            </a:solidFill>
            <a:ln>
              <a:no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ctr">
                <a:lnSpc>
                  <a:spcPct val="112000"/>
                </a:lnSpc>
                <a:spcBef>
                  <a:spcPts val="0"/>
                </a:spcBef>
                <a:spcAft>
                  <a:spcPts val="0"/>
                </a:spcAft>
              </a:pPr>
              <a:r>
                <a:rPr lang="ko-KR" altLang="en-US" sz="1600" b="1">
                  <a:solidFill>
                    <a:srgbClr val="FFFFFF"/>
                  </a:solidFill>
                  <a:latin typeface="프리텐다드 Bold"/>
                  <a:ea typeface="프리텐다드 Bold"/>
                </a:rPr>
                <a:t>8</a:t>
              </a:r>
            </a:p>
          </p:txBody>
        </p:sp>
        <p:sp>
          <p:nvSpPr>
            <p:cNvPr id="49" name="08 단계 제목"/>
            <p:cNvSpPr txBox="1"/>
            <p:nvPr/>
          </p:nvSpPr>
          <p:spPr>
            <a:xfrm>
              <a:off x="1508760" y="8641080"/>
              <a:ext cx="4745736" cy="329184"/>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2100" b="1">
                  <a:solidFill>
                    <a:srgbClr val="282828"/>
                  </a:solidFill>
                  <a:latin typeface="프리텐다드 Bold"/>
                  <a:ea typeface="프리텐다드 Bold"/>
                </a:rPr>
                <a:t>승인 영상 전달·기록</a:t>
              </a:r>
            </a:p>
          </p:txBody>
        </p:sp>
        <p:sp>
          <p:nvSpPr>
            <p:cNvPr id="50" name="08 단계 설명"/>
            <p:cNvSpPr txBox="1"/>
            <p:nvPr/>
          </p:nvSpPr>
          <p:spPr>
            <a:xfrm>
              <a:off x="1508760" y="8961120"/>
              <a:ext cx="4754880" cy="274320"/>
            </a:xfrm>
            <a:prstGeom prst="rect">
              <a:avLst/>
            </a:prstGeom>
            <a:noFill/>
            <a:effectLst/>
          </p:spPr>
          <p:txBody>
            <a:bodyPr wrap="square" lIns="0" tIns="54864" rIns="0" bIns="54864" anchor="ctr">
              <a:noAutofit/>
            </a:bodyPr>
            <a:lstStyle/>
            <a:p>
              <a:pPr algn="l">
                <a:lnSpc>
                  <a:spcPct val="110000"/>
                </a:lnSpc>
                <a:spcBef>
                  <a:spcPts val="0"/>
                </a:spcBef>
                <a:spcAft>
                  <a:spcPts val="0"/>
                </a:spcAft>
              </a:pPr>
              <a:r>
                <a:rPr lang="ko-KR" altLang="en-US" sz="1680" b="0">
                  <a:solidFill>
                    <a:srgbClr val="595959"/>
                  </a:solidFill>
                  <a:latin typeface="프리텐다드"/>
                  <a:ea typeface="프리텐다드"/>
                </a:rPr>
                <a:t>선택 영상만 열람·수신 · 감사로그</a:t>
              </a:r>
            </a:p>
          </p:txBody>
        </p:sp>
      </p:grpSp>
      <p:grpSp>
        <p:nvGrpSpPr>
          <p:cNvPr id="92" name="참여자 1 - 사용자"/>
          <p:cNvGrpSpPr/>
          <p:nvPr/>
        </p:nvGrpSpPr>
        <p:grpSpPr>
          <a:xfrm>
            <a:off x="6473952" y="3172968"/>
            <a:ext cx="2468880" cy="6080760"/>
            <a:chOff x="6473952" y="3172968"/>
            <a:chExt cx="2468880" cy="6080760"/>
          </a:xfrm>
        </p:grpSpPr>
        <p:sp>
          <p:nvSpPr>
            <p:cNvPr id="12" name="사용자 참여자"/>
            <p:cNvSpPr/>
            <p:nvPr/>
          </p:nvSpPr>
          <p:spPr>
            <a:xfrm>
              <a:off x="6473952" y="3172968"/>
              <a:ext cx="2468880" cy="740664"/>
            </a:xfrm>
            <a:prstGeom prst="rect">
              <a:avLst/>
            </a:prstGeom>
            <a:solidFill>
              <a:srgbClr val="E9E9E9"/>
            </a:solidFill>
            <a:ln>
              <a:noFill/>
            </a:ln>
            <a:effectLst/>
          </p:spPr>
          <p:style>
            <a:lnRef idx="1">
              <a:schemeClr val="accent1"/>
            </a:lnRef>
            <a:fillRef idx="3">
              <a:schemeClr val="accent1"/>
            </a:fillRef>
            <a:effectRef idx="0">
              <a:schemeClr val="accent1"/>
            </a:effectRef>
            <a:fontRef idx="minor">
              <a:schemeClr val="lt1"/>
            </a:fontRef>
          </p:style>
          <p:txBody>
            <a:bodyPr wrap="square" lIns="164592" tIns="54864" rIns="164592" bIns="54864" rtlCol="0" anchor="ctr">
              <a:noAutofit/>
            </a:bodyPr>
            <a:lstStyle/>
            <a:p>
              <a:pPr algn="ctr">
                <a:lnSpc>
                  <a:spcPct val="112000"/>
                </a:lnSpc>
                <a:spcBef>
                  <a:spcPts val="0"/>
                </a:spcBef>
                <a:spcAft>
                  <a:spcPts val="0"/>
                </a:spcAft>
              </a:pPr>
              <a:r>
                <a:rPr lang="ko-KR" altLang="en-US" sz="2400" b="1">
                  <a:solidFill>
                    <a:srgbClr val="282828"/>
                  </a:solidFill>
                  <a:latin typeface="프리텐다드 Bold"/>
                  <a:ea typeface="프리텐다드 Bold"/>
                </a:rPr>
                <a:t>사용자</a:t>
              </a:r>
            </a:p>
            <a:p>
              <a:pPr algn="ctr">
                <a:lnSpc>
                  <a:spcPct val="112000"/>
                </a:lnSpc>
                <a:spcBef>
                  <a:spcPts val="0"/>
                </a:spcBef>
                <a:spcAft>
                  <a:spcPts val="0"/>
                </a:spcAft>
              </a:pPr>
              <a:r>
                <a:rPr lang="ko-KR" altLang="en-US" sz="1650" b="0">
                  <a:solidFill>
                    <a:srgbClr val="595959"/>
                  </a:solidFill>
                  <a:latin typeface="프리텐다드"/>
                  <a:ea typeface="프리텐다드"/>
                </a:rPr>
                <a:t>환자 · 의료진</a:t>
              </a:r>
            </a:p>
          </p:txBody>
        </p:sp>
        <p:cxnSp>
          <p:nvCxnSpPr>
            <p:cNvPr id="13" name="사용자 생명선"/>
            <p:cNvCxnSpPr/>
            <p:nvPr/>
          </p:nvCxnSpPr>
          <p:spPr>
            <a:xfrm>
              <a:off x="7708392" y="4050791"/>
              <a:ext cx="0" cy="5202937"/>
            </a:xfrm>
            <a:prstGeom prst="line">
              <a:avLst/>
            </a:prstGeom>
            <a:ln w="12700">
              <a:solidFill>
                <a:srgbClr val="C6C6C6"/>
              </a:solidFill>
              <a:prstDash val="dash"/>
            </a:ln>
            <a:effectLst/>
          </p:spPr>
          <p:style>
            <a:lnRef idx="2">
              <a:schemeClr val="accent1"/>
            </a:lnRef>
            <a:fillRef idx="0">
              <a:schemeClr val="accent1"/>
            </a:fillRef>
            <a:effectRef idx="0">
              <a:schemeClr val="accent1"/>
            </a:effectRef>
            <a:fontRef idx="minor">
              <a:schemeClr val="tx1"/>
            </a:fontRef>
          </p:style>
        </p:cxnSp>
        <p:sp>
          <p:nvSpPr>
            <p:cNvPr id="51" name="01 단계 / 사용자 연결점"/>
            <p:cNvSpPr/>
            <p:nvPr/>
          </p:nvSpPr>
          <p:spPr>
            <a:xfrm>
              <a:off x="7660843" y="4343400"/>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55" name="02 단계 / 사용자 연결점"/>
            <p:cNvSpPr/>
            <p:nvPr/>
          </p:nvSpPr>
          <p:spPr>
            <a:xfrm>
              <a:off x="7660843" y="4983480"/>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60" name="03 단계 / 사용자 연결점"/>
            <p:cNvSpPr/>
            <p:nvPr/>
          </p:nvSpPr>
          <p:spPr>
            <a:xfrm>
              <a:off x="7660843" y="5623560"/>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63" name="04 단계 / 사용자 연결점"/>
            <p:cNvSpPr/>
            <p:nvPr/>
          </p:nvSpPr>
          <p:spPr>
            <a:xfrm>
              <a:off x="7660843" y="6263640"/>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83" name="08 단계 / 사용자 연결점"/>
            <p:cNvSpPr/>
            <p:nvPr/>
          </p:nvSpPr>
          <p:spPr>
            <a:xfrm>
              <a:off x="7660843" y="8823960"/>
              <a:ext cx="95097" cy="182880"/>
            </a:xfrm>
            <a:prstGeom prst="rect">
              <a:avLst/>
            </a:prstGeom>
            <a:solidFill>
              <a:srgbClr val="FFFFFF"/>
            </a:solidFill>
            <a:ln w="11430">
              <a:solidFill>
                <a:srgbClr val="C76A24"/>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grpSp>
      <p:grpSp>
        <p:nvGrpSpPr>
          <p:cNvPr id="93" name="참여자 2 - 인증·제어"/>
          <p:cNvGrpSpPr/>
          <p:nvPr/>
        </p:nvGrpSpPr>
        <p:grpSpPr>
          <a:xfrm>
            <a:off x="9244584" y="3172968"/>
            <a:ext cx="2468880" cy="6080760"/>
            <a:chOff x="9244584" y="3172968"/>
            <a:chExt cx="2468880" cy="6080760"/>
          </a:xfrm>
        </p:grpSpPr>
        <p:sp>
          <p:nvSpPr>
            <p:cNvPr id="14" name="인증·제어 참여자"/>
            <p:cNvSpPr/>
            <p:nvPr/>
          </p:nvSpPr>
          <p:spPr>
            <a:xfrm>
              <a:off x="9244584" y="3172968"/>
              <a:ext cx="2468880" cy="740664"/>
            </a:xfrm>
            <a:prstGeom prst="rect">
              <a:avLst/>
            </a:prstGeom>
            <a:solidFill>
              <a:srgbClr val="2A59C5"/>
            </a:solidFill>
            <a:ln>
              <a:noFill/>
            </a:ln>
            <a:effectLst/>
          </p:spPr>
          <p:style>
            <a:lnRef idx="1">
              <a:schemeClr val="accent1"/>
            </a:lnRef>
            <a:fillRef idx="3">
              <a:schemeClr val="accent1"/>
            </a:fillRef>
            <a:effectRef idx="0">
              <a:schemeClr val="accent1"/>
            </a:effectRef>
            <a:fontRef idx="minor">
              <a:schemeClr val="lt1"/>
            </a:fontRef>
          </p:style>
          <p:txBody>
            <a:bodyPr wrap="square" lIns="164592" tIns="54864" rIns="164592" bIns="54864" rtlCol="0" anchor="ctr">
              <a:noAutofit/>
            </a:bodyPr>
            <a:lstStyle/>
            <a:p>
              <a:pPr algn="ctr">
                <a:lnSpc>
                  <a:spcPct val="112000"/>
                </a:lnSpc>
                <a:spcBef>
                  <a:spcPts val="0"/>
                </a:spcBef>
                <a:spcAft>
                  <a:spcPts val="0"/>
                </a:spcAft>
              </a:pPr>
              <a:r>
                <a:rPr lang="ko-KR" altLang="en-US" sz="2400" b="1">
                  <a:solidFill>
                    <a:srgbClr val="FFFFFF"/>
                  </a:solidFill>
                  <a:latin typeface="프리텐다드 Bold"/>
                  <a:ea typeface="프리텐다드 Bold"/>
                </a:rPr>
                <a:t>인증·제어</a:t>
              </a:r>
            </a:p>
            <a:p>
              <a:pPr algn="ctr">
                <a:lnSpc>
                  <a:spcPct val="112000"/>
                </a:lnSpc>
                <a:spcBef>
                  <a:spcPts val="0"/>
                </a:spcBef>
                <a:spcAft>
                  <a:spcPts val="0"/>
                </a:spcAft>
              </a:pPr>
              <a:r>
                <a:rPr lang="ko-KR" altLang="en-US" sz="1650" b="0">
                  <a:solidFill>
                    <a:srgbClr val="FFFFFF"/>
                  </a:solidFill>
                  <a:latin typeface="프리텐다드"/>
                  <a:ea typeface="프리텐다드"/>
                </a:rPr>
                <a:t>Entra ID · MediQ</a:t>
              </a:r>
            </a:p>
          </p:txBody>
        </p:sp>
        <p:cxnSp>
          <p:nvCxnSpPr>
            <p:cNvPr id="15" name="인증·제어 생명선"/>
            <p:cNvCxnSpPr/>
            <p:nvPr/>
          </p:nvCxnSpPr>
          <p:spPr>
            <a:xfrm>
              <a:off x="10479024" y="4050791"/>
              <a:ext cx="0" cy="5202937"/>
            </a:xfrm>
            <a:prstGeom prst="line">
              <a:avLst/>
            </a:prstGeom>
            <a:ln w="12700">
              <a:solidFill>
                <a:srgbClr val="C6C6C6"/>
              </a:solidFill>
              <a:prstDash val="dash"/>
            </a:ln>
            <a:effectLst/>
          </p:spPr>
          <p:style>
            <a:lnRef idx="2">
              <a:schemeClr val="accent1"/>
            </a:lnRef>
            <a:fillRef idx="0">
              <a:schemeClr val="accent1"/>
            </a:fillRef>
            <a:effectRef idx="0">
              <a:schemeClr val="accent1"/>
            </a:effectRef>
            <a:fontRef idx="minor">
              <a:schemeClr val="tx1"/>
            </a:fontRef>
          </p:style>
        </p:cxnSp>
        <p:sp>
          <p:nvSpPr>
            <p:cNvPr id="52" name="01 단계 / 인증·제어 연결점"/>
            <p:cNvSpPr/>
            <p:nvPr/>
          </p:nvSpPr>
          <p:spPr>
            <a:xfrm>
              <a:off x="10431475" y="4343400"/>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56" name="02 단계 / 인증·제어 연결점"/>
            <p:cNvSpPr/>
            <p:nvPr/>
          </p:nvSpPr>
          <p:spPr>
            <a:xfrm>
              <a:off x="10431475" y="4983480"/>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59" name="03 단계 / 인증·제어 연결점"/>
            <p:cNvSpPr/>
            <p:nvPr/>
          </p:nvSpPr>
          <p:spPr>
            <a:xfrm>
              <a:off x="10431475" y="5623560"/>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68" name="05 단계 / 인증·제어 연결점"/>
            <p:cNvSpPr/>
            <p:nvPr/>
          </p:nvSpPr>
          <p:spPr>
            <a:xfrm>
              <a:off x="10431475" y="6903720"/>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71" name="06 단계 / 인증·제어 연결점"/>
            <p:cNvSpPr/>
            <p:nvPr/>
          </p:nvSpPr>
          <p:spPr>
            <a:xfrm>
              <a:off x="10431475" y="7543800"/>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87" name="감사 기록 제어 연결점"/>
            <p:cNvSpPr/>
            <p:nvPr/>
          </p:nvSpPr>
          <p:spPr>
            <a:xfrm>
              <a:off x="10453420" y="9160459"/>
              <a:ext cx="51206" cy="58521"/>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grpSp>
      <p:grpSp>
        <p:nvGrpSpPr>
          <p:cNvPr id="94" name="참여자 3 - B병원"/>
          <p:cNvGrpSpPr/>
          <p:nvPr/>
        </p:nvGrpSpPr>
        <p:grpSpPr>
          <a:xfrm>
            <a:off x="12015216" y="3172968"/>
            <a:ext cx="2468880" cy="6080760"/>
            <a:chOff x="12015216" y="3172968"/>
            <a:chExt cx="2468880" cy="6080760"/>
          </a:xfrm>
        </p:grpSpPr>
        <p:sp>
          <p:nvSpPr>
            <p:cNvPr id="16" name="B병원 참여자"/>
            <p:cNvSpPr/>
            <p:nvPr/>
          </p:nvSpPr>
          <p:spPr>
            <a:xfrm>
              <a:off x="12015216" y="3172968"/>
              <a:ext cx="2468880" cy="740664"/>
            </a:xfrm>
            <a:prstGeom prst="rect">
              <a:avLst/>
            </a:prstGeom>
            <a:solidFill>
              <a:srgbClr val="E9E9E9"/>
            </a:solidFill>
            <a:ln>
              <a:noFill/>
            </a:ln>
            <a:effectLst/>
          </p:spPr>
          <p:style>
            <a:lnRef idx="1">
              <a:schemeClr val="accent1"/>
            </a:lnRef>
            <a:fillRef idx="3">
              <a:schemeClr val="accent1"/>
            </a:fillRef>
            <a:effectRef idx="0">
              <a:schemeClr val="accent1"/>
            </a:effectRef>
            <a:fontRef idx="minor">
              <a:schemeClr val="lt1"/>
            </a:fontRef>
          </p:style>
          <p:txBody>
            <a:bodyPr wrap="square" lIns="164592" tIns="54864" rIns="164592" bIns="54864" rtlCol="0" anchor="ctr">
              <a:noAutofit/>
            </a:bodyPr>
            <a:lstStyle/>
            <a:p>
              <a:pPr algn="ctr">
                <a:lnSpc>
                  <a:spcPct val="112000"/>
                </a:lnSpc>
                <a:spcBef>
                  <a:spcPts val="0"/>
                </a:spcBef>
                <a:spcAft>
                  <a:spcPts val="0"/>
                </a:spcAft>
              </a:pPr>
              <a:r>
                <a:rPr lang="ko-KR" altLang="en-US" sz="2400" b="1">
                  <a:solidFill>
                    <a:srgbClr val="282828"/>
                  </a:solidFill>
                  <a:latin typeface="프리텐다드 Bold"/>
                  <a:ea typeface="프리텐다드 Bold"/>
                </a:rPr>
                <a:t>B병원</a:t>
              </a:r>
            </a:p>
            <a:p>
              <a:pPr algn="ctr">
                <a:lnSpc>
                  <a:spcPct val="112000"/>
                </a:lnSpc>
                <a:spcBef>
                  <a:spcPts val="0"/>
                </a:spcBef>
                <a:spcAft>
                  <a:spcPts val="0"/>
                </a:spcAft>
              </a:pPr>
              <a:r>
                <a:rPr lang="ko-KR" altLang="en-US" sz="1650" b="0">
                  <a:solidFill>
                    <a:srgbClr val="595959"/>
                  </a:solidFill>
                  <a:latin typeface="프리텐다드"/>
                  <a:ea typeface="프리텐다드"/>
                </a:rPr>
                <a:t>Portal / Gateway</a:t>
              </a:r>
            </a:p>
          </p:txBody>
        </p:sp>
        <p:cxnSp>
          <p:nvCxnSpPr>
            <p:cNvPr id="17" name="B병원 생명선"/>
            <p:cNvCxnSpPr/>
            <p:nvPr/>
          </p:nvCxnSpPr>
          <p:spPr>
            <a:xfrm>
              <a:off x="13249656" y="4050791"/>
              <a:ext cx="0" cy="5202937"/>
            </a:xfrm>
            <a:prstGeom prst="line">
              <a:avLst/>
            </a:prstGeom>
            <a:ln w="12700">
              <a:solidFill>
                <a:srgbClr val="C6C6C6"/>
              </a:solidFill>
              <a:prstDash val="dash"/>
            </a:ln>
            <a:effectLst/>
          </p:spPr>
          <p:style>
            <a:lnRef idx="2">
              <a:schemeClr val="accent1"/>
            </a:lnRef>
            <a:fillRef idx="0">
              <a:schemeClr val="accent1"/>
            </a:fillRef>
            <a:effectRef idx="0">
              <a:schemeClr val="accent1"/>
            </a:effectRef>
            <a:fontRef idx="minor">
              <a:schemeClr val="tx1"/>
            </a:fontRef>
          </p:style>
        </p:cxnSp>
        <p:sp>
          <p:nvSpPr>
            <p:cNvPr id="64" name="04 단계 / B병원 연결점"/>
            <p:cNvSpPr/>
            <p:nvPr/>
          </p:nvSpPr>
          <p:spPr>
            <a:xfrm>
              <a:off x="13202107" y="6263640"/>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67" name="05 단계 / B병원 연결점"/>
            <p:cNvSpPr/>
            <p:nvPr/>
          </p:nvSpPr>
          <p:spPr>
            <a:xfrm>
              <a:off x="13202107" y="6903720"/>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72" name="06 단계 / B병원 연결점"/>
            <p:cNvSpPr/>
            <p:nvPr/>
          </p:nvSpPr>
          <p:spPr>
            <a:xfrm>
              <a:off x="13202107" y="7543800"/>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75" name="07 단계 / B병원 연결점"/>
            <p:cNvSpPr/>
            <p:nvPr/>
          </p:nvSpPr>
          <p:spPr>
            <a:xfrm>
              <a:off x="13202107" y="8183879"/>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80" name="08 단계 / B병원 연결점"/>
            <p:cNvSpPr/>
            <p:nvPr/>
          </p:nvSpPr>
          <p:spPr>
            <a:xfrm>
              <a:off x="13202107" y="8823960"/>
              <a:ext cx="95097" cy="182880"/>
            </a:xfrm>
            <a:prstGeom prst="rect">
              <a:avLst/>
            </a:prstGeom>
            <a:solidFill>
              <a:srgbClr val="FFFFFF"/>
            </a:solidFill>
            <a:ln w="11430">
              <a:solidFill>
                <a:srgbClr val="C76A24"/>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86" name="감사 기록 B 연결점"/>
            <p:cNvSpPr/>
            <p:nvPr/>
          </p:nvSpPr>
          <p:spPr>
            <a:xfrm>
              <a:off x="13224052" y="9160459"/>
              <a:ext cx="51206" cy="58521"/>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grpSp>
      <p:grpSp>
        <p:nvGrpSpPr>
          <p:cNvPr id="95" name="참여자 4 - A병원"/>
          <p:cNvGrpSpPr/>
          <p:nvPr/>
        </p:nvGrpSpPr>
        <p:grpSpPr>
          <a:xfrm>
            <a:off x="14785848" y="3172968"/>
            <a:ext cx="2468880" cy="6080760"/>
            <a:chOff x="14785848" y="3172968"/>
            <a:chExt cx="2468880" cy="6080760"/>
          </a:xfrm>
        </p:grpSpPr>
        <p:sp>
          <p:nvSpPr>
            <p:cNvPr id="18" name="A병원 참여자"/>
            <p:cNvSpPr/>
            <p:nvPr/>
          </p:nvSpPr>
          <p:spPr>
            <a:xfrm>
              <a:off x="14785848" y="3172968"/>
              <a:ext cx="2468880" cy="740664"/>
            </a:xfrm>
            <a:prstGeom prst="rect">
              <a:avLst/>
            </a:prstGeom>
            <a:solidFill>
              <a:srgbClr val="E9E9E9"/>
            </a:solidFill>
            <a:ln>
              <a:noFill/>
            </a:ln>
            <a:effectLst/>
          </p:spPr>
          <p:style>
            <a:lnRef idx="1">
              <a:schemeClr val="accent1"/>
            </a:lnRef>
            <a:fillRef idx="3">
              <a:schemeClr val="accent1"/>
            </a:fillRef>
            <a:effectRef idx="0">
              <a:schemeClr val="accent1"/>
            </a:effectRef>
            <a:fontRef idx="minor">
              <a:schemeClr val="lt1"/>
            </a:fontRef>
          </p:style>
          <p:txBody>
            <a:bodyPr wrap="square" lIns="164592" tIns="54864" rIns="164592" bIns="54864" rtlCol="0" anchor="ctr">
              <a:noAutofit/>
            </a:bodyPr>
            <a:lstStyle/>
            <a:p>
              <a:pPr algn="ctr">
                <a:lnSpc>
                  <a:spcPct val="112000"/>
                </a:lnSpc>
                <a:spcBef>
                  <a:spcPts val="0"/>
                </a:spcBef>
                <a:spcAft>
                  <a:spcPts val="0"/>
                </a:spcAft>
              </a:pPr>
              <a:r>
                <a:rPr lang="ko-KR" altLang="en-US" sz="2400" b="1">
                  <a:solidFill>
                    <a:srgbClr val="282828"/>
                  </a:solidFill>
                  <a:latin typeface="프리텐다드 Bold"/>
                  <a:ea typeface="프리텐다드 Bold"/>
                </a:rPr>
                <a:t>A병원</a:t>
              </a:r>
            </a:p>
            <a:p>
              <a:pPr algn="ctr">
                <a:lnSpc>
                  <a:spcPct val="112000"/>
                </a:lnSpc>
                <a:spcBef>
                  <a:spcPts val="0"/>
                </a:spcBef>
                <a:spcAft>
                  <a:spcPts val="0"/>
                </a:spcAft>
              </a:pPr>
              <a:r>
                <a:rPr lang="ko-KR" altLang="en-US" sz="1650" b="0">
                  <a:solidFill>
                    <a:srgbClr val="595959"/>
                  </a:solidFill>
                  <a:latin typeface="프리텐다드"/>
                  <a:ea typeface="프리텐다드"/>
                </a:rPr>
                <a:t>Gateway / PACS</a:t>
              </a:r>
            </a:p>
          </p:txBody>
        </p:sp>
        <p:cxnSp>
          <p:nvCxnSpPr>
            <p:cNvPr id="19" name="A병원 생명선"/>
            <p:cNvCxnSpPr/>
            <p:nvPr/>
          </p:nvCxnSpPr>
          <p:spPr>
            <a:xfrm>
              <a:off x="16020288" y="4050791"/>
              <a:ext cx="0" cy="5202937"/>
            </a:xfrm>
            <a:prstGeom prst="line">
              <a:avLst/>
            </a:prstGeom>
            <a:ln w="12700">
              <a:solidFill>
                <a:srgbClr val="C6C6C6"/>
              </a:solidFill>
              <a:prstDash val="dash"/>
            </a:ln>
            <a:effectLst/>
          </p:spPr>
          <p:style>
            <a:lnRef idx="2">
              <a:schemeClr val="accent1"/>
            </a:lnRef>
            <a:fillRef idx="0">
              <a:schemeClr val="accent1"/>
            </a:fillRef>
            <a:effectRef idx="0">
              <a:schemeClr val="accent1"/>
            </a:effectRef>
            <a:fontRef idx="minor">
              <a:schemeClr val="tx1"/>
            </a:fontRef>
          </p:style>
        </p:cxnSp>
        <p:sp>
          <p:nvSpPr>
            <p:cNvPr id="76" name="07 단계 / A병원 연결점"/>
            <p:cNvSpPr/>
            <p:nvPr/>
          </p:nvSpPr>
          <p:spPr>
            <a:xfrm>
              <a:off x="15972739" y="8183879"/>
              <a:ext cx="95097" cy="182880"/>
            </a:xfrm>
            <a:prstGeom prst="rect">
              <a:avLst/>
            </a:prstGeom>
            <a:solidFill>
              <a:srgbClr val="FFFFFF"/>
            </a:solidFill>
            <a:ln w="11430">
              <a:solidFill>
                <a:srgbClr val="2A59C5"/>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sp>
          <p:nvSpPr>
            <p:cNvPr id="79" name="08 단계 / A병원 연결점"/>
            <p:cNvSpPr/>
            <p:nvPr/>
          </p:nvSpPr>
          <p:spPr>
            <a:xfrm>
              <a:off x="15972739" y="8823960"/>
              <a:ext cx="95097" cy="182880"/>
            </a:xfrm>
            <a:prstGeom prst="rect">
              <a:avLst/>
            </a:prstGeom>
            <a:solidFill>
              <a:srgbClr val="FFFFFF"/>
            </a:solidFill>
            <a:ln w="11430">
              <a:solidFill>
                <a:srgbClr val="C76A24"/>
              </a:solidFill>
            </a:ln>
            <a:effectLst/>
          </p:spPr>
          <p:style>
            <a:lnRef idx="1">
              <a:schemeClr val="accent1"/>
            </a:lnRef>
            <a:fillRef idx="3">
              <a:schemeClr val="accent1"/>
            </a:fillRef>
            <a:effectRef idx="0">
              <a:schemeClr val="accent1"/>
            </a:effectRef>
            <a:fontRef idx="minor">
              <a:schemeClr val="lt1"/>
            </a:fontRef>
          </p:style>
          <p:txBody>
            <a:bodyPr wrap="square" lIns="0" tIns="54864" rIns="0" bIns="54864" rtlCol="0" anchor="ctr">
              <a:noAutofit/>
            </a:bodyPr>
            <a:lstStyle/>
            <a:p>
              <a:pPr algn="l">
                <a:lnSpc>
                  <a:spcPct val="112000"/>
                </a:lnSpc>
                <a:spcBef>
                  <a:spcPts val="0"/>
                </a:spcBef>
                <a:spcAft>
                  <a:spcPts val="0"/>
                </a:spcAft>
              </a:pPr>
              <a:endParaRPr/>
            </a:p>
          </p:txBody>
        </p:sp>
      </p:grpSp>
    </p:spTree>
    <p:extLst>
      <p:ext uri="{BB962C8B-B14F-4D97-AF65-F5344CB8AC3E}">
        <p14:creationId xmlns:p14="http://schemas.microsoft.com/office/powerpoint/2010/main" val="227955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5681A-133B-50E6-8BFF-42F8AC1D4914}"/>
            </a:ext>
          </a:extLst>
        </p:cNvPr>
        <p:cNvGrpSpPr/>
        <p:nvPr/>
      </p:nvGrpSpPr>
      <p:grpSpPr>
        <a:xfrm>
          <a:off x="0" y="0"/>
          <a:ext cx="0" cy="0"/>
          <a:chOff x="0" y="0"/>
          <a:chExt cx="0" cy="0"/>
        </a:xfrm>
      </p:grpSpPr>
      <p:pic>
        <p:nvPicPr>
          <p:cNvPr id="2" name="MediQ_Architecture_Flow_1080p_Video">
            <a:hlinkClick r:id="" action="ppaction://media"/>
            <a:extLst>
              <a:ext uri="{FF2B5EF4-FFF2-40B4-BE49-F238E27FC236}">
                <a16:creationId xmlns:a16="http://schemas.microsoft.com/office/drawing/2014/main" id="{E5258C2F-9B34-FD7F-F437-E9D1FF6E530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8288000" cy="10287000"/>
          </a:xfrm>
          <a:prstGeom prst="rect">
            <a:avLst/>
          </a:prstGeom>
        </p:spPr>
      </p:pic>
    </p:spTree>
    <p:extLst>
      <p:ext uri="{BB962C8B-B14F-4D97-AF65-F5344CB8AC3E}">
        <p14:creationId xmlns:p14="http://schemas.microsoft.com/office/powerpoint/2010/main" val="282887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045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5278433" y="-189268"/>
            <a:ext cx="3268199" cy="7739024"/>
            <a:chOff x="0" y="0"/>
            <a:chExt cx="860760" cy="2038262"/>
          </a:xfrm>
        </p:grpSpPr>
        <p:sp>
          <p:nvSpPr>
            <p:cNvPr id="3" name="Freeform 3"/>
            <p:cNvSpPr/>
            <p:nvPr/>
          </p:nvSpPr>
          <p:spPr>
            <a:xfrm>
              <a:off x="0" y="0"/>
              <a:ext cx="860760" cy="2038262"/>
            </a:xfrm>
            <a:custGeom>
              <a:avLst/>
              <a:gdLst/>
              <a:ahLst/>
              <a:cxnLst/>
              <a:rect l="l" t="t" r="r" b="b"/>
              <a:pathLst>
                <a:path w="860760" h="2038262">
                  <a:moveTo>
                    <a:pt x="0" y="0"/>
                  </a:moveTo>
                  <a:lnTo>
                    <a:pt x="860760" y="0"/>
                  </a:lnTo>
                  <a:lnTo>
                    <a:pt x="860760" y="2038262"/>
                  </a:lnTo>
                  <a:lnTo>
                    <a:pt x="0" y="2038262"/>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860760" cy="2085887"/>
            </a:xfrm>
            <a:prstGeom prst="rect">
              <a:avLst/>
            </a:prstGeom>
          </p:spPr>
          <p:txBody>
            <a:bodyPr lIns="50800" tIns="50800" rIns="50800" bIns="50800" rtlCol="0" anchor="ctr"/>
            <a:lstStyle/>
            <a:p>
              <a:pPr algn="ctr">
                <a:lnSpc>
                  <a:spcPts val="3156"/>
                </a:lnSpc>
              </a:pPr>
              <a:endParaRPr/>
            </a:p>
          </p:txBody>
        </p:sp>
      </p:grpSp>
      <p:sp>
        <p:nvSpPr>
          <p:cNvPr id="5" name="Freeform 5">
            <a:extLst>
              <a:ext uri="{C183D7F6-B498-43B3-948B-1728B52AA6E4}">
                <adec:decorative xmlns:adec="http://schemas.microsoft.com/office/drawing/2017/decorative" val="1"/>
              </a:ext>
            </a:extLst>
          </p:cNvPr>
          <p:cNvSpPr/>
          <p:nvPr/>
        </p:nvSpPr>
        <p:spPr>
          <a:xfrm>
            <a:off x="0" y="7075598"/>
            <a:ext cx="18288000" cy="5818426"/>
          </a:xfrm>
          <a:custGeom>
            <a:avLst/>
            <a:gdLst/>
            <a:ahLst/>
            <a:cxnLst/>
            <a:rect l="l" t="t" r="r" b="b"/>
            <a:pathLst>
              <a:path w="18288000" h="5818426">
                <a:moveTo>
                  <a:pt x="0" y="0"/>
                </a:moveTo>
                <a:lnTo>
                  <a:pt x="18288000" y="0"/>
                </a:lnTo>
                <a:lnTo>
                  <a:pt x="18288000" y="5818426"/>
                </a:lnTo>
                <a:lnTo>
                  <a:pt x="0" y="5818426"/>
                </a:lnTo>
                <a:lnTo>
                  <a:pt x="0" y="0"/>
                </a:lnTo>
                <a:close/>
              </a:path>
            </a:pathLst>
          </a:custGeom>
          <a:blipFill>
            <a:blip r:embed="rId2"/>
            <a:stretch>
              <a:fillRect b="-4705"/>
            </a:stretch>
          </a:blipFill>
        </p:spPr>
        <p:txBody>
          <a:bodyPr/>
          <a:lstStyle/>
          <a:p>
            <a:endParaRPr lang="ko-KR" altLang="en-US"/>
          </a:p>
        </p:txBody>
      </p:sp>
      <p:sp>
        <p:nvSpPr>
          <p:cNvPr id="6" name="TextBox 6"/>
          <p:cNvSpPr txBox="1"/>
          <p:nvPr/>
        </p:nvSpPr>
        <p:spPr>
          <a:xfrm>
            <a:off x="1028700" y="2214108"/>
            <a:ext cx="8441160" cy="1584983"/>
          </a:xfrm>
          <a:prstGeom prst="rect">
            <a:avLst/>
          </a:prstGeom>
        </p:spPr>
        <p:txBody>
          <a:bodyPr lIns="0" tIns="0" rIns="0" bIns="0" rtlCol="0" anchor="t">
            <a:spAutoFit/>
          </a:bodyPr>
          <a:lstStyle/>
          <a:p>
            <a:pPr algn="l">
              <a:lnSpc>
                <a:spcPts val="12979"/>
              </a:lnSpc>
              <a:spcBef>
                <a:spcPct val="0"/>
              </a:spcBef>
            </a:pPr>
            <a:r>
              <a:rPr lang="en-US" sz="9270" b="1">
                <a:solidFill>
                  <a:srgbClr val="2A59C5"/>
                </a:solidFill>
                <a:latin typeface="프리텐다드 Bold"/>
                <a:ea typeface="프리텐다드 Bold"/>
                <a:cs typeface="프리텐다드 Bold"/>
                <a:sym typeface="프리텐다드 Bold"/>
              </a:rPr>
              <a:t>05</a:t>
            </a:r>
          </a:p>
        </p:txBody>
      </p:sp>
      <p:sp>
        <p:nvSpPr>
          <p:cNvPr id="7" name="TextBox 7"/>
          <p:cNvSpPr txBox="1"/>
          <p:nvPr/>
        </p:nvSpPr>
        <p:spPr>
          <a:xfrm>
            <a:off x="1028700" y="3516926"/>
            <a:ext cx="7056707" cy="1584983"/>
          </a:xfrm>
          <a:prstGeom prst="rect">
            <a:avLst/>
          </a:prstGeom>
        </p:spPr>
        <p:txBody>
          <a:bodyPr lIns="0" tIns="0" rIns="0" bIns="0" rtlCol="0" anchor="t">
            <a:spAutoFit/>
          </a:bodyPr>
          <a:lstStyle/>
          <a:p>
            <a:pPr algn="l">
              <a:lnSpc>
                <a:spcPts val="12979"/>
              </a:lnSpc>
              <a:spcBef>
                <a:spcPct val="0"/>
              </a:spcBef>
            </a:pPr>
            <a:r>
              <a:rPr lang="en-US" sz="9270" b="1">
                <a:solidFill>
                  <a:srgbClr val="282828"/>
                </a:solidFill>
                <a:latin typeface="프리텐다드 Bold"/>
                <a:ea typeface="프리텐다드 Bold"/>
                <a:cs typeface="프리텐다드 Bold"/>
                <a:sym typeface="프리텐다드 Bold"/>
              </a:rPr>
              <a:t>서비스 화면</a:t>
            </a:r>
          </a:p>
        </p:txBody>
      </p:sp>
      <p:sp>
        <p:nvSpPr>
          <p:cNvPr id="8" name="TextBox 8"/>
          <p:cNvSpPr txBox="1"/>
          <p:nvPr/>
        </p:nvSpPr>
        <p:spPr>
          <a:xfrm>
            <a:off x="1028700" y="1848967"/>
            <a:ext cx="3836759" cy="356036"/>
          </a:xfrm>
          <a:prstGeom prst="rect">
            <a:avLst/>
          </a:prstGeom>
        </p:spPr>
        <p:txBody>
          <a:bodyPr lIns="0" tIns="0" rIns="0" bIns="0" rtlCol="0" anchor="t">
            <a:spAutoFit/>
          </a:bodyPr>
          <a:lstStyle/>
          <a:p>
            <a:pPr algn="l">
              <a:lnSpc>
                <a:spcPts val="2950"/>
              </a:lnSpc>
              <a:spcBef>
                <a:spcPct val="0"/>
              </a:spcBef>
            </a:pPr>
            <a:r>
              <a:rPr lang="en-US" sz="2107" spc="210">
                <a:solidFill>
                  <a:srgbClr val="282828"/>
                </a:solidFill>
                <a:latin typeface="프리텐다드"/>
                <a:ea typeface="프리텐다드"/>
                <a:cs typeface="프리텐다드"/>
                <a:sym typeface="프리텐다드"/>
              </a:rPr>
              <a:t>SECTION</a:t>
            </a:r>
          </a:p>
        </p:txBody>
      </p:sp>
      <p:sp>
        <p:nvSpPr>
          <p:cNvPr id="9" name="TextBox 9"/>
          <p:cNvSpPr txBox="1"/>
          <p:nvPr/>
        </p:nvSpPr>
        <p:spPr>
          <a:xfrm>
            <a:off x="1028700" y="5244784"/>
            <a:ext cx="6505897" cy="308739"/>
          </a:xfrm>
          <a:prstGeom prst="rect">
            <a:avLst/>
          </a:prstGeom>
        </p:spPr>
        <p:txBody>
          <a:bodyPr lIns="0" tIns="0" rIns="0" bIns="0" rtlCol="0" anchor="t">
            <a:spAutoFit/>
          </a:bodyPr>
          <a:lstStyle/>
          <a:p>
            <a:pPr marL="0" lvl="0" indent="0" algn="just">
              <a:lnSpc>
                <a:spcPts val="2640"/>
              </a:lnSpc>
              <a:spcBef>
                <a:spcPct val="0"/>
              </a:spcBef>
            </a:pPr>
            <a:r>
              <a:rPr lang="en-US" sz="1886" spc="335">
                <a:solidFill>
                  <a:srgbClr val="282828"/>
                </a:solidFill>
                <a:latin typeface="프리텐다드"/>
                <a:ea typeface="프리텐다드"/>
                <a:cs typeface="프리텐다드"/>
                <a:sym typeface="프리텐다드"/>
              </a:rPr>
              <a:t>SERVICE INTERFACE</a:t>
            </a:r>
          </a:p>
        </p:txBody>
      </p:sp>
      <p:sp>
        <p:nvSpPr>
          <p:cNvPr id="40" name="Section pages"/>
          <p:cNvSpPr txBox="1"/>
          <p:nvPr/>
        </p:nvSpPr>
        <p:spPr>
          <a:xfrm>
            <a:off x="1485900" y="7874000"/>
            <a:ext cx="15240000" cy="1524000"/>
          </a:xfrm>
          <a:prstGeom prst="rect">
            <a:avLst/>
          </a:prstGeom>
          <a:noFill/>
        </p:spPr>
        <p:txBody>
          <a:bodyPr wrap="square" lIns="0" tIns="0" rIns="0" bIns="0" anchor="ctr">
            <a:noAutofit/>
          </a:bodyPr>
          <a:lstStyle/>
          <a:p>
            <a:pPr marL="0" indent="0">
              <a:lnSpc>
                <a:spcPts val="3000"/>
              </a:lnSpc>
              <a:buNone/>
            </a:pPr>
            <a:r>
              <a:rPr lang="ko-KR" sz="1800" b="1" spc="200" dirty="0">
                <a:solidFill>
                  <a:srgbClr val="FFFFFF"/>
                </a:solidFill>
                <a:latin typeface="프리텐다드 Semi-Bold"/>
                <a:ea typeface="프리텐다드 Semi-Bold"/>
                <a:cs typeface="프리텐다드 Semi-Bold"/>
                <a:sym typeface="프리텐다드 Semi-Bold"/>
              </a:rPr>
              <a:t>IN THIS SECTION</a:t>
            </a:r>
          </a:p>
          <a:p>
            <a:pPr marL="0" indent="0">
              <a:lnSpc>
                <a:spcPts val="3600"/>
              </a:lnSpc>
              <a:spcBef>
                <a:spcPts val="600"/>
              </a:spcBef>
              <a:buNone/>
            </a:pPr>
            <a:r>
              <a:rPr lang="ko-KR" sz="2400" dirty="0">
                <a:solidFill>
                  <a:srgbClr val="FFFFFF"/>
                </a:solidFill>
                <a:latin typeface="프리텐다드"/>
                <a:ea typeface="프리텐다드"/>
                <a:cs typeface="프리텐다드"/>
                <a:sym typeface="프리텐다드"/>
              </a:rPr>
              <a:t>홈페이지 구성 · 사용자 페이지 · 관리자 대시보드 · AOS 앱 구성도</a:t>
            </a:r>
          </a:p>
        </p:txBody>
      </p:sp>
    </p:spTree>
    <p:extLst>
      <p:ext uri="{BB962C8B-B14F-4D97-AF65-F5344CB8AC3E}">
        <p14:creationId xmlns:p14="http://schemas.microsoft.com/office/powerpoint/2010/main" val="1232085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dirty="0"/>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SERVICE INTERFACE</a:t>
            </a:r>
          </a:p>
        </p:txBody>
      </p:sp>
      <p:sp>
        <p:nvSpPr>
          <p:cNvPr id="10" name="TextBox 10"/>
          <p:cNvSpPr txBox="1"/>
          <p:nvPr/>
        </p:nvSpPr>
        <p:spPr>
          <a:xfrm>
            <a:off x="1421481" y="1253961"/>
            <a:ext cx="8764222" cy="946798"/>
          </a:xfrm>
          <a:prstGeom prst="rect">
            <a:avLst/>
          </a:prstGeom>
        </p:spPr>
        <p:txBody>
          <a:bodyPr wrap="square" lIns="0" tIns="0" rIns="0" bIns="0" rtlCol="0" anchor="t">
            <a:spAutoFit/>
          </a:bodyPr>
          <a:lstStyle/>
          <a:p>
            <a:pPr algn="l">
              <a:lnSpc>
                <a:spcPts val="7979"/>
              </a:lnSpc>
              <a:spcBef>
                <a:spcPct val="0"/>
              </a:spcBef>
            </a:pPr>
            <a:r>
              <a:rPr lang="ko-KR" altLang="en-US" sz="5699" b="1" dirty="0">
                <a:solidFill>
                  <a:srgbClr val="282828"/>
                </a:solidFill>
                <a:latin typeface="프리텐다드 Bold"/>
                <a:ea typeface="프리텐다드 Bold"/>
                <a:cs typeface="프리텐다드 Bold"/>
                <a:sym typeface="프리텐다드 Bold"/>
              </a:rPr>
              <a:t>직관적인 </a:t>
            </a:r>
            <a:r>
              <a:rPr lang="en-US" altLang="ko-KR" sz="5699" b="1" dirty="0">
                <a:solidFill>
                  <a:srgbClr val="282828"/>
                </a:solidFill>
                <a:latin typeface="프리텐다드 Bold"/>
                <a:ea typeface="프리텐다드 Bold"/>
                <a:cs typeface="프리텐다드 Bold"/>
                <a:sym typeface="프리텐다드 Bold"/>
              </a:rPr>
              <a:t>4</a:t>
            </a:r>
            <a:r>
              <a:rPr lang="ko-KR" altLang="en-US" sz="5699" b="1" dirty="0">
                <a:solidFill>
                  <a:srgbClr val="282828"/>
                </a:solidFill>
                <a:latin typeface="프리텐다드 Bold"/>
                <a:ea typeface="프리텐다드 Bold"/>
                <a:cs typeface="프리텐다드 Bold"/>
                <a:sym typeface="프리텐다드 Bold"/>
              </a:rPr>
              <a:t>대 역할 게이트</a:t>
            </a:r>
            <a:endParaRPr lang="en-US" sz="5699" b="1" dirty="0">
              <a:solidFill>
                <a:srgbClr val="282828"/>
              </a:solidFill>
              <a:latin typeface="프리텐다드 Bold"/>
              <a:ea typeface="프리텐다드 Bold"/>
              <a:cs typeface="프리텐다드 Bold"/>
              <a:sym typeface="프리텐다드 Bold"/>
            </a:endParaRPr>
          </a:p>
        </p:txBody>
      </p:sp>
      <p:pic>
        <p:nvPicPr>
          <p:cNvPr id="16" name="그림 15">
            <a:extLst>
              <a:ext uri="{FF2B5EF4-FFF2-40B4-BE49-F238E27FC236}">
                <a16:creationId xmlns:a16="http://schemas.microsoft.com/office/drawing/2014/main" id="{47FD5F19-30E7-4317-7279-73A621E2C2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700" y="3857387"/>
            <a:ext cx="8764223" cy="4867954"/>
          </a:xfrm>
          <a:prstGeom prst="rect">
            <a:avLst/>
          </a:prstGeom>
        </p:spPr>
      </p:pic>
      <p:grpSp>
        <p:nvGrpSpPr>
          <p:cNvPr id="17" name="Group 13">
            <a:extLst>
              <a:ext uri="{FF2B5EF4-FFF2-40B4-BE49-F238E27FC236}">
                <a16:creationId xmlns:a16="http://schemas.microsoft.com/office/drawing/2014/main" id="{B8080ECD-A344-3CB6-F91A-09F5F8FBF4AA}"/>
              </a:ext>
            </a:extLst>
          </p:cNvPr>
          <p:cNvGrpSpPr/>
          <p:nvPr/>
        </p:nvGrpSpPr>
        <p:grpSpPr>
          <a:xfrm>
            <a:off x="9818323" y="3515680"/>
            <a:ext cx="7747000" cy="4889500"/>
            <a:chOff x="0" y="0"/>
            <a:chExt cx="2092562" cy="1107001"/>
          </a:xfrm>
        </p:grpSpPr>
        <p:sp>
          <p:nvSpPr>
            <p:cNvPr id="18" name="Freeform 14">
              <a:extLst>
                <a:ext uri="{FF2B5EF4-FFF2-40B4-BE49-F238E27FC236}">
                  <a16:creationId xmlns:a16="http://schemas.microsoft.com/office/drawing/2014/main" id="{D922B10C-4482-FE32-7603-2FBCC5E783D1}"/>
                </a:ext>
              </a:extLst>
            </p:cNvPr>
            <p:cNvSpPr/>
            <p:nvPr/>
          </p:nvSpPr>
          <p:spPr>
            <a:xfrm>
              <a:off x="0" y="0"/>
              <a:ext cx="2092562" cy="1107001"/>
            </a:xfrm>
            <a:custGeom>
              <a:avLst/>
              <a:gdLst/>
              <a:ahLst/>
              <a:cxnLst/>
              <a:rect l="l" t="t" r="r" b="b"/>
              <a:pathLst>
                <a:path w="2092562" h="1107001">
                  <a:moveTo>
                    <a:pt x="0" y="0"/>
                  </a:moveTo>
                  <a:lnTo>
                    <a:pt x="2092562" y="0"/>
                  </a:lnTo>
                  <a:lnTo>
                    <a:pt x="2092562" y="1107001"/>
                  </a:lnTo>
                  <a:lnTo>
                    <a:pt x="0" y="1107001"/>
                  </a:lnTo>
                  <a:close/>
                </a:path>
              </a:pathLst>
            </a:custGeom>
            <a:ln w="9525" cap="sq">
              <a:solidFill>
                <a:srgbClr val="737373"/>
              </a:solidFill>
              <a:prstDash val="solid"/>
              <a:miter/>
            </a:ln>
          </p:spPr>
          <p:txBody>
            <a:bodyPr/>
            <a:lstStyle/>
            <a:p>
              <a:endParaRPr lang="ko-KR" altLang="en-US"/>
            </a:p>
          </p:txBody>
        </p:sp>
        <p:sp>
          <p:nvSpPr>
            <p:cNvPr id="19" name="TextBox 15">
              <a:extLst>
                <a:ext uri="{FF2B5EF4-FFF2-40B4-BE49-F238E27FC236}">
                  <a16:creationId xmlns:a16="http://schemas.microsoft.com/office/drawing/2014/main" id="{DBA093B7-8B42-ADC6-B59D-7E80BFB6D41D}"/>
                </a:ext>
              </a:extLst>
            </p:cNvPr>
            <p:cNvSpPr txBox="1"/>
            <p:nvPr/>
          </p:nvSpPr>
          <p:spPr>
            <a:xfrm>
              <a:off x="0" y="-47625"/>
              <a:ext cx="2092562" cy="1154626"/>
            </a:xfrm>
            <a:prstGeom prst="rect">
              <a:avLst/>
            </a:prstGeom>
          </p:spPr>
          <p:txBody>
            <a:bodyPr lIns="50800" tIns="50800" rIns="50800" bIns="50800" rtlCol="0" anchor="ctr"/>
            <a:lstStyle/>
            <a:p>
              <a:pPr algn="ctr">
                <a:lnSpc>
                  <a:spcPts val="3156"/>
                </a:lnSpc>
              </a:pPr>
              <a:endParaRPr/>
            </a:p>
          </p:txBody>
        </p:sp>
      </p:grpSp>
      <p:sp>
        <p:nvSpPr>
          <p:cNvPr id="24" name="Freeform 19">
            <a:extLst>
              <a:ext uri="{FF2B5EF4-FFF2-40B4-BE49-F238E27FC236}">
                <a16:creationId xmlns:a16="http://schemas.microsoft.com/office/drawing/2014/main" id="{658D0D7E-0C17-53EA-B686-960CF5B11A85}"/>
              </a:ext>
              <a:ext uri="{C183D7F6-B498-43B3-948B-1728B52AA6E4}">
                <adec:decorative xmlns:adec="http://schemas.microsoft.com/office/drawing/2017/decorative" val="1"/>
              </a:ext>
            </a:extLst>
          </p:cNvPr>
          <p:cNvSpPr/>
          <p:nvPr/>
        </p:nvSpPr>
        <p:spPr>
          <a:xfrm>
            <a:off x="10515600" y="3857387"/>
            <a:ext cx="406400" cy="406400"/>
          </a:xfrm>
          <a:custGeom>
            <a:avLst/>
            <a:gdLst/>
            <a:ahLst/>
            <a:cxnLst/>
            <a:rect l="l" t="t" r="r" b="b"/>
            <a:pathLst>
              <a:path w="301131" h="301131">
                <a:moveTo>
                  <a:pt x="0" y="0"/>
                </a:moveTo>
                <a:lnTo>
                  <a:pt x="301131" y="0"/>
                </a:lnTo>
                <a:lnTo>
                  <a:pt x="301131" y="301131"/>
                </a:lnTo>
                <a:lnTo>
                  <a:pt x="0" y="3011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ko-KR" altLang="en-US"/>
          </a:p>
        </p:txBody>
      </p:sp>
      <p:sp>
        <p:nvSpPr>
          <p:cNvPr id="26" name="TextBox 25">
            <a:extLst>
              <a:ext uri="{FF2B5EF4-FFF2-40B4-BE49-F238E27FC236}">
                <a16:creationId xmlns:a16="http://schemas.microsoft.com/office/drawing/2014/main" id="{7095DDFD-4453-5AD2-3676-5E86FE62DB11}"/>
              </a:ext>
            </a:extLst>
          </p:cNvPr>
          <p:cNvSpPr txBox="1"/>
          <p:nvPr/>
        </p:nvSpPr>
        <p:spPr>
          <a:xfrm>
            <a:off x="11366597" y="3714022"/>
            <a:ext cx="3445174" cy="553998"/>
          </a:xfrm>
          <a:prstGeom prst="rect">
            <a:avLst/>
          </a:prstGeom>
          <a:noFill/>
        </p:spPr>
        <p:txBody>
          <a:bodyPr wrap="none" rtlCol="0">
            <a:spAutoFit/>
          </a:bodyPr>
          <a:lstStyle/>
          <a:p>
            <a:r>
              <a:rPr lang="ko-KR" altLang="en-US" sz="3000" b="1" dirty="0">
                <a:solidFill>
                  <a:srgbClr val="2A59C5"/>
                </a:solidFill>
                <a:latin typeface="프리텐다드 Semi-Bold"/>
                <a:ea typeface="프리텐다드 Semi-Bold"/>
                <a:cs typeface="프리텐다드 Semi-Bold"/>
                <a:sym typeface="프리텐다드 Semi-Bold"/>
              </a:rPr>
              <a:t>환자 중심의 공유 통제</a:t>
            </a:r>
            <a:endParaRPr lang="ko-KR" altLang="ko-KR" sz="3000" b="1" dirty="0">
              <a:solidFill>
                <a:srgbClr val="2A59C5"/>
              </a:solidFill>
              <a:latin typeface="프리텐다드 Semi-Bold"/>
              <a:ea typeface="프리텐다드 Semi-Bold"/>
              <a:cs typeface="프리텐다드 Semi-Bold"/>
              <a:sym typeface="프리텐다드 Semi-Bold"/>
            </a:endParaRPr>
          </a:p>
        </p:txBody>
      </p:sp>
      <p:sp>
        <p:nvSpPr>
          <p:cNvPr id="27" name="TextBox 26">
            <a:extLst>
              <a:ext uri="{FF2B5EF4-FFF2-40B4-BE49-F238E27FC236}">
                <a16:creationId xmlns:a16="http://schemas.microsoft.com/office/drawing/2014/main" id="{000C6D1C-6144-67D5-22CB-7C50797A3D67}"/>
              </a:ext>
            </a:extLst>
          </p:cNvPr>
          <p:cNvSpPr txBox="1"/>
          <p:nvPr/>
        </p:nvSpPr>
        <p:spPr>
          <a:xfrm>
            <a:off x="10253436" y="4492953"/>
            <a:ext cx="7130478" cy="3683060"/>
          </a:xfrm>
          <a:prstGeom prst="rect">
            <a:avLst/>
          </a:prstGeom>
          <a:noFill/>
        </p:spPr>
        <p:txBody>
          <a:bodyPr wrap="none" rtlCol="0">
            <a:spAutoFit/>
          </a:bodyPr>
          <a:lstStyle/>
          <a:p>
            <a:pPr>
              <a:defRPr sz="1575" b="1">
                <a:solidFill>
                  <a:srgbClr val="2F68B5"/>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4</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대 역할 게이트 분리</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환자</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의료진</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병원 관리자</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보안 운영자 전용 로그인 분리</a:t>
            </a:r>
          </a:p>
          <a:p>
            <a:pPr>
              <a:defRPr sz="1575" b="1">
                <a:solidFill>
                  <a:srgbClr val="2F68B5"/>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수신 병원 선택</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A</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대학병원에서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B</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대학병원으로 공유 대상 병원 명확히 지정</a:t>
            </a:r>
          </a:p>
          <a:p>
            <a:pPr>
              <a:defRPr sz="1575" b="1">
                <a:solidFill>
                  <a:srgbClr val="2F68B5"/>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열람 목적 및 기간</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진료 목적으로 한정</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1</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일</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~30</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일 사이 유효기간 설정</a:t>
            </a:r>
          </a:p>
          <a:p>
            <a:pPr>
              <a:defRPr sz="1575" b="1">
                <a:solidFill>
                  <a:srgbClr val="2F68B5"/>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검사 단위 선택</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전체 진료기록이 아닌</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필요한 특정 복부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CT Study/Series</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만 선택</a:t>
            </a:r>
          </a:p>
          <a:p>
            <a:pPr>
              <a:defRPr sz="1575" b="1">
                <a:solidFill>
                  <a:srgbClr val="2F68B5"/>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err="1">
                <a:latin typeface="프리텐다드 Semi-Bold" panose="020B0600000101010101" charset="-127"/>
                <a:ea typeface="프리텐다드 Semi-Bold" panose="020B0600000101010101" charset="-127"/>
                <a:cs typeface="프리텐다드 Semi-Bold" panose="020B0600000101010101" charset="-127"/>
              </a:rPr>
              <a:t>원클릭</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동의 철회</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언제든 환자가 원할 때 즉시 권한을 파기하는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Revoke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지원</a:t>
            </a:r>
          </a:p>
        </p:txBody>
      </p:sp>
    </p:spTree>
    <p:extLst>
      <p:ext uri="{BB962C8B-B14F-4D97-AF65-F5344CB8AC3E}">
        <p14:creationId xmlns:p14="http://schemas.microsoft.com/office/powerpoint/2010/main" val="2408177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SERVICE INTERFACE</a:t>
            </a:r>
          </a:p>
        </p:txBody>
      </p:sp>
      <p:sp>
        <p:nvSpPr>
          <p:cNvPr id="10" name="TextBox 10"/>
          <p:cNvSpPr txBox="1"/>
          <p:nvPr/>
        </p:nvSpPr>
        <p:spPr>
          <a:xfrm>
            <a:off x="1421481" y="1253961"/>
            <a:ext cx="4875766" cy="946798"/>
          </a:xfrm>
          <a:prstGeom prst="rect">
            <a:avLst/>
          </a:prstGeom>
        </p:spPr>
        <p:txBody>
          <a:bodyPr lIns="0" tIns="0" rIns="0" bIns="0" rtlCol="0" anchor="t">
            <a:spAutoFit/>
          </a:bodyPr>
          <a:lstStyle/>
          <a:p>
            <a:pPr algn="l">
              <a:lnSpc>
                <a:spcPts val="7979"/>
              </a:lnSpc>
              <a:spcBef>
                <a:spcPct val="0"/>
              </a:spcBef>
            </a:pPr>
            <a:r>
              <a:rPr lang="en-US" sz="5699" b="1" dirty="0">
                <a:solidFill>
                  <a:srgbClr val="282828"/>
                </a:solidFill>
                <a:latin typeface="프리텐다드 Bold"/>
                <a:ea typeface="프리텐다드 Bold"/>
                <a:cs typeface="프리텐다드 Bold"/>
                <a:sym typeface="프리텐다드 Bold"/>
              </a:rPr>
              <a:t>AI </a:t>
            </a:r>
            <a:r>
              <a:rPr lang="ko-KR" altLang="en-US" sz="5699" b="1" dirty="0">
                <a:solidFill>
                  <a:srgbClr val="282828"/>
                </a:solidFill>
                <a:latin typeface="프리텐다드 Bold"/>
                <a:ea typeface="프리텐다드 Bold"/>
                <a:cs typeface="프리텐다드 Bold"/>
                <a:sym typeface="프리텐다드 Bold"/>
              </a:rPr>
              <a:t>건강도우미</a:t>
            </a:r>
            <a:endParaRPr lang="en-US" sz="5699" b="1" dirty="0">
              <a:solidFill>
                <a:srgbClr val="282828"/>
              </a:solidFill>
              <a:latin typeface="프리텐다드 Bold"/>
              <a:ea typeface="프리텐다드 Bold"/>
              <a:cs typeface="프리텐다드 Bold"/>
              <a:sym typeface="프리텐다드 Bold"/>
            </a:endParaRPr>
          </a:p>
        </p:txBody>
      </p:sp>
      <p:pic>
        <p:nvPicPr>
          <p:cNvPr id="17" name="그림 16">
            <a:extLst>
              <a:ext uri="{FF2B5EF4-FFF2-40B4-BE49-F238E27FC236}">
                <a16:creationId xmlns:a16="http://schemas.microsoft.com/office/drawing/2014/main" id="{C0D905FF-0BE9-6AD8-1BE4-7D0097EBFD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5348" y="2845673"/>
            <a:ext cx="7089013" cy="7308673"/>
          </a:xfrm>
          <a:prstGeom prst="rect">
            <a:avLst/>
          </a:prstGeom>
        </p:spPr>
      </p:pic>
      <p:grpSp>
        <p:nvGrpSpPr>
          <p:cNvPr id="19" name="Group 13">
            <a:extLst>
              <a:ext uri="{FF2B5EF4-FFF2-40B4-BE49-F238E27FC236}">
                <a16:creationId xmlns:a16="http://schemas.microsoft.com/office/drawing/2014/main" id="{2B0153FE-D05F-49BF-10DB-5061411F2563}"/>
              </a:ext>
            </a:extLst>
          </p:cNvPr>
          <p:cNvGrpSpPr/>
          <p:nvPr/>
        </p:nvGrpSpPr>
        <p:grpSpPr>
          <a:xfrm>
            <a:off x="9160932" y="3695700"/>
            <a:ext cx="8593667" cy="5410200"/>
            <a:chOff x="0" y="0"/>
            <a:chExt cx="2092562" cy="1107001"/>
          </a:xfrm>
        </p:grpSpPr>
        <p:sp>
          <p:nvSpPr>
            <p:cNvPr id="20" name="Freeform 14">
              <a:extLst>
                <a:ext uri="{FF2B5EF4-FFF2-40B4-BE49-F238E27FC236}">
                  <a16:creationId xmlns:a16="http://schemas.microsoft.com/office/drawing/2014/main" id="{1BD51749-F093-588A-46CA-934E5DFC27B2}"/>
                </a:ext>
              </a:extLst>
            </p:cNvPr>
            <p:cNvSpPr/>
            <p:nvPr/>
          </p:nvSpPr>
          <p:spPr>
            <a:xfrm>
              <a:off x="0" y="0"/>
              <a:ext cx="2092562" cy="1107001"/>
            </a:xfrm>
            <a:custGeom>
              <a:avLst/>
              <a:gdLst/>
              <a:ahLst/>
              <a:cxnLst/>
              <a:rect l="l" t="t" r="r" b="b"/>
              <a:pathLst>
                <a:path w="2092562" h="1107001">
                  <a:moveTo>
                    <a:pt x="0" y="0"/>
                  </a:moveTo>
                  <a:lnTo>
                    <a:pt x="2092562" y="0"/>
                  </a:lnTo>
                  <a:lnTo>
                    <a:pt x="2092562" y="1107001"/>
                  </a:lnTo>
                  <a:lnTo>
                    <a:pt x="0" y="1107001"/>
                  </a:lnTo>
                  <a:close/>
                </a:path>
              </a:pathLst>
            </a:custGeom>
            <a:ln w="9525" cap="sq">
              <a:solidFill>
                <a:srgbClr val="737373"/>
              </a:solidFill>
              <a:prstDash val="solid"/>
              <a:miter/>
            </a:ln>
          </p:spPr>
          <p:txBody>
            <a:bodyPr/>
            <a:lstStyle/>
            <a:p>
              <a:endParaRPr lang="ko-KR" altLang="en-US"/>
            </a:p>
          </p:txBody>
        </p:sp>
        <p:sp>
          <p:nvSpPr>
            <p:cNvPr id="21" name="TextBox 15">
              <a:extLst>
                <a:ext uri="{FF2B5EF4-FFF2-40B4-BE49-F238E27FC236}">
                  <a16:creationId xmlns:a16="http://schemas.microsoft.com/office/drawing/2014/main" id="{CBE53248-3055-DA8E-FBFF-2640DB1D35A0}"/>
                </a:ext>
              </a:extLst>
            </p:cNvPr>
            <p:cNvSpPr txBox="1"/>
            <p:nvPr/>
          </p:nvSpPr>
          <p:spPr>
            <a:xfrm>
              <a:off x="0" y="-47625"/>
              <a:ext cx="2092562" cy="1154626"/>
            </a:xfrm>
            <a:prstGeom prst="rect">
              <a:avLst/>
            </a:prstGeom>
          </p:spPr>
          <p:txBody>
            <a:bodyPr lIns="50800" tIns="50800" rIns="50800" bIns="50800" rtlCol="0" anchor="ctr"/>
            <a:lstStyle/>
            <a:p>
              <a:pPr algn="ctr">
                <a:lnSpc>
                  <a:spcPts val="3156"/>
                </a:lnSpc>
              </a:pPr>
              <a:endParaRPr/>
            </a:p>
          </p:txBody>
        </p:sp>
      </p:grpSp>
      <p:sp>
        <p:nvSpPr>
          <p:cNvPr id="22" name="TextBox 21">
            <a:extLst>
              <a:ext uri="{FF2B5EF4-FFF2-40B4-BE49-F238E27FC236}">
                <a16:creationId xmlns:a16="http://schemas.microsoft.com/office/drawing/2014/main" id="{70E106B6-661A-A08E-F89C-6029DA6EABA2}"/>
              </a:ext>
            </a:extLst>
          </p:cNvPr>
          <p:cNvSpPr txBox="1"/>
          <p:nvPr/>
        </p:nvSpPr>
        <p:spPr>
          <a:xfrm>
            <a:off x="9177866" y="4658479"/>
            <a:ext cx="8048998" cy="3683060"/>
          </a:xfrm>
          <a:prstGeom prst="rect">
            <a:avLst/>
          </a:prstGeom>
          <a:noFill/>
        </p:spPr>
        <p:txBody>
          <a:bodyPr wrap="none" rtlCol="0">
            <a:spAutoFit/>
          </a:bodyPr>
          <a:lstStyle/>
          <a:p>
            <a:pPr>
              <a:defRPr sz="1575" b="1">
                <a:solidFill>
                  <a:srgbClr val="168B82"/>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쉬운 의학 개념 해설</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AFP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정상 수치와 간암</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간경화 선별검사 목적을 비임상 환자 언어로 해설</a:t>
            </a:r>
          </a:p>
          <a:p>
            <a:pPr>
              <a:defRPr sz="1575" b="1">
                <a:solidFill>
                  <a:srgbClr val="168B82"/>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추천 질문 스튜디오</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'AFP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검사가 뭔가요</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초음파와 차이점</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주의사항</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등 </a:t>
            </a:r>
            <a:r>
              <a:rPr lang="ko-KR" altLang="en-US" sz="2000" dirty="0" err="1">
                <a:latin typeface="프리텐다드 Semi-Bold" panose="020B0600000101010101" charset="-127"/>
                <a:ea typeface="프리텐다드 Semi-Bold" panose="020B0600000101010101" charset="-127"/>
                <a:cs typeface="프리텐다드 Semi-Bold" panose="020B0600000101010101" charset="-127"/>
              </a:rPr>
              <a:t>원클릭</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err="1">
                <a:latin typeface="프리텐다드 Semi-Bold" panose="020B0600000101010101" charset="-127"/>
                <a:ea typeface="프리텐다드 Semi-Bold" panose="020B0600000101010101" charset="-127"/>
                <a:cs typeface="프리텐다드 Semi-Bold" panose="020B0600000101010101" charset="-127"/>
              </a:rPr>
              <a:t>퀵</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질의</a:t>
            </a:r>
          </a:p>
          <a:p>
            <a:pPr>
              <a:defRPr sz="1575" b="1">
                <a:solidFill>
                  <a:srgbClr val="168B82"/>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의사 상담 리허설 박스</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진료실에서 주치의에게 물어봐야 할 맞춤 질문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3</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가지를 자동 정리</a:t>
            </a:r>
          </a:p>
          <a:p>
            <a:pPr>
              <a:defRPr sz="1575" b="1">
                <a:solidFill>
                  <a:srgbClr val="168B82"/>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공인 학술 출처 투명 표기</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MedlinePlus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및 </a:t>
            </a:r>
            <a:r>
              <a:rPr lang="ko-KR" altLang="en-US" sz="2000" dirty="0" err="1">
                <a:latin typeface="프리텐다드 Semi-Bold" panose="020B0600000101010101" charset="-127"/>
                <a:ea typeface="프리텐다드 Semi-Bold" panose="020B0600000101010101" charset="-127"/>
                <a:cs typeface="프리텐다드 Semi-Bold" panose="020B0600000101010101" charset="-127"/>
              </a:rPr>
              <a:t>간학회</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가이드라인 출처 링크를 명확히 제시하여 신뢰 확보</a:t>
            </a:r>
          </a:p>
          <a:p>
            <a:pPr>
              <a:defRPr sz="1575" b="1">
                <a:solidFill>
                  <a:srgbClr val="168B82"/>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RAG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기반 학습 도우미</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err="1">
                <a:latin typeface="프리텐다드 Semi-Bold" panose="020B0600000101010101" charset="-127"/>
                <a:ea typeface="프리텐다드 Semi-Bold" panose="020B0600000101010101" charset="-127"/>
                <a:cs typeface="프리텐다드 Semi-Bold" panose="020B0600000101010101" charset="-127"/>
              </a:rPr>
              <a:t>Ollama</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기반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Qwen 3.5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모델  기반 학습</a:t>
            </a:r>
          </a:p>
        </p:txBody>
      </p:sp>
      <p:sp>
        <p:nvSpPr>
          <p:cNvPr id="27" name="TextBox 26">
            <a:extLst>
              <a:ext uri="{FF2B5EF4-FFF2-40B4-BE49-F238E27FC236}">
                <a16:creationId xmlns:a16="http://schemas.microsoft.com/office/drawing/2014/main" id="{5F211218-44A3-8927-8D37-01C09082FC33}"/>
              </a:ext>
            </a:extLst>
          </p:cNvPr>
          <p:cNvSpPr txBox="1"/>
          <p:nvPr/>
        </p:nvSpPr>
        <p:spPr>
          <a:xfrm>
            <a:off x="10363200" y="3988103"/>
            <a:ext cx="2392001" cy="553998"/>
          </a:xfrm>
          <a:prstGeom prst="rect">
            <a:avLst/>
          </a:prstGeom>
          <a:noFill/>
        </p:spPr>
        <p:txBody>
          <a:bodyPr wrap="none" rtlCol="0">
            <a:spAutoFit/>
          </a:bodyPr>
          <a:lstStyle/>
          <a:p>
            <a:r>
              <a:rPr lang="en-US" altLang="ko-KR" sz="3000" b="1" dirty="0">
                <a:solidFill>
                  <a:srgbClr val="58AAA4"/>
                </a:solidFill>
                <a:latin typeface="프리텐다드 Semi-Bold"/>
                <a:ea typeface="프리텐다드 Semi-Bold"/>
                <a:cs typeface="프리텐다드 Semi-Bold"/>
                <a:sym typeface="프리텐다드 Semi-Bold"/>
              </a:rPr>
              <a:t>AI </a:t>
            </a:r>
            <a:r>
              <a:rPr lang="ko-KR" altLang="en-US" sz="3000" b="1" dirty="0">
                <a:solidFill>
                  <a:srgbClr val="58AAA4"/>
                </a:solidFill>
                <a:latin typeface="프리텐다드 Semi-Bold"/>
                <a:ea typeface="프리텐다드 Semi-Bold"/>
                <a:cs typeface="프리텐다드 Semi-Bold"/>
                <a:sym typeface="프리텐다드 Semi-Bold"/>
              </a:rPr>
              <a:t>건강 도우미</a:t>
            </a:r>
            <a:endParaRPr lang="ko-KR" altLang="ko-KR" sz="3000" b="1" dirty="0">
              <a:solidFill>
                <a:srgbClr val="58AAA4"/>
              </a:solidFill>
              <a:latin typeface="프리텐다드 Semi-Bold"/>
              <a:ea typeface="프리텐다드 Semi-Bold"/>
              <a:cs typeface="프리텐다드 Semi-Bold"/>
              <a:sym typeface="프리텐다드 Semi-Bold"/>
            </a:endParaRPr>
          </a:p>
        </p:txBody>
      </p:sp>
    </p:spTree>
    <p:extLst>
      <p:ext uri="{BB962C8B-B14F-4D97-AF65-F5344CB8AC3E}">
        <p14:creationId xmlns:p14="http://schemas.microsoft.com/office/powerpoint/2010/main" val="679286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SERVICE INTERFACE</a:t>
            </a:r>
          </a:p>
        </p:txBody>
      </p:sp>
      <p:sp>
        <p:nvSpPr>
          <p:cNvPr id="10" name="TextBox 10"/>
          <p:cNvSpPr txBox="1"/>
          <p:nvPr/>
        </p:nvSpPr>
        <p:spPr>
          <a:xfrm>
            <a:off x="1421480" y="1253961"/>
            <a:ext cx="10770519" cy="946798"/>
          </a:xfrm>
          <a:prstGeom prst="rect">
            <a:avLst/>
          </a:prstGeom>
        </p:spPr>
        <p:txBody>
          <a:bodyPr wrap="square" lIns="0" tIns="0" rIns="0" bIns="0" rtlCol="0" anchor="t">
            <a:spAutoFit/>
          </a:bodyPr>
          <a:lstStyle/>
          <a:p>
            <a:pPr algn="l">
              <a:lnSpc>
                <a:spcPts val="7979"/>
              </a:lnSpc>
              <a:spcBef>
                <a:spcPct val="0"/>
              </a:spcBef>
            </a:pPr>
            <a:r>
              <a:rPr lang="en-US" sz="5699" b="1" dirty="0">
                <a:solidFill>
                  <a:srgbClr val="282828"/>
                </a:solidFill>
                <a:latin typeface="프리텐다드 Bold"/>
                <a:ea typeface="프리텐다드 Bold"/>
                <a:cs typeface="프리텐다드 Bold"/>
                <a:sym typeface="프리텐다드 Bold"/>
              </a:rPr>
              <a:t>5</a:t>
            </a:r>
            <a:r>
              <a:rPr lang="ko-KR" altLang="en-US" sz="5699" b="1" dirty="0">
                <a:solidFill>
                  <a:srgbClr val="282828"/>
                </a:solidFill>
                <a:latin typeface="프리텐다드 Bold"/>
                <a:ea typeface="프리텐다드 Bold"/>
                <a:cs typeface="프리텐다드 Bold"/>
                <a:sym typeface="프리텐다드 Bold"/>
              </a:rPr>
              <a:t>분 단기 토큰 기반 </a:t>
            </a:r>
            <a:r>
              <a:rPr lang="en-US" altLang="ko-KR" sz="5699" b="1" dirty="0">
                <a:solidFill>
                  <a:srgbClr val="282828"/>
                </a:solidFill>
                <a:latin typeface="프리텐다드 Bold"/>
                <a:ea typeface="프리텐다드 Bold"/>
                <a:cs typeface="프리텐다드 Bold"/>
                <a:sym typeface="프리텐다드 Bold"/>
              </a:rPr>
              <a:t>CT MRI </a:t>
            </a:r>
            <a:r>
              <a:rPr lang="ko-KR" altLang="en-US" sz="5699" b="1" dirty="0">
                <a:solidFill>
                  <a:srgbClr val="282828"/>
                </a:solidFill>
                <a:latin typeface="프리텐다드 Bold"/>
                <a:ea typeface="프리텐다드 Bold"/>
                <a:cs typeface="프리텐다드 Bold"/>
                <a:sym typeface="프리텐다드 Bold"/>
              </a:rPr>
              <a:t>뷰어</a:t>
            </a:r>
            <a:endParaRPr lang="en-US" sz="5699" b="1" dirty="0">
              <a:solidFill>
                <a:srgbClr val="282828"/>
              </a:solidFill>
              <a:latin typeface="프리텐다드 Bold"/>
              <a:ea typeface="프리텐다드 Bold"/>
              <a:cs typeface="프리텐다드 Bold"/>
              <a:sym typeface="프리텐다드 Bold"/>
            </a:endParaRPr>
          </a:p>
        </p:txBody>
      </p:sp>
      <p:pic>
        <p:nvPicPr>
          <p:cNvPr id="17" name="그림 16">
            <a:extLst>
              <a:ext uri="{FF2B5EF4-FFF2-40B4-BE49-F238E27FC236}">
                <a16:creationId xmlns:a16="http://schemas.microsoft.com/office/drawing/2014/main" id="{C6C1AE34-13CE-3311-5759-00FBD8F070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2970186"/>
            <a:ext cx="9526329" cy="6782747"/>
          </a:xfrm>
          <a:prstGeom prst="rect">
            <a:avLst/>
          </a:prstGeom>
        </p:spPr>
      </p:pic>
      <p:grpSp>
        <p:nvGrpSpPr>
          <p:cNvPr id="18" name="Group 13">
            <a:extLst>
              <a:ext uri="{FF2B5EF4-FFF2-40B4-BE49-F238E27FC236}">
                <a16:creationId xmlns:a16="http://schemas.microsoft.com/office/drawing/2014/main" id="{9CA8F6E6-5CE3-1449-021B-9A1710D4D1E3}"/>
              </a:ext>
            </a:extLst>
          </p:cNvPr>
          <p:cNvGrpSpPr/>
          <p:nvPr/>
        </p:nvGrpSpPr>
        <p:grpSpPr>
          <a:xfrm>
            <a:off x="10305262" y="3916809"/>
            <a:ext cx="7747000" cy="4889500"/>
            <a:chOff x="0" y="0"/>
            <a:chExt cx="2092562" cy="1107001"/>
          </a:xfrm>
        </p:grpSpPr>
        <p:sp>
          <p:nvSpPr>
            <p:cNvPr id="19" name="Freeform 14">
              <a:extLst>
                <a:ext uri="{FF2B5EF4-FFF2-40B4-BE49-F238E27FC236}">
                  <a16:creationId xmlns:a16="http://schemas.microsoft.com/office/drawing/2014/main" id="{9F7F49A3-E0C0-E0D2-762C-E91A6D77DFFE}"/>
                </a:ext>
              </a:extLst>
            </p:cNvPr>
            <p:cNvSpPr/>
            <p:nvPr/>
          </p:nvSpPr>
          <p:spPr>
            <a:xfrm>
              <a:off x="0" y="0"/>
              <a:ext cx="2092562" cy="1107001"/>
            </a:xfrm>
            <a:custGeom>
              <a:avLst/>
              <a:gdLst/>
              <a:ahLst/>
              <a:cxnLst/>
              <a:rect l="l" t="t" r="r" b="b"/>
              <a:pathLst>
                <a:path w="2092562" h="1107001">
                  <a:moveTo>
                    <a:pt x="0" y="0"/>
                  </a:moveTo>
                  <a:lnTo>
                    <a:pt x="2092562" y="0"/>
                  </a:lnTo>
                  <a:lnTo>
                    <a:pt x="2092562" y="1107001"/>
                  </a:lnTo>
                  <a:lnTo>
                    <a:pt x="0" y="1107001"/>
                  </a:lnTo>
                  <a:close/>
                </a:path>
              </a:pathLst>
            </a:custGeom>
            <a:ln w="9525" cap="sq">
              <a:solidFill>
                <a:srgbClr val="737373"/>
              </a:solidFill>
              <a:prstDash val="solid"/>
              <a:miter/>
            </a:ln>
          </p:spPr>
          <p:txBody>
            <a:bodyPr/>
            <a:lstStyle/>
            <a:p>
              <a:endParaRPr lang="ko-KR" altLang="en-US"/>
            </a:p>
          </p:txBody>
        </p:sp>
        <p:sp>
          <p:nvSpPr>
            <p:cNvPr id="20" name="TextBox 15">
              <a:extLst>
                <a:ext uri="{FF2B5EF4-FFF2-40B4-BE49-F238E27FC236}">
                  <a16:creationId xmlns:a16="http://schemas.microsoft.com/office/drawing/2014/main" id="{ECA1BCE8-E224-22DE-EF89-520B372D3CCC}"/>
                </a:ext>
              </a:extLst>
            </p:cNvPr>
            <p:cNvSpPr txBox="1"/>
            <p:nvPr/>
          </p:nvSpPr>
          <p:spPr>
            <a:xfrm>
              <a:off x="0" y="-47625"/>
              <a:ext cx="2092562" cy="1154626"/>
            </a:xfrm>
            <a:prstGeom prst="rect">
              <a:avLst/>
            </a:prstGeom>
          </p:spPr>
          <p:txBody>
            <a:bodyPr lIns="50800" tIns="50800" rIns="50800" bIns="50800" rtlCol="0" anchor="ctr"/>
            <a:lstStyle/>
            <a:p>
              <a:pPr algn="ctr">
                <a:lnSpc>
                  <a:spcPts val="3156"/>
                </a:lnSpc>
              </a:pPr>
              <a:endParaRPr/>
            </a:p>
          </p:txBody>
        </p:sp>
      </p:grpSp>
      <p:sp>
        <p:nvSpPr>
          <p:cNvPr id="21" name="TextBox 20">
            <a:extLst>
              <a:ext uri="{FF2B5EF4-FFF2-40B4-BE49-F238E27FC236}">
                <a16:creationId xmlns:a16="http://schemas.microsoft.com/office/drawing/2014/main" id="{C9C488D3-4016-2BFF-B294-972214DA04B9}"/>
              </a:ext>
            </a:extLst>
          </p:cNvPr>
          <p:cNvSpPr txBox="1"/>
          <p:nvPr/>
        </p:nvSpPr>
        <p:spPr>
          <a:xfrm>
            <a:off x="10722527" y="4944740"/>
            <a:ext cx="6912470" cy="4088299"/>
          </a:xfrm>
          <a:prstGeom prst="rect">
            <a:avLst/>
          </a:prstGeom>
          <a:noFill/>
        </p:spPr>
        <p:txBody>
          <a:bodyPr wrap="none" rtlCol="0">
            <a:spAutoFit/>
          </a:bodyPr>
          <a:lstStyle/>
          <a:p>
            <a:pPr>
              <a:defRPr sz="1575" b="1">
                <a:solidFill>
                  <a:srgbClr val="2F68B5"/>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WADO-RS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스트리밍</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700</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장 대용량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CT</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를 다운로드 없이 프레임 단위 초고속 렌더링</a:t>
            </a:r>
          </a:p>
          <a:p>
            <a:pPr>
              <a:defRPr sz="1575" b="1">
                <a:solidFill>
                  <a:srgbClr val="2F68B5"/>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정밀 판독 도구</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십자선</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다중 단면 연속 스크롤</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윈도우 </a:t>
            </a:r>
            <a:r>
              <a:rPr lang="ko-KR" altLang="en-US" sz="2000" dirty="0" err="1">
                <a:latin typeface="프리텐다드 Semi-Bold" panose="020B0600000101010101" charset="-127"/>
                <a:ea typeface="프리텐다드 Semi-Bold" panose="020B0600000101010101" charset="-127"/>
                <a:cs typeface="프리텐다드 Semi-Bold" panose="020B0600000101010101" charset="-127"/>
              </a:rPr>
              <a:t>레벨링</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시리즈 썸네일</a:t>
            </a:r>
          </a:p>
          <a:p>
            <a:pPr>
              <a:defRPr sz="1575" b="1">
                <a:solidFill>
                  <a:srgbClr val="2F68B5"/>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5</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분 단기 서명 토큰</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시간 경과 시 세션 자동 만료로 장기 토큰 탈취 위험 원천 차단</a:t>
            </a:r>
          </a:p>
          <a:p>
            <a:pPr>
              <a:defRPr sz="1575" b="1">
                <a:solidFill>
                  <a:srgbClr val="2F68B5"/>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로컬 다운로드 금지</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의료진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PC</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에 원본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DICOM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파일 무단 저장을 엄격히 차단</a:t>
            </a:r>
          </a:p>
          <a:p>
            <a:pPr>
              <a:defRPr sz="1575" b="1">
                <a:solidFill>
                  <a:srgbClr val="2F68B5"/>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err="1">
                <a:latin typeface="프리텐다드 Semi-Bold" panose="020B0600000101010101" charset="-127"/>
                <a:ea typeface="프리텐다드 Semi-Bold" panose="020B0600000101010101" charset="-127"/>
                <a:cs typeface="프리텐다드 Semi-Bold" panose="020B0600000101010101" charset="-127"/>
              </a:rPr>
              <a:t>DICOMweb</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표준 준수</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err="1">
                <a:latin typeface="프리텐다드 Semi-Bold" panose="020B0600000101010101" charset="-127"/>
                <a:ea typeface="프리텐다드 Semi-Bold" panose="020B0600000101010101" charset="-127"/>
                <a:cs typeface="프리텐다드 Semi-Bold" panose="020B0600000101010101" charset="-127"/>
              </a:rPr>
              <a:t>QIDO</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-RS / WADO-RS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표준으로 기존 병원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PACS</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와 완벽 호환</a:t>
            </a:r>
          </a:p>
          <a:p>
            <a:endParaRPr lang="ko-KR" altLang="en-US" dirty="0"/>
          </a:p>
        </p:txBody>
      </p:sp>
      <p:sp>
        <p:nvSpPr>
          <p:cNvPr id="22" name="TextBox 21">
            <a:extLst>
              <a:ext uri="{FF2B5EF4-FFF2-40B4-BE49-F238E27FC236}">
                <a16:creationId xmlns:a16="http://schemas.microsoft.com/office/drawing/2014/main" id="{0BD9CBB0-47CC-D31F-2A9A-39D3BEDD4B2C}"/>
              </a:ext>
            </a:extLst>
          </p:cNvPr>
          <p:cNvSpPr txBox="1"/>
          <p:nvPr/>
        </p:nvSpPr>
        <p:spPr>
          <a:xfrm>
            <a:off x="11658600" y="4164012"/>
            <a:ext cx="1935145" cy="553998"/>
          </a:xfrm>
          <a:prstGeom prst="rect">
            <a:avLst/>
          </a:prstGeom>
          <a:noFill/>
        </p:spPr>
        <p:txBody>
          <a:bodyPr wrap="none" rtlCol="0">
            <a:spAutoFit/>
          </a:bodyPr>
          <a:lstStyle/>
          <a:p>
            <a:r>
              <a:rPr lang="ko-KR" altLang="en-US" sz="3000" b="1">
                <a:solidFill>
                  <a:srgbClr val="2A59C5"/>
                </a:solidFill>
                <a:latin typeface="프리텐다드 Semi-Bold"/>
                <a:ea typeface="프리텐다드 Semi-Bold"/>
                <a:cs typeface="프리텐다드 Semi-Bold"/>
                <a:sym typeface="프리텐다드 Semi-Bold"/>
              </a:rPr>
              <a:t>의료진 뷰어</a:t>
            </a:r>
            <a:endParaRPr lang="ko-KR" altLang="en-US" dirty="0"/>
          </a:p>
        </p:txBody>
      </p:sp>
      <p:sp>
        <p:nvSpPr>
          <p:cNvPr id="24" name="Freeform 19">
            <a:extLst>
              <a:ext uri="{FF2B5EF4-FFF2-40B4-BE49-F238E27FC236}">
                <a16:creationId xmlns:a16="http://schemas.microsoft.com/office/drawing/2014/main" id="{4575DA99-3CB3-3DF8-9822-1359BBC86968}"/>
              </a:ext>
              <a:ext uri="{C183D7F6-B498-43B3-948B-1728B52AA6E4}">
                <adec:decorative xmlns:adec="http://schemas.microsoft.com/office/drawing/2017/decorative" val="1"/>
              </a:ext>
            </a:extLst>
          </p:cNvPr>
          <p:cNvSpPr/>
          <p:nvPr/>
        </p:nvSpPr>
        <p:spPr>
          <a:xfrm>
            <a:off x="11053234" y="4207161"/>
            <a:ext cx="406400" cy="406400"/>
          </a:xfrm>
          <a:custGeom>
            <a:avLst/>
            <a:gdLst/>
            <a:ahLst/>
            <a:cxnLst/>
            <a:rect l="l" t="t" r="r" b="b"/>
            <a:pathLst>
              <a:path w="301131" h="301131">
                <a:moveTo>
                  <a:pt x="0" y="0"/>
                </a:moveTo>
                <a:lnTo>
                  <a:pt x="301131" y="0"/>
                </a:lnTo>
                <a:lnTo>
                  <a:pt x="301131" y="301131"/>
                </a:lnTo>
                <a:lnTo>
                  <a:pt x="0" y="3011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ko-KR" altLang="en-US"/>
          </a:p>
        </p:txBody>
      </p:sp>
    </p:spTree>
    <p:extLst>
      <p:ext uri="{BB962C8B-B14F-4D97-AF65-F5344CB8AC3E}">
        <p14:creationId xmlns:p14="http://schemas.microsoft.com/office/powerpoint/2010/main" val="1449441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6390C-15C9-CBEA-D7F8-55C4676C772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C890A24-240F-F299-3D3D-97E5E9198731}"/>
              </a:ext>
            </a:extLst>
          </p:cNvPr>
          <p:cNvGrpSpPr/>
          <p:nvPr/>
        </p:nvGrpSpPr>
        <p:grpSpPr>
          <a:xfrm>
            <a:off x="-162858" y="-107527"/>
            <a:ext cx="18613717" cy="2953200"/>
            <a:chOff x="0" y="0"/>
            <a:chExt cx="4902378" cy="777797"/>
          </a:xfrm>
        </p:grpSpPr>
        <p:sp>
          <p:nvSpPr>
            <p:cNvPr id="3" name="Freeform 3">
              <a:extLst>
                <a:ext uri="{FF2B5EF4-FFF2-40B4-BE49-F238E27FC236}">
                  <a16:creationId xmlns:a16="http://schemas.microsoft.com/office/drawing/2014/main" id="{70886FA2-0443-13A9-D97A-0ADDACF4B415}"/>
                </a:ext>
              </a:extLst>
            </p:cNvPr>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a:extLst>
                <a:ext uri="{FF2B5EF4-FFF2-40B4-BE49-F238E27FC236}">
                  <a16:creationId xmlns:a16="http://schemas.microsoft.com/office/drawing/2014/main" id="{2E2306BA-E96C-DEE7-D810-0B5ACABD3B49}"/>
                </a:ext>
              </a:extLst>
            </p:cNvPr>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a:extLst>
              <a:ext uri="{FF2B5EF4-FFF2-40B4-BE49-F238E27FC236}">
                <a16:creationId xmlns:a16="http://schemas.microsoft.com/office/drawing/2014/main" id="{8967A7CA-C2C1-6007-9DE5-771321BBFAAD}"/>
              </a:ext>
            </a:extLst>
          </p:cNvPr>
          <p:cNvGrpSpPr/>
          <p:nvPr/>
        </p:nvGrpSpPr>
        <p:grpSpPr>
          <a:xfrm>
            <a:off x="1028700" y="1028700"/>
            <a:ext cx="132273" cy="1204431"/>
            <a:chOff x="0" y="0"/>
            <a:chExt cx="40474" cy="368545"/>
          </a:xfrm>
        </p:grpSpPr>
        <p:sp>
          <p:nvSpPr>
            <p:cNvPr id="6" name="Freeform 6">
              <a:extLst>
                <a:ext uri="{FF2B5EF4-FFF2-40B4-BE49-F238E27FC236}">
                  <a16:creationId xmlns:a16="http://schemas.microsoft.com/office/drawing/2014/main" id="{64921154-6FAA-B8FC-B84B-16DFBA9B9F90}"/>
                </a:ext>
              </a:extLst>
            </p:cNvPr>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a:extLst>
                <a:ext uri="{FF2B5EF4-FFF2-40B4-BE49-F238E27FC236}">
                  <a16:creationId xmlns:a16="http://schemas.microsoft.com/office/drawing/2014/main" id="{E2500C6F-5DDF-F0F7-C101-0065B6C97BFE}"/>
                </a:ext>
              </a:extLst>
            </p:cNvPr>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a:extLst>
              <a:ext uri="{FF2B5EF4-FFF2-40B4-BE49-F238E27FC236}">
                <a16:creationId xmlns:a16="http://schemas.microsoft.com/office/drawing/2014/main" id="{5017A947-C4BB-54A7-CACC-A1534289A422}"/>
              </a:ext>
            </a:extLst>
          </p:cNvPr>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SERVICE INTERFACE</a:t>
            </a:r>
          </a:p>
        </p:txBody>
      </p:sp>
      <p:sp>
        <p:nvSpPr>
          <p:cNvPr id="10" name="TextBox 10">
            <a:extLst>
              <a:ext uri="{FF2B5EF4-FFF2-40B4-BE49-F238E27FC236}">
                <a16:creationId xmlns:a16="http://schemas.microsoft.com/office/drawing/2014/main" id="{0E17CD80-CD0B-59A5-77C1-DE6A67F8AAC8}"/>
              </a:ext>
            </a:extLst>
          </p:cNvPr>
          <p:cNvSpPr txBox="1"/>
          <p:nvPr/>
        </p:nvSpPr>
        <p:spPr>
          <a:xfrm>
            <a:off x="1421480" y="1253961"/>
            <a:ext cx="10770519" cy="965072"/>
          </a:xfrm>
          <a:prstGeom prst="rect">
            <a:avLst/>
          </a:prstGeom>
        </p:spPr>
        <p:txBody>
          <a:bodyPr wrap="square" lIns="0" tIns="0" rIns="0" bIns="0" rtlCol="0" anchor="t">
            <a:spAutoFit/>
          </a:bodyPr>
          <a:lstStyle/>
          <a:p>
            <a:pPr>
              <a:lnSpc>
                <a:spcPts val="7979"/>
              </a:lnSpc>
              <a:spcBef>
                <a:spcPct val="0"/>
              </a:spcBef>
            </a:pPr>
            <a:r>
              <a:rPr lang="ko-KR" altLang="en-US" sz="5699" b="1" dirty="0">
                <a:solidFill>
                  <a:srgbClr val="282828"/>
                </a:solidFill>
                <a:latin typeface="프리텐다드 Bold"/>
                <a:ea typeface="프리텐다드 Bold"/>
                <a:cs typeface="프리텐다드 Bold"/>
                <a:sym typeface="프리텐다드 Bold"/>
              </a:rPr>
              <a:t> </a:t>
            </a:r>
            <a:r>
              <a:rPr lang="ko-KR" altLang="en-US" sz="6000" dirty="0">
                <a:latin typeface="프리텐다드 Bold" panose="020B0600000101010101" charset="-127"/>
                <a:ea typeface="프리텐다드 Bold" panose="020B0600000101010101" charset="-127"/>
                <a:cs typeface="프리텐다드 Bold" panose="020B0600000101010101" charset="-127"/>
              </a:rPr>
              <a:t>통합 보안 관제 콘솔</a:t>
            </a:r>
            <a:endParaRPr lang="en-US" sz="5699" b="1" dirty="0">
              <a:solidFill>
                <a:srgbClr val="282828"/>
              </a:solidFill>
              <a:latin typeface="프리텐다드 Bold" panose="020B0600000101010101" charset="-127"/>
              <a:ea typeface="프리텐다드 Bold" panose="020B0600000101010101" charset="-127"/>
              <a:cs typeface="프리텐다드 Bold" panose="020B0600000101010101" charset="-127"/>
              <a:sym typeface="프리텐다드 Bold"/>
            </a:endParaRPr>
          </a:p>
        </p:txBody>
      </p:sp>
      <p:grpSp>
        <p:nvGrpSpPr>
          <p:cNvPr id="18" name="Group 13">
            <a:extLst>
              <a:ext uri="{FF2B5EF4-FFF2-40B4-BE49-F238E27FC236}">
                <a16:creationId xmlns:a16="http://schemas.microsoft.com/office/drawing/2014/main" id="{F71F0846-D1F5-B98F-BF0A-D2C552EB6192}"/>
              </a:ext>
            </a:extLst>
          </p:cNvPr>
          <p:cNvGrpSpPr/>
          <p:nvPr/>
        </p:nvGrpSpPr>
        <p:grpSpPr>
          <a:xfrm>
            <a:off x="10305261" y="3877620"/>
            <a:ext cx="7747000" cy="4889500"/>
            <a:chOff x="0" y="0"/>
            <a:chExt cx="2092562" cy="1107001"/>
          </a:xfrm>
        </p:grpSpPr>
        <p:sp>
          <p:nvSpPr>
            <p:cNvPr id="19" name="Freeform 14">
              <a:extLst>
                <a:ext uri="{FF2B5EF4-FFF2-40B4-BE49-F238E27FC236}">
                  <a16:creationId xmlns:a16="http://schemas.microsoft.com/office/drawing/2014/main" id="{497A122F-5E42-7928-5ED8-575F4B1B54D5}"/>
                </a:ext>
              </a:extLst>
            </p:cNvPr>
            <p:cNvSpPr/>
            <p:nvPr/>
          </p:nvSpPr>
          <p:spPr>
            <a:xfrm>
              <a:off x="0" y="0"/>
              <a:ext cx="2092562" cy="1107001"/>
            </a:xfrm>
            <a:custGeom>
              <a:avLst/>
              <a:gdLst/>
              <a:ahLst/>
              <a:cxnLst/>
              <a:rect l="l" t="t" r="r" b="b"/>
              <a:pathLst>
                <a:path w="2092562" h="1107001">
                  <a:moveTo>
                    <a:pt x="0" y="0"/>
                  </a:moveTo>
                  <a:lnTo>
                    <a:pt x="2092562" y="0"/>
                  </a:lnTo>
                  <a:lnTo>
                    <a:pt x="2092562" y="1107001"/>
                  </a:lnTo>
                  <a:lnTo>
                    <a:pt x="0" y="1107001"/>
                  </a:lnTo>
                  <a:close/>
                </a:path>
              </a:pathLst>
            </a:custGeom>
            <a:ln w="9525" cap="sq">
              <a:solidFill>
                <a:srgbClr val="737373"/>
              </a:solidFill>
              <a:prstDash val="solid"/>
              <a:miter/>
            </a:ln>
          </p:spPr>
          <p:txBody>
            <a:bodyPr/>
            <a:lstStyle/>
            <a:p>
              <a:endParaRPr lang="ko-KR" altLang="en-US"/>
            </a:p>
          </p:txBody>
        </p:sp>
        <p:sp>
          <p:nvSpPr>
            <p:cNvPr id="20" name="TextBox 15">
              <a:extLst>
                <a:ext uri="{FF2B5EF4-FFF2-40B4-BE49-F238E27FC236}">
                  <a16:creationId xmlns:a16="http://schemas.microsoft.com/office/drawing/2014/main" id="{F22FF05E-A234-336D-F45B-B0B507570982}"/>
                </a:ext>
              </a:extLst>
            </p:cNvPr>
            <p:cNvSpPr txBox="1"/>
            <p:nvPr/>
          </p:nvSpPr>
          <p:spPr>
            <a:xfrm>
              <a:off x="0" y="-47625"/>
              <a:ext cx="2092562" cy="1154626"/>
            </a:xfrm>
            <a:prstGeom prst="rect">
              <a:avLst/>
            </a:prstGeom>
          </p:spPr>
          <p:txBody>
            <a:bodyPr lIns="50800" tIns="50800" rIns="50800" bIns="50800" rtlCol="0" anchor="ctr"/>
            <a:lstStyle/>
            <a:p>
              <a:pPr algn="ctr">
                <a:lnSpc>
                  <a:spcPts val="3156"/>
                </a:lnSpc>
              </a:pPr>
              <a:endParaRPr/>
            </a:p>
          </p:txBody>
        </p:sp>
      </p:grpSp>
      <p:sp>
        <p:nvSpPr>
          <p:cNvPr id="21" name="TextBox 20">
            <a:extLst>
              <a:ext uri="{FF2B5EF4-FFF2-40B4-BE49-F238E27FC236}">
                <a16:creationId xmlns:a16="http://schemas.microsoft.com/office/drawing/2014/main" id="{CE1FF08D-B058-DC1E-8A0F-B22D3389C92B}"/>
              </a:ext>
            </a:extLst>
          </p:cNvPr>
          <p:cNvSpPr txBox="1"/>
          <p:nvPr/>
        </p:nvSpPr>
        <p:spPr>
          <a:xfrm>
            <a:off x="10542189" y="4718010"/>
            <a:ext cx="7273145" cy="4396075"/>
          </a:xfrm>
          <a:prstGeom prst="rect">
            <a:avLst/>
          </a:prstGeom>
          <a:noFill/>
        </p:spPr>
        <p:txBody>
          <a:bodyPr wrap="none" rtlCol="0">
            <a:spAutoFit/>
          </a:bodyPr>
          <a:lstStyle/>
          <a:p>
            <a:endParaRPr lang="ko-KR" altLang="en-US" sz="2000" dirty="0">
              <a:latin typeface="프리텐다드 Semi-Bold" panose="020B0600000101010101" charset="-127"/>
              <a:ea typeface="프리텐다드 Semi-Bold" panose="020B0600000101010101" charset="-127"/>
              <a:cs typeface="프리텐다드 Semi-Bold" panose="020B0600000101010101" charset="-127"/>
            </a:endParaRPr>
          </a:p>
          <a:p>
            <a:pPr>
              <a:defRPr sz="1575" b="1">
                <a:solidFill>
                  <a:srgbClr val="C64A4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15</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대 주요 행위 전수 로깅</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로그인</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동의 생성</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토큰 발급</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프레임 조회</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접근 거부 등 실시간 기록</a:t>
            </a:r>
          </a:p>
          <a:p>
            <a:pPr>
              <a:defRPr sz="1575" b="1">
                <a:solidFill>
                  <a:srgbClr val="C64A4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사유 코드 기반 거부</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a:t>
            </a:r>
            <a:r>
              <a:rPr lang="en-US" altLang="ko-KR" sz="2000" dirty="0" err="1">
                <a:latin typeface="프리텐다드 Semi-Bold" panose="020B0600000101010101" charset="-127"/>
                <a:ea typeface="프리텐다드 Semi-Bold" panose="020B0600000101010101" charset="-127"/>
                <a:cs typeface="프리텐다드 Semi-Bold" panose="020B0600000101010101" charset="-127"/>
              </a:rPr>
              <a:t>DOCTOR_HOSPITAL_MISMATCH</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등 명확한 원인 추적</a:t>
            </a:r>
          </a:p>
          <a:p>
            <a:pPr>
              <a:defRPr sz="1575" b="1">
                <a:solidFill>
                  <a:srgbClr val="C64A4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감사 세션 체인 상관</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하나의 감사 세션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ID</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로 토큰 발급부터 </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PACS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조회까지 종단 추적</a:t>
            </a:r>
          </a:p>
          <a:p>
            <a:pPr>
              <a:defRPr sz="1575" b="1">
                <a:solidFill>
                  <a:srgbClr val="C64A4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실시간 이상행위 탐지</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단시간 대량 조회</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만료 토큰 반복 사용</a:t>
            </a:r>
            <a:r>
              <a:rPr lang="en-US" altLang="ko-KR" sz="2000" dirty="0">
                <a:latin typeface="프리텐다드 Semi-Bold" panose="020B0600000101010101" charset="-127"/>
                <a:ea typeface="프리텐다드 Semi-Bold" panose="020B0600000101010101" charset="-127"/>
                <a:cs typeface="프리텐다드 Semi-Bold" panose="020B0600000101010101" charset="-127"/>
              </a:rPr>
              <a:t>, </a:t>
            </a:r>
            <a:r>
              <a:rPr lang="ko-KR" altLang="en-US" sz="2000" dirty="0" err="1">
                <a:latin typeface="프리텐다드 Semi-Bold" panose="020B0600000101010101" charset="-127"/>
                <a:ea typeface="프리텐다드 Semi-Bold" panose="020B0600000101010101" charset="-127"/>
                <a:cs typeface="프리텐다드 Semi-Bold" panose="020B0600000101010101" charset="-127"/>
              </a:rPr>
              <a:t>비진료</a:t>
            </a: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부서 접근 실시간 경보</a:t>
            </a:r>
          </a:p>
          <a:p>
            <a:pPr>
              <a:defRPr sz="1575" b="1">
                <a:solidFill>
                  <a:srgbClr val="C64A4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관리자 임의 삭제 금지</a:t>
            </a:r>
          </a:p>
          <a:p>
            <a:pPr>
              <a:spcAft>
                <a:spcPts val="1000"/>
              </a:spcAft>
              <a:defRPr sz="1350">
                <a:solidFill>
                  <a:srgbClr val="17263A"/>
                </a:solidFill>
                <a:latin typeface="프리텐다드"/>
              </a:defRPr>
            </a:pPr>
            <a:r>
              <a:rPr lang="ko-KR" altLang="en-US" sz="2000" dirty="0">
                <a:latin typeface="프리텐다드 Semi-Bold" panose="020B0600000101010101" charset="-127"/>
                <a:ea typeface="프리텐다드 Semi-Bold" panose="020B0600000101010101" charset="-127"/>
                <a:cs typeface="프리텐다드 Semi-Bold" panose="020B0600000101010101" charset="-127"/>
              </a:rPr>
              <a:t>     감사로그 자체의 무결성을 보장하여 법적 증거력 확보</a:t>
            </a:r>
          </a:p>
          <a:p>
            <a:endParaRPr lang="ko-KR" altLang="en-US" dirty="0"/>
          </a:p>
        </p:txBody>
      </p:sp>
      <p:sp>
        <p:nvSpPr>
          <p:cNvPr id="22" name="TextBox 21">
            <a:extLst>
              <a:ext uri="{FF2B5EF4-FFF2-40B4-BE49-F238E27FC236}">
                <a16:creationId xmlns:a16="http://schemas.microsoft.com/office/drawing/2014/main" id="{49091CD3-83EF-2565-1BEB-981FDEF9048E}"/>
              </a:ext>
            </a:extLst>
          </p:cNvPr>
          <p:cNvSpPr txBox="1"/>
          <p:nvPr/>
        </p:nvSpPr>
        <p:spPr>
          <a:xfrm>
            <a:off x="11658600" y="4164012"/>
            <a:ext cx="4017446" cy="553998"/>
          </a:xfrm>
          <a:prstGeom prst="rect">
            <a:avLst/>
          </a:prstGeom>
          <a:noFill/>
        </p:spPr>
        <p:txBody>
          <a:bodyPr wrap="none" rtlCol="0">
            <a:spAutoFit/>
          </a:bodyPr>
          <a:lstStyle/>
          <a:p>
            <a:r>
              <a:rPr lang="ko-KR" altLang="en-US" sz="3000" b="1" dirty="0">
                <a:solidFill>
                  <a:srgbClr val="C00000"/>
                </a:solidFill>
                <a:latin typeface="프리텐다드 Semi-Bold"/>
                <a:ea typeface="프리텐다드 Semi-Bold"/>
                <a:cs typeface="프리텐다드 Semi-Bold"/>
                <a:sym typeface="프리텐다드 Semi-Bold"/>
              </a:rPr>
              <a:t>감사로그와 이상행위 탐지</a:t>
            </a:r>
            <a:endParaRPr lang="ko-KR" altLang="en-US" dirty="0">
              <a:solidFill>
                <a:srgbClr val="C00000"/>
              </a:solidFill>
            </a:endParaRPr>
          </a:p>
        </p:txBody>
      </p:sp>
      <p:pic>
        <p:nvPicPr>
          <p:cNvPr id="13" name="그림 12">
            <a:extLst>
              <a:ext uri="{FF2B5EF4-FFF2-40B4-BE49-F238E27FC236}">
                <a16:creationId xmlns:a16="http://schemas.microsoft.com/office/drawing/2014/main" id="{6B24BC18-EBA6-1078-2649-27FD89F7F7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3" y="4547519"/>
            <a:ext cx="10197252" cy="5739481"/>
          </a:xfrm>
          <a:prstGeom prst="rect">
            <a:avLst/>
          </a:prstGeom>
        </p:spPr>
      </p:pic>
      <p:pic>
        <p:nvPicPr>
          <p:cNvPr id="11" name="그림 10">
            <a:extLst>
              <a:ext uri="{FF2B5EF4-FFF2-40B4-BE49-F238E27FC236}">
                <a16:creationId xmlns:a16="http://schemas.microsoft.com/office/drawing/2014/main" id="{D1B2D82B-9966-5317-D5ED-2142D121D6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4106" y="3026499"/>
            <a:ext cx="4662691" cy="7120739"/>
          </a:xfrm>
          <a:prstGeom prst="rect">
            <a:avLst/>
          </a:prstGeom>
        </p:spPr>
      </p:pic>
    </p:spTree>
    <p:extLst>
      <p:ext uri="{BB962C8B-B14F-4D97-AF65-F5344CB8AC3E}">
        <p14:creationId xmlns:p14="http://schemas.microsoft.com/office/powerpoint/2010/main" val="4242048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5278433" y="-189268"/>
            <a:ext cx="3268199" cy="7739024"/>
            <a:chOff x="0" y="0"/>
            <a:chExt cx="860760" cy="2038262"/>
          </a:xfrm>
        </p:grpSpPr>
        <p:sp>
          <p:nvSpPr>
            <p:cNvPr id="3" name="Freeform 3"/>
            <p:cNvSpPr/>
            <p:nvPr/>
          </p:nvSpPr>
          <p:spPr>
            <a:xfrm>
              <a:off x="0" y="0"/>
              <a:ext cx="860760" cy="2038262"/>
            </a:xfrm>
            <a:custGeom>
              <a:avLst/>
              <a:gdLst/>
              <a:ahLst/>
              <a:cxnLst/>
              <a:rect l="l" t="t" r="r" b="b"/>
              <a:pathLst>
                <a:path w="860760" h="2038262">
                  <a:moveTo>
                    <a:pt x="0" y="0"/>
                  </a:moveTo>
                  <a:lnTo>
                    <a:pt x="860760" y="0"/>
                  </a:lnTo>
                  <a:lnTo>
                    <a:pt x="860760" y="2038262"/>
                  </a:lnTo>
                  <a:lnTo>
                    <a:pt x="0" y="2038262"/>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860760" cy="2085887"/>
            </a:xfrm>
            <a:prstGeom prst="rect">
              <a:avLst/>
            </a:prstGeom>
          </p:spPr>
          <p:txBody>
            <a:bodyPr lIns="50800" tIns="50800" rIns="50800" bIns="50800" rtlCol="0" anchor="ctr"/>
            <a:lstStyle/>
            <a:p>
              <a:pPr algn="ctr">
                <a:lnSpc>
                  <a:spcPts val="3156"/>
                </a:lnSpc>
              </a:pPr>
              <a:endParaRPr/>
            </a:p>
          </p:txBody>
        </p:sp>
      </p:grpSp>
      <p:sp>
        <p:nvSpPr>
          <p:cNvPr id="5" name="Freeform 5">
            <a:extLst>
              <a:ext uri="{C183D7F6-B498-43B3-948B-1728B52AA6E4}">
                <adec:decorative xmlns:adec="http://schemas.microsoft.com/office/drawing/2017/decorative" val="1"/>
              </a:ext>
            </a:extLst>
          </p:cNvPr>
          <p:cNvSpPr/>
          <p:nvPr/>
        </p:nvSpPr>
        <p:spPr>
          <a:xfrm>
            <a:off x="0" y="7075598"/>
            <a:ext cx="18288000" cy="5818426"/>
          </a:xfrm>
          <a:custGeom>
            <a:avLst/>
            <a:gdLst/>
            <a:ahLst/>
            <a:cxnLst/>
            <a:rect l="l" t="t" r="r" b="b"/>
            <a:pathLst>
              <a:path w="18288000" h="5818426">
                <a:moveTo>
                  <a:pt x="0" y="0"/>
                </a:moveTo>
                <a:lnTo>
                  <a:pt x="18288000" y="0"/>
                </a:lnTo>
                <a:lnTo>
                  <a:pt x="18288000" y="5818426"/>
                </a:lnTo>
                <a:lnTo>
                  <a:pt x="0" y="5818426"/>
                </a:lnTo>
                <a:lnTo>
                  <a:pt x="0" y="0"/>
                </a:lnTo>
                <a:close/>
              </a:path>
            </a:pathLst>
          </a:custGeom>
          <a:blipFill>
            <a:blip r:embed="rId2"/>
            <a:stretch>
              <a:fillRect b="-4705"/>
            </a:stretch>
          </a:blipFill>
        </p:spPr>
        <p:txBody>
          <a:bodyPr/>
          <a:lstStyle/>
          <a:p>
            <a:endParaRPr lang="ko-KR" altLang="en-US"/>
          </a:p>
        </p:txBody>
      </p:sp>
      <p:sp>
        <p:nvSpPr>
          <p:cNvPr id="6" name="TextBox 6"/>
          <p:cNvSpPr txBox="1"/>
          <p:nvPr/>
        </p:nvSpPr>
        <p:spPr>
          <a:xfrm>
            <a:off x="1028700" y="2214108"/>
            <a:ext cx="8441160" cy="1584983"/>
          </a:xfrm>
          <a:prstGeom prst="rect">
            <a:avLst/>
          </a:prstGeom>
        </p:spPr>
        <p:txBody>
          <a:bodyPr lIns="0" tIns="0" rIns="0" bIns="0" rtlCol="0" anchor="t">
            <a:spAutoFit/>
          </a:bodyPr>
          <a:lstStyle/>
          <a:p>
            <a:pPr algn="l">
              <a:lnSpc>
                <a:spcPts val="12979"/>
              </a:lnSpc>
              <a:spcBef>
                <a:spcPct val="0"/>
              </a:spcBef>
            </a:pPr>
            <a:r>
              <a:rPr lang="en-US" sz="9270" b="1">
                <a:solidFill>
                  <a:srgbClr val="2A59C5"/>
                </a:solidFill>
                <a:latin typeface="프리텐다드 Bold"/>
                <a:ea typeface="프리텐다드 Bold"/>
                <a:cs typeface="프리텐다드 Bold"/>
                <a:sym typeface="프리텐다드 Bold"/>
              </a:rPr>
              <a:t>06</a:t>
            </a:r>
          </a:p>
        </p:txBody>
      </p:sp>
      <p:sp>
        <p:nvSpPr>
          <p:cNvPr id="7" name="TextBox 7"/>
          <p:cNvSpPr txBox="1"/>
          <p:nvPr/>
        </p:nvSpPr>
        <p:spPr>
          <a:xfrm>
            <a:off x="1028700" y="3516926"/>
            <a:ext cx="7056707" cy="1584983"/>
          </a:xfrm>
          <a:prstGeom prst="rect">
            <a:avLst/>
          </a:prstGeom>
        </p:spPr>
        <p:txBody>
          <a:bodyPr lIns="0" tIns="0" rIns="0" bIns="0" rtlCol="0" anchor="t">
            <a:spAutoFit/>
          </a:bodyPr>
          <a:lstStyle/>
          <a:p>
            <a:pPr algn="l">
              <a:lnSpc>
                <a:spcPts val="12979"/>
              </a:lnSpc>
              <a:spcBef>
                <a:spcPct val="0"/>
              </a:spcBef>
            </a:pPr>
            <a:r>
              <a:rPr lang="en-US" sz="9270" b="1">
                <a:solidFill>
                  <a:srgbClr val="282828"/>
                </a:solidFill>
                <a:latin typeface="프리텐다드 Bold"/>
                <a:ea typeface="프리텐다드 Bold"/>
                <a:cs typeface="프리텐다드 Bold"/>
                <a:sym typeface="프리텐다드 Bold"/>
              </a:rPr>
              <a:t>보안 설계</a:t>
            </a:r>
          </a:p>
        </p:txBody>
      </p:sp>
      <p:sp>
        <p:nvSpPr>
          <p:cNvPr id="8" name="TextBox 8"/>
          <p:cNvSpPr txBox="1"/>
          <p:nvPr/>
        </p:nvSpPr>
        <p:spPr>
          <a:xfrm>
            <a:off x="1028700" y="1848967"/>
            <a:ext cx="3836759" cy="356036"/>
          </a:xfrm>
          <a:prstGeom prst="rect">
            <a:avLst/>
          </a:prstGeom>
        </p:spPr>
        <p:txBody>
          <a:bodyPr lIns="0" tIns="0" rIns="0" bIns="0" rtlCol="0" anchor="t">
            <a:spAutoFit/>
          </a:bodyPr>
          <a:lstStyle/>
          <a:p>
            <a:pPr algn="l">
              <a:lnSpc>
                <a:spcPts val="2950"/>
              </a:lnSpc>
              <a:spcBef>
                <a:spcPct val="0"/>
              </a:spcBef>
            </a:pPr>
            <a:r>
              <a:rPr lang="en-US" sz="2107" spc="210">
                <a:solidFill>
                  <a:srgbClr val="282828"/>
                </a:solidFill>
                <a:latin typeface="프리텐다드"/>
                <a:ea typeface="프리텐다드"/>
                <a:cs typeface="프리텐다드"/>
                <a:sym typeface="프리텐다드"/>
              </a:rPr>
              <a:t>SECTION</a:t>
            </a:r>
          </a:p>
        </p:txBody>
      </p:sp>
      <p:sp>
        <p:nvSpPr>
          <p:cNvPr id="9" name="TextBox 9"/>
          <p:cNvSpPr txBox="1"/>
          <p:nvPr/>
        </p:nvSpPr>
        <p:spPr>
          <a:xfrm>
            <a:off x="1028700" y="5244784"/>
            <a:ext cx="6505897" cy="308739"/>
          </a:xfrm>
          <a:prstGeom prst="rect">
            <a:avLst/>
          </a:prstGeom>
        </p:spPr>
        <p:txBody>
          <a:bodyPr lIns="0" tIns="0" rIns="0" bIns="0" rtlCol="0" anchor="t">
            <a:spAutoFit/>
          </a:bodyPr>
          <a:lstStyle/>
          <a:p>
            <a:pPr marL="0" lvl="0" indent="0" algn="just">
              <a:lnSpc>
                <a:spcPts val="2640"/>
              </a:lnSpc>
              <a:spcBef>
                <a:spcPct val="0"/>
              </a:spcBef>
            </a:pPr>
            <a:r>
              <a:rPr lang="en-US" sz="1886" spc="335">
                <a:solidFill>
                  <a:srgbClr val="282828"/>
                </a:solidFill>
                <a:latin typeface="프리텐다드"/>
                <a:ea typeface="프리텐다드"/>
                <a:cs typeface="프리텐다드"/>
                <a:sym typeface="프리텐다드"/>
              </a:rPr>
              <a:t>SECURITY DESIGN</a:t>
            </a:r>
          </a:p>
        </p:txBody>
      </p:sp>
      <p:sp>
        <p:nvSpPr>
          <p:cNvPr id="40" name="Section pages"/>
          <p:cNvSpPr txBox="1"/>
          <p:nvPr/>
        </p:nvSpPr>
        <p:spPr>
          <a:xfrm>
            <a:off x="1485900" y="7874000"/>
            <a:ext cx="15240000" cy="1524000"/>
          </a:xfrm>
          <a:prstGeom prst="rect">
            <a:avLst/>
          </a:prstGeom>
          <a:noFill/>
        </p:spPr>
        <p:txBody>
          <a:bodyPr wrap="square" lIns="0" tIns="0" rIns="0" bIns="0" anchor="ctr">
            <a:noAutofit/>
          </a:bodyPr>
          <a:lstStyle/>
          <a:p>
            <a:pPr marL="0" indent="0">
              <a:lnSpc>
                <a:spcPts val="3000"/>
              </a:lnSpc>
              <a:buNone/>
            </a:pPr>
            <a:r>
              <a:rPr lang="ko-KR" sz="1800" b="1" spc="200" dirty="0">
                <a:solidFill>
                  <a:srgbClr val="FFFFFF"/>
                </a:solidFill>
                <a:latin typeface="프리텐다드 Semi-Bold"/>
                <a:ea typeface="프리텐다드 Semi-Bold"/>
                <a:cs typeface="프리텐다드 Semi-Bold"/>
                <a:sym typeface="프리텐다드 Semi-Bold"/>
              </a:rPr>
              <a:t>IN THIS SECTION</a:t>
            </a:r>
          </a:p>
          <a:p>
            <a:pPr marL="0" indent="0">
              <a:lnSpc>
                <a:spcPts val="3600"/>
              </a:lnSpc>
              <a:spcBef>
                <a:spcPts val="600"/>
              </a:spcBef>
              <a:buNone/>
            </a:pPr>
            <a:r>
              <a:rPr lang="ko-KR" sz="2400" dirty="0">
                <a:solidFill>
                  <a:srgbClr val="FFFFFF"/>
                </a:solidFill>
                <a:latin typeface="프리텐다드"/>
                <a:ea typeface="프리텐다드"/>
                <a:cs typeface="프리텐다드"/>
                <a:sym typeface="프리텐다드"/>
              </a:rPr>
              <a:t>주요 논점 · 민감정보 취급 문제 · 파일 전송 문제 · 보안 기술 적용 흐름</a:t>
            </a:r>
          </a:p>
        </p:txBody>
      </p:sp>
    </p:spTree>
    <p:extLst>
      <p:ext uri="{BB962C8B-B14F-4D97-AF65-F5344CB8AC3E}">
        <p14:creationId xmlns:p14="http://schemas.microsoft.com/office/powerpoint/2010/main" val="1369581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sp>
        <p:nvSpPr>
          <p:cNvPr id="5" name="TextBox 5"/>
          <p:cNvSpPr txBox="1"/>
          <p:nvPr/>
        </p:nvSpPr>
        <p:spPr>
          <a:xfrm>
            <a:off x="1424778" y="988435"/>
            <a:ext cx="3894213" cy="549910"/>
          </a:xfrm>
          <a:prstGeom prst="rect">
            <a:avLst/>
          </a:prstGeom>
        </p:spPr>
        <p:txBody>
          <a:bodyPr lIns="0" tIns="0" rIns="0" bIns="0" rtlCol="0" anchor="t">
            <a:spAutoFit/>
          </a:bodyPr>
          <a:lstStyle/>
          <a:p>
            <a:pPr algn="l">
              <a:lnSpc>
                <a:spcPts val="2239"/>
              </a:lnSpc>
            </a:pPr>
            <a:r>
              <a:rPr lang="en-US" sz="1599" spc="199">
                <a:solidFill>
                  <a:srgbClr val="2A59C5"/>
                </a:solidFill>
                <a:latin typeface="프리텐다드"/>
                <a:ea typeface="프리텐다드"/>
                <a:cs typeface="프리텐다드"/>
                <a:sym typeface="프리텐다드"/>
              </a:rPr>
              <a:t>SECURITY DESIGN</a:t>
            </a:r>
          </a:p>
          <a:p>
            <a:pPr algn="l">
              <a:lnSpc>
                <a:spcPts val="2239"/>
              </a:lnSpc>
              <a:spcBef>
                <a:spcPct val="0"/>
              </a:spcBef>
            </a:pPr>
            <a:endParaRPr lang="en-US" sz="1599" spc="199">
              <a:solidFill>
                <a:srgbClr val="2A59C5"/>
              </a:solidFill>
              <a:latin typeface="프리텐다드"/>
              <a:ea typeface="프리텐다드"/>
              <a:cs typeface="프리텐다드"/>
              <a:sym typeface="프리텐다드"/>
            </a:endParaRPr>
          </a:p>
        </p:txBody>
      </p:sp>
      <p:sp>
        <p:nvSpPr>
          <p:cNvPr id="6" name="TextBox 6"/>
          <p:cNvSpPr txBox="1"/>
          <p:nvPr/>
        </p:nvSpPr>
        <p:spPr>
          <a:xfrm>
            <a:off x="1424778" y="1251796"/>
            <a:ext cx="11861924" cy="2998470"/>
          </a:xfrm>
          <a:prstGeom prst="rect">
            <a:avLst/>
          </a:prstGeom>
        </p:spPr>
        <p:txBody>
          <a:bodyPr lIns="0" tIns="0" rIns="0" bIns="0" rtlCol="0" anchor="t">
            <a:spAutoFit/>
          </a:bodyPr>
          <a:lstStyle/>
          <a:p>
            <a:pPr algn="l">
              <a:lnSpc>
                <a:spcPts val="7979"/>
              </a:lnSpc>
            </a:pPr>
            <a:r>
              <a:rPr lang="en-US" sz="5699" b="1" dirty="0" err="1">
                <a:solidFill>
                  <a:srgbClr val="282828"/>
                </a:solidFill>
                <a:latin typeface="프리텐다드 Bold"/>
                <a:ea typeface="프리텐다드 Bold"/>
                <a:cs typeface="프리텐다드 Bold"/>
                <a:sym typeface="프리텐다드 Bold"/>
              </a:rPr>
              <a:t>프로젝트</a:t>
            </a:r>
            <a:r>
              <a:rPr lang="en-US" sz="5699" b="1" dirty="0">
                <a:solidFill>
                  <a:srgbClr val="282828"/>
                </a:solidFill>
                <a:latin typeface="프리텐다드 Bold"/>
                <a:ea typeface="프리텐다드 Bold"/>
                <a:cs typeface="프리텐다드 Bold"/>
                <a:sym typeface="프리텐다드 Bold"/>
              </a:rPr>
              <a:t> </a:t>
            </a:r>
            <a:r>
              <a:rPr lang="en-US" sz="5699" b="1" dirty="0" err="1">
                <a:solidFill>
                  <a:srgbClr val="282828"/>
                </a:solidFill>
                <a:latin typeface="프리텐다드 Bold"/>
                <a:ea typeface="프리텐다드 Bold"/>
                <a:cs typeface="프리텐다드 Bold"/>
                <a:sym typeface="프리텐다드 Bold"/>
              </a:rPr>
              <a:t>주요</a:t>
            </a:r>
            <a:r>
              <a:rPr lang="en-US" sz="5699" b="1" dirty="0">
                <a:solidFill>
                  <a:srgbClr val="282828"/>
                </a:solidFill>
                <a:latin typeface="프리텐다드 Bold"/>
                <a:ea typeface="프리텐다드 Bold"/>
                <a:cs typeface="프리텐다드 Bold"/>
                <a:sym typeface="프리텐다드 Bold"/>
              </a:rPr>
              <a:t> </a:t>
            </a:r>
            <a:r>
              <a:rPr lang="en-US" sz="5699" b="1" dirty="0" err="1">
                <a:solidFill>
                  <a:srgbClr val="282828"/>
                </a:solidFill>
                <a:latin typeface="프리텐다드 Bold"/>
                <a:ea typeface="프리텐다드 Bold"/>
                <a:cs typeface="프리텐다드 Bold"/>
                <a:sym typeface="프리텐다드 Bold"/>
              </a:rPr>
              <a:t>논점</a:t>
            </a:r>
            <a:r>
              <a:rPr lang="en-US" sz="5699" b="1" dirty="0">
                <a:solidFill>
                  <a:srgbClr val="282828"/>
                </a:solidFill>
                <a:latin typeface="프리텐다드 Bold"/>
                <a:ea typeface="프리텐다드 Bold"/>
                <a:cs typeface="프리텐다드 Bold"/>
                <a:sym typeface="프리텐다드 Bold"/>
              </a:rPr>
              <a:t> 및 </a:t>
            </a:r>
            <a:r>
              <a:rPr lang="en-US" sz="5699" b="1" dirty="0" err="1">
                <a:solidFill>
                  <a:srgbClr val="282828"/>
                </a:solidFill>
                <a:latin typeface="프리텐다드 Bold"/>
                <a:ea typeface="프리텐다드 Bold"/>
                <a:cs typeface="프리텐다드 Bold"/>
                <a:sym typeface="프리텐다드 Bold"/>
              </a:rPr>
              <a:t>해결</a:t>
            </a:r>
            <a:r>
              <a:rPr lang="en-US" sz="5699" b="1" dirty="0">
                <a:solidFill>
                  <a:srgbClr val="282828"/>
                </a:solidFill>
                <a:latin typeface="프리텐다드 Bold"/>
                <a:ea typeface="프리텐다드 Bold"/>
                <a:cs typeface="프리텐다드 Bold"/>
                <a:sym typeface="프리텐다드 Bold"/>
              </a:rPr>
              <a:t> </a:t>
            </a:r>
            <a:r>
              <a:rPr lang="en-US" sz="5699" b="1" dirty="0" err="1">
                <a:solidFill>
                  <a:srgbClr val="282828"/>
                </a:solidFill>
                <a:latin typeface="프리텐다드 Bold"/>
                <a:ea typeface="프리텐다드 Bold"/>
                <a:cs typeface="프리텐다드 Bold"/>
                <a:sym typeface="프리텐다드 Bold"/>
              </a:rPr>
              <a:t>방안</a:t>
            </a:r>
            <a:endParaRPr lang="en-US" sz="5699" b="1" dirty="0">
              <a:solidFill>
                <a:srgbClr val="282828"/>
              </a:solidFill>
              <a:latin typeface="프리텐다드 Bold"/>
              <a:ea typeface="프리텐다드 Bold"/>
              <a:cs typeface="프리텐다드 Bold"/>
              <a:sym typeface="프리텐다드 Bold"/>
            </a:endParaRPr>
          </a:p>
          <a:p>
            <a:pPr algn="l">
              <a:lnSpc>
                <a:spcPts val="7979"/>
              </a:lnSpc>
            </a:pPr>
            <a:endParaRPr lang="en-US" sz="5699" b="1" dirty="0">
              <a:solidFill>
                <a:srgbClr val="282828"/>
              </a:solidFill>
              <a:latin typeface="프리텐다드 Bold"/>
              <a:ea typeface="프리텐다드 Bold"/>
              <a:cs typeface="프리텐다드 Bold"/>
              <a:sym typeface="프리텐다드 Bold"/>
            </a:endParaRPr>
          </a:p>
          <a:p>
            <a:pPr algn="l">
              <a:lnSpc>
                <a:spcPts val="7979"/>
              </a:lnSpc>
              <a:spcBef>
                <a:spcPct val="0"/>
              </a:spcBef>
            </a:pPr>
            <a:endParaRPr lang="en-US" sz="5699" b="1" dirty="0">
              <a:solidFill>
                <a:srgbClr val="282828"/>
              </a:solidFill>
              <a:latin typeface="프리텐다드 Bold"/>
              <a:ea typeface="프리텐다드 Bold"/>
              <a:cs typeface="프리텐다드 Bold"/>
              <a:sym typeface="프리텐다드 Bold"/>
            </a:endParaRPr>
          </a:p>
        </p:txBody>
      </p:sp>
      <p:grpSp>
        <p:nvGrpSpPr>
          <p:cNvPr id="7" name="Group 7"/>
          <p:cNvGrpSpPr/>
          <p:nvPr/>
        </p:nvGrpSpPr>
        <p:grpSpPr>
          <a:xfrm>
            <a:off x="1031997" y="1026535"/>
            <a:ext cx="132273" cy="1204431"/>
            <a:chOff x="0" y="0"/>
            <a:chExt cx="40474" cy="368545"/>
          </a:xfrm>
        </p:grpSpPr>
        <p:sp>
          <p:nvSpPr>
            <p:cNvPr id="8" name="Freeform 8"/>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9" name="TextBox 9"/>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grpSp>
        <p:nvGrpSpPr>
          <p:cNvPr id="10" name="Group 10"/>
          <p:cNvGrpSpPr/>
          <p:nvPr/>
        </p:nvGrpSpPr>
        <p:grpSpPr>
          <a:xfrm>
            <a:off x="1028700" y="8674100"/>
            <a:ext cx="16230600" cy="1016000"/>
            <a:chOff x="0" y="0"/>
            <a:chExt cx="4274726" cy="288540"/>
          </a:xfrm>
        </p:grpSpPr>
        <p:sp>
          <p:nvSpPr>
            <p:cNvPr id="11" name="Freeform 11"/>
            <p:cNvSpPr/>
            <p:nvPr/>
          </p:nvSpPr>
          <p:spPr>
            <a:xfrm>
              <a:off x="0" y="0"/>
              <a:ext cx="4274726" cy="288540"/>
            </a:xfrm>
            <a:custGeom>
              <a:avLst/>
              <a:gdLst/>
              <a:ahLst/>
              <a:cxnLst/>
              <a:rect l="l" t="t" r="r" b="b"/>
              <a:pathLst>
                <a:path w="4274726" h="288540">
                  <a:moveTo>
                    <a:pt x="0" y="0"/>
                  </a:moveTo>
                  <a:lnTo>
                    <a:pt x="4274726" y="0"/>
                  </a:lnTo>
                  <a:lnTo>
                    <a:pt x="4274726" y="288540"/>
                  </a:lnTo>
                  <a:lnTo>
                    <a:pt x="0" y="288540"/>
                  </a:lnTo>
                  <a:close/>
                </a:path>
              </a:pathLst>
            </a:custGeom>
            <a:solidFill>
              <a:srgbClr val="E9E9E9"/>
            </a:solidFill>
            <a:ln w="9525" cap="sq">
              <a:solidFill>
                <a:srgbClr val="737373"/>
              </a:solidFill>
              <a:prstDash val="solid"/>
              <a:miter/>
            </a:ln>
          </p:spPr>
          <p:txBody>
            <a:bodyPr/>
            <a:lstStyle/>
            <a:p>
              <a:endParaRPr lang="ko-KR" altLang="en-US"/>
            </a:p>
          </p:txBody>
        </p:sp>
        <p:sp>
          <p:nvSpPr>
            <p:cNvPr id="12" name="TextBox 12"/>
            <p:cNvSpPr txBox="1"/>
            <p:nvPr/>
          </p:nvSpPr>
          <p:spPr>
            <a:xfrm>
              <a:off x="0" y="-47625"/>
              <a:ext cx="4274726" cy="336165"/>
            </a:xfrm>
            <a:prstGeom prst="rect">
              <a:avLst/>
            </a:prstGeom>
          </p:spPr>
          <p:txBody>
            <a:bodyPr lIns="50800" tIns="50800" rIns="50800" bIns="50800" rtlCol="0" anchor="ctr"/>
            <a:lstStyle/>
            <a:p>
              <a:pPr marL="0" lvl="0" indent="0" algn="ctr">
                <a:lnSpc>
                  <a:spcPts val="3156"/>
                </a:lnSpc>
                <a:spcBef>
                  <a:spcPct val="0"/>
                </a:spcBef>
              </a:pPr>
              <a:endParaRPr/>
            </a:p>
          </p:txBody>
        </p:sp>
      </p:grpSp>
      <p:grpSp>
        <p:nvGrpSpPr>
          <p:cNvPr id="13" name="Group 13"/>
          <p:cNvGrpSpPr/>
          <p:nvPr/>
        </p:nvGrpSpPr>
        <p:grpSpPr>
          <a:xfrm>
            <a:off x="1028700" y="3175000"/>
            <a:ext cx="7747000" cy="4889500"/>
            <a:chOff x="0" y="0"/>
            <a:chExt cx="2092562" cy="1107001"/>
          </a:xfrm>
        </p:grpSpPr>
        <p:sp>
          <p:nvSpPr>
            <p:cNvPr id="14" name="Freeform 14"/>
            <p:cNvSpPr/>
            <p:nvPr/>
          </p:nvSpPr>
          <p:spPr>
            <a:xfrm>
              <a:off x="0" y="0"/>
              <a:ext cx="2092562" cy="1107001"/>
            </a:xfrm>
            <a:custGeom>
              <a:avLst/>
              <a:gdLst/>
              <a:ahLst/>
              <a:cxnLst/>
              <a:rect l="l" t="t" r="r" b="b"/>
              <a:pathLst>
                <a:path w="2092562" h="1107001">
                  <a:moveTo>
                    <a:pt x="0" y="0"/>
                  </a:moveTo>
                  <a:lnTo>
                    <a:pt x="2092562" y="0"/>
                  </a:lnTo>
                  <a:lnTo>
                    <a:pt x="2092562" y="1107001"/>
                  </a:lnTo>
                  <a:lnTo>
                    <a:pt x="0" y="1107001"/>
                  </a:lnTo>
                  <a:close/>
                </a:path>
              </a:pathLst>
            </a:custGeom>
            <a:ln w="9525" cap="sq">
              <a:solidFill>
                <a:srgbClr val="737373"/>
              </a:solidFill>
              <a:prstDash val="solid"/>
              <a:miter/>
            </a:ln>
          </p:spPr>
          <p:txBody>
            <a:bodyPr/>
            <a:lstStyle/>
            <a:p>
              <a:endParaRPr lang="ko-KR" altLang="en-US"/>
            </a:p>
          </p:txBody>
        </p:sp>
        <p:sp>
          <p:nvSpPr>
            <p:cNvPr id="15" name="TextBox 15"/>
            <p:cNvSpPr txBox="1"/>
            <p:nvPr/>
          </p:nvSpPr>
          <p:spPr>
            <a:xfrm>
              <a:off x="0" y="-47625"/>
              <a:ext cx="2092562" cy="1154626"/>
            </a:xfrm>
            <a:prstGeom prst="rect">
              <a:avLst/>
            </a:prstGeom>
          </p:spPr>
          <p:txBody>
            <a:bodyPr lIns="50800" tIns="50800" rIns="50800" bIns="50800" rtlCol="0" anchor="ctr"/>
            <a:lstStyle/>
            <a:p>
              <a:pPr algn="ctr">
                <a:lnSpc>
                  <a:spcPts val="3156"/>
                </a:lnSpc>
              </a:pPr>
              <a:endParaRPr/>
            </a:p>
          </p:txBody>
        </p:sp>
      </p:grpSp>
      <p:grpSp>
        <p:nvGrpSpPr>
          <p:cNvPr id="16" name="Group 16"/>
          <p:cNvGrpSpPr/>
          <p:nvPr/>
        </p:nvGrpSpPr>
        <p:grpSpPr>
          <a:xfrm>
            <a:off x="9512300" y="3175000"/>
            <a:ext cx="7747000" cy="4889500"/>
            <a:chOff x="0" y="0"/>
            <a:chExt cx="2092562" cy="1107001"/>
          </a:xfrm>
        </p:grpSpPr>
        <p:sp>
          <p:nvSpPr>
            <p:cNvPr id="17" name="Freeform 17"/>
            <p:cNvSpPr/>
            <p:nvPr/>
          </p:nvSpPr>
          <p:spPr>
            <a:xfrm>
              <a:off x="0" y="0"/>
              <a:ext cx="2092562" cy="1107001"/>
            </a:xfrm>
            <a:custGeom>
              <a:avLst/>
              <a:gdLst/>
              <a:ahLst/>
              <a:cxnLst/>
              <a:rect l="l" t="t" r="r" b="b"/>
              <a:pathLst>
                <a:path w="2092562" h="1107001">
                  <a:moveTo>
                    <a:pt x="0" y="0"/>
                  </a:moveTo>
                  <a:lnTo>
                    <a:pt x="2092562" y="0"/>
                  </a:lnTo>
                  <a:lnTo>
                    <a:pt x="2092562" y="1107001"/>
                  </a:lnTo>
                  <a:lnTo>
                    <a:pt x="0" y="1107001"/>
                  </a:lnTo>
                  <a:close/>
                </a:path>
              </a:pathLst>
            </a:custGeom>
            <a:ln w="9525" cap="sq">
              <a:solidFill>
                <a:srgbClr val="737373"/>
              </a:solidFill>
              <a:prstDash val="solid"/>
              <a:miter/>
            </a:ln>
          </p:spPr>
          <p:txBody>
            <a:bodyPr/>
            <a:lstStyle/>
            <a:p>
              <a:endParaRPr lang="ko-KR" altLang="en-US"/>
            </a:p>
          </p:txBody>
        </p:sp>
        <p:sp>
          <p:nvSpPr>
            <p:cNvPr id="18" name="TextBox 18"/>
            <p:cNvSpPr txBox="1"/>
            <p:nvPr/>
          </p:nvSpPr>
          <p:spPr>
            <a:xfrm>
              <a:off x="0" y="-47625"/>
              <a:ext cx="2092562" cy="1154626"/>
            </a:xfrm>
            <a:prstGeom prst="rect">
              <a:avLst/>
            </a:prstGeom>
          </p:spPr>
          <p:txBody>
            <a:bodyPr lIns="50800" tIns="50800" rIns="50800" bIns="50800" rtlCol="0" anchor="ctr"/>
            <a:lstStyle/>
            <a:p>
              <a:pPr algn="ctr">
                <a:lnSpc>
                  <a:spcPts val="3156"/>
                </a:lnSpc>
              </a:pPr>
              <a:endParaRPr/>
            </a:p>
          </p:txBody>
        </p:sp>
      </p:grpSp>
      <p:sp>
        <p:nvSpPr>
          <p:cNvPr id="19" name="Freeform 19">
            <a:extLst>
              <a:ext uri="{C183D7F6-B498-43B3-948B-1728B52AA6E4}">
                <adec:decorative xmlns:adec="http://schemas.microsoft.com/office/drawing/2017/decorative" val="1"/>
              </a:ext>
            </a:extLst>
          </p:cNvPr>
          <p:cNvSpPr/>
          <p:nvPr/>
        </p:nvSpPr>
        <p:spPr>
          <a:xfrm>
            <a:off x="1600200" y="3632200"/>
            <a:ext cx="406400" cy="406400"/>
          </a:xfrm>
          <a:custGeom>
            <a:avLst/>
            <a:gdLst/>
            <a:ahLst/>
            <a:cxnLst/>
            <a:rect l="l" t="t" r="r" b="b"/>
            <a:pathLst>
              <a:path w="301131" h="301131">
                <a:moveTo>
                  <a:pt x="0" y="0"/>
                </a:moveTo>
                <a:lnTo>
                  <a:pt x="301131" y="0"/>
                </a:lnTo>
                <a:lnTo>
                  <a:pt x="301131" y="301131"/>
                </a:lnTo>
                <a:lnTo>
                  <a:pt x="0" y="301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21" name="Freeform 21">
            <a:extLst>
              <a:ext uri="{C183D7F6-B498-43B3-948B-1728B52AA6E4}">
                <adec:decorative xmlns:adec="http://schemas.microsoft.com/office/drawing/2017/decorative" val="1"/>
              </a:ext>
            </a:extLst>
          </p:cNvPr>
          <p:cNvSpPr/>
          <p:nvPr/>
        </p:nvSpPr>
        <p:spPr>
          <a:xfrm>
            <a:off x="10083800" y="3632200"/>
            <a:ext cx="406400" cy="406400"/>
          </a:xfrm>
          <a:custGeom>
            <a:avLst/>
            <a:gdLst/>
            <a:ahLst/>
            <a:cxnLst/>
            <a:rect l="l" t="t" r="r" b="b"/>
            <a:pathLst>
              <a:path w="301131" h="301131">
                <a:moveTo>
                  <a:pt x="0" y="0"/>
                </a:moveTo>
                <a:lnTo>
                  <a:pt x="301131" y="0"/>
                </a:lnTo>
                <a:lnTo>
                  <a:pt x="301131" y="301131"/>
                </a:lnTo>
                <a:lnTo>
                  <a:pt x="0" y="301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40" name="Card heading"/>
          <p:cNvSpPr txBox="1"/>
          <p:nvPr/>
        </p:nvSpPr>
        <p:spPr>
          <a:xfrm>
            <a:off x="2171700" y="3594100"/>
            <a:ext cx="6604000" cy="508000"/>
          </a:xfrm>
          <a:prstGeom prst="rect">
            <a:avLst/>
          </a:prstGeom>
        </p:spPr>
        <p:txBody>
          <a:bodyPr wrap="square" lIns="0" tIns="0" rIns="0" bIns="0" rtlCol="0" anchor="t">
            <a:noAutofit/>
          </a:bodyPr>
          <a:lstStyle/>
          <a:p>
            <a:pPr marL="0" indent="0" algn="l">
              <a:lnSpc>
                <a:spcPts val="4200"/>
              </a:lnSpc>
              <a:spcBef>
                <a:spcPts val="0"/>
              </a:spcBef>
              <a:buNone/>
            </a:pPr>
            <a:r>
              <a:rPr lang="ko-KR" sz="3000" b="1" dirty="0">
                <a:solidFill>
                  <a:srgbClr val="2A59C5"/>
                </a:solidFill>
                <a:latin typeface="프리텐다드 Semi-Bold"/>
                <a:ea typeface="프리텐다드 Semi-Bold"/>
                <a:cs typeface="프리텐다드 Semi-Bold"/>
                <a:sym typeface="프리텐다드 Semi-Bold"/>
              </a:rPr>
              <a:t>민감정보 취급 문제</a:t>
            </a:r>
          </a:p>
        </p:txBody>
      </p:sp>
      <p:sp>
        <p:nvSpPr>
          <p:cNvPr id="41" name="Card description"/>
          <p:cNvSpPr txBox="1"/>
          <p:nvPr/>
        </p:nvSpPr>
        <p:spPr>
          <a:xfrm>
            <a:off x="1600200" y="4318000"/>
            <a:ext cx="6858000" cy="1270000"/>
          </a:xfrm>
          <a:prstGeom prst="rect">
            <a:avLst/>
          </a:prstGeom>
        </p:spPr>
        <p:txBody>
          <a:bodyPr wrap="square" lIns="0" tIns="0" rIns="0" bIns="0" rtlCol="0" anchor="t">
            <a:noAutofit/>
          </a:bodyPr>
          <a:lstStyle/>
          <a:p>
            <a:pPr marL="0" indent="0" algn="l">
              <a:lnSpc>
                <a:spcPts val="3300"/>
              </a:lnSpc>
              <a:spcBef>
                <a:spcPts val="0"/>
              </a:spcBef>
              <a:buNone/>
            </a:pPr>
            <a:r>
              <a:rPr lang="ko-KR" sz="2200" dirty="0">
                <a:solidFill>
                  <a:srgbClr val="282828"/>
                </a:solidFill>
                <a:latin typeface="프리텐다드"/>
                <a:ea typeface="프리텐다드"/>
                <a:cs typeface="프리텐다드"/>
                <a:sym typeface="프리텐다드"/>
              </a:rPr>
              <a:t>의료영상에 포함된 민감정보의 수집·보관·공유 과정에서 개인정보 유출과 무단 접근 위험이 발생한다.</a:t>
            </a:r>
          </a:p>
        </p:txBody>
      </p:sp>
      <p:sp>
        <p:nvSpPr>
          <p:cNvPr id="42" name="Card solutions"/>
          <p:cNvSpPr txBox="1"/>
          <p:nvPr/>
        </p:nvSpPr>
        <p:spPr>
          <a:xfrm>
            <a:off x="1600200" y="5638800"/>
            <a:ext cx="6858000" cy="1778000"/>
          </a:xfrm>
          <a:prstGeom prst="rect">
            <a:avLst/>
          </a:prstGeom>
        </p:spPr>
        <p:txBody>
          <a:bodyPr wrap="square" lIns="0" tIns="0" rIns="0" bIns="0" rtlCol="0" anchor="t">
            <a:noAutofit/>
          </a:bodyPr>
          <a:lstStyle/>
          <a:p>
            <a:pPr marL="0" indent="0" algn="l">
              <a:lnSpc>
                <a:spcPts val="3300"/>
              </a:lnSpc>
              <a:spcBef>
                <a:spcPts val="0"/>
              </a:spcBef>
              <a:buNone/>
            </a:pPr>
            <a:r>
              <a:rPr lang="ko-KR" sz="2200" b="1" dirty="0">
                <a:solidFill>
                  <a:srgbClr val="2A59C5"/>
                </a:solidFill>
                <a:latin typeface="프리텐다드 Semi-Bold"/>
                <a:ea typeface="프리텐다드 Semi-Bold"/>
                <a:cs typeface="프리텐다드 Semi-Bold"/>
                <a:sym typeface="프리텐다드 Semi-Bold"/>
              </a:rPr>
              <a:t>해결 방안</a:t>
            </a:r>
          </a:p>
          <a:p>
            <a:pPr marL="0" indent="0" algn="l">
              <a:lnSpc>
                <a:spcPts val="3300"/>
              </a:lnSpc>
              <a:spcBef>
                <a:spcPts val="2"/>
              </a:spcBef>
              <a:buNone/>
            </a:pPr>
            <a:r>
              <a:rPr lang="ko-KR" sz="2200" dirty="0">
                <a:solidFill>
                  <a:srgbClr val="282828"/>
                </a:solidFill>
                <a:latin typeface="프리텐다드"/>
                <a:ea typeface="프리텐다드"/>
                <a:cs typeface="프리텐다드"/>
                <a:sym typeface="프리텐다드"/>
              </a:rPr>
              <a:t>① 환자 QR 기반 동의 및 인증</a:t>
            </a:r>
          </a:p>
          <a:p>
            <a:pPr marL="0" indent="0" algn="l">
              <a:lnSpc>
                <a:spcPts val="3300"/>
              </a:lnSpc>
              <a:spcBef>
                <a:spcPts val="2"/>
              </a:spcBef>
              <a:buNone/>
            </a:pPr>
            <a:r>
              <a:rPr lang="ko-KR" sz="2200" dirty="0">
                <a:solidFill>
                  <a:srgbClr val="282828"/>
                </a:solidFill>
                <a:latin typeface="프리텐다드"/>
                <a:ea typeface="프리텐다드"/>
                <a:cs typeface="프리텐다드"/>
                <a:sym typeface="프리텐다드"/>
              </a:rPr>
              <a:t>② RBAC·ABAC 기반 접근권한 검증</a:t>
            </a:r>
          </a:p>
          <a:p>
            <a:pPr marL="0" indent="0" algn="l">
              <a:lnSpc>
                <a:spcPts val="3300"/>
              </a:lnSpc>
              <a:spcBef>
                <a:spcPts val="2"/>
              </a:spcBef>
              <a:buNone/>
            </a:pPr>
            <a:r>
              <a:rPr lang="ko-KR" sz="2200" dirty="0">
                <a:solidFill>
                  <a:srgbClr val="282828"/>
                </a:solidFill>
                <a:latin typeface="프리텐다드"/>
                <a:ea typeface="프리텐다드"/>
                <a:cs typeface="프리텐다드"/>
                <a:sym typeface="프리텐다드"/>
              </a:rPr>
              <a:t>③ 원본 분산 보관 및 가명정보 분리</a:t>
            </a:r>
          </a:p>
        </p:txBody>
      </p:sp>
      <p:sp>
        <p:nvSpPr>
          <p:cNvPr id="43" name="Card tags"/>
          <p:cNvSpPr txBox="1"/>
          <p:nvPr/>
        </p:nvSpPr>
        <p:spPr>
          <a:xfrm>
            <a:off x="1600200" y="7518400"/>
            <a:ext cx="6858000" cy="381000"/>
          </a:xfrm>
          <a:prstGeom prst="rect">
            <a:avLst/>
          </a:prstGeom>
        </p:spPr>
        <p:txBody>
          <a:bodyPr wrap="square" lIns="0" tIns="0" rIns="0" bIns="0" rtlCol="0" anchor="t">
            <a:noAutofit/>
          </a:bodyPr>
          <a:lstStyle/>
          <a:p>
            <a:pPr marL="0" indent="0" algn="l">
              <a:lnSpc>
                <a:spcPts val="2800"/>
              </a:lnSpc>
              <a:spcBef>
                <a:spcPts val="0"/>
              </a:spcBef>
              <a:buNone/>
            </a:pPr>
            <a:r>
              <a:rPr lang="ko-KR" sz="2000" b="1" dirty="0">
                <a:solidFill>
                  <a:srgbClr val="2A59C5"/>
                </a:solidFill>
                <a:latin typeface="프리텐다드 Semi-Bold"/>
                <a:ea typeface="프리텐다드 Semi-Bold"/>
                <a:cs typeface="프리텐다드 Semi-Bold"/>
                <a:sym typeface="프리텐다드 Semi-Bold"/>
              </a:rPr>
              <a:t>#환자동의   #최소권한   #개인정보보호</a:t>
            </a:r>
          </a:p>
        </p:txBody>
      </p:sp>
      <p:sp>
        <p:nvSpPr>
          <p:cNvPr id="44" name="Card heading"/>
          <p:cNvSpPr txBox="1"/>
          <p:nvPr/>
        </p:nvSpPr>
        <p:spPr>
          <a:xfrm>
            <a:off x="10655300" y="3594100"/>
            <a:ext cx="6604000" cy="508000"/>
          </a:xfrm>
          <a:prstGeom prst="rect">
            <a:avLst/>
          </a:prstGeom>
        </p:spPr>
        <p:txBody>
          <a:bodyPr wrap="square" lIns="0" tIns="0" rIns="0" bIns="0" rtlCol="0" anchor="t">
            <a:noAutofit/>
          </a:bodyPr>
          <a:lstStyle/>
          <a:p>
            <a:pPr marL="0" indent="0" algn="l">
              <a:lnSpc>
                <a:spcPts val="4200"/>
              </a:lnSpc>
              <a:spcBef>
                <a:spcPts val="0"/>
              </a:spcBef>
              <a:buNone/>
            </a:pPr>
            <a:r>
              <a:rPr lang="ko-KR" sz="3000" b="1" dirty="0">
                <a:solidFill>
                  <a:srgbClr val="2A59C5"/>
                </a:solidFill>
                <a:latin typeface="프리텐다드 Semi-Bold"/>
                <a:ea typeface="프리텐다드 Semi-Bold"/>
                <a:cs typeface="프리텐다드 Semi-Bold"/>
                <a:sym typeface="프리텐다드 Semi-Bold"/>
              </a:rPr>
              <a:t>파일 전송 문제</a:t>
            </a:r>
          </a:p>
        </p:txBody>
      </p:sp>
      <p:sp>
        <p:nvSpPr>
          <p:cNvPr id="45" name="Card description"/>
          <p:cNvSpPr txBox="1"/>
          <p:nvPr/>
        </p:nvSpPr>
        <p:spPr>
          <a:xfrm>
            <a:off x="10083800" y="4318000"/>
            <a:ext cx="6858000" cy="1270000"/>
          </a:xfrm>
          <a:prstGeom prst="rect">
            <a:avLst/>
          </a:prstGeom>
        </p:spPr>
        <p:txBody>
          <a:bodyPr wrap="square" lIns="0" tIns="0" rIns="0" bIns="0" rtlCol="0" anchor="t">
            <a:noAutofit/>
          </a:bodyPr>
          <a:lstStyle/>
          <a:p>
            <a:pPr marL="0" indent="0" algn="l">
              <a:lnSpc>
                <a:spcPts val="3300"/>
              </a:lnSpc>
              <a:spcBef>
                <a:spcPts val="0"/>
              </a:spcBef>
              <a:buNone/>
            </a:pPr>
            <a:r>
              <a:rPr lang="ko-KR" sz="2200" dirty="0">
                <a:solidFill>
                  <a:srgbClr val="282828"/>
                </a:solidFill>
                <a:latin typeface="프리텐다드"/>
                <a:ea typeface="프리텐다드"/>
                <a:cs typeface="프리텐다드"/>
                <a:sym typeface="프리텐다드"/>
              </a:rPr>
              <a:t>대용량 CT·MRI 의료영상을 병원 간 전달할 때 전송 효율과 기밀성·무결성을 확보해야 한다.</a:t>
            </a:r>
          </a:p>
        </p:txBody>
      </p:sp>
      <p:sp>
        <p:nvSpPr>
          <p:cNvPr id="46" name="Card solutions"/>
          <p:cNvSpPr txBox="1"/>
          <p:nvPr/>
        </p:nvSpPr>
        <p:spPr>
          <a:xfrm>
            <a:off x="10083800" y="5638800"/>
            <a:ext cx="6858000" cy="1778000"/>
          </a:xfrm>
          <a:prstGeom prst="rect">
            <a:avLst/>
          </a:prstGeom>
        </p:spPr>
        <p:txBody>
          <a:bodyPr wrap="square" lIns="0" tIns="0" rIns="0" bIns="0" rtlCol="0" anchor="t">
            <a:noAutofit/>
          </a:bodyPr>
          <a:lstStyle/>
          <a:p>
            <a:pPr marL="0" indent="0" algn="l">
              <a:lnSpc>
                <a:spcPts val="3300"/>
              </a:lnSpc>
              <a:spcBef>
                <a:spcPts val="0"/>
              </a:spcBef>
              <a:buNone/>
            </a:pPr>
            <a:r>
              <a:rPr lang="ko-KR" sz="2200" b="1" dirty="0">
                <a:solidFill>
                  <a:srgbClr val="2A59C5"/>
                </a:solidFill>
                <a:latin typeface="프리텐다드 Semi-Bold"/>
                <a:ea typeface="프리텐다드 Semi-Bold"/>
                <a:cs typeface="프리텐다드 Semi-Bold"/>
                <a:sym typeface="프리텐다드 Semi-Bold"/>
              </a:rPr>
              <a:t>해결 방안</a:t>
            </a:r>
          </a:p>
          <a:p>
            <a:pPr marL="0" indent="0" algn="l">
              <a:lnSpc>
                <a:spcPts val="3300"/>
              </a:lnSpc>
              <a:spcBef>
                <a:spcPts val="2"/>
              </a:spcBef>
              <a:buNone/>
            </a:pPr>
            <a:r>
              <a:rPr lang="ko-KR" sz="2200" dirty="0">
                <a:solidFill>
                  <a:srgbClr val="282828"/>
                </a:solidFill>
                <a:latin typeface="프리텐다드"/>
                <a:ea typeface="프리텐다드"/>
                <a:cs typeface="프리텐다드"/>
                <a:sym typeface="프리텐다드"/>
              </a:rPr>
              <a:t>① DICOMweb 기반 선택적 영상 조회</a:t>
            </a:r>
          </a:p>
          <a:p>
            <a:pPr marL="0" indent="0" algn="l">
              <a:lnSpc>
                <a:spcPts val="3300"/>
              </a:lnSpc>
              <a:spcBef>
                <a:spcPts val="2"/>
              </a:spcBef>
              <a:buNone/>
            </a:pPr>
            <a:r>
              <a:rPr lang="ko-KR" sz="2200" dirty="0">
                <a:solidFill>
                  <a:srgbClr val="282828"/>
                </a:solidFill>
                <a:latin typeface="프리텐다드"/>
                <a:ea typeface="프리텐다드"/>
                <a:cs typeface="프리텐다드"/>
                <a:sym typeface="프리텐다드"/>
              </a:rPr>
              <a:t>② TLS 기반 전송구간 암호화</a:t>
            </a:r>
          </a:p>
          <a:p>
            <a:pPr marL="0" indent="0" algn="l">
              <a:lnSpc>
                <a:spcPts val="3300"/>
              </a:lnSpc>
              <a:spcBef>
                <a:spcPts val="2"/>
              </a:spcBef>
              <a:buNone/>
            </a:pPr>
            <a:r>
              <a:rPr lang="ko-KR" sz="2200" dirty="0">
                <a:solidFill>
                  <a:srgbClr val="282828"/>
                </a:solidFill>
                <a:latin typeface="프리텐다드"/>
                <a:ea typeface="프리텐다드"/>
                <a:cs typeface="프리텐다드"/>
                <a:sym typeface="프리텐다드"/>
              </a:rPr>
              <a:t>③ 암호키 관리 및 무결성 검증</a:t>
            </a:r>
          </a:p>
        </p:txBody>
      </p:sp>
      <p:sp>
        <p:nvSpPr>
          <p:cNvPr id="47" name="Card tags"/>
          <p:cNvSpPr txBox="1"/>
          <p:nvPr/>
        </p:nvSpPr>
        <p:spPr>
          <a:xfrm>
            <a:off x="10083800" y="7518400"/>
            <a:ext cx="6858000" cy="381000"/>
          </a:xfrm>
          <a:prstGeom prst="rect">
            <a:avLst/>
          </a:prstGeom>
        </p:spPr>
        <p:txBody>
          <a:bodyPr wrap="square" lIns="0" tIns="0" rIns="0" bIns="0" rtlCol="0" anchor="t">
            <a:noAutofit/>
          </a:bodyPr>
          <a:lstStyle/>
          <a:p>
            <a:pPr marL="0" indent="0" algn="l">
              <a:lnSpc>
                <a:spcPts val="2800"/>
              </a:lnSpc>
              <a:spcBef>
                <a:spcPts val="0"/>
              </a:spcBef>
              <a:buNone/>
            </a:pPr>
            <a:r>
              <a:rPr lang="ko-KR" sz="2000" b="1" dirty="0">
                <a:solidFill>
                  <a:srgbClr val="2A59C5"/>
                </a:solidFill>
                <a:latin typeface="프리텐다드 Semi-Bold"/>
                <a:ea typeface="프리텐다드 Semi-Bold"/>
                <a:cs typeface="프리텐다드 Semi-Bold"/>
                <a:sym typeface="프리텐다드 Semi-Bold"/>
              </a:rPr>
              <a:t>#DICOMweb   #TLS   #무결성검증</a:t>
            </a:r>
          </a:p>
        </p:txBody>
      </p:sp>
      <p:sp>
        <p:nvSpPr>
          <p:cNvPr id="48" name="Banner text"/>
          <p:cNvSpPr txBox="1"/>
          <p:nvPr/>
        </p:nvSpPr>
        <p:spPr>
          <a:xfrm>
            <a:off x="1397000" y="8940800"/>
            <a:ext cx="15494000" cy="508000"/>
          </a:xfrm>
          <a:prstGeom prst="rect">
            <a:avLst/>
          </a:prstGeom>
        </p:spPr>
        <p:txBody>
          <a:bodyPr wrap="square" lIns="0" tIns="0" rIns="0" bIns="0" rtlCol="0" anchor="t">
            <a:noAutofit/>
          </a:bodyPr>
          <a:lstStyle/>
          <a:p>
            <a:pPr marL="0" indent="0" algn="ctr">
              <a:lnSpc>
                <a:spcPts val="3900"/>
              </a:lnSpc>
              <a:spcBef>
                <a:spcPts val="0"/>
              </a:spcBef>
              <a:buNone/>
            </a:pPr>
            <a:r>
              <a:rPr lang="ko-KR" sz="2800" b="1" dirty="0">
                <a:solidFill>
                  <a:srgbClr val="282828"/>
                </a:solidFill>
                <a:latin typeface="프리텐다드 Bold"/>
                <a:ea typeface="프리텐다드 Bold"/>
                <a:cs typeface="프리텐다드 Bold"/>
                <a:sym typeface="프리텐다드 Bold"/>
              </a:rPr>
              <a:t>환자 동의 기반 접근통제와 안전한 의료영상 연계를 통해 신뢰할 수 있는 공유 환경 구축</a:t>
            </a:r>
          </a:p>
        </p:txBody>
      </p:sp>
    </p:spTree>
    <p:extLst>
      <p:ext uri="{BB962C8B-B14F-4D97-AF65-F5344CB8AC3E}">
        <p14:creationId xmlns:p14="http://schemas.microsoft.com/office/powerpoint/2010/main" val="2723875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SECURITY DESIGN</a:t>
            </a:r>
          </a:p>
        </p:txBody>
      </p:sp>
      <p:sp>
        <p:nvSpPr>
          <p:cNvPr id="10" name="TextBox 10"/>
          <p:cNvSpPr txBox="1"/>
          <p:nvPr/>
        </p:nvSpPr>
        <p:spPr>
          <a:xfrm>
            <a:off x="1421481" y="1253961"/>
            <a:ext cx="12377320"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민감정보 취급 문제 — 법규 및 기술적 해결</a:t>
            </a:r>
          </a:p>
        </p:txBody>
      </p:sp>
      <p:graphicFrame>
        <p:nvGraphicFramePr>
          <p:cNvPr id="40" name="Legal measures table"/>
          <p:cNvGraphicFramePr>
            <a:graphicFrameLocks noGrp="1"/>
          </p:cNvGraphicFramePr>
          <p:nvPr/>
        </p:nvGraphicFramePr>
        <p:xfrm>
          <a:off x="1028700" y="3175000"/>
          <a:ext cx="9906000" cy="5435600"/>
        </p:xfrm>
        <a:graphic>
          <a:graphicData uri="http://schemas.openxmlformats.org/drawingml/2006/table">
            <a:tbl>
              <a:tblPr firstRow="1"/>
              <a:tblGrid>
                <a:gridCol w="3175000">
                  <a:extLst>
                    <a:ext uri="{9D8B030D-6E8A-4147-A177-3AD203B41FA5}">
                      <a16:colId xmlns:a16="http://schemas.microsoft.com/office/drawing/2014/main" val="20000"/>
                    </a:ext>
                  </a:extLst>
                </a:gridCol>
                <a:gridCol w="6731000">
                  <a:extLst>
                    <a:ext uri="{9D8B030D-6E8A-4147-A177-3AD203B41FA5}">
                      <a16:colId xmlns:a16="http://schemas.microsoft.com/office/drawing/2014/main" val="20001"/>
                    </a:ext>
                  </a:extLst>
                </a:gridCol>
              </a:tblGrid>
              <a:tr h="609600">
                <a:tc>
                  <a:txBody>
                    <a:bodyPr/>
                    <a:lstStyle/>
                    <a:p>
                      <a:pPr algn="l"/>
                      <a:r>
                        <a:rPr lang="ko-KR" sz="2200" b="1" dirty="0">
                          <a:solidFill>
                            <a:srgbClr val="282828"/>
                          </a:solidFill>
                          <a:latin typeface="프리텐다드 Semi-Bold"/>
                          <a:ea typeface="프리텐다드 Semi-Bold"/>
                          <a:cs typeface="프리텐다드 Semi-Bold"/>
                          <a:sym typeface="프리텐다드 Semi-Bold"/>
                        </a:rPr>
                        <a:t>문제 및 검토 사항</a:t>
                      </a:r>
                    </a:p>
                  </a:txBody>
                  <a:tcPr marL="177800" marR="177800" marT="76200" marB="76200" anchor="ctr">
                    <a:lnL w="0">
                      <a:noFill/>
                    </a:lnL>
                    <a:lnR w="0">
                      <a:noFill/>
                    </a:lnR>
                    <a:lnT w="0">
                      <a:noFill/>
                    </a:lnT>
                    <a:lnB w="19050">
                      <a:solidFill>
                        <a:srgbClr val="282828"/>
                      </a:solidFill>
                    </a:lnB>
                    <a:noFill/>
                  </a:tcPr>
                </a:tc>
                <a:tc>
                  <a:txBody>
                    <a:bodyPr/>
                    <a:lstStyle/>
                    <a:p>
                      <a:pPr algn="l"/>
                      <a:r>
                        <a:rPr lang="ko-KR" sz="2200" b="1" dirty="0">
                          <a:solidFill>
                            <a:srgbClr val="282828"/>
                          </a:solidFill>
                          <a:latin typeface="프리텐다드 Semi-Bold"/>
                          <a:ea typeface="프리텐다드 Semi-Bold"/>
                          <a:cs typeface="프리텐다드 Semi-Bold"/>
                          <a:sym typeface="프리텐다드 Semi-Bold"/>
                        </a:rPr>
                        <a:t>적용 방안</a:t>
                      </a:r>
                    </a:p>
                  </a:txBody>
                  <a:tcPr marL="177800" marR="177800" marT="76200" marB="76200" anchor="ctr">
                    <a:lnL w="0">
                      <a:noFill/>
                    </a:lnL>
                    <a:lnR w="0">
                      <a:noFill/>
                    </a:lnR>
                    <a:lnT w="0">
                      <a:noFill/>
                    </a:lnT>
                    <a:lnB w="19050">
                      <a:solidFill>
                        <a:srgbClr val="282828"/>
                      </a:solidFill>
                    </a:lnB>
                    <a:noFill/>
                  </a:tcPr>
                </a:tc>
                <a:extLst>
                  <a:ext uri="{0D108BD9-81ED-4DB2-BD59-A6C34878D82A}">
                    <a16:rowId xmlns:a16="http://schemas.microsoft.com/office/drawing/2014/main" val="10000"/>
                  </a:ext>
                </a:extLst>
              </a:tr>
              <a:tr h="965200">
                <a:tc>
                  <a:txBody>
                    <a:bodyPr/>
                    <a:lstStyle/>
                    <a:p>
                      <a:pPr algn="l"/>
                      <a:r>
                        <a:rPr lang="ko-KR" sz="2200" b="1" dirty="0">
                          <a:solidFill>
                            <a:srgbClr val="282828"/>
                          </a:solidFill>
                          <a:latin typeface="프리텐다드 Semi-Bold"/>
                          <a:ea typeface="프리텐다드 Semi-Bold"/>
                          <a:cs typeface="프리텐다드 Semi-Bold"/>
                          <a:sym typeface="프리텐다드 Semi-Bold"/>
                        </a:rPr>
                        <a:t>의료정보는 민감정보</a:t>
                      </a:r>
                    </a:p>
                  </a:txBody>
                  <a:tcPr marL="177800" marR="177800" marT="76200" marB="76200" anchor="ctr">
                    <a:lnL w="0">
                      <a:noFill/>
                    </a:lnL>
                    <a:lnR w="0">
                      <a:noFill/>
                    </a:lnR>
                    <a:lnT w="19050" cap="flat" cmpd="sng" algn="ctr">
                      <a:solidFill>
                        <a:srgbClr val="282828"/>
                      </a:solidFill>
                      <a:prstDash val="solid"/>
                      <a:round/>
                      <a:headEnd type="none" w="med" len="med"/>
                      <a:tailEnd type="none" w="med" len="med"/>
                    </a:lnT>
                    <a:lnB w="9525">
                      <a:solidFill>
                        <a:srgbClr val="D0D0D0"/>
                      </a:solidFill>
                    </a:lnB>
                    <a:noFill/>
                  </a:tcPr>
                </a:tc>
                <a:tc>
                  <a:txBody>
                    <a:bodyPr/>
                    <a:lstStyle/>
                    <a:p>
                      <a:pPr algn="l"/>
                      <a:r>
                        <a:rPr lang="ko-KR" sz="2200" dirty="0">
                          <a:solidFill>
                            <a:srgbClr val="282828"/>
                          </a:solidFill>
                          <a:latin typeface="프리텐다드"/>
                          <a:ea typeface="프리텐다드"/>
                          <a:cs typeface="프리텐다드"/>
                          <a:sym typeface="프리텐다드"/>
                        </a:rPr>
                        <a:t>제23조에 따른 별도 동의 또는 법령상 허용 근거 검토</a:t>
                      </a:r>
                    </a:p>
                  </a:txBody>
                  <a:tcPr marL="177800" marR="177800" marT="76200" marB="76200" anchor="ctr">
                    <a:lnL w="0">
                      <a:noFill/>
                    </a:lnL>
                    <a:lnR w="0">
                      <a:noFill/>
                    </a:lnR>
                    <a:lnT w="19050" cap="flat" cmpd="sng" algn="ctr">
                      <a:solidFill>
                        <a:srgbClr val="282828"/>
                      </a:solidFill>
                      <a:prstDash val="solid"/>
                      <a:round/>
                      <a:headEnd type="none" w="med" len="med"/>
                      <a:tailEnd type="none" w="med" len="med"/>
                    </a:lnT>
                    <a:lnB w="9525">
                      <a:solidFill>
                        <a:srgbClr val="D0D0D0"/>
                      </a:solidFill>
                    </a:lnB>
                    <a:noFill/>
                  </a:tcPr>
                </a:tc>
                <a:extLst>
                  <a:ext uri="{0D108BD9-81ED-4DB2-BD59-A6C34878D82A}">
                    <a16:rowId xmlns:a16="http://schemas.microsoft.com/office/drawing/2014/main" val="10001"/>
                  </a:ext>
                </a:extLst>
              </a:tr>
              <a:tr h="965200">
                <a:tc>
                  <a:txBody>
                    <a:bodyPr/>
                    <a:lstStyle/>
                    <a:p>
                      <a:pPr algn="l"/>
                      <a:r>
                        <a:rPr lang="ko-KR" sz="2200" b="1" dirty="0">
                          <a:solidFill>
                            <a:srgbClr val="282828"/>
                          </a:solidFill>
                          <a:latin typeface="프리텐다드 Semi-Bold"/>
                          <a:ea typeface="프리텐다드 Semi-Bold"/>
                          <a:cs typeface="프리텐다드 Semi-Bold"/>
                          <a:sym typeface="프리텐다드 Semi-Bold"/>
                        </a:rPr>
                        <a:t>환자 동의의 신뢰성</a:t>
                      </a:r>
                    </a:p>
                  </a:txBody>
                  <a:tcPr marL="177800" marR="177800" marT="76200" marB="762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200" dirty="0">
                          <a:solidFill>
                            <a:srgbClr val="282828"/>
                          </a:solidFill>
                          <a:latin typeface="프리텐다드"/>
                          <a:ea typeface="프리텐다드"/>
                          <a:cs typeface="프리텐다드"/>
                          <a:sym typeface="프리텐다드"/>
                        </a:rPr>
                        <a:t>QR로 동의 화면에 진입, 본인 인증 후 동의 이력 기록</a:t>
                      </a:r>
                    </a:p>
                  </a:txBody>
                  <a:tcPr marL="177800" marR="177800" marT="76200" marB="762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extLst>
                  <a:ext uri="{0D108BD9-81ED-4DB2-BD59-A6C34878D82A}">
                    <a16:rowId xmlns:a16="http://schemas.microsoft.com/office/drawing/2014/main" val="10002"/>
                  </a:ext>
                </a:extLst>
              </a:tr>
              <a:tr h="965200">
                <a:tc>
                  <a:txBody>
                    <a:bodyPr/>
                    <a:lstStyle/>
                    <a:p>
                      <a:pPr algn="l"/>
                      <a:r>
                        <a:rPr lang="ko-KR" sz="2200" b="1" dirty="0">
                          <a:solidFill>
                            <a:srgbClr val="282828"/>
                          </a:solidFill>
                          <a:latin typeface="프리텐다드 Semi-Bold"/>
                          <a:ea typeface="프리텐다드 Semi-Bold"/>
                          <a:cs typeface="프리텐다드 Semi-Bold"/>
                          <a:sym typeface="프리텐다드 Semi-Bold"/>
                        </a:rPr>
                        <a:t>의료진의 무단 조회</a:t>
                      </a:r>
                    </a:p>
                  </a:txBody>
                  <a:tcPr marL="177800" marR="177800" marT="76200" marB="762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200" dirty="0">
                          <a:solidFill>
                            <a:srgbClr val="282828"/>
                          </a:solidFill>
                          <a:latin typeface="프리텐다드"/>
                          <a:ea typeface="프리텐다드"/>
                          <a:cs typeface="프리텐다드"/>
                          <a:sym typeface="프리텐다드"/>
                        </a:rPr>
                        <a:t>RBAC·ABAC, 동의 범위·유효기간 검증</a:t>
                      </a:r>
                    </a:p>
                  </a:txBody>
                  <a:tcPr marL="177800" marR="177800" marT="76200" marB="762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extLst>
                  <a:ext uri="{0D108BD9-81ED-4DB2-BD59-A6C34878D82A}">
                    <a16:rowId xmlns:a16="http://schemas.microsoft.com/office/drawing/2014/main" val="10003"/>
                  </a:ext>
                </a:extLst>
              </a:tr>
              <a:tr h="965200">
                <a:tc>
                  <a:txBody>
                    <a:bodyPr/>
                    <a:lstStyle/>
                    <a:p>
                      <a:pPr algn="l"/>
                      <a:r>
                        <a:rPr lang="ko-KR" sz="2200" b="1" dirty="0">
                          <a:solidFill>
                            <a:srgbClr val="282828"/>
                          </a:solidFill>
                          <a:latin typeface="프리텐다드 Semi-Bold"/>
                          <a:ea typeface="프리텐다드 Semi-Bold"/>
                          <a:cs typeface="프리텐다드 Semi-Bold"/>
                          <a:sym typeface="프리텐다드 Semi-Bold"/>
                        </a:rPr>
                        <a:t>민감정보 과도한 저장</a:t>
                      </a:r>
                    </a:p>
                  </a:txBody>
                  <a:tcPr marL="177800" marR="177800" marT="76200" marB="762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200" dirty="0">
                          <a:solidFill>
                            <a:srgbClr val="282828"/>
                          </a:solidFill>
                          <a:latin typeface="프리텐다드"/>
                          <a:ea typeface="프리텐다드"/>
                          <a:cs typeface="프리텐다드"/>
                          <a:sym typeface="프리텐다드"/>
                        </a:rPr>
                        <a:t>원본은 병원 PACS 유지, 중개서버는 최소 메타데이터 보관</a:t>
                      </a:r>
                    </a:p>
                  </a:txBody>
                  <a:tcPr marL="177800" marR="177800" marT="76200" marB="762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extLst>
                  <a:ext uri="{0D108BD9-81ED-4DB2-BD59-A6C34878D82A}">
                    <a16:rowId xmlns:a16="http://schemas.microsoft.com/office/drawing/2014/main" val="10004"/>
                  </a:ext>
                </a:extLst>
              </a:tr>
              <a:tr h="965200">
                <a:tc>
                  <a:txBody>
                    <a:bodyPr/>
                    <a:lstStyle/>
                    <a:p>
                      <a:pPr algn="l"/>
                      <a:r>
                        <a:rPr lang="ko-KR" sz="2200" b="1" dirty="0">
                          <a:solidFill>
                            <a:srgbClr val="282828"/>
                          </a:solidFill>
                          <a:latin typeface="프리텐다드 Semi-Bold"/>
                          <a:ea typeface="프리텐다드 Semi-Bold"/>
                          <a:cs typeface="프리텐다드 Semi-Bold"/>
                          <a:sym typeface="프리텐다드 Semi-Bold"/>
                        </a:rPr>
                        <a:t>연구·AI 데이터 활용</a:t>
                      </a:r>
                    </a:p>
                  </a:txBody>
                  <a:tcPr marL="177800" marR="177800" marT="76200" marB="762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200" dirty="0">
                          <a:solidFill>
                            <a:srgbClr val="282828"/>
                          </a:solidFill>
                          <a:latin typeface="프리텐다드"/>
                          <a:ea typeface="프리텐다드"/>
                          <a:cs typeface="프리텐다드"/>
                          <a:sym typeface="프리텐다드"/>
                        </a:rPr>
                        <a:t>진료 원본과 분리하고 목적에 맞게 가명처리</a:t>
                      </a:r>
                    </a:p>
                  </a:txBody>
                  <a:tcPr marL="177800" marR="177800" marT="76200" marB="762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extLst>
                  <a:ext uri="{0D108BD9-81ED-4DB2-BD59-A6C34878D82A}">
                    <a16:rowId xmlns:a16="http://schemas.microsoft.com/office/drawing/2014/main" val="10005"/>
                  </a:ext>
                </a:extLst>
              </a:tr>
            </a:tbl>
          </a:graphicData>
        </a:graphic>
      </p:graphicFrame>
      <p:sp>
        <p:nvSpPr>
          <p:cNvPr id="41" name="Law column heading"/>
          <p:cNvSpPr txBox="1"/>
          <p:nvPr/>
        </p:nvSpPr>
        <p:spPr>
          <a:xfrm>
            <a:off x="11430000" y="3175000"/>
            <a:ext cx="5829300" cy="609600"/>
          </a:xfrm>
          <a:prstGeom prst="rect">
            <a:avLst/>
          </a:prstGeom>
          <a:noFill/>
          <a:ln>
            <a:noFill/>
          </a:ln>
        </p:spPr>
        <p:txBody>
          <a:bodyPr wrap="square" lIns="0" tIns="0" rIns="0" bIns="0" rtlCol="0" anchor="ctr">
            <a:noAutofit/>
          </a:bodyPr>
          <a:lstStyle/>
          <a:p>
            <a:pPr marL="0" indent="0" algn="l">
              <a:lnSpc>
                <a:spcPts val="3000"/>
              </a:lnSpc>
              <a:spcBef>
                <a:spcPts val="0"/>
              </a:spcBef>
              <a:buNone/>
            </a:pPr>
            <a:r>
              <a:rPr lang="ko-KR" sz="2200" b="1" dirty="0">
                <a:solidFill>
                  <a:srgbClr val="282828"/>
                </a:solidFill>
                <a:latin typeface="프리텐다드 Semi-Bold"/>
                <a:ea typeface="프리텐다드 Semi-Bold"/>
                <a:cs typeface="프리텐다드 Semi-Bold"/>
                <a:sym typeface="프리텐다드 Semi-Bold"/>
              </a:rPr>
              <a:t>기획 근거 법규</a:t>
            </a:r>
          </a:p>
        </p:txBody>
      </p:sp>
      <p:sp>
        <p:nvSpPr>
          <p:cNvPr id="42" name="Law card"/>
          <p:cNvSpPr/>
          <p:nvPr/>
        </p:nvSpPr>
        <p:spPr>
          <a:xfrm>
            <a:off x="11430000" y="3835400"/>
            <a:ext cx="5829300" cy="2286000"/>
          </a:xfrm>
          <a:prstGeom prst="rect">
            <a:avLst/>
          </a:prstGeom>
          <a:noFill/>
          <a:ln w="9525">
            <a:solidFill>
              <a:srgbClr val="737373"/>
            </a:solidFill>
          </a:ln>
        </p:spPr>
        <p:txBody>
          <a:bodyPr wrap="square" lIns="254000" tIns="152400" rIns="254000" bIns="152400" rtlCol="0" anchor="ctr">
            <a:noAutofit/>
          </a:bodyPr>
          <a:lstStyle/>
          <a:p>
            <a:pPr marL="0" indent="0" algn="l">
              <a:lnSpc>
                <a:spcPts val="2500"/>
              </a:lnSpc>
              <a:spcBef>
                <a:spcPts val="0"/>
              </a:spcBef>
              <a:buNone/>
            </a:pPr>
            <a:r>
              <a:rPr lang="ko-KR" sz="1800" dirty="0">
                <a:solidFill>
                  <a:srgbClr val="595959"/>
                </a:solidFill>
                <a:latin typeface="프리텐다드"/>
                <a:ea typeface="프리텐다드"/>
                <a:cs typeface="프리텐다드"/>
                <a:sym typeface="프리텐다드"/>
              </a:rPr>
              <a:t>개인정보 보호법</a:t>
            </a:r>
          </a:p>
          <a:p>
            <a:pPr marL="0" indent="0" algn="l">
              <a:lnSpc>
                <a:spcPts val="3100"/>
              </a:lnSpc>
              <a:spcBef>
                <a:spcPts val="2"/>
              </a:spcBef>
              <a:buNone/>
            </a:pPr>
            <a:r>
              <a:rPr lang="ko-KR" sz="2200" b="1" dirty="0">
                <a:solidFill>
                  <a:srgbClr val="2A59C5"/>
                </a:solidFill>
                <a:latin typeface="프리텐다드 Semi-Bold"/>
                <a:ea typeface="프리텐다드 Semi-Bold"/>
                <a:cs typeface="프리텐다드 Semi-Bold"/>
                <a:sym typeface="프리텐다드 Semi-Bold"/>
              </a:rPr>
              <a:t>제23조 · 민감정보 처리 제한</a:t>
            </a:r>
          </a:p>
          <a:p>
            <a:pPr marL="0" indent="0" algn="l">
              <a:lnSpc>
                <a:spcPts val="2800"/>
              </a:lnSpc>
              <a:spcBef>
                <a:spcPts val="6"/>
              </a:spcBef>
              <a:buNone/>
            </a:pPr>
            <a:r>
              <a:rPr lang="ko-KR" sz="2000" dirty="0">
                <a:solidFill>
                  <a:srgbClr val="282828"/>
                </a:solidFill>
                <a:latin typeface="프리텐다드"/>
                <a:ea typeface="프리텐다드"/>
                <a:cs typeface="프리텐다드"/>
                <a:sym typeface="프리텐다드"/>
              </a:rPr>
              <a:t>건강정보는 민감정보로, 별도 동의 또는 법령상 허용 근거가 필요하다. 동의 후에도 안전조치 의무는 유지된다.</a:t>
            </a:r>
          </a:p>
        </p:txBody>
      </p:sp>
      <p:sp>
        <p:nvSpPr>
          <p:cNvPr id="43" name="Law card"/>
          <p:cNvSpPr/>
          <p:nvPr/>
        </p:nvSpPr>
        <p:spPr>
          <a:xfrm>
            <a:off x="11430000" y="6324600"/>
            <a:ext cx="5829300" cy="2286000"/>
          </a:xfrm>
          <a:prstGeom prst="rect">
            <a:avLst/>
          </a:prstGeom>
          <a:noFill/>
          <a:ln w="9525">
            <a:solidFill>
              <a:srgbClr val="737373"/>
            </a:solidFill>
          </a:ln>
        </p:spPr>
        <p:txBody>
          <a:bodyPr wrap="square" lIns="254000" tIns="152400" rIns="254000" bIns="152400" rtlCol="0" anchor="ctr">
            <a:noAutofit/>
          </a:bodyPr>
          <a:lstStyle/>
          <a:p>
            <a:pPr marL="0" indent="0" algn="l">
              <a:lnSpc>
                <a:spcPts val="2500"/>
              </a:lnSpc>
              <a:spcBef>
                <a:spcPts val="0"/>
              </a:spcBef>
              <a:buNone/>
            </a:pPr>
            <a:r>
              <a:rPr lang="ko-KR" sz="1800" dirty="0">
                <a:solidFill>
                  <a:srgbClr val="595959"/>
                </a:solidFill>
                <a:latin typeface="프리텐다드"/>
                <a:ea typeface="프리텐다드"/>
                <a:cs typeface="프리텐다드"/>
                <a:sym typeface="프리텐다드"/>
              </a:rPr>
              <a:t>개인정보 보호법</a:t>
            </a:r>
          </a:p>
          <a:p>
            <a:pPr marL="0" indent="0" algn="l">
              <a:lnSpc>
                <a:spcPts val="3100"/>
              </a:lnSpc>
              <a:spcBef>
                <a:spcPts val="2"/>
              </a:spcBef>
              <a:buNone/>
            </a:pPr>
            <a:r>
              <a:rPr lang="ko-KR" sz="2200" b="1" dirty="0">
                <a:solidFill>
                  <a:srgbClr val="2A59C5"/>
                </a:solidFill>
                <a:latin typeface="프리텐다드 Semi-Bold"/>
                <a:ea typeface="프리텐다드 Semi-Bold"/>
                <a:cs typeface="프리텐다드 Semi-Bold"/>
                <a:sym typeface="프리텐다드 Semi-Bold"/>
              </a:rPr>
              <a:t>제28조의2 · 가명정보 처리 특례</a:t>
            </a:r>
          </a:p>
          <a:p>
            <a:pPr marL="0" indent="0" algn="l">
              <a:lnSpc>
                <a:spcPts val="2800"/>
              </a:lnSpc>
              <a:spcBef>
                <a:spcPts val="6"/>
              </a:spcBef>
              <a:buNone/>
            </a:pPr>
            <a:r>
              <a:rPr lang="ko-KR" sz="2000" dirty="0">
                <a:solidFill>
                  <a:srgbClr val="282828"/>
                </a:solidFill>
                <a:latin typeface="프리텐다드"/>
                <a:ea typeface="프리텐다드"/>
                <a:cs typeface="프리텐다드"/>
                <a:sym typeface="프리텐다드"/>
              </a:rPr>
              <a:t>통계·연구·기록보존 목적의 가명정보는 동의 없이 처리할 수 있다. 일반 진료용 원본 영상 공유는 대상이 아니다.</a:t>
            </a:r>
          </a:p>
        </p:txBody>
      </p:sp>
      <p:sp>
        <p:nvSpPr>
          <p:cNvPr id="44" name="Banner"/>
          <p:cNvSpPr/>
          <p:nvPr/>
        </p:nvSpPr>
        <p:spPr>
          <a:xfrm>
            <a:off x="1028700" y="8940800"/>
            <a:ext cx="16230600" cy="838200"/>
          </a:xfrm>
          <a:prstGeom prst="rect">
            <a:avLst/>
          </a:prstGeom>
          <a:solidFill>
            <a:srgbClr val="E9E9E9"/>
          </a:solidFill>
          <a:ln w="9525">
            <a:solidFill>
              <a:srgbClr val="737373"/>
            </a:solidFill>
          </a:ln>
        </p:spPr>
        <p:txBody>
          <a:bodyPr wrap="square" lIns="177800" tIns="106680" rIns="177800" bIns="106680" rtlCol="0" anchor="ctr">
            <a:noAutofit/>
          </a:bodyPr>
          <a:lstStyle/>
          <a:p>
            <a:pPr marL="0" indent="0" algn="ctr">
              <a:lnSpc>
                <a:spcPts val="3600"/>
              </a:lnSpc>
              <a:spcBef>
                <a:spcPts val="0"/>
              </a:spcBef>
              <a:buNone/>
            </a:pPr>
            <a:r>
              <a:rPr lang="ko-KR" sz="2600" b="1" dirty="0">
                <a:solidFill>
                  <a:srgbClr val="282828"/>
                </a:solidFill>
                <a:latin typeface="프리텐다드 Bold"/>
                <a:ea typeface="프리텐다드 Bold"/>
                <a:cs typeface="프리텐다드 Bold"/>
                <a:sym typeface="프리텐다드 Bold"/>
              </a:rPr>
              <a:t>법적 의무를 완화하는 것이 아니라, 법적 처리 근거를 확보하고 보호조치를 강화한다</a:t>
            </a:r>
          </a:p>
        </p:txBody>
      </p:sp>
    </p:spTree>
    <p:extLst>
      <p:ext uri="{BB962C8B-B14F-4D97-AF65-F5344CB8AC3E}">
        <p14:creationId xmlns:p14="http://schemas.microsoft.com/office/powerpoint/2010/main" val="3763695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SECURITY DESIGN</a:t>
            </a:r>
          </a:p>
        </p:txBody>
      </p:sp>
      <p:sp>
        <p:nvSpPr>
          <p:cNvPr id="10" name="TextBox 10"/>
          <p:cNvSpPr txBox="1"/>
          <p:nvPr/>
        </p:nvSpPr>
        <p:spPr>
          <a:xfrm>
            <a:off x="1421481" y="1253961"/>
            <a:ext cx="12377320" cy="979170"/>
          </a:xfrm>
          <a:prstGeom prst="rect">
            <a:avLst/>
          </a:prstGeom>
        </p:spPr>
        <p:txBody>
          <a:bodyPr lIns="0" tIns="0" rIns="0" bIns="0" rtlCol="0" anchor="t">
            <a:spAutoFit/>
          </a:bodyPr>
          <a:lstStyle/>
          <a:p>
            <a:pPr algn="l">
              <a:lnSpc>
                <a:spcPts val="7979"/>
              </a:lnSpc>
              <a:spcBef>
                <a:spcPct val="0"/>
              </a:spcBef>
            </a:pPr>
            <a:r>
              <a:rPr lang="ko-KR" altLang="en-US" sz="5699" b="1" dirty="0">
                <a:solidFill>
                  <a:srgbClr val="282828"/>
                </a:solidFill>
                <a:latin typeface="프리텐다드 Bold"/>
                <a:ea typeface="프리텐다드 Bold"/>
                <a:cs typeface="프리텐다드 Bold"/>
                <a:sym typeface="프리텐다드 Bold"/>
              </a:rPr>
              <a:t>파일 전송문제 </a:t>
            </a:r>
            <a:r>
              <a:rPr lang="en-US" altLang="ko-KR" sz="5699" b="1" dirty="0">
                <a:solidFill>
                  <a:srgbClr val="282828"/>
                </a:solidFill>
                <a:latin typeface="프리텐다드 Bold"/>
                <a:ea typeface="프리텐다드 Bold"/>
                <a:cs typeface="프리텐다드 Bold"/>
                <a:sym typeface="프리텐다드 Bold"/>
              </a:rPr>
              <a:t>-</a:t>
            </a:r>
            <a:r>
              <a:rPr lang="en-US" sz="5699" b="1" dirty="0">
                <a:solidFill>
                  <a:srgbClr val="282828"/>
                </a:solidFill>
                <a:latin typeface="프리텐다드 Bold"/>
                <a:ea typeface="프리텐다드 Bold"/>
                <a:cs typeface="프리텐다드 Bold"/>
                <a:sym typeface="프리텐다드 Bold"/>
              </a:rPr>
              <a:t> </a:t>
            </a:r>
            <a:r>
              <a:rPr lang="en-US" sz="5699" b="1" dirty="0" err="1">
                <a:solidFill>
                  <a:srgbClr val="282828"/>
                </a:solidFill>
                <a:latin typeface="프리텐다드 Bold"/>
                <a:ea typeface="프리텐다드 Bold"/>
                <a:cs typeface="프리텐다드 Bold"/>
                <a:sym typeface="프리텐다드 Bold"/>
              </a:rPr>
              <a:t>보안</a:t>
            </a:r>
            <a:r>
              <a:rPr lang="en-US" sz="5699" b="1" dirty="0">
                <a:solidFill>
                  <a:srgbClr val="282828"/>
                </a:solidFill>
                <a:latin typeface="프리텐다드 Bold"/>
                <a:ea typeface="프리텐다드 Bold"/>
                <a:cs typeface="프리텐다드 Bold"/>
                <a:sym typeface="프리텐다드 Bold"/>
              </a:rPr>
              <a:t> </a:t>
            </a:r>
            <a:r>
              <a:rPr lang="en-US" sz="5699" b="1" dirty="0" err="1">
                <a:solidFill>
                  <a:srgbClr val="282828"/>
                </a:solidFill>
                <a:latin typeface="프리텐다드 Bold"/>
                <a:ea typeface="프리텐다드 Bold"/>
                <a:cs typeface="프리텐다드 Bold"/>
                <a:sym typeface="프리텐다드 Bold"/>
              </a:rPr>
              <a:t>기술</a:t>
            </a:r>
            <a:r>
              <a:rPr lang="en-US" sz="5699" b="1" dirty="0">
                <a:solidFill>
                  <a:srgbClr val="282828"/>
                </a:solidFill>
                <a:latin typeface="프리텐다드 Bold"/>
                <a:ea typeface="프리텐다드 Bold"/>
                <a:cs typeface="프리텐다드 Bold"/>
                <a:sym typeface="프리텐다드 Bold"/>
              </a:rPr>
              <a:t> </a:t>
            </a:r>
            <a:r>
              <a:rPr lang="en-US" sz="5699" b="1" dirty="0" err="1">
                <a:solidFill>
                  <a:srgbClr val="282828"/>
                </a:solidFill>
                <a:latin typeface="프리텐다드 Bold"/>
                <a:ea typeface="프리텐다드 Bold"/>
                <a:cs typeface="프리텐다드 Bold"/>
                <a:sym typeface="프리텐다드 Bold"/>
              </a:rPr>
              <a:t>적용</a:t>
            </a:r>
            <a:r>
              <a:rPr lang="en-US" sz="5699" b="1" dirty="0">
                <a:solidFill>
                  <a:srgbClr val="282828"/>
                </a:solidFill>
                <a:latin typeface="프리텐다드 Bold"/>
                <a:ea typeface="프리텐다드 Bold"/>
                <a:cs typeface="프리텐다드 Bold"/>
                <a:sym typeface="프리텐다드 Bold"/>
              </a:rPr>
              <a:t> </a:t>
            </a:r>
            <a:r>
              <a:rPr lang="en-US" sz="5699" b="1" dirty="0" err="1">
                <a:solidFill>
                  <a:srgbClr val="282828"/>
                </a:solidFill>
                <a:latin typeface="프리텐다드 Bold"/>
                <a:ea typeface="프리텐다드 Bold"/>
                <a:cs typeface="프리텐다드 Bold"/>
                <a:sym typeface="프리텐다드 Bold"/>
              </a:rPr>
              <a:t>전략</a:t>
            </a:r>
            <a:endParaRPr lang="en-US" sz="5699" b="1" dirty="0">
              <a:solidFill>
                <a:srgbClr val="282828"/>
              </a:solidFill>
              <a:latin typeface="프리텐다드 Bold"/>
              <a:ea typeface="프리텐다드 Bold"/>
              <a:cs typeface="프리텐다드 Bold"/>
              <a:sym typeface="프리텐다드 Bold"/>
            </a:endParaRPr>
          </a:p>
        </p:txBody>
      </p:sp>
      <p:graphicFrame>
        <p:nvGraphicFramePr>
          <p:cNvPr id="40" name="Security tech table"/>
          <p:cNvGraphicFramePr>
            <a:graphicFrameLocks noGrp="1"/>
          </p:cNvGraphicFramePr>
          <p:nvPr>
            <p:extLst>
              <p:ext uri="{D42A27DB-BD31-4B8C-83A1-F6EECF244321}">
                <p14:modId xmlns:p14="http://schemas.microsoft.com/office/powerpoint/2010/main" val="3260578509"/>
              </p:ext>
            </p:extLst>
          </p:nvPr>
        </p:nvGraphicFramePr>
        <p:xfrm>
          <a:off x="1028700" y="3124200"/>
          <a:ext cx="16230600" cy="5791200"/>
        </p:xfrm>
        <a:graphic>
          <a:graphicData uri="http://schemas.openxmlformats.org/drawingml/2006/table">
            <a:tbl>
              <a:tblPr firstRow="1"/>
              <a:tblGrid>
                <a:gridCol w="3556000">
                  <a:extLst>
                    <a:ext uri="{9D8B030D-6E8A-4147-A177-3AD203B41FA5}">
                      <a16:colId xmlns:a16="http://schemas.microsoft.com/office/drawing/2014/main" val="20000"/>
                    </a:ext>
                  </a:extLst>
                </a:gridCol>
                <a:gridCol w="5080000">
                  <a:extLst>
                    <a:ext uri="{9D8B030D-6E8A-4147-A177-3AD203B41FA5}">
                      <a16:colId xmlns:a16="http://schemas.microsoft.com/office/drawing/2014/main" val="20001"/>
                    </a:ext>
                  </a:extLst>
                </a:gridCol>
                <a:gridCol w="5588000">
                  <a:extLst>
                    <a:ext uri="{9D8B030D-6E8A-4147-A177-3AD203B41FA5}">
                      <a16:colId xmlns:a16="http://schemas.microsoft.com/office/drawing/2014/main" val="20002"/>
                    </a:ext>
                  </a:extLst>
                </a:gridCol>
                <a:gridCol w="2006600">
                  <a:extLst>
                    <a:ext uri="{9D8B030D-6E8A-4147-A177-3AD203B41FA5}">
                      <a16:colId xmlns:a16="http://schemas.microsoft.com/office/drawing/2014/main" val="20003"/>
                    </a:ext>
                  </a:extLst>
                </a:gridCol>
              </a:tblGrid>
              <a:tr h="635000">
                <a:tc>
                  <a:txBody>
                    <a:bodyPr/>
                    <a:lstStyle/>
                    <a:p>
                      <a:pPr algn="l"/>
                      <a:r>
                        <a:rPr lang="ko-KR" sz="2200" b="1" dirty="0">
                          <a:solidFill>
                            <a:srgbClr val="282828"/>
                          </a:solidFill>
                          <a:latin typeface="프리텐다드 Semi-Bold"/>
                          <a:ea typeface="프리텐다드 Semi-Bold"/>
                          <a:cs typeface="프리텐다드 Semi-Bold"/>
                          <a:sym typeface="프리텐다드 Semi-Bold"/>
                        </a:rPr>
                        <a:t>해결할 문제</a:t>
                      </a:r>
                    </a:p>
                  </a:txBody>
                  <a:tcPr marL="177800" marR="177800" marT="50800" marB="50800" anchor="ctr">
                    <a:lnL w="0">
                      <a:noFill/>
                    </a:lnL>
                    <a:lnR w="0">
                      <a:noFill/>
                    </a:lnR>
                    <a:lnT w="0">
                      <a:noFill/>
                    </a:lnT>
                    <a:lnB w="19050">
                      <a:solidFill>
                        <a:srgbClr val="282828"/>
                      </a:solidFill>
                    </a:lnB>
                    <a:noFill/>
                  </a:tcPr>
                </a:tc>
                <a:tc>
                  <a:txBody>
                    <a:bodyPr/>
                    <a:lstStyle/>
                    <a:p>
                      <a:pPr algn="l"/>
                      <a:r>
                        <a:rPr lang="ko-KR" sz="2200" b="1" dirty="0">
                          <a:solidFill>
                            <a:srgbClr val="282828"/>
                          </a:solidFill>
                          <a:latin typeface="프리텐다드 Semi-Bold"/>
                          <a:ea typeface="프리텐다드 Semi-Bold"/>
                          <a:cs typeface="프리텐다드 Semi-Bold"/>
                          <a:sym typeface="프리텐다드 Semi-Bold"/>
                        </a:rPr>
                        <a:t>적용 기술</a:t>
                      </a:r>
                    </a:p>
                  </a:txBody>
                  <a:tcPr marL="177800" marR="177800" marT="50800" marB="50800" anchor="ctr">
                    <a:lnL w="0">
                      <a:noFill/>
                    </a:lnL>
                    <a:lnR w="0">
                      <a:noFill/>
                    </a:lnR>
                    <a:lnT w="0">
                      <a:noFill/>
                    </a:lnT>
                    <a:lnB w="19050">
                      <a:solidFill>
                        <a:srgbClr val="282828"/>
                      </a:solidFill>
                    </a:lnB>
                    <a:noFill/>
                  </a:tcPr>
                </a:tc>
                <a:tc>
                  <a:txBody>
                    <a:bodyPr/>
                    <a:lstStyle/>
                    <a:p>
                      <a:pPr algn="l"/>
                      <a:r>
                        <a:rPr lang="ko-KR" sz="2200" b="1" dirty="0">
                          <a:solidFill>
                            <a:srgbClr val="282828"/>
                          </a:solidFill>
                          <a:latin typeface="프리텐다드 Semi-Bold"/>
                          <a:ea typeface="프리텐다드 Semi-Bold"/>
                          <a:cs typeface="프리텐다드 Semi-Bold"/>
                          <a:sym typeface="프리텐다드 Semi-Bold"/>
                        </a:rPr>
                        <a:t>역할</a:t>
                      </a:r>
                    </a:p>
                  </a:txBody>
                  <a:tcPr marL="177800" marR="177800" marT="50800" marB="50800" anchor="ctr">
                    <a:lnL w="0">
                      <a:noFill/>
                    </a:lnL>
                    <a:lnR w="0">
                      <a:noFill/>
                    </a:lnR>
                    <a:lnT w="0">
                      <a:noFill/>
                    </a:lnT>
                    <a:lnB w="19050">
                      <a:solidFill>
                        <a:srgbClr val="282828"/>
                      </a:solidFill>
                    </a:lnB>
                    <a:noFill/>
                  </a:tcPr>
                </a:tc>
                <a:tc>
                  <a:txBody>
                    <a:bodyPr/>
                    <a:lstStyle/>
                    <a:p>
                      <a:pPr algn="l"/>
                      <a:r>
                        <a:rPr lang="ko-KR" sz="2200" b="1" dirty="0">
                          <a:solidFill>
                            <a:srgbClr val="282828"/>
                          </a:solidFill>
                          <a:latin typeface="프리텐다드 Semi-Bold"/>
                          <a:ea typeface="프리텐다드 Semi-Bold"/>
                          <a:cs typeface="프리텐다드 Semi-Bold"/>
                          <a:sym typeface="프리텐다드 Semi-Bold"/>
                        </a:rPr>
                        <a:t>구현 구분</a:t>
                      </a:r>
                    </a:p>
                  </a:txBody>
                  <a:tcPr marL="177800" marR="177800" marT="50800" marB="50800" anchor="ctr">
                    <a:lnL w="0">
                      <a:noFill/>
                    </a:lnL>
                    <a:lnR w="0">
                      <a:noFill/>
                    </a:lnR>
                    <a:lnT w="0">
                      <a:noFill/>
                    </a:lnT>
                    <a:lnB w="19050">
                      <a:solidFill>
                        <a:srgbClr val="282828"/>
                      </a:solidFill>
                    </a:lnB>
                    <a:noFill/>
                  </a:tcPr>
                </a:tc>
                <a:extLst>
                  <a:ext uri="{0D108BD9-81ED-4DB2-BD59-A6C34878D82A}">
                    <a16:rowId xmlns:a16="http://schemas.microsoft.com/office/drawing/2014/main" val="10000"/>
                  </a:ext>
                </a:extLst>
              </a:tr>
              <a:tr h="736600">
                <a:tc>
                  <a:txBody>
                    <a:bodyPr/>
                    <a:lstStyle/>
                    <a:p>
                      <a:pPr algn="l"/>
                      <a:r>
                        <a:rPr lang="ko-KR" sz="2000" b="1" dirty="0">
                          <a:solidFill>
                            <a:srgbClr val="282828"/>
                          </a:solidFill>
                          <a:latin typeface="프리텐다드 Semi-Bold"/>
                          <a:ea typeface="프리텐다드 Semi-Bold"/>
                          <a:cs typeface="프리텐다드 Semi-Bold"/>
                          <a:sym typeface="프리텐다드 Semi-Bold"/>
                        </a:rPr>
                        <a:t>대용량 의료영상 조회</a:t>
                      </a:r>
                    </a:p>
                  </a:txBody>
                  <a:tcPr marL="177800" marR="177800" marT="50800" marB="50800" anchor="ctr">
                    <a:lnL w="0">
                      <a:noFill/>
                    </a:lnL>
                    <a:lnR w="0">
                      <a:noFill/>
                    </a:lnR>
                    <a:lnT w="19050" cap="flat" cmpd="sng" algn="ctr">
                      <a:solidFill>
                        <a:srgbClr val="282828"/>
                      </a:solidFill>
                      <a:prstDash val="solid"/>
                      <a:round/>
                      <a:headEnd type="none" w="med" len="med"/>
                      <a:tailEnd type="none" w="med" len="med"/>
                    </a:lnT>
                    <a:lnB w="9525">
                      <a:solidFill>
                        <a:srgbClr val="D0D0D0"/>
                      </a:solidFill>
                    </a:lnB>
                    <a:noFill/>
                  </a:tcPr>
                </a:tc>
                <a:tc>
                  <a:txBody>
                    <a:bodyPr/>
                    <a:lstStyle/>
                    <a:p>
                      <a:pPr algn="l"/>
                      <a:r>
                        <a:rPr lang="ko-KR" sz="2000" b="1" dirty="0">
                          <a:solidFill>
                            <a:srgbClr val="2A59C5"/>
                          </a:solidFill>
                          <a:latin typeface="프리텐다드 Semi-Bold"/>
                          <a:ea typeface="프리텐다드 Semi-Bold"/>
                          <a:cs typeface="프리텐다드 Semi-Bold"/>
                          <a:sym typeface="프리텐다드 Semi-Bold"/>
                        </a:rPr>
                        <a:t>DICOMweb Gateway</a:t>
                      </a:r>
                    </a:p>
                  </a:txBody>
                  <a:tcPr marL="177800" marR="177800" marT="50800" marB="50800" anchor="ctr">
                    <a:lnL w="0">
                      <a:noFill/>
                    </a:lnL>
                    <a:lnR w="0">
                      <a:noFill/>
                    </a:lnR>
                    <a:lnT w="19050" cap="flat" cmpd="sng" algn="ctr">
                      <a:solidFill>
                        <a:srgbClr val="282828"/>
                      </a:solidFill>
                      <a:prstDash val="solid"/>
                      <a:round/>
                      <a:headEnd type="none" w="med" len="med"/>
                      <a:tailEnd type="none" w="med" len="med"/>
                    </a:lnT>
                    <a:lnB w="9525">
                      <a:solidFill>
                        <a:srgbClr val="D0D0D0"/>
                      </a:solidFill>
                    </a:lnB>
                    <a:noFill/>
                  </a:tcPr>
                </a:tc>
                <a:tc>
                  <a:txBody>
                    <a:bodyPr/>
                    <a:lstStyle/>
                    <a:p>
                      <a:pPr algn="l"/>
                      <a:r>
                        <a:rPr lang="ko-KR" sz="2000" dirty="0">
                          <a:solidFill>
                            <a:srgbClr val="282828"/>
                          </a:solidFill>
                          <a:latin typeface="프리텐다드"/>
                          <a:ea typeface="프리텐다드"/>
                          <a:cs typeface="프리텐다드"/>
                          <a:sym typeface="프리텐다드"/>
                        </a:rPr>
                        <a:t>Study·Series·Instance 범위만 조회</a:t>
                      </a:r>
                    </a:p>
                  </a:txBody>
                  <a:tcPr marL="177800" marR="177800" marT="50800" marB="50800" anchor="ctr">
                    <a:lnL w="0">
                      <a:noFill/>
                    </a:lnL>
                    <a:lnR w="0">
                      <a:noFill/>
                    </a:lnR>
                    <a:lnT w="19050" cap="flat" cmpd="sng" algn="ctr">
                      <a:solidFill>
                        <a:srgbClr val="282828"/>
                      </a:solidFill>
                      <a:prstDash val="solid"/>
                      <a:round/>
                      <a:headEnd type="none" w="med" len="med"/>
                      <a:tailEnd type="none" w="med" len="med"/>
                    </a:lnT>
                    <a:lnB w="9525">
                      <a:solidFill>
                        <a:srgbClr val="D0D0D0"/>
                      </a:solidFill>
                    </a:lnB>
                    <a:noFill/>
                  </a:tcPr>
                </a:tc>
                <a:tc>
                  <a:txBody>
                    <a:bodyPr/>
                    <a:lstStyle/>
                    <a:p>
                      <a:pPr algn="l"/>
                      <a:r>
                        <a:rPr lang="ko-KR" sz="2000" b="1" dirty="0">
                          <a:solidFill>
                            <a:srgbClr val="2A59C5"/>
                          </a:solidFill>
                          <a:latin typeface="프리텐다드 Semi-Bold"/>
                          <a:ea typeface="프리텐다드 Semi-Bold"/>
                          <a:cs typeface="프리텐다드 Semi-Bold"/>
                          <a:sym typeface="프리텐다드 Semi-Bold"/>
                        </a:rPr>
                        <a:t>적용</a:t>
                      </a:r>
                    </a:p>
                  </a:txBody>
                  <a:tcPr marL="177800" marR="177800" marT="50800" marB="50800" anchor="ctr">
                    <a:lnL w="0">
                      <a:noFill/>
                    </a:lnL>
                    <a:lnR w="0">
                      <a:noFill/>
                    </a:lnR>
                    <a:lnT w="19050" cap="flat" cmpd="sng" algn="ctr">
                      <a:solidFill>
                        <a:srgbClr val="282828"/>
                      </a:solidFill>
                      <a:prstDash val="solid"/>
                      <a:round/>
                      <a:headEnd type="none" w="med" len="med"/>
                      <a:tailEnd type="none" w="med" len="med"/>
                    </a:lnT>
                    <a:lnB w="9525">
                      <a:solidFill>
                        <a:srgbClr val="D0D0D0"/>
                      </a:solidFill>
                    </a:lnB>
                    <a:noFill/>
                  </a:tcPr>
                </a:tc>
                <a:extLst>
                  <a:ext uri="{0D108BD9-81ED-4DB2-BD59-A6C34878D82A}">
                    <a16:rowId xmlns:a16="http://schemas.microsoft.com/office/drawing/2014/main" val="10001"/>
                  </a:ext>
                </a:extLst>
              </a:tr>
              <a:tr h="736600">
                <a:tc>
                  <a:txBody>
                    <a:bodyPr/>
                    <a:lstStyle/>
                    <a:p>
                      <a:pPr algn="l"/>
                      <a:r>
                        <a:rPr lang="ko-KR" sz="2000" b="1" dirty="0">
                          <a:solidFill>
                            <a:srgbClr val="282828"/>
                          </a:solidFill>
                          <a:latin typeface="프리텐다드 Semi-Bold"/>
                          <a:ea typeface="프리텐다드 Semi-Bold"/>
                          <a:cs typeface="프리텐다드 Semi-Bold"/>
                          <a:sym typeface="프리텐다드 Semi-Bold"/>
                        </a:rPr>
                        <a:t>전송구간 보호</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000" b="1" dirty="0">
                          <a:solidFill>
                            <a:srgbClr val="2A59C5"/>
                          </a:solidFill>
                          <a:latin typeface="프리텐다드 Semi-Bold"/>
                          <a:ea typeface="프리텐다드 Semi-Bold"/>
                          <a:cs typeface="프리텐다드 Semi-Bold"/>
                          <a:sym typeface="프리텐다드 Semi-Bold"/>
                        </a:rPr>
                        <a:t>TLS(HTTPS), </a:t>
                      </a:r>
                      <a:r>
                        <a:rPr lang="ko-KR" sz="2000" b="1" dirty="0" err="1">
                          <a:solidFill>
                            <a:srgbClr val="2A59C5"/>
                          </a:solidFill>
                          <a:latin typeface="프리텐다드 Semi-Bold"/>
                          <a:ea typeface="프리텐다드 Semi-Bold"/>
                          <a:cs typeface="프리텐다드 Semi-Bold"/>
                          <a:sym typeface="프리텐다드 Semi-Bold"/>
                        </a:rPr>
                        <a:t>mTLS</a:t>
                      </a:r>
                      <a:r>
                        <a:rPr lang="en-US" altLang="ko-KR" sz="2000" b="1" dirty="0">
                          <a:solidFill>
                            <a:srgbClr val="2A59C5"/>
                          </a:solidFill>
                          <a:latin typeface="프리텐다드 Semi-Bold"/>
                          <a:ea typeface="프리텐다드 Semi-Bold"/>
                          <a:cs typeface="프리텐다드 Semi-Bold"/>
                          <a:sym typeface="프리텐다드 Semi-Bold"/>
                        </a:rPr>
                        <a:t>, </a:t>
                      </a:r>
                      <a:r>
                        <a:rPr lang="en-US" altLang="ko-KR" sz="2000" b="1" dirty="0" err="1">
                          <a:solidFill>
                            <a:srgbClr val="2A59C5"/>
                          </a:solidFill>
                          <a:latin typeface="프리텐다드 Semi-Bold"/>
                          <a:ea typeface="프리텐다드 Semi-Bold"/>
                          <a:cs typeface="프리텐다드 Semi-Bold"/>
                          <a:sym typeface="프리텐다드 Semi-Bold"/>
                        </a:rPr>
                        <a:t>Wireguard</a:t>
                      </a:r>
                      <a:endParaRPr lang="ko-KR" sz="2000" b="1" dirty="0">
                        <a:solidFill>
                          <a:srgbClr val="2A59C5"/>
                        </a:solidFill>
                        <a:latin typeface="프리텐다드 Semi-Bold"/>
                        <a:ea typeface="프리텐다드 Semi-Bold"/>
                        <a:cs typeface="프리텐다드 Semi-Bold"/>
                        <a:sym typeface="프리텐다드 Semi-Bold"/>
                      </a:endParaRP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000" dirty="0">
                          <a:solidFill>
                            <a:srgbClr val="282828"/>
                          </a:solidFill>
                          <a:latin typeface="프리텐다드"/>
                          <a:ea typeface="프리텐다드"/>
                          <a:cs typeface="프리텐다드"/>
                          <a:sym typeface="프리텐다드"/>
                        </a:rPr>
                        <a:t>Gateway–PACS 상호 인증, 만료 인증서 거부</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000" b="1" dirty="0">
                          <a:solidFill>
                            <a:srgbClr val="2A59C5"/>
                          </a:solidFill>
                          <a:latin typeface="프리텐다드 Semi-Bold"/>
                          <a:ea typeface="프리텐다드 Semi-Bold"/>
                          <a:cs typeface="프리텐다드 Semi-Bold"/>
                          <a:sym typeface="프리텐다드 Semi-Bold"/>
                        </a:rPr>
                        <a:t>적용</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extLst>
                  <a:ext uri="{0D108BD9-81ED-4DB2-BD59-A6C34878D82A}">
                    <a16:rowId xmlns:a16="http://schemas.microsoft.com/office/drawing/2014/main" val="10002"/>
                  </a:ext>
                </a:extLst>
              </a:tr>
              <a:tr h="736600">
                <a:tc>
                  <a:txBody>
                    <a:bodyPr/>
                    <a:lstStyle/>
                    <a:p>
                      <a:pPr algn="l"/>
                      <a:r>
                        <a:rPr lang="ko-KR" sz="2000" b="1" dirty="0">
                          <a:solidFill>
                            <a:srgbClr val="282828"/>
                          </a:solidFill>
                          <a:latin typeface="프리텐다드 Semi-Bold"/>
                          <a:ea typeface="프리텐다드 Semi-Bold"/>
                          <a:cs typeface="프리텐다드 Semi-Bold"/>
                          <a:sym typeface="프리텐다드 Semi-Bold"/>
                        </a:rPr>
                        <a:t>무단 조회 통제</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000" b="1" dirty="0">
                          <a:solidFill>
                            <a:srgbClr val="2A59C5"/>
                          </a:solidFill>
                          <a:latin typeface="프리텐다드 Semi-Bold"/>
                          <a:ea typeface="프리텐다드 Semi-Bold"/>
                          <a:cs typeface="프리텐다드 Semi-Bold"/>
                          <a:sym typeface="프리텐다드 Semi-Bold"/>
                        </a:rPr>
                        <a:t>RBAC·ABAC, 5분 서명 토큰</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000" dirty="0">
                          <a:solidFill>
                            <a:srgbClr val="282828"/>
                          </a:solidFill>
                          <a:latin typeface="프리텐다드"/>
                          <a:ea typeface="프리텐다드"/>
                          <a:cs typeface="프리텐다드"/>
                          <a:sym typeface="프리텐다드"/>
                        </a:rPr>
                        <a:t>역할·병원·기간·목적·영상 범위 검증</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000" b="1" dirty="0">
                          <a:solidFill>
                            <a:srgbClr val="2A59C5"/>
                          </a:solidFill>
                          <a:latin typeface="프리텐다드 Semi-Bold"/>
                          <a:ea typeface="프리텐다드 Semi-Bold"/>
                          <a:cs typeface="프리텐다드 Semi-Bold"/>
                          <a:sym typeface="프리텐다드 Semi-Bold"/>
                        </a:rPr>
                        <a:t>적용</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extLst>
                  <a:ext uri="{0D108BD9-81ED-4DB2-BD59-A6C34878D82A}">
                    <a16:rowId xmlns:a16="http://schemas.microsoft.com/office/drawing/2014/main" val="10003"/>
                  </a:ext>
                </a:extLst>
              </a:tr>
              <a:tr h="736600">
                <a:tc>
                  <a:txBody>
                    <a:bodyPr/>
                    <a:lstStyle/>
                    <a:p>
                      <a:pPr algn="l"/>
                      <a:r>
                        <a:rPr lang="ko-KR" sz="2000" b="1" dirty="0">
                          <a:solidFill>
                            <a:srgbClr val="282828"/>
                          </a:solidFill>
                          <a:latin typeface="프리텐다드 Semi-Bold"/>
                          <a:ea typeface="프리텐다드 Semi-Bold"/>
                          <a:cs typeface="프리텐다드 Semi-Bold"/>
                          <a:sym typeface="프리텐다드 Semi-Bold"/>
                        </a:rPr>
                        <a:t>DB 접근 통제</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000" b="1" dirty="0">
                          <a:solidFill>
                            <a:srgbClr val="2A59C5"/>
                          </a:solidFill>
                          <a:latin typeface="프리텐다드 Semi-Bold"/>
                          <a:ea typeface="프리텐다드 Semi-Bold"/>
                          <a:cs typeface="프리텐다드 Semi-Bold"/>
                          <a:sym typeface="프리텐다드 Semi-Bold"/>
                        </a:rPr>
                        <a:t>PostgreSQL FORCE RLS</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000" dirty="0">
                          <a:solidFill>
                            <a:srgbClr val="282828"/>
                          </a:solidFill>
                          <a:latin typeface="프리텐다드"/>
                          <a:ea typeface="프리텐다드"/>
                          <a:cs typeface="프리텐다드"/>
                          <a:sym typeface="프리텐다드"/>
                        </a:rPr>
                        <a:t>행 단위 접근 제한</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000" b="1" dirty="0">
                          <a:solidFill>
                            <a:srgbClr val="2A59C5"/>
                          </a:solidFill>
                          <a:latin typeface="프리텐다드 Semi-Bold"/>
                          <a:ea typeface="프리텐다드 Semi-Bold"/>
                          <a:cs typeface="프리텐다드 Semi-Bold"/>
                          <a:sym typeface="프리텐다드 Semi-Bold"/>
                        </a:rPr>
                        <a:t>적용</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extLst>
                  <a:ext uri="{0D108BD9-81ED-4DB2-BD59-A6C34878D82A}">
                    <a16:rowId xmlns:a16="http://schemas.microsoft.com/office/drawing/2014/main" val="10004"/>
                  </a:ext>
                </a:extLst>
              </a:tr>
              <a:tr h="736600">
                <a:tc>
                  <a:txBody>
                    <a:bodyPr/>
                    <a:lstStyle/>
                    <a:p>
                      <a:pPr algn="l"/>
                      <a:r>
                        <a:rPr lang="ko-KR" sz="2000" b="1" dirty="0">
                          <a:solidFill>
                            <a:srgbClr val="282828"/>
                          </a:solidFill>
                          <a:latin typeface="프리텐다드 Semi-Bold"/>
                          <a:ea typeface="프리텐다드 Semi-Bold"/>
                          <a:cs typeface="프리텐다드 Semi-Bold"/>
                          <a:sym typeface="프리텐다드 Semi-Bold"/>
                        </a:rPr>
                        <a:t>감사·이상행위 탐지</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000" b="1" dirty="0">
                          <a:solidFill>
                            <a:srgbClr val="2A59C5"/>
                          </a:solidFill>
                          <a:latin typeface="프리텐다드 Semi-Bold"/>
                          <a:ea typeface="프리텐다드 Semi-Bold"/>
                          <a:cs typeface="프리텐다드 Semi-Bold"/>
                          <a:sym typeface="프리텐다드 Semi-Bold"/>
                        </a:rPr>
                        <a:t>감사로그, 이상행위 탐지</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000" dirty="0">
                          <a:solidFill>
                            <a:srgbClr val="282828"/>
                          </a:solidFill>
                          <a:latin typeface="프리텐다드"/>
                          <a:ea typeface="프리텐다드"/>
                          <a:cs typeface="프리텐다드"/>
                          <a:sym typeface="프리텐다드"/>
                        </a:rPr>
                        <a:t>허용·거부·토큰·조회 이력 기록</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sz="2000" b="1" dirty="0">
                          <a:solidFill>
                            <a:srgbClr val="2A59C5"/>
                          </a:solidFill>
                          <a:latin typeface="프리텐다드 Semi-Bold"/>
                          <a:ea typeface="프리텐다드 Semi-Bold"/>
                          <a:cs typeface="프리텐다드 Semi-Bold"/>
                          <a:sym typeface="프리텐다드 Semi-Bold"/>
                        </a:rPr>
                        <a:t>적용</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extLst>
                  <a:ext uri="{0D108BD9-81ED-4DB2-BD59-A6C34878D82A}">
                    <a16:rowId xmlns:a16="http://schemas.microsoft.com/office/drawing/2014/main" val="10005"/>
                  </a:ext>
                </a:extLst>
              </a:tr>
              <a:tr h="736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ko-KR" altLang="ko-KR" sz="2000" b="1" dirty="0">
                          <a:solidFill>
                            <a:srgbClr val="282828"/>
                          </a:solidFill>
                          <a:latin typeface="프리텐다드 Semi-Bold"/>
                          <a:ea typeface="프리텐다드 Semi-Bold"/>
                          <a:cs typeface="프리텐다드 Semi-Bold"/>
                          <a:sym typeface="프리텐다드 Semi-Bold"/>
                        </a:rPr>
                        <a:t>저장 </a:t>
                      </a:r>
                      <a:r>
                        <a:rPr lang="ko-KR" altLang="ko-KR" sz="2000" b="1" dirty="0" err="1">
                          <a:solidFill>
                            <a:srgbClr val="282828"/>
                          </a:solidFill>
                          <a:latin typeface="프리텐다드 Semi-Bold"/>
                          <a:ea typeface="프리텐다드 Semi-Bold"/>
                          <a:cs typeface="프리텐다드 Semi-Bold"/>
                          <a:sym typeface="프리텐다드 Semi-Bold"/>
                        </a:rPr>
                        <a:t>암호화·키</a:t>
                      </a:r>
                      <a:r>
                        <a:rPr lang="ko-KR" altLang="ko-KR" sz="2000" b="1" dirty="0">
                          <a:solidFill>
                            <a:srgbClr val="282828"/>
                          </a:solidFill>
                          <a:latin typeface="프리텐다드 Semi-Bold"/>
                          <a:ea typeface="프리텐다드 Semi-Bold"/>
                          <a:cs typeface="프리텐다드 Semi-Bold"/>
                          <a:sym typeface="프리텐다드 Semi-Bold"/>
                        </a:rPr>
                        <a:t> 관리</a:t>
                      </a: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ko-KR" altLang="ko-KR" sz="2000" b="1" dirty="0">
                          <a:solidFill>
                            <a:srgbClr val="2A59C5"/>
                          </a:solidFill>
                          <a:latin typeface="프리텐다드 Semi-Bold"/>
                          <a:ea typeface="프리텐다드 Semi-Bold"/>
                          <a:cs typeface="프리텐다드 Semi-Bold"/>
                          <a:sym typeface="프리텐다드 Semi-Bold"/>
                        </a:rPr>
                        <a:t>AES-256-</a:t>
                      </a:r>
                      <a:r>
                        <a:rPr lang="ko-KR" altLang="ko-KR" sz="2000" b="1" dirty="0" err="1">
                          <a:solidFill>
                            <a:srgbClr val="2A59C5"/>
                          </a:solidFill>
                          <a:latin typeface="프리텐다드 Semi-Bold"/>
                          <a:ea typeface="프리텐다드 Semi-Bold"/>
                          <a:cs typeface="프리텐다드 Semi-Bold"/>
                          <a:sym typeface="프리텐다드 Semi-Bold"/>
                        </a:rPr>
                        <a:t>GCM</a:t>
                      </a:r>
                      <a:r>
                        <a:rPr lang="ko-KR" altLang="ko-KR" sz="2000" b="1" dirty="0">
                          <a:solidFill>
                            <a:srgbClr val="2A59C5"/>
                          </a:solidFill>
                          <a:latin typeface="프리텐다드 Semi-Bold"/>
                          <a:ea typeface="프리텐다드 Semi-Bold"/>
                          <a:cs typeface="프리텐다드 Semi-Bold"/>
                          <a:sym typeface="프리텐다드 Semi-Bold"/>
                        </a:rPr>
                        <a:t>, </a:t>
                      </a:r>
                      <a:r>
                        <a:rPr lang="ko-KR" altLang="ko-KR" sz="2000" b="1" dirty="0" err="1">
                          <a:solidFill>
                            <a:srgbClr val="2A59C5"/>
                          </a:solidFill>
                          <a:latin typeface="프리텐다드 Semi-Bold"/>
                          <a:ea typeface="프리텐다드 Semi-Bold"/>
                          <a:cs typeface="프리텐다드 Semi-Bold"/>
                          <a:sym typeface="프리텐다드 Semi-Bold"/>
                        </a:rPr>
                        <a:t>Azure</a:t>
                      </a:r>
                      <a:r>
                        <a:rPr lang="ko-KR" altLang="ko-KR" sz="2000" b="1" dirty="0">
                          <a:solidFill>
                            <a:srgbClr val="2A59C5"/>
                          </a:solidFill>
                          <a:latin typeface="프리텐다드 Semi-Bold"/>
                          <a:ea typeface="프리텐다드 Semi-Bold"/>
                          <a:cs typeface="프리텐다드 Semi-Bold"/>
                          <a:sym typeface="프리텐다드 Semi-Bold"/>
                        </a:rPr>
                        <a:t> </a:t>
                      </a:r>
                      <a:r>
                        <a:rPr lang="ko-KR" altLang="ko-KR" sz="2000" b="1" dirty="0" err="1">
                          <a:solidFill>
                            <a:srgbClr val="2A59C5"/>
                          </a:solidFill>
                          <a:latin typeface="프리텐다드 Semi-Bold"/>
                          <a:ea typeface="프리텐다드 Semi-Bold"/>
                          <a:cs typeface="프리텐다드 Semi-Bold"/>
                          <a:sym typeface="프리텐다드 Semi-Bold"/>
                        </a:rPr>
                        <a:t>Key</a:t>
                      </a:r>
                      <a:r>
                        <a:rPr lang="ko-KR" altLang="ko-KR" sz="2000" b="1" dirty="0">
                          <a:solidFill>
                            <a:srgbClr val="2A59C5"/>
                          </a:solidFill>
                          <a:latin typeface="프리텐다드 Semi-Bold"/>
                          <a:ea typeface="프리텐다드 Semi-Bold"/>
                          <a:cs typeface="프리텐다드 Semi-Bold"/>
                          <a:sym typeface="프리텐다드 Semi-Bold"/>
                        </a:rPr>
                        <a:t> </a:t>
                      </a:r>
                      <a:r>
                        <a:rPr lang="ko-KR" altLang="ko-KR" sz="2000" b="1" dirty="0" err="1">
                          <a:solidFill>
                            <a:srgbClr val="2A59C5"/>
                          </a:solidFill>
                          <a:latin typeface="프리텐다드 Semi-Bold"/>
                          <a:ea typeface="프리텐다드 Semi-Bold"/>
                          <a:cs typeface="프리텐다드 Semi-Bold"/>
                          <a:sym typeface="프리텐다드 Semi-Bold"/>
                        </a:rPr>
                        <a:t>Vault</a:t>
                      </a:r>
                      <a:endParaRPr lang="ko-KR" altLang="ko-KR" sz="2000" b="1" dirty="0">
                        <a:solidFill>
                          <a:srgbClr val="2A59C5"/>
                        </a:solidFill>
                        <a:latin typeface="프리텐다드 Semi-Bold"/>
                        <a:ea typeface="프리텐다드 Semi-Bold"/>
                        <a:cs typeface="프리텐다드 Semi-Bold"/>
                        <a:sym typeface="프리텐다드 Semi-Bold"/>
                      </a:endParaRP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ko-KR" altLang="ko-KR" sz="2000" dirty="0">
                          <a:solidFill>
                            <a:srgbClr val="282828"/>
                          </a:solidFill>
                          <a:latin typeface="프리텐다드"/>
                          <a:ea typeface="프리텐다드"/>
                          <a:cs typeface="프리텐다드"/>
                          <a:sym typeface="프리텐다드"/>
                        </a:rPr>
                        <a:t>저장 데이터 암호화, 키 </a:t>
                      </a:r>
                      <a:r>
                        <a:rPr lang="ko-KR" altLang="ko-KR" sz="2000" dirty="0" err="1">
                          <a:solidFill>
                            <a:srgbClr val="282828"/>
                          </a:solidFill>
                          <a:latin typeface="프리텐다드"/>
                          <a:ea typeface="프리텐다드"/>
                          <a:cs typeface="프리텐다드"/>
                          <a:sym typeface="프리텐다드"/>
                        </a:rPr>
                        <a:t>보관·교체</a:t>
                      </a:r>
                      <a:endParaRPr lang="ko-KR" altLang="ko-KR" sz="2000" dirty="0">
                        <a:solidFill>
                          <a:srgbClr val="282828"/>
                        </a:solidFill>
                        <a:latin typeface="프리텐다드"/>
                        <a:ea typeface="프리텐다드"/>
                        <a:cs typeface="프리텐다드"/>
                        <a:sym typeface="프리텐다드"/>
                      </a:endParaRP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r>
                        <a:rPr lang="ko-KR" altLang="ko-KR" sz="2000" b="1" dirty="0">
                          <a:solidFill>
                            <a:srgbClr val="2A59C5"/>
                          </a:solidFill>
                          <a:latin typeface="프리텐다드 Semi-Bold"/>
                          <a:ea typeface="프리텐다드 Semi-Bold"/>
                          <a:cs typeface="프리텐다드 Semi-Bold"/>
                          <a:sym typeface="프리텐다드 Semi-Bold"/>
                        </a:rPr>
                        <a:t>적용</a:t>
                      </a:r>
                      <a:endParaRPr lang="ko-KR" sz="2000" b="1" dirty="0">
                        <a:solidFill>
                          <a:srgbClr val="2A59C5"/>
                        </a:solidFill>
                        <a:latin typeface="프리텐다드 Semi-Bold"/>
                        <a:ea typeface="프리텐다드 Semi-Bold"/>
                        <a:cs typeface="프리텐다드 Semi-Bold"/>
                        <a:sym typeface="프리텐다드 Semi-Bold"/>
                      </a:endParaRP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extLst>
                  <a:ext uri="{0D108BD9-81ED-4DB2-BD59-A6C34878D82A}">
                    <a16:rowId xmlns:a16="http://schemas.microsoft.com/office/drawing/2014/main" val="10006"/>
                  </a:ext>
                </a:extLst>
              </a:tr>
              <a:tr h="736600">
                <a:tc>
                  <a:txBody>
                    <a:bodyPr/>
                    <a:lstStyle/>
                    <a:p>
                      <a:pPr algn="l"/>
                      <a:endParaRPr lang="ko-KR" sz="2000" b="1" dirty="0">
                        <a:solidFill>
                          <a:srgbClr val="282828"/>
                        </a:solidFill>
                        <a:latin typeface="프리텐다드 Semi-Bold"/>
                        <a:ea typeface="프리텐다드 Semi-Bold"/>
                        <a:cs typeface="프리텐다드 Semi-Bold"/>
                        <a:sym typeface="프리텐다드 Semi-Bold"/>
                      </a:endParaRP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endParaRPr lang="ko-KR" sz="2000" b="1" dirty="0">
                        <a:solidFill>
                          <a:srgbClr val="2A59C5"/>
                        </a:solidFill>
                        <a:latin typeface="프리텐다드 Semi-Bold"/>
                        <a:ea typeface="프리텐다드 Semi-Bold"/>
                        <a:cs typeface="프리텐다드 Semi-Bold"/>
                        <a:sym typeface="프리텐다드 Semi-Bold"/>
                      </a:endParaRP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endParaRPr lang="ko-KR" sz="2000" dirty="0">
                        <a:solidFill>
                          <a:srgbClr val="282828"/>
                        </a:solidFill>
                        <a:latin typeface="프리텐다드"/>
                        <a:ea typeface="프리텐다드"/>
                        <a:cs typeface="프리텐다드"/>
                        <a:sym typeface="프리텐다드"/>
                      </a:endParaRP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tc>
                  <a:txBody>
                    <a:bodyPr/>
                    <a:lstStyle/>
                    <a:p>
                      <a:pPr algn="l"/>
                      <a:endParaRPr lang="ko-KR" sz="2000" b="1" dirty="0">
                        <a:solidFill>
                          <a:srgbClr val="595959"/>
                        </a:solidFill>
                        <a:latin typeface="프리텐다드 Semi-Bold"/>
                        <a:ea typeface="프리텐다드 Semi-Bold"/>
                        <a:cs typeface="프리텐다드 Semi-Bold"/>
                        <a:sym typeface="프리텐다드 Semi-Bold"/>
                      </a:endParaRPr>
                    </a:p>
                  </a:txBody>
                  <a:tcPr marL="177800" marR="177800" marT="50800" marB="50800" anchor="ctr">
                    <a:lnL w="0">
                      <a:noFill/>
                    </a:lnL>
                    <a:lnR w="0">
                      <a:noFill/>
                    </a:lnR>
                    <a:lnT w="9525" cap="flat" cmpd="sng" algn="ctr">
                      <a:solidFill>
                        <a:srgbClr val="D0D0D0"/>
                      </a:solidFill>
                      <a:prstDash val="solid"/>
                      <a:round/>
                      <a:headEnd type="none" w="med" len="med"/>
                      <a:tailEnd type="none" w="med" len="med"/>
                    </a:lnT>
                    <a:lnB w="9525">
                      <a:solidFill>
                        <a:srgbClr val="D0D0D0"/>
                      </a:solidFill>
                    </a:lnB>
                    <a:noFill/>
                  </a:tcPr>
                </a:tc>
                <a:extLst>
                  <a:ext uri="{0D108BD9-81ED-4DB2-BD59-A6C34878D82A}">
                    <a16:rowId xmlns:a16="http://schemas.microsoft.com/office/drawing/2014/main" val="10007"/>
                  </a:ext>
                </a:extLst>
              </a:tr>
            </a:tbl>
          </a:graphicData>
        </a:graphic>
      </p:graphicFrame>
      <p:sp>
        <p:nvSpPr>
          <p:cNvPr id="41" name="Footnote"/>
          <p:cNvSpPr txBox="1"/>
          <p:nvPr/>
        </p:nvSpPr>
        <p:spPr>
          <a:xfrm>
            <a:off x="1028700" y="9194800"/>
            <a:ext cx="16230600" cy="635000"/>
          </a:xfrm>
          <a:prstGeom prst="rect">
            <a:avLst/>
          </a:prstGeom>
        </p:spPr>
        <p:txBody>
          <a:bodyPr wrap="square" lIns="177800" tIns="0" rIns="0" bIns="0" rtlCol="0" anchor="t">
            <a:noAutofit/>
          </a:bodyPr>
          <a:lstStyle/>
          <a:p>
            <a:pPr marL="0" indent="0">
              <a:lnSpc>
                <a:spcPts val="2400"/>
              </a:lnSpc>
              <a:buNone/>
            </a:pPr>
            <a:r>
              <a:rPr lang="ko-KR" sz="1700" dirty="0">
                <a:solidFill>
                  <a:srgbClr val="595959"/>
                </a:solidFill>
                <a:latin typeface="프리텐다드"/>
                <a:ea typeface="프리텐다드"/>
                <a:cs typeface="프리텐다드"/>
                <a:sym typeface="프리텐다드"/>
              </a:rPr>
              <a:t>적용: 합성 데이터 기반 캡스톤 MVP에서 구현·검증(E2E 14/14, Node 테스트 148/148). 실제 PACS·병원 IdP·KMS/HSM은 연결·검증하지 않음.</a:t>
            </a:r>
          </a:p>
          <a:p>
            <a:pPr marL="0" indent="0">
              <a:lnSpc>
                <a:spcPts val="2400"/>
              </a:lnSpc>
              <a:buNone/>
            </a:pPr>
            <a:r>
              <a:rPr lang="ko-KR" sz="1700" dirty="0">
                <a:solidFill>
                  <a:srgbClr val="595959"/>
                </a:solidFill>
                <a:latin typeface="프리텐다드"/>
                <a:ea typeface="프리텐다드"/>
                <a:cs typeface="프리텐다드"/>
                <a:sym typeface="프리텐다드"/>
              </a:rPr>
              <a:t>Source: Highpass-Project GitHub README (2026)</a:t>
            </a:r>
          </a:p>
        </p:txBody>
      </p:sp>
    </p:spTree>
    <p:extLst>
      <p:ext uri="{BB962C8B-B14F-4D97-AF65-F5344CB8AC3E}">
        <p14:creationId xmlns:p14="http://schemas.microsoft.com/office/powerpoint/2010/main" val="29275940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SECURITY DESIGN</a:t>
            </a:r>
          </a:p>
        </p:txBody>
      </p:sp>
      <p:sp>
        <p:nvSpPr>
          <p:cNvPr id="10" name="TextBox 10"/>
          <p:cNvSpPr txBox="1"/>
          <p:nvPr/>
        </p:nvSpPr>
        <p:spPr>
          <a:xfrm>
            <a:off x="1421481" y="1253961"/>
            <a:ext cx="12377320"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보안 기술 적용 흐름</a:t>
            </a:r>
          </a:p>
        </p:txBody>
      </p:sp>
      <p:sp>
        <p:nvSpPr>
          <p:cNvPr id="40" name="Flow card"/>
          <p:cNvSpPr/>
          <p:nvPr/>
        </p:nvSpPr>
        <p:spPr>
          <a:xfrm>
            <a:off x="1028700" y="3175000"/>
            <a:ext cx="4191000" cy="3048000"/>
          </a:xfrm>
          <a:prstGeom prst="rect">
            <a:avLst/>
          </a:prstGeom>
          <a:noFill/>
          <a:ln w="9525">
            <a:solidFill>
              <a:srgbClr val="737373"/>
            </a:solidFill>
          </a:ln>
        </p:spPr>
        <p:txBody>
          <a:bodyPr wrap="square" lIns="304800" tIns="182880" rIns="304800" bIns="182880" rtlCol="0" anchor="t">
            <a:noAutofit/>
          </a:bodyPr>
          <a:lstStyle/>
          <a:p>
            <a:pPr marL="0" indent="0" algn="l">
              <a:lnSpc>
                <a:spcPts val="4000"/>
              </a:lnSpc>
              <a:spcBef>
                <a:spcPts val="0"/>
              </a:spcBef>
              <a:buNone/>
            </a:pPr>
            <a:r>
              <a:rPr lang="ko-KR" sz="3000" b="1" dirty="0">
                <a:solidFill>
                  <a:srgbClr val="2A59C5"/>
                </a:solidFill>
                <a:latin typeface="프리텐다드 Semi-Bold"/>
                <a:ea typeface="프리텐다드 Semi-Bold"/>
                <a:cs typeface="프리텐다드 Semi-Bold"/>
                <a:sym typeface="프리텐다드 Semi-Bold"/>
              </a:rPr>
              <a:t>A병원</a:t>
            </a:r>
          </a:p>
          <a:p>
            <a:pPr marL="0" indent="0" algn="l">
              <a:lnSpc>
                <a:spcPts val="2800"/>
              </a:lnSpc>
              <a:spcBef>
                <a:spcPts val="0"/>
              </a:spcBef>
              <a:buNone/>
            </a:pPr>
            <a:r>
              <a:rPr lang="ko-KR" sz="2000" dirty="0">
                <a:solidFill>
                  <a:srgbClr val="595959"/>
                </a:solidFill>
                <a:latin typeface="프리텐다드"/>
                <a:ea typeface="프리텐다드"/>
                <a:cs typeface="프리텐다드"/>
                <a:sym typeface="프리텐다드"/>
              </a:rPr>
              <a:t>PACS</a:t>
            </a:r>
          </a:p>
          <a:p>
            <a:pPr marL="0" indent="0" algn="l">
              <a:lnSpc>
                <a:spcPts val="3400"/>
              </a:lnSpc>
              <a:spcBef>
                <a:spcPts val="18"/>
              </a:spcBef>
              <a:buNone/>
            </a:pPr>
            <a:r>
              <a:rPr lang="ko-KR" sz="2400" dirty="0">
                <a:solidFill>
                  <a:srgbClr val="282828"/>
                </a:solidFill>
                <a:latin typeface="프리텐다드"/>
                <a:ea typeface="프리텐다드"/>
                <a:cs typeface="프리텐다드"/>
                <a:sym typeface="프리텐다드"/>
              </a:rPr>
              <a:t>의료영상 원본 보관</a:t>
            </a:r>
          </a:p>
          <a:p>
            <a:pPr marL="0" indent="0" algn="l">
              <a:lnSpc>
                <a:spcPts val="3400"/>
              </a:lnSpc>
              <a:spcBef>
                <a:spcPts val="4"/>
              </a:spcBef>
              <a:buNone/>
            </a:pPr>
            <a:r>
              <a:rPr lang="ko-KR" sz="2400" dirty="0">
                <a:solidFill>
                  <a:srgbClr val="282828"/>
                </a:solidFill>
                <a:latin typeface="프리텐다드"/>
                <a:ea typeface="프리텐다드"/>
                <a:cs typeface="프리텐다드"/>
                <a:sym typeface="프리텐다드"/>
              </a:rPr>
              <a:t>승인된 요청만 처리</a:t>
            </a:r>
          </a:p>
        </p:txBody>
      </p:sp>
      <p:sp>
        <p:nvSpPr>
          <p:cNvPr id="41" name="Flow card"/>
          <p:cNvSpPr/>
          <p:nvPr/>
        </p:nvSpPr>
        <p:spPr>
          <a:xfrm>
            <a:off x="7048500" y="3175000"/>
            <a:ext cx="4191000" cy="3048000"/>
          </a:xfrm>
          <a:prstGeom prst="rect">
            <a:avLst/>
          </a:prstGeom>
          <a:noFill/>
          <a:ln w="9525">
            <a:solidFill>
              <a:srgbClr val="737373"/>
            </a:solidFill>
          </a:ln>
        </p:spPr>
        <p:txBody>
          <a:bodyPr wrap="square" lIns="304800" tIns="182880" rIns="304800" bIns="182880" rtlCol="0" anchor="t">
            <a:noAutofit/>
          </a:bodyPr>
          <a:lstStyle/>
          <a:p>
            <a:pPr marL="0" indent="0" algn="l">
              <a:lnSpc>
                <a:spcPts val="4000"/>
              </a:lnSpc>
              <a:spcBef>
                <a:spcPts val="0"/>
              </a:spcBef>
              <a:buNone/>
            </a:pPr>
            <a:r>
              <a:rPr lang="ko-KR" sz="3000" b="1" dirty="0">
                <a:solidFill>
                  <a:srgbClr val="2A59C5"/>
                </a:solidFill>
                <a:latin typeface="프리텐다드 Semi-Bold"/>
                <a:ea typeface="프리텐다드 Semi-Bold"/>
                <a:cs typeface="프리텐다드 Semi-Bold"/>
                <a:sym typeface="프리텐다드 Semi-Bold"/>
              </a:rPr>
              <a:t>MediQ</a:t>
            </a:r>
          </a:p>
          <a:p>
            <a:pPr marL="0" indent="0" algn="l">
              <a:lnSpc>
                <a:spcPts val="2800"/>
              </a:lnSpc>
              <a:spcBef>
                <a:spcPts val="0"/>
              </a:spcBef>
              <a:buNone/>
            </a:pPr>
            <a:r>
              <a:rPr lang="ko-KR" sz="2000" dirty="0">
                <a:solidFill>
                  <a:srgbClr val="595959"/>
                </a:solidFill>
                <a:latin typeface="프리텐다드"/>
                <a:ea typeface="프리텐다드"/>
                <a:cs typeface="프리텐다드"/>
                <a:sym typeface="프리텐다드"/>
              </a:rPr>
              <a:t>중개서비스</a:t>
            </a:r>
          </a:p>
          <a:p>
            <a:pPr marL="0" indent="0" algn="l">
              <a:lnSpc>
                <a:spcPts val="3400"/>
              </a:lnSpc>
              <a:spcBef>
                <a:spcPts val="18"/>
              </a:spcBef>
              <a:buNone/>
            </a:pPr>
            <a:r>
              <a:rPr lang="ko-KR" sz="2400" dirty="0">
                <a:solidFill>
                  <a:srgbClr val="282828"/>
                </a:solidFill>
                <a:latin typeface="프리텐다드"/>
                <a:ea typeface="프리텐다드"/>
                <a:cs typeface="프리텐다드"/>
                <a:sym typeface="프리텐다드"/>
              </a:rPr>
              <a:t>동의·접근정책 검증</a:t>
            </a:r>
          </a:p>
          <a:p>
            <a:pPr marL="0" indent="0" algn="l">
              <a:lnSpc>
                <a:spcPts val="3400"/>
              </a:lnSpc>
              <a:spcBef>
                <a:spcPts val="4"/>
              </a:spcBef>
              <a:buNone/>
            </a:pPr>
            <a:r>
              <a:rPr lang="ko-KR" sz="2400" dirty="0">
                <a:solidFill>
                  <a:srgbClr val="282828"/>
                </a:solidFill>
                <a:latin typeface="프리텐다드"/>
                <a:ea typeface="프리텐다드"/>
                <a:cs typeface="프리텐다드"/>
                <a:sym typeface="프리텐다드"/>
              </a:rPr>
              <a:t>5분 단기 토큰 발급</a:t>
            </a:r>
          </a:p>
          <a:p>
            <a:pPr marL="0" indent="0" algn="l">
              <a:lnSpc>
                <a:spcPts val="3400"/>
              </a:lnSpc>
              <a:spcBef>
                <a:spcPts val="4"/>
              </a:spcBef>
              <a:buNone/>
            </a:pPr>
            <a:r>
              <a:rPr lang="ko-KR" sz="2400" dirty="0">
                <a:solidFill>
                  <a:srgbClr val="282828"/>
                </a:solidFill>
                <a:latin typeface="프리텐다드"/>
                <a:ea typeface="프리텐다드"/>
                <a:cs typeface="프리텐다드"/>
                <a:sym typeface="프리텐다드"/>
              </a:rPr>
              <a:t>영상 DB 미저장</a:t>
            </a:r>
          </a:p>
        </p:txBody>
      </p:sp>
      <p:sp>
        <p:nvSpPr>
          <p:cNvPr id="42" name="Flow card"/>
          <p:cNvSpPr/>
          <p:nvPr/>
        </p:nvSpPr>
        <p:spPr>
          <a:xfrm>
            <a:off x="13068300" y="3175000"/>
            <a:ext cx="4191000" cy="3048000"/>
          </a:xfrm>
          <a:prstGeom prst="rect">
            <a:avLst/>
          </a:prstGeom>
          <a:noFill/>
          <a:ln w="9525">
            <a:solidFill>
              <a:srgbClr val="737373"/>
            </a:solidFill>
          </a:ln>
        </p:spPr>
        <p:txBody>
          <a:bodyPr wrap="square" lIns="304800" tIns="182880" rIns="304800" bIns="182880" rtlCol="0" anchor="t">
            <a:noAutofit/>
          </a:bodyPr>
          <a:lstStyle/>
          <a:p>
            <a:pPr marL="0" indent="0" algn="l">
              <a:lnSpc>
                <a:spcPts val="4000"/>
              </a:lnSpc>
              <a:spcBef>
                <a:spcPts val="0"/>
              </a:spcBef>
              <a:buNone/>
            </a:pPr>
            <a:r>
              <a:rPr lang="ko-KR" sz="3000" b="1" dirty="0">
                <a:solidFill>
                  <a:srgbClr val="2A59C5"/>
                </a:solidFill>
                <a:latin typeface="프리텐다드 Semi-Bold"/>
                <a:ea typeface="프리텐다드 Semi-Bold"/>
                <a:cs typeface="프리텐다드 Semi-Bold"/>
                <a:sym typeface="프리텐다드 Semi-Bold"/>
              </a:rPr>
              <a:t>B병원</a:t>
            </a:r>
          </a:p>
          <a:p>
            <a:pPr marL="0" indent="0" algn="l">
              <a:lnSpc>
                <a:spcPts val="2800"/>
              </a:lnSpc>
              <a:spcBef>
                <a:spcPts val="0"/>
              </a:spcBef>
              <a:buNone/>
            </a:pPr>
            <a:r>
              <a:rPr lang="ko-KR" sz="2000" dirty="0">
                <a:solidFill>
                  <a:srgbClr val="595959"/>
                </a:solidFill>
                <a:latin typeface="프리텐다드"/>
                <a:ea typeface="프리텐다드"/>
                <a:cs typeface="프리텐다드"/>
                <a:sym typeface="프리텐다드"/>
              </a:rPr>
              <a:t>DICOM Viewer</a:t>
            </a:r>
          </a:p>
          <a:p>
            <a:pPr marL="0" indent="0" algn="l">
              <a:lnSpc>
                <a:spcPts val="3400"/>
              </a:lnSpc>
              <a:spcBef>
                <a:spcPts val="18"/>
              </a:spcBef>
              <a:buNone/>
            </a:pPr>
            <a:r>
              <a:rPr lang="ko-KR" sz="2400" dirty="0">
                <a:solidFill>
                  <a:srgbClr val="282828"/>
                </a:solidFill>
                <a:latin typeface="프리텐다드"/>
                <a:ea typeface="프리텐다드"/>
                <a:cs typeface="프리텐다드"/>
                <a:sym typeface="프리텐다드"/>
              </a:rPr>
              <a:t>승인된 영상만 조회</a:t>
            </a:r>
          </a:p>
          <a:p>
            <a:pPr marL="0" indent="0" algn="l">
              <a:lnSpc>
                <a:spcPts val="3400"/>
              </a:lnSpc>
              <a:spcBef>
                <a:spcPts val="4"/>
              </a:spcBef>
              <a:buNone/>
            </a:pPr>
            <a:r>
              <a:rPr lang="ko-KR" sz="2400" dirty="0">
                <a:solidFill>
                  <a:srgbClr val="282828"/>
                </a:solidFill>
                <a:latin typeface="프리텐다드"/>
                <a:ea typeface="프리텐다드"/>
                <a:cs typeface="프리텐다드"/>
                <a:sym typeface="프리텐다드"/>
              </a:rPr>
              <a:t>접근 이력 기록</a:t>
            </a:r>
          </a:p>
        </p:txBody>
      </p:sp>
      <p:sp>
        <p:nvSpPr>
          <p:cNvPr id="43" name="Arrow">
            <a:extLst>
              <a:ext uri="{C183D7F6-B498-43B3-948B-1728B52AA6E4}">
                <adec:decorative xmlns:adec="http://schemas.microsoft.com/office/drawing/2017/decorative" val="1"/>
              </a:ext>
            </a:extLst>
          </p:cNvPr>
          <p:cNvSpPr/>
          <p:nvPr/>
        </p:nvSpPr>
        <p:spPr>
          <a:xfrm>
            <a:off x="5562600" y="4470400"/>
            <a:ext cx="1143000" cy="457200"/>
          </a:xfrm>
          <a:prstGeom prst="rightArrow">
            <a:avLst/>
          </a:prstGeom>
          <a:solidFill>
            <a:srgbClr val="2A59C5"/>
          </a:solidFill>
          <a:ln>
            <a:noFill/>
          </a:ln>
        </p:spPr>
        <p:txBody>
          <a:bodyPr wrap="square" lIns="0" tIns="0" rIns="0" bIns="0" rtlCol="0" anchor="t">
            <a:noAutofit/>
          </a:bodyPr>
          <a:lstStyle/>
          <a:p>
            <a:endParaRPr lang="ko-KR"/>
          </a:p>
        </p:txBody>
      </p:sp>
      <p:sp>
        <p:nvSpPr>
          <p:cNvPr id="44" name="Arrow label"/>
          <p:cNvSpPr txBox="1"/>
          <p:nvPr/>
        </p:nvSpPr>
        <p:spPr>
          <a:xfrm>
            <a:off x="5219700" y="3657600"/>
            <a:ext cx="1828800" cy="660400"/>
          </a:xfrm>
          <a:prstGeom prst="rect">
            <a:avLst/>
          </a:prstGeom>
          <a:noFill/>
          <a:ln>
            <a:noFill/>
          </a:ln>
        </p:spPr>
        <p:txBody>
          <a:bodyPr wrap="square" lIns="0" tIns="0" rIns="0" bIns="0" rtlCol="0" anchor="b">
            <a:noAutofit/>
          </a:bodyPr>
          <a:lstStyle/>
          <a:p>
            <a:pPr marL="0" indent="0" algn="ctr">
              <a:lnSpc>
                <a:spcPts val="2800"/>
              </a:lnSpc>
              <a:spcBef>
                <a:spcPts val="0"/>
              </a:spcBef>
              <a:buNone/>
            </a:pPr>
            <a:r>
              <a:rPr lang="ko-KR" sz="2000" b="1" dirty="0">
                <a:solidFill>
                  <a:srgbClr val="282828"/>
                </a:solidFill>
                <a:latin typeface="프리텐다드 Semi-Bold"/>
                <a:ea typeface="프리텐다드 Semi-Bold"/>
                <a:cs typeface="프리텐다드 Semi-Bold"/>
                <a:sym typeface="프리텐다드 Semi-Bold"/>
              </a:rPr>
              <a:t>DICOMweb</a:t>
            </a:r>
          </a:p>
          <a:p>
            <a:pPr marL="0" indent="0" algn="ctr">
              <a:lnSpc>
                <a:spcPts val="2800"/>
              </a:lnSpc>
              <a:spcBef>
                <a:spcPts val="0"/>
              </a:spcBef>
              <a:buNone/>
            </a:pPr>
            <a:r>
              <a:rPr lang="ko-KR" sz="2000" dirty="0">
                <a:solidFill>
                  <a:srgbClr val="595959"/>
                </a:solidFill>
                <a:latin typeface="프리텐다드"/>
                <a:ea typeface="프리텐다드"/>
                <a:cs typeface="프리텐다드"/>
                <a:sym typeface="프리텐다드"/>
              </a:rPr>
              <a:t>TLS·mTLS</a:t>
            </a:r>
          </a:p>
        </p:txBody>
      </p:sp>
      <p:sp>
        <p:nvSpPr>
          <p:cNvPr id="45" name="Arrow">
            <a:extLst>
              <a:ext uri="{C183D7F6-B498-43B3-948B-1728B52AA6E4}">
                <adec:decorative xmlns:adec="http://schemas.microsoft.com/office/drawing/2017/decorative" val="1"/>
              </a:ext>
            </a:extLst>
          </p:cNvPr>
          <p:cNvSpPr/>
          <p:nvPr/>
        </p:nvSpPr>
        <p:spPr>
          <a:xfrm>
            <a:off x="11582400" y="4470400"/>
            <a:ext cx="1143000" cy="457200"/>
          </a:xfrm>
          <a:prstGeom prst="rightArrow">
            <a:avLst/>
          </a:prstGeom>
          <a:solidFill>
            <a:srgbClr val="2A59C5"/>
          </a:solidFill>
          <a:ln>
            <a:noFill/>
          </a:ln>
        </p:spPr>
        <p:txBody>
          <a:bodyPr wrap="square" lIns="0" tIns="0" rIns="0" bIns="0" rtlCol="0" anchor="t">
            <a:noAutofit/>
          </a:bodyPr>
          <a:lstStyle/>
          <a:p>
            <a:endParaRPr lang="ko-KR"/>
          </a:p>
        </p:txBody>
      </p:sp>
      <p:sp>
        <p:nvSpPr>
          <p:cNvPr id="46" name="Arrow label"/>
          <p:cNvSpPr txBox="1"/>
          <p:nvPr/>
        </p:nvSpPr>
        <p:spPr>
          <a:xfrm>
            <a:off x="11239500" y="3657600"/>
            <a:ext cx="1828800" cy="660400"/>
          </a:xfrm>
          <a:prstGeom prst="rect">
            <a:avLst/>
          </a:prstGeom>
          <a:noFill/>
          <a:ln>
            <a:noFill/>
          </a:ln>
        </p:spPr>
        <p:txBody>
          <a:bodyPr wrap="square" lIns="0" tIns="0" rIns="0" bIns="0" rtlCol="0" anchor="b">
            <a:noAutofit/>
          </a:bodyPr>
          <a:lstStyle/>
          <a:p>
            <a:pPr marL="0" indent="0" algn="ctr">
              <a:lnSpc>
                <a:spcPts val="2800"/>
              </a:lnSpc>
              <a:spcBef>
                <a:spcPts val="0"/>
              </a:spcBef>
              <a:buNone/>
            </a:pPr>
            <a:r>
              <a:rPr lang="ko-KR" sz="2000" b="1" dirty="0">
                <a:solidFill>
                  <a:srgbClr val="282828"/>
                </a:solidFill>
                <a:latin typeface="프리텐다드 Semi-Bold"/>
                <a:ea typeface="프리텐다드 Semi-Bold"/>
                <a:cs typeface="프리텐다드 Semi-Bold"/>
                <a:sym typeface="프리텐다드 Semi-Bold"/>
              </a:rPr>
              <a:t>5분 단기 토큰</a:t>
            </a:r>
          </a:p>
          <a:p>
            <a:pPr marL="0" indent="0" algn="ctr">
              <a:lnSpc>
                <a:spcPts val="2800"/>
              </a:lnSpc>
              <a:spcBef>
                <a:spcPts val="0"/>
              </a:spcBef>
              <a:buNone/>
            </a:pPr>
            <a:r>
              <a:rPr lang="ko-KR" sz="2000" dirty="0">
                <a:solidFill>
                  <a:srgbClr val="595959"/>
                </a:solidFill>
                <a:latin typeface="프리텐다드"/>
                <a:ea typeface="프리텐다드"/>
                <a:cs typeface="프리텐다드"/>
                <a:sym typeface="프리텐다드"/>
              </a:rPr>
              <a:t>접근 승인</a:t>
            </a:r>
          </a:p>
        </p:txBody>
      </p:sp>
      <p:sp>
        <p:nvSpPr>
          <p:cNvPr id="47" name="Policy bar"/>
          <p:cNvSpPr/>
          <p:nvPr/>
        </p:nvSpPr>
        <p:spPr>
          <a:xfrm>
            <a:off x="1028700" y="6629400"/>
            <a:ext cx="16230600" cy="1422400"/>
          </a:xfrm>
          <a:prstGeom prst="rect">
            <a:avLst/>
          </a:prstGeom>
          <a:noFill/>
          <a:ln w="9525">
            <a:solidFill>
              <a:srgbClr val="737373"/>
            </a:solidFill>
          </a:ln>
        </p:spPr>
        <p:txBody>
          <a:bodyPr wrap="square" lIns="304800" tIns="182880" rIns="304800" bIns="182880" rtlCol="0" anchor="ctr">
            <a:noAutofit/>
          </a:bodyPr>
          <a:lstStyle/>
          <a:p>
            <a:pPr marL="0" indent="0" algn="l">
              <a:lnSpc>
                <a:spcPts val="3300"/>
              </a:lnSpc>
              <a:spcBef>
                <a:spcPts val="0"/>
              </a:spcBef>
              <a:buNone/>
            </a:pPr>
            <a:r>
              <a:rPr lang="ko-KR" sz="2600" b="1" dirty="0">
                <a:solidFill>
                  <a:srgbClr val="2A59C5"/>
                </a:solidFill>
                <a:latin typeface="프리텐다드 Semi-Bold"/>
                <a:ea typeface="프리텐다드 Semi-Bold"/>
                <a:cs typeface="프리텐다드 Semi-Bold"/>
                <a:sym typeface="프리텐다드 Semi-Bold"/>
              </a:rPr>
              <a:t>암호키 관리 · 무결성 보호 정책</a:t>
            </a:r>
          </a:p>
          <a:p>
            <a:pPr marL="0" indent="0" algn="l">
              <a:lnSpc>
                <a:spcPts val="2800"/>
              </a:lnSpc>
              <a:spcBef>
                <a:spcPts val="4"/>
              </a:spcBef>
              <a:buNone/>
            </a:pPr>
            <a:r>
              <a:rPr lang="ko-KR" sz="2200" dirty="0">
                <a:solidFill>
                  <a:srgbClr val="282828"/>
                </a:solidFill>
                <a:latin typeface="프리텐다드"/>
                <a:ea typeface="프리텐다드"/>
                <a:cs typeface="프리텐다드"/>
                <a:sym typeface="프리텐다드"/>
              </a:rPr>
              <a:t>키 보관·교체·접근권한 관리(Azure Key Vault, PoC 구성) / 변조 검증(SHA-256 + HMAC·전자서명, 설계)</a:t>
            </a:r>
          </a:p>
        </p:txBody>
      </p:sp>
      <p:sp>
        <p:nvSpPr>
          <p:cNvPr id="48" name="Banner"/>
          <p:cNvSpPr/>
          <p:nvPr/>
        </p:nvSpPr>
        <p:spPr>
          <a:xfrm>
            <a:off x="1028700" y="8483600"/>
            <a:ext cx="16230600" cy="965200"/>
          </a:xfrm>
          <a:prstGeom prst="rect">
            <a:avLst/>
          </a:prstGeom>
          <a:solidFill>
            <a:srgbClr val="E9E9E9"/>
          </a:solidFill>
          <a:ln w="9525">
            <a:solidFill>
              <a:srgbClr val="737373"/>
            </a:solidFill>
          </a:ln>
        </p:spPr>
        <p:txBody>
          <a:bodyPr wrap="square" lIns="177800" tIns="106680" rIns="177800" bIns="106680" rtlCol="0" anchor="ctr">
            <a:noAutofit/>
          </a:bodyPr>
          <a:lstStyle/>
          <a:p>
            <a:pPr marL="0" indent="0" algn="ctr">
              <a:lnSpc>
                <a:spcPts val="3600"/>
              </a:lnSpc>
              <a:spcBef>
                <a:spcPts val="0"/>
              </a:spcBef>
              <a:buNone/>
            </a:pPr>
            <a:r>
              <a:rPr lang="ko-KR" sz="2600" b="1" dirty="0">
                <a:solidFill>
                  <a:srgbClr val="282828"/>
                </a:solidFill>
                <a:latin typeface="프리텐다드 Bold"/>
                <a:ea typeface="프리텐다드 Bold"/>
                <a:cs typeface="프리텐다드 Bold"/>
                <a:sym typeface="프리텐다드 Bold"/>
              </a:rPr>
              <a:t>영상은 MediQ DB에 저장하지 않고, A병원 Gateway에서 승인된 B병원 Viewer로 전달한다</a:t>
            </a:r>
          </a:p>
        </p:txBody>
      </p:sp>
    </p:spTree>
    <p:extLst>
      <p:ext uri="{BB962C8B-B14F-4D97-AF65-F5344CB8AC3E}">
        <p14:creationId xmlns:p14="http://schemas.microsoft.com/office/powerpoint/2010/main" val="961667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5278433" y="-189268"/>
            <a:ext cx="3268199" cy="7739024"/>
            <a:chOff x="0" y="0"/>
            <a:chExt cx="860760" cy="2038262"/>
          </a:xfrm>
        </p:grpSpPr>
        <p:sp>
          <p:nvSpPr>
            <p:cNvPr id="3" name="Freeform 3"/>
            <p:cNvSpPr/>
            <p:nvPr/>
          </p:nvSpPr>
          <p:spPr>
            <a:xfrm>
              <a:off x="0" y="0"/>
              <a:ext cx="860760" cy="2038262"/>
            </a:xfrm>
            <a:custGeom>
              <a:avLst/>
              <a:gdLst/>
              <a:ahLst/>
              <a:cxnLst/>
              <a:rect l="l" t="t" r="r" b="b"/>
              <a:pathLst>
                <a:path w="860760" h="2038262">
                  <a:moveTo>
                    <a:pt x="0" y="0"/>
                  </a:moveTo>
                  <a:lnTo>
                    <a:pt x="860760" y="0"/>
                  </a:lnTo>
                  <a:lnTo>
                    <a:pt x="860760" y="2038262"/>
                  </a:lnTo>
                  <a:lnTo>
                    <a:pt x="0" y="2038262"/>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860760" cy="2085887"/>
            </a:xfrm>
            <a:prstGeom prst="rect">
              <a:avLst/>
            </a:prstGeom>
          </p:spPr>
          <p:txBody>
            <a:bodyPr lIns="50800" tIns="50800" rIns="50800" bIns="50800" rtlCol="0" anchor="ctr"/>
            <a:lstStyle/>
            <a:p>
              <a:pPr algn="ctr">
                <a:lnSpc>
                  <a:spcPts val="3156"/>
                </a:lnSpc>
              </a:pPr>
              <a:endParaRPr/>
            </a:p>
          </p:txBody>
        </p:sp>
      </p:grpSp>
      <p:sp>
        <p:nvSpPr>
          <p:cNvPr id="5" name="Freeform 5">
            <a:extLst>
              <a:ext uri="{C183D7F6-B498-43B3-948B-1728B52AA6E4}">
                <adec:decorative xmlns:adec="http://schemas.microsoft.com/office/drawing/2017/decorative" val="1"/>
              </a:ext>
            </a:extLst>
          </p:cNvPr>
          <p:cNvSpPr/>
          <p:nvPr/>
        </p:nvSpPr>
        <p:spPr>
          <a:xfrm>
            <a:off x="0" y="7075598"/>
            <a:ext cx="18288000" cy="5818426"/>
          </a:xfrm>
          <a:custGeom>
            <a:avLst/>
            <a:gdLst/>
            <a:ahLst/>
            <a:cxnLst/>
            <a:rect l="l" t="t" r="r" b="b"/>
            <a:pathLst>
              <a:path w="18288000" h="5818426">
                <a:moveTo>
                  <a:pt x="0" y="0"/>
                </a:moveTo>
                <a:lnTo>
                  <a:pt x="18288000" y="0"/>
                </a:lnTo>
                <a:lnTo>
                  <a:pt x="18288000" y="5818426"/>
                </a:lnTo>
                <a:lnTo>
                  <a:pt x="0" y="5818426"/>
                </a:lnTo>
                <a:lnTo>
                  <a:pt x="0" y="0"/>
                </a:lnTo>
                <a:close/>
              </a:path>
            </a:pathLst>
          </a:custGeom>
          <a:blipFill>
            <a:blip r:embed="rId2"/>
            <a:stretch>
              <a:fillRect b="-4705"/>
            </a:stretch>
          </a:blipFill>
        </p:spPr>
        <p:txBody>
          <a:bodyPr/>
          <a:lstStyle/>
          <a:p>
            <a:endParaRPr lang="ko-KR" altLang="en-US"/>
          </a:p>
        </p:txBody>
      </p:sp>
      <p:sp>
        <p:nvSpPr>
          <p:cNvPr id="6" name="TextBox 6"/>
          <p:cNvSpPr txBox="1"/>
          <p:nvPr/>
        </p:nvSpPr>
        <p:spPr>
          <a:xfrm>
            <a:off x="1028700" y="2214108"/>
            <a:ext cx="8441160" cy="1584983"/>
          </a:xfrm>
          <a:prstGeom prst="rect">
            <a:avLst/>
          </a:prstGeom>
        </p:spPr>
        <p:txBody>
          <a:bodyPr lIns="0" tIns="0" rIns="0" bIns="0" rtlCol="0" anchor="t">
            <a:spAutoFit/>
          </a:bodyPr>
          <a:lstStyle/>
          <a:p>
            <a:pPr algn="l">
              <a:lnSpc>
                <a:spcPts val="12979"/>
              </a:lnSpc>
              <a:spcBef>
                <a:spcPct val="0"/>
              </a:spcBef>
            </a:pPr>
            <a:r>
              <a:rPr lang="en-US" sz="9270" b="1">
                <a:solidFill>
                  <a:srgbClr val="2A59C5"/>
                </a:solidFill>
                <a:latin typeface="프리텐다드 Bold"/>
                <a:ea typeface="프리텐다드 Bold"/>
                <a:cs typeface="프리텐다드 Bold"/>
                <a:sym typeface="프리텐다드 Bold"/>
              </a:rPr>
              <a:t>07</a:t>
            </a:r>
          </a:p>
        </p:txBody>
      </p:sp>
      <p:sp>
        <p:nvSpPr>
          <p:cNvPr id="7" name="TextBox 7"/>
          <p:cNvSpPr txBox="1"/>
          <p:nvPr/>
        </p:nvSpPr>
        <p:spPr>
          <a:xfrm>
            <a:off x="1028700" y="3516926"/>
            <a:ext cx="7056707" cy="1584983"/>
          </a:xfrm>
          <a:prstGeom prst="rect">
            <a:avLst/>
          </a:prstGeom>
        </p:spPr>
        <p:txBody>
          <a:bodyPr lIns="0" tIns="0" rIns="0" bIns="0" rtlCol="0" anchor="t">
            <a:spAutoFit/>
          </a:bodyPr>
          <a:lstStyle/>
          <a:p>
            <a:pPr algn="l">
              <a:lnSpc>
                <a:spcPts val="12979"/>
              </a:lnSpc>
              <a:spcBef>
                <a:spcPct val="0"/>
              </a:spcBef>
            </a:pPr>
            <a:r>
              <a:rPr lang="en-US" sz="9270" b="1">
                <a:solidFill>
                  <a:srgbClr val="282828"/>
                </a:solidFill>
                <a:latin typeface="프리텐다드 Bold"/>
                <a:ea typeface="프리텐다드 Bold"/>
                <a:cs typeface="프리텐다드 Bold"/>
                <a:sym typeface="프리텐다드 Bold"/>
              </a:rPr>
              <a:t>구현 및 검증</a:t>
            </a:r>
          </a:p>
        </p:txBody>
      </p:sp>
      <p:sp>
        <p:nvSpPr>
          <p:cNvPr id="8" name="TextBox 8"/>
          <p:cNvSpPr txBox="1"/>
          <p:nvPr/>
        </p:nvSpPr>
        <p:spPr>
          <a:xfrm>
            <a:off x="1028700" y="1848967"/>
            <a:ext cx="3836759" cy="356036"/>
          </a:xfrm>
          <a:prstGeom prst="rect">
            <a:avLst/>
          </a:prstGeom>
        </p:spPr>
        <p:txBody>
          <a:bodyPr lIns="0" tIns="0" rIns="0" bIns="0" rtlCol="0" anchor="t">
            <a:spAutoFit/>
          </a:bodyPr>
          <a:lstStyle/>
          <a:p>
            <a:pPr algn="l">
              <a:lnSpc>
                <a:spcPts val="2950"/>
              </a:lnSpc>
              <a:spcBef>
                <a:spcPct val="0"/>
              </a:spcBef>
            </a:pPr>
            <a:r>
              <a:rPr lang="en-US" sz="2107" spc="210">
                <a:solidFill>
                  <a:srgbClr val="282828"/>
                </a:solidFill>
                <a:latin typeface="프리텐다드"/>
                <a:ea typeface="프리텐다드"/>
                <a:cs typeface="프리텐다드"/>
                <a:sym typeface="프리텐다드"/>
              </a:rPr>
              <a:t>SECTION</a:t>
            </a:r>
          </a:p>
        </p:txBody>
      </p:sp>
      <p:sp>
        <p:nvSpPr>
          <p:cNvPr id="9" name="TextBox 9"/>
          <p:cNvSpPr txBox="1"/>
          <p:nvPr/>
        </p:nvSpPr>
        <p:spPr>
          <a:xfrm>
            <a:off x="1028700" y="5244784"/>
            <a:ext cx="6505897" cy="308739"/>
          </a:xfrm>
          <a:prstGeom prst="rect">
            <a:avLst/>
          </a:prstGeom>
        </p:spPr>
        <p:txBody>
          <a:bodyPr lIns="0" tIns="0" rIns="0" bIns="0" rtlCol="0" anchor="t">
            <a:spAutoFit/>
          </a:bodyPr>
          <a:lstStyle/>
          <a:p>
            <a:pPr marL="0" lvl="0" indent="0" algn="just">
              <a:lnSpc>
                <a:spcPts val="2640"/>
              </a:lnSpc>
              <a:spcBef>
                <a:spcPct val="0"/>
              </a:spcBef>
            </a:pPr>
            <a:r>
              <a:rPr lang="en-US" sz="1886" spc="335">
                <a:solidFill>
                  <a:srgbClr val="282828"/>
                </a:solidFill>
                <a:latin typeface="프리텐다드"/>
                <a:ea typeface="프리텐다드"/>
                <a:cs typeface="프리텐다드"/>
                <a:sym typeface="프리텐다드"/>
              </a:rPr>
              <a:t>MVP VALIDATION</a:t>
            </a:r>
          </a:p>
        </p:txBody>
      </p:sp>
      <p:sp>
        <p:nvSpPr>
          <p:cNvPr id="40" name="Section pages"/>
          <p:cNvSpPr txBox="1"/>
          <p:nvPr/>
        </p:nvSpPr>
        <p:spPr>
          <a:xfrm>
            <a:off x="1485900" y="7874000"/>
            <a:ext cx="15240000" cy="1524000"/>
          </a:xfrm>
          <a:prstGeom prst="rect">
            <a:avLst/>
          </a:prstGeom>
          <a:noFill/>
        </p:spPr>
        <p:txBody>
          <a:bodyPr wrap="square" lIns="0" tIns="0" rIns="0" bIns="0" anchor="ctr">
            <a:noAutofit/>
          </a:bodyPr>
          <a:lstStyle/>
          <a:p>
            <a:pPr marL="0" indent="0">
              <a:lnSpc>
                <a:spcPts val="3000"/>
              </a:lnSpc>
              <a:buNone/>
            </a:pPr>
            <a:r>
              <a:rPr lang="ko-KR" sz="1800" b="1" spc="200" dirty="0">
                <a:solidFill>
                  <a:srgbClr val="FFFFFF"/>
                </a:solidFill>
                <a:latin typeface="프리텐다드 Semi-Bold"/>
                <a:ea typeface="프리텐다드 Semi-Bold"/>
                <a:cs typeface="프리텐다드 Semi-Bold"/>
                <a:sym typeface="프리텐다드 Semi-Bold"/>
              </a:rPr>
              <a:t>IN THIS SECTION</a:t>
            </a:r>
          </a:p>
          <a:p>
            <a:pPr marL="0" indent="0">
              <a:lnSpc>
                <a:spcPts val="3600"/>
              </a:lnSpc>
              <a:spcBef>
                <a:spcPts val="600"/>
              </a:spcBef>
              <a:buNone/>
            </a:pPr>
            <a:r>
              <a:rPr lang="ko-KR" sz="2400" dirty="0">
                <a:solidFill>
                  <a:srgbClr val="FFFFFF"/>
                </a:solidFill>
                <a:latin typeface="프리텐다드"/>
                <a:ea typeface="프리텐다드"/>
                <a:cs typeface="프리텐다드"/>
                <a:sym typeface="프리텐다드"/>
              </a:rPr>
              <a:t>MVP 구현 범위 및 검증 결과</a:t>
            </a:r>
          </a:p>
        </p:txBody>
      </p:sp>
    </p:spTree>
    <p:extLst>
      <p:ext uri="{BB962C8B-B14F-4D97-AF65-F5344CB8AC3E}">
        <p14:creationId xmlns:p14="http://schemas.microsoft.com/office/powerpoint/2010/main" val="833666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MVP VALIDATION</a:t>
            </a:r>
          </a:p>
        </p:txBody>
      </p:sp>
      <p:sp>
        <p:nvSpPr>
          <p:cNvPr id="10" name="TextBox 10"/>
          <p:cNvSpPr txBox="1"/>
          <p:nvPr/>
        </p:nvSpPr>
        <p:spPr>
          <a:xfrm>
            <a:off x="1421481" y="1253961"/>
            <a:ext cx="12377320"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MVP 구현 범위 및 검증 결과</a:t>
            </a:r>
          </a:p>
        </p:txBody>
      </p:sp>
      <p:sp>
        <p:nvSpPr>
          <p:cNvPr id="40" name="KPI card"/>
          <p:cNvSpPr/>
          <p:nvPr/>
        </p:nvSpPr>
        <p:spPr>
          <a:xfrm>
            <a:off x="1028700" y="3175000"/>
            <a:ext cx="3829050" cy="1778000"/>
          </a:xfrm>
          <a:prstGeom prst="rect">
            <a:avLst/>
          </a:prstGeom>
          <a:noFill/>
          <a:ln w="9525">
            <a:solidFill>
              <a:srgbClr val="737373"/>
            </a:solidFill>
          </a:ln>
        </p:spPr>
        <p:txBody>
          <a:bodyPr wrap="square" lIns="152400" tIns="0" rIns="152400" bIns="0" rtlCol="0" anchor="ctr">
            <a:noAutofit/>
          </a:bodyPr>
          <a:lstStyle/>
          <a:p>
            <a:pPr marL="0" indent="0" algn="ctr">
              <a:lnSpc>
                <a:spcPts val="5200"/>
              </a:lnSpc>
              <a:spcBef>
                <a:spcPts val="0"/>
              </a:spcBef>
              <a:buNone/>
            </a:pPr>
            <a:r>
              <a:rPr lang="ko-KR" sz="4400" b="1" dirty="0">
                <a:solidFill>
                  <a:srgbClr val="2A59C5"/>
                </a:solidFill>
                <a:latin typeface="프리텐다드 Bold"/>
                <a:ea typeface="프리텐다드 Bold"/>
                <a:cs typeface="프리텐다드 Bold"/>
                <a:sym typeface="프리텐다드 Bold"/>
              </a:rPr>
              <a:t>14/14</a:t>
            </a:r>
          </a:p>
          <a:p>
            <a:pPr marL="0" indent="0" algn="ctr">
              <a:lnSpc>
                <a:spcPts val="2600"/>
              </a:lnSpc>
              <a:spcBef>
                <a:spcPts val="4"/>
              </a:spcBef>
              <a:buNone/>
            </a:pPr>
            <a:r>
              <a:rPr lang="ko-KR" sz="2000" b="1" dirty="0">
                <a:solidFill>
                  <a:srgbClr val="282828"/>
                </a:solidFill>
                <a:latin typeface="프리텐다드 Semi-Bold"/>
                <a:ea typeface="프리텐다드 Semi-Bold"/>
                <a:cs typeface="프리텐다드 Semi-Bold"/>
                <a:sym typeface="프리텐다드 Semi-Bold"/>
              </a:rPr>
              <a:t>MVP 통합 검증 통과</a:t>
            </a:r>
          </a:p>
        </p:txBody>
      </p:sp>
      <p:sp>
        <p:nvSpPr>
          <p:cNvPr id="41" name="KPI card"/>
          <p:cNvSpPr/>
          <p:nvPr/>
        </p:nvSpPr>
        <p:spPr>
          <a:xfrm>
            <a:off x="5162550" y="3175000"/>
            <a:ext cx="3829050" cy="1778000"/>
          </a:xfrm>
          <a:prstGeom prst="rect">
            <a:avLst/>
          </a:prstGeom>
          <a:noFill/>
          <a:ln w="9525">
            <a:solidFill>
              <a:srgbClr val="737373"/>
            </a:solidFill>
          </a:ln>
        </p:spPr>
        <p:txBody>
          <a:bodyPr wrap="square" lIns="152400" tIns="0" rIns="152400" bIns="0" rtlCol="0" anchor="ctr">
            <a:noAutofit/>
          </a:bodyPr>
          <a:lstStyle/>
          <a:p>
            <a:pPr marL="0" indent="0" algn="ctr">
              <a:lnSpc>
                <a:spcPts val="5200"/>
              </a:lnSpc>
              <a:spcBef>
                <a:spcPts val="0"/>
              </a:spcBef>
              <a:buNone/>
            </a:pPr>
            <a:r>
              <a:rPr lang="ko-KR" sz="4400" b="1" dirty="0">
                <a:solidFill>
                  <a:srgbClr val="2A59C5"/>
                </a:solidFill>
                <a:latin typeface="프리텐다드 Bold"/>
                <a:ea typeface="프리텐다드 Bold"/>
                <a:cs typeface="프리텐다드 Bold"/>
                <a:sym typeface="프리텐다드 Bold"/>
              </a:rPr>
              <a:t>148/148</a:t>
            </a:r>
          </a:p>
          <a:p>
            <a:pPr marL="0" indent="0" algn="ctr">
              <a:lnSpc>
                <a:spcPts val="2600"/>
              </a:lnSpc>
              <a:spcBef>
                <a:spcPts val="4"/>
              </a:spcBef>
              <a:buNone/>
            </a:pPr>
            <a:r>
              <a:rPr lang="ko-KR" sz="2000" b="1" dirty="0">
                <a:solidFill>
                  <a:srgbClr val="282828"/>
                </a:solidFill>
                <a:latin typeface="프리텐다드 Semi-Bold"/>
                <a:ea typeface="프리텐다드 Semi-Bold"/>
                <a:cs typeface="프리텐다드 Semi-Bold"/>
                <a:sym typeface="프리텐다드 Semi-Bold"/>
              </a:rPr>
              <a:t>Node 단위 테스트 통과</a:t>
            </a:r>
          </a:p>
        </p:txBody>
      </p:sp>
      <p:sp>
        <p:nvSpPr>
          <p:cNvPr id="42" name="KPI card"/>
          <p:cNvSpPr/>
          <p:nvPr/>
        </p:nvSpPr>
        <p:spPr>
          <a:xfrm>
            <a:off x="9296400" y="3175000"/>
            <a:ext cx="3829050" cy="1778000"/>
          </a:xfrm>
          <a:prstGeom prst="rect">
            <a:avLst/>
          </a:prstGeom>
          <a:noFill/>
          <a:ln w="9525">
            <a:solidFill>
              <a:srgbClr val="737373"/>
            </a:solidFill>
          </a:ln>
        </p:spPr>
        <p:txBody>
          <a:bodyPr wrap="square" lIns="152400" tIns="0" rIns="152400" bIns="0" rtlCol="0" anchor="ctr">
            <a:noAutofit/>
          </a:bodyPr>
          <a:lstStyle/>
          <a:p>
            <a:pPr marL="0" indent="0" algn="ctr">
              <a:lnSpc>
                <a:spcPts val="5200"/>
              </a:lnSpc>
              <a:spcBef>
                <a:spcPts val="0"/>
              </a:spcBef>
              <a:buNone/>
            </a:pPr>
            <a:r>
              <a:rPr lang="ko-KR" sz="4400" b="1" dirty="0">
                <a:solidFill>
                  <a:srgbClr val="2A59C5"/>
                </a:solidFill>
                <a:latin typeface="프리텐다드 Bold"/>
                <a:ea typeface="프리텐다드 Bold"/>
                <a:cs typeface="프리텐다드 Bold"/>
                <a:sym typeface="프리텐다드 Bold"/>
              </a:rPr>
              <a:t>PASS</a:t>
            </a:r>
          </a:p>
          <a:p>
            <a:pPr marL="0" indent="0" algn="ctr">
              <a:lnSpc>
                <a:spcPts val="2600"/>
              </a:lnSpc>
              <a:spcBef>
                <a:spcPts val="4"/>
              </a:spcBef>
              <a:buNone/>
            </a:pPr>
            <a:r>
              <a:rPr lang="ko-KR" sz="2000" b="1" dirty="0">
                <a:solidFill>
                  <a:srgbClr val="282828"/>
                </a:solidFill>
                <a:latin typeface="프리텐다드 Semi-Bold"/>
                <a:ea typeface="프리텐다드 Semi-Bold"/>
                <a:cs typeface="프리텐다드 Semi-Bold"/>
                <a:sym typeface="프리텐다드 Semi-Bold"/>
              </a:rPr>
              <a:t>PostgreSQL RLS Gate</a:t>
            </a:r>
          </a:p>
        </p:txBody>
      </p:sp>
      <p:sp>
        <p:nvSpPr>
          <p:cNvPr id="43" name="KPI card"/>
          <p:cNvSpPr/>
          <p:nvPr/>
        </p:nvSpPr>
        <p:spPr>
          <a:xfrm>
            <a:off x="13430250" y="3175000"/>
            <a:ext cx="3829050" cy="1778000"/>
          </a:xfrm>
          <a:prstGeom prst="rect">
            <a:avLst/>
          </a:prstGeom>
          <a:noFill/>
          <a:ln w="9525">
            <a:solidFill>
              <a:srgbClr val="737373"/>
            </a:solidFill>
          </a:ln>
        </p:spPr>
        <p:txBody>
          <a:bodyPr wrap="square" lIns="152400" tIns="0" rIns="152400" bIns="0" rtlCol="0" anchor="ctr">
            <a:noAutofit/>
          </a:bodyPr>
          <a:lstStyle/>
          <a:p>
            <a:pPr marL="0" indent="0" algn="ctr">
              <a:lnSpc>
                <a:spcPts val="5200"/>
              </a:lnSpc>
              <a:spcBef>
                <a:spcPts val="0"/>
              </a:spcBef>
              <a:buNone/>
            </a:pPr>
            <a:r>
              <a:rPr lang="ko-KR" sz="4400" b="1" dirty="0">
                <a:solidFill>
                  <a:srgbClr val="2A59C5"/>
                </a:solidFill>
                <a:latin typeface="프리텐다드 Bold"/>
                <a:ea typeface="프리텐다드 Bold"/>
                <a:cs typeface="프리텐다드 Bold"/>
                <a:sym typeface="프리텐다드 Bold"/>
              </a:rPr>
              <a:t>34.6초</a:t>
            </a:r>
          </a:p>
          <a:p>
            <a:pPr marL="0" indent="0" algn="ctr">
              <a:lnSpc>
                <a:spcPts val="2600"/>
              </a:lnSpc>
              <a:spcBef>
                <a:spcPts val="4"/>
              </a:spcBef>
              <a:buNone/>
            </a:pPr>
            <a:r>
              <a:rPr lang="ko-KR" sz="2000" b="1" dirty="0">
                <a:solidFill>
                  <a:srgbClr val="282828"/>
                </a:solidFill>
                <a:latin typeface="프리텐다드 Semi-Bold"/>
                <a:ea typeface="프리텐다드 Semi-Bold"/>
                <a:cs typeface="프리텐다드 Semi-Bold"/>
                <a:sym typeface="프리텐다드 Semi-Bold"/>
              </a:rPr>
              <a:t>장애 복구 후 서비스 정상화</a:t>
            </a:r>
          </a:p>
        </p:txBody>
      </p:sp>
      <p:sp>
        <p:nvSpPr>
          <p:cNvPr id="44" name="Done card">
            <a:extLst>
              <a:ext uri="{C183D7F6-B498-43B3-948B-1728B52AA6E4}">
                <adec:decorative xmlns:adec="http://schemas.microsoft.com/office/drawing/2017/decorative" val="1"/>
              </a:ext>
            </a:extLst>
          </p:cNvPr>
          <p:cNvSpPr/>
          <p:nvPr/>
        </p:nvSpPr>
        <p:spPr>
          <a:xfrm>
            <a:off x="1028700" y="5308600"/>
            <a:ext cx="10414000" cy="3632200"/>
          </a:xfrm>
          <a:prstGeom prst="rect">
            <a:avLst/>
          </a:prstGeom>
          <a:noFill/>
          <a:ln w="9525">
            <a:solidFill>
              <a:srgbClr val="737373"/>
            </a:solidFill>
          </a:ln>
        </p:spPr>
        <p:txBody>
          <a:bodyPr wrap="square" lIns="0" tIns="0" rIns="0" bIns="0" rtlCol="0" anchor="t">
            <a:noAutofit/>
          </a:bodyPr>
          <a:lstStyle/>
          <a:p>
            <a:endParaRPr lang="ko-KR"/>
          </a:p>
        </p:txBody>
      </p:sp>
      <p:sp>
        <p:nvSpPr>
          <p:cNvPr id="45" name="Done title"/>
          <p:cNvSpPr txBox="1"/>
          <p:nvPr/>
        </p:nvSpPr>
        <p:spPr>
          <a:xfrm>
            <a:off x="1333500" y="5537200"/>
            <a:ext cx="9804400" cy="558800"/>
          </a:xfrm>
          <a:prstGeom prst="rect">
            <a:avLst/>
          </a:prstGeom>
          <a:noFill/>
          <a:ln>
            <a:noFill/>
          </a:ln>
        </p:spPr>
        <p:txBody>
          <a:bodyPr wrap="square" lIns="0" tIns="0" rIns="0" bIns="0" rtlCol="0" anchor="ctr">
            <a:noAutofit/>
          </a:bodyPr>
          <a:lstStyle/>
          <a:p>
            <a:pPr marL="0" indent="0" algn="l">
              <a:lnSpc>
                <a:spcPts val="3200"/>
              </a:lnSpc>
              <a:spcBef>
                <a:spcPts val="0"/>
              </a:spcBef>
              <a:buNone/>
            </a:pPr>
            <a:r>
              <a:rPr lang="ko-KR" sz="2400" b="1" dirty="0">
                <a:solidFill>
                  <a:srgbClr val="282828"/>
                </a:solidFill>
                <a:latin typeface="프리텐다드 Bold"/>
                <a:ea typeface="프리텐다드 Bold"/>
                <a:cs typeface="프리텐다드 Bold"/>
                <a:sym typeface="프리텐다드 Bold"/>
              </a:rPr>
              <a:t>구현 완료 기능</a:t>
            </a:r>
            <a:r>
              <a:rPr lang="ko-KR" sz="1800" dirty="0">
                <a:solidFill>
                  <a:srgbClr val="595959"/>
                </a:solidFill>
                <a:latin typeface="프리텐다드"/>
                <a:ea typeface="프리텐다드"/>
                <a:cs typeface="프리텐다드"/>
                <a:sym typeface="프리텐다드"/>
              </a:rPr>
              <a:t>   합성 데이터 · 가상 PACS 환경</a:t>
            </a:r>
          </a:p>
        </p:txBody>
      </p:sp>
      <p:sp>
        <p:nvSpPr>
          <p:cNvPr id="46" name="Done list"/>
          <p:cNvSpPr txBox="1"/>
          <p:nvPr/>
        </p:nvSpPr>
        <p:spPr>
          <a:xfrm>
            <a:off x="1333500" y="6273800"/>
            <a:ext cx="4826000" cy="2489200"/>
          </a:xfrm>
          <a:prstGeom prst="rect">
            <a:avLst/>
          </a:prstGeom>
          <a:noFill/>
          <a:ln>
            <a:noFill/>
          </a:ln>
        </p:spPr>
        <p:txBody>
          <a:bodyPr wrap="square" lIns="0" tIns="0" rIns="0" bIns="0" rtlCol="0" anchor="t">
            <a:noAutofit/>
          </a:bodyPr>
          <a:lstStyle/>
          <a:p>
            <a:pPr marL="285750" indent="-285750">
              <a:lnSpc>
                <a:spcPts val="3400"/>
              </a:lnSpc>
              <a:spcBef>
                <a:spcPts val="0"/>
              </a:spcBef>
              <a:buClr>
                <a:srgbClr val="2A59C5"/>
              </a:buClr>
              <a:buFont typeface="Arial"/>
              <a:buChar char="•"/>
            </a:pPr>
            <a:r>
              <a:rPr lang="ko-KR" sz="2200" dirty="0">
                <a:solidFill>
                  <a:srgbClr val="282828"/>
                </a:solidFill>
                <a:latin typeface="프리텐다드"/>
                <a:ea typeface="프리텐다드"/>
                <a:cs typeface="프리텐다드"/>
                <a:sym typeface="프리텐다드"/>
              </a:rPr>
              <a:t>환자 동의 생성·조회·철회</a:t>
            </a:r>
          </a:p>
          <a:p>
            <a:pPr marL="285750" indent="-285750">
              <a:lnSpc>
                <a:spcPts val="3400"/>
              </a:lnSpc>
              <a:spcBef>
                <a:spcPts val="10"/>
              </a:spcBef>
              <a:buClr>
                <a:srgbClr val="2A59C5"/>
              </a:buClr>
              <a:buFont typeface="Arial"/>
              <a:buChar char="•"/>
            </a:pPr>
            <a:r>
              <a:rPr lang="ko-KR" sz="2200" dirty="0">
                <a:solidFill>
                  <a:srgbClr val="282828"/>
                </a:solidFill>
                <a:latin typeface="프리텐다드"/>
                <a:ea typeface="프리텐다드"/>
                <a:cs typeface="프리텐다드"/>
                <a:sym typeface="프리텐다드"/>
              </a:rPr>
              <a:t>RBAC + ABAC 접근정책 검증</a:t>
            </a:r>
          </a:p>
          <a:p>
            <a:pPr marL="285750" indent="-285750">
              <a:lnSpc>
                <a:spcPts val="3400"/>
              </a:lnSpc>
              <a:spcBef>
                <a:spcPts val="10"/>
              </a:spcBef>
              <a:buClr>
                <a:srgbClr val="2A59C5"/>
              </a:buClr>
              <a:buFont typeface="Arial"/>
              <a:buChar char="•"/>
            </a:pPr>
            <a:r>
              <a:rPr lang="ko-KR" sz="2200" dirty="0">
                <a:solidFill>
                  <a:srgbClr val="282828"/>
                </a:solidFill>
                <a:latin typeface="프리텐다드"/>
                <a:ea typeface="프리텐다드"/>
                <a:cs typeface="프리텐다드"/>
                <a:sym typeface="프리텐다드"/>
              </a:rPr>
              <a:t>5분 단기 DICOMweb 토큰</a:t>
            </a:r>
          </a:p>
          <a:p>
            <a:pPr marL="285750" indent="-285750">
              <a:lnSpc>
                <a:spcPts val="3400"/>
              </a:lnSpc>
              <a:spcBef>
                <a:spcPts val="10"/>
              </a:spcBef>
              <a:buClr>
                <a:srgbClr val="2A59C5"/>
              </a:buClr>
              <a:buFont typeface="Arial"/>
              <a:buChar char="•"/>
            </a:pPr>
            <a:r>
              <a:rPr lang="ko-KR" sz="2200" dirty="0">
                <a:solidFill>
                  <a:srgbClr val="282828"/>
                </a:solidFill>
                <a:latin typeface="프리텐다드"/>
                <a:ea typeface="프리텐다드"/>
                <a:cs typeface="프리텐다드"/>
                <a:sym typeface="프리텐다드"/>
              </a:rPr>
              <a:t>DICOMweb Gateway 범위 제한</a:t>
            </a:r>
          </a:p>
        </p:txBody>
      </p:sp>
      <p:sp>
        <p:nvSpPr>
          <p:cNvPr id="47" name="Done list"/>
          <p:cNvSpPr txBox="1"/>
          <p:nvPr/>
        </p:nvSpPr>
        <p:spPr>
          <a:xfrm>
            <a:off x="6311900" y="6273800"/>
            <a:ext cx="4953000" cy="2489200"/>
          </a:xfrm>
          <a:prstGeom prst="rect">
            <a:avLst/>
          </a:prstGeom>
          <a:noFill/>
          <a:ln>
            <a:noFill/>
          </a:ln>
        </p:spPr>
        <p:txBody>
          <a:bodyPr wrap="square" lIns="0" tIns="0" rIns="0" bIns="0" rtlCol="0" anchor="t">
            <a:noAutofit/>
          </a:bodyPr>
          <a:lstStyle/>
          <a:p>
            <a:pPr marL="285750" indent="-285750">
              <a:lnSpc>
                <a:spcPts val="3400"/>
              </a:lnSpc>
              <a:spcBef>
                <a:spcPts val="0"/>
              </a:spcBef>
              <a:buClr>
                <a:srgbClr val="2A59C5"/>
              </a:buClr>
              <a:buFont typeface="Arial"/>
              <a:buChar char="•"/>
            </a:pPr>
            <a:r>
              <a:rPr lang="ko-KR" sz="2200" dirty="0">
                <a:solidFill>
                  <a:srgbClr val="282828"/>
                </a:solidFill>
                <a:latin typeface="프리텐다드"/>
                <a:ea typeface="프리텐다드"/>
                <a:cs typeface="프리텐다드"/>
                <a:sym typeface="프리텐다드"/>
              </a:rPr>
              <a:t>Orthanc 가상 PACS 연계</a:t>
            </a:r>
          </a:p>
          <a:p>
            <a:pPr marL="285750" indent="-285750">
              <a:lnSpc>
                <a:spcPts val="3400"/>
              </a:lnSpc>
              <a:spcBef>
                <a:spcPts val="10"/>
              </a:spcBef>
              <a:buClr>
                <a:srgbClr val="2A59C5"/>
              </a:buClr>
              <a:buFont typeface="Arial"/>
              <a:buChar char="•"/>
            </a:pPr>
            <a:r>
              <a:rPr lang="ko-KR" sz="2200" dirty="0">
                <a:solidFill>
                  <a:srgbClr val="282828"/>
                </a:solidFill>
                <a:latin typeface="프리텐다드"/>
                <a:ea typeface="프리텐다드"/>
                <a:cs typeface="프리텐다드"/>
                <a:sym typeface="프리텐다드"/>
              </a:rPr>
              <a:t>OHIF Viewer 영상 조회</a:t>
            </a:r>
          </a:p>
          <a:p>
            <a:pPr marL="285750" indent="-285750">
              <a:lnSpc>
                <a:spcPts val="3400"/>
              </a:lnSpc>
              <a:spcBef>
                <a:spcPts val="10"/>
              </a:spcBef>
              <a:buClr>
                <a:srgbClr val="2A59C5"/>
              </a:buClr>
              <a:buFont typeface="Arial"/>
              <a:buChar char="•"/>
            </a:pPr>
            <a:r>
              <a:rPr lang="ko-KR" sz="2200" dirty="0">
                <a:solidFill>
                  <a:srgbClr val="282828"/>
                </a:solidFill>
                <a:latin typeface="프리텐다드"/>
                <a:ea typeface="프리텐다드"/>
                <a:cs typeface="프리텐다드"/>
                <a:sym typeface="프리텐다드"/>
              </a:rPr>
              <a:t>감사로그·이상행위 탐지</a:t>
            </a:r>
          </a:p>
          <a:p>
            <a:pPr marL="285750" indent="-285750">
              <a:lnSpc>
                <a:spcPts val="3400"/>
              </a:lnSpc>
              <a:spcBef>
                <a:spcPts val="10"/>
              </a:spcBef>
              <a:buClr>
                <a:srgbClr val="2A59C5"/>
              </a:buClr>
              <a:buFont typeface="Arial"/>
              <a:buChar char="•"/>
            </a:pPr>
            <a:r>
              <a:rPr lang="ko-KR" sz="2200" dirty="0">
                <a:solidFill>
                  <a:srgbClr val="282828"/>
                </a:solidFill>
                <a:latin typeface="프리텐다드"/>
                <a:ea typeface="프리텐다드"/>
                <a:cs typeface="프리텐다드"/>
                <a:sym typeface="프리텐다드"/>
              </a:rPr>
              <a:t>연구용 가명처리 시뮬레이션</a:t>
            </a:r>
          </a:p>
        </p:txBody>
      </p:sp>
      <p:sp>
        <p:nvSpPr>
          <p:cNvPr id="48" name="Todo card">
            <a:extLst>
              <a:ext uri="{C183D7F6-B498-43B3-948B-1728B52AA6E4}">
                <adec:decorative xmlns:adec="http://schemas.microsoft.com/office/drawing/2017/decorative" val="1"/>
              </a:ext>
            </a:extLst>
          </p:cNvPr>
          <p:cNvSpPr/>
          <p:nvPr/>
        </p:nvSpPr>
        <p:spPr>
          <a:xfrm>
            <a:off x="11747500" y="5308600"/>
            <a:ext cx="5511800" cy="3632200"/>
          </a:xfrm>
          <a:prstGeom prst="rect">
            <a:avLst/>
          </a:prstGeom>
          <a:solidFill>
            <a:srgbClr val="E9E9E9"/>
          </a:solidFill>
          <a:ln>
            <a:noFill/>
          </a:ln>
        </p:spPr>
        <p:txBody>
          <a:bodyPr wrap="square" lIns="0" tIns="0" rIns="0" bIns="0" rtlCol="0" anchor="t">
            <a:noAutofit/>
          </a:bodyPr>
          <a:lstStyle/>
          <a:p>
            <a:endParaRPr lang="ko-KR"/>
          </a:p>
        </p:txBody>
      </p:sp>
      <p:sp>
        <p:nvSpPr>
          <p:cNvPr id="49" name="Todo title"/>
          <p:cNvSpPr txBox="1"/>
          <p:nvPr/>
        </p:nvSpPr>
        <p:spPr>
          <a:xfrm>
            <a:off x="12052300" y="5537200"/>
            <a:ext cx="4902200" cy="558800"/>
          </a:xfrm>
          <a:prstGeom prst="rect">
            <a:avLst/>
          </a:prstGeom>
          <a:noFill/>
          <a:ln>
            <a:noFill/>
          </a:ln>
        </p:spPr>
        <p:txBody>
          <a:bodyPr wrap="square" lIns="0" tIns="0" rIns="0" bIns="0" rtlCol="0" anchor="ctr">
            <a:noAutofit/>
          </a:bodyPr>
          <a:lstStyle/>
          <a:p>
            <a:pPr marL="0" indent="0" algn="l">
              <a:lnSpc>
                <a:spcPts val="3200"/>
              </a:lnSpc>
              <a:spcBef>
                <a:spcPts val="0"/>
              </a:spcBef>
              <a:buNone/>
            </a:pPr>
            <a:r>
              <a:rPr lang="ko-KR" sz="2400" b="1" dirty="0">
                <a:solidFill>
                  <a:srgbClr val="282828"/>
                </a:solidFill>
                <a:latin typeface="프리텐다드 Bold"/>
                <a:ea typeface="프리텐다드 Bold"/>
                <a:cs typeface="프리텐다드 Bold"/>
                <a:sym typeface="프리텐다드 Bold"/>
              </a:rPr>
              <a:t>운영 전 과제</a:t>
            </a:r>
          </a:p>
        </p:txBody>
      </p:sp>
      <p:sp>
        <p:nvSpPr>
          <p:cNvPr id="50" name="Todo list"/>
          <p:cNvSpPr txBox="1"/>
          <p:nvPr/>
        </p:nvSpPr>
        <p:spPr>
          <a:xfrm>
            <a:off x="12052300" y="6273800"/>
            <a:ext cx="4953000" cy="2489200"/>
          </a:xfrm>
          <a:prstGeom prst="rect">
            <a:avLst/>
          </a:prstGeom>
          <a:noFill/>
          <a:ln>
            <a:noFill/>
          </a:ln>
        </p:spPr>
        <p:txBody>
          <a:bodyPr wrap="square" lIns="0" tIns="0" rIns="0" bIns="0" rtlCol="0" anchor="t">
            <a:noAutofit/>
          </a:bodyPr>
          <a:lstStyle/>
          <a:p>
            <a:pPr marL="285750" indent="-285750">
              <a:lnSpc>
                <a:spcPts val="3400"/>
              </a:lnSpc>
              <a:spcBef>
                <a:spcPts val="0"/>
              </a:spcBef>
              <a:buClr>
                <a:srgbClr val="595959"/>
              </a:buClr>
              <a:buFont typeface="Arial"/>
              <a:buChar char="•"/>
            </a:pPr>
            <a:r>
              <a:rPr lang="ko-KR" sz="2200" dirty="0">
                <a:solidFill>
                  <a:srgbClr val="282828"/>
                </a:solidFill>
                <a:latin typeface="프리텐다드"/>
                <a:ea typeface="프리텐다드"/>
                <a:cs typeface="프리텐다드"/>
                <a:sym typeface="프리텐다드"/>
              </a:rPr>
              <a:t>실제 병원망·PACS 연결</a:t>
            </a:r>
          </a:p>
          <a:p>
            <a:pPr marL="285750" indent="-285750">
              <a:lnSpc>
                <a:spcPts val="3400"/>
              </a:lnSpc>
              <a:spcBef>
                <a:spcPts val="10"/>
              </a:spcBef>
              <a:buClr>
                <a:srgbClr val="595959"/>
              </a:buClr>
              <a:buFont typeface="Arial"/>
              <a:buChar char="•"/>
            </a:pPr>
            <a:r>
              <a:rPr lang="ko-KR" sz="2200" dirty="0">
                <a:solidFill>
                  <a:srgbClr val="282828"/>
                </a:solidFill>
                <a:latin typeface="프리텐다드"/>
                <a:ea typeface="프리텐다드"/>
                <a:cs typeface="프리텐다드"/>
                <a:sym typeface="프리텐다드"/>
              </a:rPr>
              <a:t>병원 IdP 연동 검증</a:t>
            </a:r>
          </a:p>
          <a:p>
            <a:pPr marL="285750" indent="-285750">
              <a:lnSpc>
                <a:spcPts val="3400"/>
              </a:lnSpc>
              <a:spcBef>
                <a:spcPts val="10"/>
              </a:spcBef>
              <a:buClr>
                <a:srgbClr val="595959"/>
              </a:buClr>
              <a:buFont typeface="Arial"/>
              <a:buChar char="•"/>
            </a:pPr>
            <a:r>
              <a:rPr lang="ko-KR" sz="2200" dirty="0">
                <a:solidFill>
                  <a:srgbClr val="282828"/>
                </a:solidFill>
                <a:latin typeface="프리텐다드"/>
                <a:ea typeface="프리텐다드"/>
                <a:cs typeface="프리텐다드"/>
                <a:sym typeface="프리텐다드"/>
              </a:rPr>
              <a:t>KMS/HSM·DR 사이트 검증</a:t>
            </a:r>
          </a:p>
          <a:p>
            <a:pPr marL="285750" indent="-285750">
              <a:lnSpc>
                <a:spcPts val="3400"/>
              </a:lnSpc>
              <a:spcBef>
                <a:spcPts val="10"/>
              </a:spcBef>
              <a:buClr>
                <a:srgbClr val="595959"/>
              </a:buClr>
              <a:buFont typeface="Arial"/>
              <a:buChar char="•"/>
            </a:pPr>
            <a:r>
              <a:rPr lang="ko-KR" sz="2200" dirty="0">
                <a:solidFill>
                  <a:srgbClr val="282828"/>
                </a:solidFill>
                <a:latin typeface="프리텐다드"/>
                <a:ea typeface="프리텐다드"/>
                <a:cs typeface="프리텐다드"/>
                <a:sym typeface="프리텐다드"/>
              </a:rPr>
              <a:t>법률 검토·ISMS-P 인증</a:t>
            </a:r>
          </a:p>
        </p:txBody>
      </p:sp>
      <p:sp>
        <p:nvSpPr>
          <p:cNvPr id="90" name="Source"/>
          <p:cNvSpPr txBox="1"/>
          <p:nvPr/>
        </p:nvSpPr>
        <p:spPr>
          <a:xfrm>
            <a:off x="1028700" y="9372600"/>
            <a:ext cx="16230600" cy="508000"/>
          </a:xfrm>
          <a:prstGeom prst="rect">
            <a:avLst/>
          </a:prstGeom>
        </p:spPr>
        <p:txBody>
          <a:bodyPr wrap="square" lIns="177800" tIns="0" rIns="0" bIns="0" anchor="t">
            <a:noAutofit/>
          </a:bodyPr>
          <a:lstStyle/>
          <a:p>
            <a:pPr marL="0" indent="0">
              <a:buNone/>
            </a:pPr>
            <a:r>
              <a:rPr lang="ko-KR" sz="1700" dirty="0">
                <a:solidFill>
                  <a:srgbClr val="595959"/>
                </a:solidFill>
                <a:latin typeface="프리텐다드"/>
                <a:ea typeface="프리텐다드"/>
                <a:cs typeface="프리텐다드"/>
                <a:sym typeface="프리텐다드"/>
              </a:rPr>
              <a:t>로컬 캡스톤 MVP 검증 결과이며 운영 승인을 의미하지 않음. Source: Highpass-Project GitHub README (2026)</a:t>
            </a:r>
          </a:p>
        </p:txBody>
      </p:sp>
    </p:spTree>
    <p:extLst>
      <p:ext uri="{BB962C8B-B14F-4D97-AF65-F5344CB8AC3E}">
        <p14:creationId xmlns:p14="http://schemas.microsoft.com/office/powerpoint/2010/main" val="36274570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74C0B-6D26-A03C-5041-545FC06EB5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957B862-79E8-C158-60D4-334B777E018D}"/>
              </a:ext>
            </a:extLst>
          </p:cNvPr>
          <p:cNvGrpSpPr/>
          <p:nvPr/>
        </p:nvGrpSpPr>
        <p:grpSpPr>
          <a:xfrm>
            <a:off x="-162858" y="-107527"/>
            <a:ext cx="18613717" cy="2953200"/>
            <a:chOff x="0" y="0"/>
            <a:chExt cx="4902378" cy="777797"/>
          </a:xfrm>
        </p:grpSpPr>
        <p:sp>
          <p:nvSpPr>
            <p:cNvPr id="3" name="Freeform 3">
              <a:extLst>
                <a:ext uri="{FF2B5EF4-FFF2-40B4-BE49-F238E27FC236}">
                  <a16:creationId xmlns:a16="http://schemas.microsoft.com/office/drawing/2014/main" id="{1F21BDB4-E8CB-33FB-A99A-F1E03B2DD515}"/>
                </a:ext>
              </a:extLst>
            </p:cNvPr>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a:extLst>
                <a:ext uri="{FF2B5EF4-FFF2-40B4-BE49-F238E27FC236}">
                  <a16:creationId xmlns:a16="http://schemas.microsoft.com/office/drawing/2014/main" id="{2E8A9F7D-728F-23A6-BBB0-AA3CA736D24B}"/>
                </a:ext>
              </a:extLst>
            </p:cNvPr>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a:extLst>
              <a:ext uri="{FF2B5EF4-FFF2-40B4-BE49-F238E27FC236}">
                <a16:creationId xmlns:a16="http://schemas.microsoft.com/office/drawing/2014/main" id="{4B55FAB4-CFCB-59C0-9021-7B2ED202181B}"/>
              </a:ext>
            </a:extLst>
          </p:cNvPr>
          <p:cNvGrpSpPr/>
          <p:nvPr/>
        </p:nvGrpSpPr>
        <p:grpSpPr>
          <a:xfrm>
            <a:off x="1028700" y="1028700"/>
            <a:ext cx="132273" cy="1204431"/>
            <a:chOff x="0" y="0"/>
            <a:chExt cx="40474" cy="368545"/>
          </a:xfrm>
        </p:grpSpPr>
        <p:sp>
          <p:nvSpPr>
            <p:cNvPr id="6" name="Freeform 6">
              <a:extLst>
                <a:ext uri="{FF2B5EF4-FFF2-40B4-BE49-F238E27FC236}">
                  <a16:creationId xmlns:a16="http://schemas.microsoft.com/office/drawing/2014/main" id="{0B92658B-ECC6-A2FF-7F93-B858DFE22344}"/>
                </a:ext>
              </a:extLst>
            </p:cNvPr>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a:extLst>
                <a:ext uri="{FF2B5EF4-FFF2-40B4-BE49-F238E27FC236}">
                  <a16:creationId xmlns:a16="http://schemas.microsoft.com/office/drawing/2014/main" id="{F445AFD3-F404-03E0-6ED9-89CAF06F4536}"/>
                </a:ext>
              </a:extLst>
            </p:cNvPr>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a:extLst>
              <a:ext uri="{FF2B5EF4-FFF2-40B4-BE49-F238E27FC236}">
                <a16:creationId xmlns:a16="http://schemas.microsoft.com/office/drawing/2014/main" id="{D9CF31CB-7287-9B58-46F5-7ACFF8C900B4}"/>
              </a:ext>
            </a:extLst>
          </p:cNvPr>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EXPECTED OUTCOMES</a:t>
            </a:r>
          </a:p>
        </p:txBody>
      </p:sp>
      <p:sp>
        <p:nvSpPr>
          <p:cNvPr id="10" name="TextBox 10">
            <a:extLst>
              <a:ext uri="{FF2B5EF4-FFF2-40B4-BE49-F238E27FC236}">
                <a16:creationId xmlns:a16="http://schemas.microsoft.com/office/drawing/2014/main" id="{B3DDF1F4-6E95-CAC4-B9AA-053A57FF60A0}"/>
              </a:ext>
            </a:extLst>
          </p:cNvPr>
          <p:cNvSpPr txBox="1"/>
          <p:nvPr/>
        </p:nvSpPr>
        <p:spPr>
          <a:xfrm>
            <a:off x="1421481" y="1253961"/>
            <a:ext cx="12377320" cy="979170"/>
          </a:xfrm>
          <a:prstGeom prst="rect">
            <a:avLst/>
          </a:prstGeom>
        </p:spPr>
        <p:txBody>
          <a:bodyPr lIns="0" tIns="0" rIns="0" bIns="0" rtlCol="0" anchor="t">
            <a:spAutoFit/>
          </a:bodyPr>
          <a:lstStyle/>
          <a:p>
            <a:pPr algn="l">
              <a:lnSpc>
                <a:spcPts val="7979"/>
              </a:lnSpc>
              <a:spcBef>
                <a:spcPct val="0"/>
              </a:spcBef>
            </a:pPr>
            <a:r>
              <a:rPr lang="ko-KR" altLang="en-US" sz="5699" b="1" dirty="0">
                <a:solidFill>
                  <a:srgbClr val="282828"/>
                </a:solidFill>
                <a:latin typeface="프리텐다드 Bold"/>
                <a:ea typeface="프리텐다드 Bold"/>
                <a:cs typeface="프리텐다드 Bold"/>
                <a:sym typeface="프리텐다드 Bold"/>
              </a:rPr>
              <a:t>실제 배포 및 무결성 검증 확인</a:t>
            </a:r>
            <a:endParaRPr lang="en-US" sz="5699" b="1" dirty="0">
              <a:solidFill>
                <a:srgbClr val="282828"/>
              </a:solidFill>
              <a:latin typeface="프리텐다드 Bold"/>
              <a:ea typeface="프리텐다드 Bold"/>
              <a:cs typeface="프리텐다드 Bold"/>
              <a:sym typeface="프리텐다드 Bold"/>
            </a:endParaRPr>
          </a:p>
        </p:txBody>
      </p:sp>
      <p:sp>
        <p:nvSpPr>
          <p:cNvPr id="40" name="Metric panel">
            <a:extLst>
              <a:ext uri="{FF2B5EF4-FFF2-40B4-BE49-F238E27FC236}">
                <a16:creationId xmlns:a16="http://schemas.microsoft.com/office/drawing/2014/main" id="{435CDCDA-1610-AF1C-12A3-E777BC6A99F8}"/>
              </a:ext>
              <a:ext uri="{C183D7F6-B498-43B3-948B-1728B52AA6E4}">
                <adec:decorative xmlns:adec="http://schemas.microsoft.com/office/drawing/2017/decorative" val="1"/>
              </a:ext>
            </a:extLst>
          </p:cNvPr>
          <p:cNvSpPr/>
          <p:nvPr/>
        </p:nvSpPr>
        <p:spPr>
          <a:xfrm>
            <a:off x="1028700" y="3175000"/>
            <a:ext cx="5080000" cy="5384800"/>
          </a:xfrm>
          <a:prstGeom prst="rect">
            <a:avLst/>
          </a:prstGeom>
          <a:noFill/>
          <a:ln w="9525">
            <a:solidFill>
              <a:srgbClr val="737373"/>
            </a:solidFill>
          </a:ln>
        </p:spPr>
        <p:txBody>
          <a:bodyPr wrap="square" lIns="0" tIns="0" rIns="0" bIns="0" rtlCol="0" anchor="t">
            <a:noAutofit/>
          </a:bodyPr>
          <a:lstStyle/>
          <a:p>
            <a:endParaRPr lang="ko-KR"/>
          </a:p>
        </p:txBody>
      </p:sp>
      <p:sp>
        <p:nvSpPr>
          <p:cNvPr id="41" name="Metric heading">
            <a:extLst>
              <a:ext uri="{FF2B5EF4-FFF2-40B4-BE49-F238E27FC236}">
                <a16:creationId xmlns:a16="http://schemas.microsoft.com/office/drawing/2014/main" id="{0C01169A-5684-64DA-3925-0C08B9945079}"/>
              </a:ext>
            </a:extLst>
          </p:cNvPr>
          <p:cNvSpPr txBox="1"/>
          <p:nvPr/>
        </p:nvSpPr>
        <p:spPr>
          <a:xfrm>
            <a:off x="1333500" y="3378200"/>
            <a:ext cx="4470400" cy="508000"/>
          </a:xfrm>
          <a:prstGeom prst="rect">
            <a:avLst/>
          </a:prstGeom>
          <a:noFill/>
          <a:ln>
            <a:noFill/>
          </a:ln>
        </p:spPr>
        <p:txBody>
          <a:bodyPr wrap="square" lIns="0" tIns="0" rIns="0" bIns="0" rtlCol="0" anchor="ctr">
            <a:noAutofit/>
          </a:bodyPr>
          <a:lstStyle/>
          <a:p>
            <a:pPr marL="0" indent="0" algn="l">
              <a:lnSpc>
                <a:spcPts val="3000"/>
              </a:lnSpc>
              <a:spcBef>
                <a:spcPts val="0"/>
              </a:spcBef>
              <a:buNone/>
            </a:pPr>
            <a:r>
              <a:rPr lang="ko-KR" altLang="en-US" sz="2200" b="1" dirty="0">
                <a:solidFill>
                  <a:srgbClr val="282828"/>
                </a:solidFill>
                <a:latin typeface="프리텐다드 Bold"/>
                <a:ea typeface="프리텐다드 Bold"/>
                <a:cs typeface="프리텐다드 Bold"/>
                <a:sym typeface="프리텐다드 Bold"/>
              </a:rPr>
              <a:t>저장 결과는 </a:t>
            </a:r>
            <a:r>
              <a:rPr lang="en-US" altLang="ko-KR" sz="2200" b="1" dirty="0">
                <a:solidFill>
                  <a:srgbClr val="282828"/>
                </a:solidFill>
                <a:latin typeface="프리텐다드 Bold"/>
                <a:ea typeface="프리텐다드 Bold"/>
                <a:cs typeface="프리텐다드 Bold"/>
                <a:sym typeface="프리텐다드 Bold"/>
              </a:rPr>
              <a:t>B PACS</a:t>
            </a:r>
            <a:r>
              <a:rPr lang="ko-KR" altLang="en-US" sz="2200" b="1" dirty="0">
                <a:solidFill>
                  <a:srgbClr val="282828"/>
                </a:solidFill>
                <a:latin typeface="프리텐다드 Bold"/>
                <a:ea typeface="프리텐다드 Bold"/>
                <a:cs typeface="프리텐다드 Bold"/>
                <a:sym typeface="프리텐다드 Bold"/>
              </a:rPr>
              <a:t>가 다시 증명</a:t>
            </a:r>
            <a:endParaRPr lang="ko-KR" sz="2200" b="1" dirty="0">
              <a:solidFill>
                <a:srgbClr val="282828"/>
              </a:solidFill>
              <a:latin typeface="프리텐다드 Bold"/>
              <a:ea typeface="프리텐다드 Bold"/>
              <a:cs typeface="프리텐다드 Bold"/>
              <a:sym typeface="프리텐다드 Bold"/>
            </a:endParaRPr>
          </a:p>
        </p:txBody>
      </p:sp>
      <p:sp>
        <p:nvSpPr>
          <p:cNvPr id="42" name="Metric">
            <a:extLst>
              <a:ext uri="{FF2B5EF4-FFF2-40B4-BE49-F238E27FC236}">
                <a16:creationId xmlns:a16="http://schemas.microsoft.com/office/drawing/2014/main" id="{F6057636-D53F-C811-B6CB-CE900EA0A302}"/>
              </a:ext>
            </a:extLst>
          </p:cNvPr>
          <p:cNvSpPr txBox="1"/>
          <p:nvPr/>
        </p:nvSpPr>
        <p:spPr>
          <a:xfrm>
            <a:off x="1333500" y="3962400"/>
            <a:ext cx="4470400" cy="1320800"/>
          </a:xfrm>
          <a:prstGeom prst="rect">
            <a:avLst/>
          </a:prstGeom>
          <a:noFill/>
          <a:ln>
            <a:noFill/>
          </a:ln>
        </p:spPr>
        <p:txBody>
          <a:bodyPr wrap="square" lIns="0" tIns="0" rIns="0" bIns="0" rtlCol="0" anchor="ctr">
            <a:noAutofit/>
          </a:bodyPr>
          <a:lstStyle/>
          <a:p>
            <a:pPr marL="0" indent="0" algn="l">
              <a:lnSpc>
                <a:spcPts val="5000"/>
              </a:lnSpc>
              <a:spcBef>
                <a:spcPts val="0"/>
              </a:spcBef>
              <a:buNone/>
            </a:pPr>
            <a:r>
              <a:rPr lang="ko-KR" altLang="en-US" sz="4400" b="1" dirty="0">
                <a:solidFill>
                  <a:srgbClr val="2A59C5"/>
                </a:solidFill>
                <a:latin typeface="프리텐다드 Bold"/>
                <a:ea typeface="프리텐다드 Bold"/>
                <a:cs typeface="프리텐다드 Bold"/>
                <a:sym typeface="프리텐다드 Bold"/>
              </a:rPr>
              <a:t>선택한 영상 보관</a:t>
            </a:r>
            <a:endParaRPr lang="ko-KR" sz="2000" b="1" dirty="0">
              <a:solidFill>
                <a:srgbClr val="282828"/>
              </a:solidFill>
              <a:latin typeface="프리텐다드 Semi-Bold"/>
              <a:ea typeface="프리텐다드 Semi-Bold"/>
              <a:cs typeface="프리텐다드 Semi-Bold"/>
              <a:sym typeface="프리텐다드 Semi-Bold"/>
            </a:endParaRPr>
          </a:p>
        </p:txBody>
      </p:sp>
      <p:sp>
        <p:nvSpPr>
          <p:cNvPr id="43" name="Metric divider">
            <a:extLst>
              <a:ext uri="{FF2B5EF4-FFF2-40B4-BE49-F238E27FC236}">
                <a16:creationId xmlns:a16="http://schemas.microsoft.com/office/drawing/2014/main" id="{B5670B22-1DEF-E1D8-E78F-1F8205F14528}"/>
              </a:ext>
              <a:ext uri="{C183D7F6-B498-43B3-948B-1728B52AA6E4}">
                <adec:decorative xmlns:adec="http://schemas.microsoft.com/office/drawing/2017/decorative" val="1"/>
              </a:ext>
            </a:extLst>
          </p:cNvPr>
          <p:cNvSpPr/>
          <p:nvPr/>
        </p:nvSpPr>
        <p:spPr>
          <a:xfrm>
            <a:off x="1333500" y="5372100"/>
            <a:ext cx="4470400" cy="12700"/>
          </a:xfrm>
          <a:prstGeom prst="rect">
            <a:avLst/>
          </a:prstGeom>
          <a:solidFill>
            <a:srgbClr val="D0D0D0"/>
          </a:solidFill>
          <a:ln>
            <a:noFill/>
          </a:ln>
        </p:spPr>
        <p:txBody>
          <a:bodyPr wrap="square" lIns="0" tIns="0" rIns="0" bIns="0" rtlCol="0" anchor="t">
            <a:noAutofit/>
          </a:bodyPr>
          <a:lstStyle/>
          <a:p>
            <a:endParaRPr lang="ko-KR"/>
          </a:p>
        </p:txBody>
      </p:sp>
      <p:sp>
        <p:nvSpPr>
          <p:cNvPr id="44" name="Metric">
            <a:extLst>
              <a:ext uri="{FF2B5EF4-FFF2-40B4-BE49-F238E27FC236}">
                <a16:creationId xmlns:a16="http://schemas.microsoft.com/office/drawing/2014/main" id="{97D891B9-AB67-C44C-0A8A-9B7DB1757B84}"/>
              </a:ext>
            </a:extLst>
          </p:cNvPr>
          <p:cNvSpPr txBox="1"/>
          <p:nvPr/>
        </p:nvSpPr>
        <p:spPr>
          <a:xfrm>
            <a:off x="1333500" y="5461000"/>
            <a:ext cx="4470400" cy="1320800"/>
          </a:xfrm>
          <a:prstGeom prst="rect">
            <a:avLst/>
          </a:prstGeom>
          <a:noFill/>
          <a:ln>
            <a:noFill/>
          </a:ln>
        </p:spPr>
        <p:txBody>
          <a:bodyPr wrap="square" lIns="0" tIns="0" rIns="0" bIns="0" rtlCol="0" anchor="ctr">
            <a:noAutofit/>
          </a:bodyPr>
          <a:lstStyle/>
          <a:p>
            <a:pPr marL="0" indent="0" algn="l">
              <a:lnSpc>
                <a:spcPts val="5000"/>
              </a:lnSpc>
              <a:spcBef>
                <a:spcPts val="0"/>
              </a:spcBef>
              <a:buNone/>
            </a:pPr>
            <a:r>
              <a:rPr lang="en-US" altLang="ko-KR" sz="4400" b="1" dirty="0">
                <a:solidFill>
                  <a:srgbClr val="2A59C5"/>
                </a:solidFill>
                <a:latin typeface="프리텐다드 Bold"/>
                <a:ea typeface="프리텐다드 Bold"/>
                <a:cs typeface="프리텐다드 Bold"/>
                <a:sym typeface="프리텐다드 Bold"/>
              </a:rPr>
              <a:t>UID + SHA 256</a:t>
            </a:r>
            <a:endParaRPr lang="ko-KR" sz="4400" b="1" dirty="0">
              <a:solidFill>
                <a:srgbClr val="2A59C5"/>
              </a:solidFill>
              <a:latin typeface="프리텐다드 Bold"/>
              <a:ea typeface="프리텐다드 Bold"/>
              <a:cs typeface="프리텐다드 Bold"/>
              <a:sym typeface="프리텐다드 Bold"/>
            </a:endParaRPr>
          </a:p>
          <a:p>
            <a:pPr marL="0" indent="0" algn="l">
              <a:lnSpc>
                <a:spcPts val="2800"/>
              </a:lnSpc>
              <a:spcBef>
                <a:spcPts val="2"/>
              </a:spcBef>
              <a:buNone/>
            </a:pPr>
            <a:r>
              <a:rPr lang="en-US" altLang="ko-KR" sz="2000" b="1" dirty="0">
                <a:solidFill>
                  <a:srgbClr val="282828"/>
                </a:solidFill>
                <a:latin typeface="프리텐다드 Semi-Bold"/>
                <a:ea typeface="프리텐다드 Semi-Bold"/>
                <a:cs typeface="프리텐다드 Semi-Bold"/>
                <a:sym typeface="프리텐다드 Semi-Bold"/>
              </a:rPr>
              <a:t>B PACS </a:t>
            </a:r>
            <a:r>
              <a:rPr lang="ko-KR" altLang="en-US" sz="2000" b="1" dirty="0" err="1">
                <a:solidFill>
                  <a:srgbClr val="282828"/>
                </a:solidFill>
                <a:latin typeface="프리텐다드 Semi-Bold"/>
                <a:ea typeface="프리텐다드 Semi-Bold"/>
                <a:cs typeface="프리텐다드 Semi-Bold"/>
                <a:sym typeface="프리텐다드 Semi-Bold"/>
              </a:rPr>
              <a:t>재조회</a:t>
            </a:r>
            <a:r>
              <a:rPr lang="ko-KR" altLang="en-US" sz="2000" b="1" dirty="0">
                <a:solidFill>
                  <a:srgbClr val="282828"/>
                </a:solidFill>
                <a:latin typeface="프리텐다드 Semi-Bold"/>
                <a:ea typeface="프리텐다드 Semi-Bold"/>
                <a:cs typeface="프리텐다드 Semi-Bold"/>
                <a:sym typeface="프리텐다드 Semi-Bold"/>
              </a:rPr>
              <a:t> 영수증과 대조</a:t>
            </a:r>
            <a:endParaRPr lang="ko-KR" sz="2000" b="1" dirty="0">
              <a:solidFill>
                <a:srgbClr val="282828"/>
              </a:solidFill>
              <a:latin typeface="프리텐다드 Semi-Bold"/>
              <a:ea typeface="프리텐다드 Semi-Bold"/>
              <a:cs typeface="프리텐다드 Semi-Bold"/>
              <a:sym typeface="프리텐다드 Semi-Bold"/>
            </a:endParaRPr>
          </a:p>
        </p:txBody>
      </p:sp>
      <p:sp>
        <p:nvSpPr>
          <p:cNvPr id="45" name="Metric divider">
            <a:extLst>
              <a:ext uri="{FF2B5EF4-FFF2-40B4-BE49-F238E27FC236}">
                <a16:creationId xmlns:a16="http://schemas.microsoft.com/office/drawing/2014/main" id="{2067076C-7195-DA16-D17A-7C39ACC6EE27}"/>
              </a:ext>
              <a:ext uri="{C183D7F6-B498-43B3-948B-1728B52AA6E4}">
                <adec:decorative xmlns:adec="http://schemas.microsoft.com/office/drawing/2017/decorative" val="1"/>
              </a:ext>
            </a:extLst>
          </p:cNvPr>
          <p:cNvSpPr/>
          <p:nvPr/>
        </p:nvSpPr>
        <p:spPr>
          <a:xfrm>
            <a:off x="1333500" y="6870700"/>
            <a:ext cx="4470400" cy="12700"/>
          </a:xfrm>
          <a:prstGeom prst="rect">
            <a:avLst/>
          </a:prstGeom>
          <a:solidFill>
            <a:srgbClr val="D0D0D0"/>
          </a:solidFill>
          <a:ln>
            <a:noFill/>
          </a:ln>
        </p:spPr>
        <p:txBody>
          <a:bodyPr wrap="square" lIns="0" tIns="0" rIns="0" bIns="0" rtlCol="0" anchor="t">
            <a:noAutofit/>
          </a:bodyPr>
          <a:lstStyle/>
          <a:p>
            <a:endParaRPr lang="ko-KR"/>
          </a:p>
        </p:txBody>
      </p:sp>
      <p:sp>
        <p:nvSpPr>
          <p:cNvPr id="46" name="Metric">
            <a:extLst>
              <a:ext uri="{FF2B5EF4-FFF2-40B4-BE49-F238E27FC236}">
                <a16:creationId xmlns:a16="http://schemas.microsoft.com/office/drawing/2014/main" id="{84AC5EA5-15DC-EDDD-F7E0-22A83B3B95FC}"/>
              </a:ext>
            </a:extLst>
          </p:cNvPr>
          <p:cNvSpPr txBox="1"/>
          <p:nvPr/>
        </p:nvSpPr>
        <p:spPr>
          <a:xfrm>
            <a:off x="1333500" y="6959600"/>
            <a:ext cx="4470400" cy="1320800"/>
          </a:xfrm>
          <a:prstGeom prst="rect">
            <a:avLst/>
          </a:prstGeom>
          <a:noFill/>
          <a:ln>
            <a:noFill/>
          </a:ln>
        </p:spPr>
        <p:txBody>
          <a:bodyPr wrap="square" lIns="0" tIns="0" rIns="0" bIns="0" rtlCol="0" anchor="ctr">
            <a:noAutofit/>
          </a:bodyPr>
          <a:lstStyle/>
          <a:p>
            <a:pPr marL="0" indent="0" algn="l">
              <a:lnSpc>
                <a:spcPts val="5000"/>
              </a:lnSpc>
              <a:spcBef>
                <a:spcPts val="0"/>
              </a:spcBef>
              <a:buNone/>
            </a:pPr>
            <a:r>
              <a:rPr lang="ko-KR" sz="4400" b="1" dirty="0">
                <a:solidFill>
                  <a:srgbClr val="2A59C5"/>
                </a:solidFill>
                <a:latin typeface="프리텐다드 Bold"/>
                <a:ea typeface="프리텐다드 Bold"/>
                <a:cs typeface="프리텐다드 Bold"/>
                <a:sym typeface="프리텐다드 Bold"/>
              </a:rPr>
              <a:t>650억 원</a:t>
            </a:r>
          </a:p>
          <a:p>
            <a:pPr marL="0" indent="0" algn="l">
              <a:lnSpc>
                <a:spcPts val="2800"/>
              </a:lnSpc>
              <a:spcBef>
                <a:spcPts val="2"/>
              </a:spcBef>
              <a:buNone/>
            </a:pPr>
            <a:r>
              <a:rPr lang="ko-KR" sz="2000" b="1" dirty="0">
                <a:solidFill>
                  <a:srgbClr val="282828"/>
                </a:solidFill>
                <a:latin typeface="프리텐다드 Semi-Bold"/>
                <a:ea typeface="프리텐다드 Semi-Bold"/>
                <a:cs typeface="프리텐다드 Semi-Bold"/>
                <a:sym typeface="프리텐다드 Semi-Bold"/>
              </a:rPr>
              <a:t>중복촬영 관련 급여비</a:t>
            </a:r>
          </a:p>
        </p:txBody>
      </p:sp>
      <p:pic>
        <p:nvPicPr>
          <p:cNvPr id="11" name="그림 10">
            <a:extLst>
              <a:ext uri="{FF2B5EF4-FFF2-40B4-BE49-F238E27FC236}">
                <a16:creationId xmlns:a16="http://schemas.microsoft.com/office/drawing/2014/main" id="{81F871DA-B1B7-6616-E98F-F56F13870A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6084" y="3136901"/>
            <a:ext cx="11326865" cy="6578600"/>
          </a:xfrm>
          <a:prstGeom prst="rect">
            <a:avLst/>
          </a:prstGeom>
        </p:spPr>
      </p:pic>
    </p:spTree>
    <p:extLst>
      <p:ext uri="{BB962C8B-B14F-4D97-AF65-F5344CB8AC3E}">
        <p14:creationId xmlns:p14="http://schemas.microsoft.com/office/powerpoint/2010/main" val="2135274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5278433" y="-189268"/>
            <a:ext cx="3268199" cy="7739024"/>
            <a:chOff x="0" y="0"/>
            <a:chExt cx="860760" cy="2038262"/>
          </a:xfrm>
        </p:grpSpPr>
        <p:sp>
          <p:nvSpPr>
            <p:cNvPr id="3" name="Freeform 3"/>
            <p:cNvSpPr/>
            <p:nvPr/>
          </p:nvSpPr>
          <p:spPr>
            <a:xfrm>
              <a:off x="0" y="0"/>
              <a:ext cx="860760" cy="2038262"/>
            </a:xfrm>
            <a:custGeom>
              <a:avLst/>
              <a:gdLst/>
              <a:ahLst/>
              <a:cxnLst/>
              <a:rect l="l" t="t" r="r" b="b"/>
              <a:pathLst>
                <a:path w="860760" h="2038262">
                  <a:moveTo>
                    <a:pt x="0" y="0"/>
                  </a:moveTo>
                  <a:lnTo>
                    <a:pt x="860760" y="0"/>
                  </a:lnTo>
                  <a:lnTo>
                    <a:pt x="860760" y="2038262"/>
                  </a:lnTo>
                  <a:lnTo>
                    <a:pt x="0" y="2038262"/>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860760" cy="2085887"/>
            </a:xfrm>
            <a:prstGeom prst="rect">
              <a:avLst/>
            </a:prstGeom>
          </p:spPr>
          <p:txBody>
            <a:bodyPr lIns="50800" tIns="50800" rIns="50800" bIns="50800" rtlCol="0" anchor="ctr"/>
            <a:lstStyle/>
            <a:p>
              <a:pPr algn="ctr">
                <a:lnSpc>
                  <a:spcPts val="3156"/>
                </a:lnSpc>
              </a:pPr>
              <a:endParaRPr/>
            </a:p>
          </p:txBody>
        </p:sp>
      </p:grpSp>
      <p:sp>
        <p:nvSpPr>
          <p:cNvPr id="5" name="Freeform 5">
            <a:extLst>
              <a:ext uri="{C183D7F6-B498-43B3-948B-1728B52AA6E4}">
                <adec:decorative xmlns:adec="http://schemas.microsoft.com/office/drawing/2017/decorative" val="1"/>
              </a:ext>
            </a:extLst>
          </p:cNvPr>
          <p:cNvSpPr/>
          <p:nvPr/>
        </p:nvSpPr>
        <p:spPr>
          <a:xfrm>
            <a:off x="0" y="7075598"/>
            <a:ext cx="18288000" cy="5818426"/>
          </a:xfrm>
          <a:custGeom>
            <a:avLst/>
            <a:gdLst/>
            <a:ahLst/>
            <a:cxnLst/>
            <a:rect l="l" t="t" r="r" b="b"/>
            <a:pathLst>
              <a:path w="18288000" h="5818426">
                <a:moveTo>
                  <a:pt x="0" y="0"/>
                </a:moveTo>
                <a:lnTo>
                  <a:pt x="18288000" y="0"/>
                </a:lnTo>
                <a:lnTo>
                  <a:pt x="18288000" y="5818426"/>
                </a:lnTo>
                <a:lnTo>
                  <a:pt x="0" y="5818426"/>
                </a:lnTo>
                <a:lnTo>
                  <a:pt x="0" y="0"/>
                </a:lnTo>
                <a:close/>
              </a:path>
            </a:pathLst>
          </a:custGeom>
          <a:blipFill>
            <a:blip r:embed="rId2"/>
            <a:stretch>
              <a:fillRect b="-4705"/>
            </a:stretch>
          </a:blipFill>
        </p:spPr>
        <p:txBody>
          <a:bodyPr/>
          <a:lstStyle/>
          <a:p>
            <a:endParaRPr lang="ko-KR" altLang="en-US"/>
          </a:p>
        </p:txBody>
      </p:sp>
      <p:sp>
        <p:nvSpPr>
          <p:cNvPr id="6" name="TextBox 6"/>
          <p:cNvSpPr txBox="1"/>
          <p:nvPr/>
        </p:nvSpPr>
        <p:spPr>
          <a:xfrm>
            <a:off x="1028700" y="2214108"/>
            <a:ext cx="8441160" cy="1584983"/>
          </a:xfrm>
          <a:prstGeom prst="rect">
            <a:avLst/>
          </a:prstGeom>
        </p:spPr>
        <p:txBody>
          <a:bodyPr lIns="0" tIns="0" rIns="0" bIns="0" rtlCol="0" anchor="t">
            <a:spAutoFit/>
          </a:bodyPr>
          <a:lstStyle/>
          <a:p>
            <a:pPr algn="l">
              <a:lnSpc>
                <a:spcPts val="12979"/>
              </a:lnSpc>
              <a:spcBef>
                <a:spcPct val="0"/>
              </a:spcBef>
            </a:pPr>
            <a:r>
              <a:rPr lang="en-US" sz="9270" b="1">
                <a:solidFill>
                  <a:srgbClr val="2A59C5"/>
                </a:solidFill>
                <a:latin typeface="프리텐다드 Bold"/>
                <a:ea typeface="프리텐다드 Bold"/>
                <a:cs typeface="프리텐다드 Bold"/>
                <a:sym typeface="프리텐다드 Bold"/>
              </a:rPr>
              <a:t>08</a:t>
            </a:r>
          </a:p>
        </p:txBody>
      </p:sp>
      <p:sp>
        <p:nvSpPr>
          <p:cNvPr id="7" name="TextBox 7"/>
          <p:cNvSpPr txBox="1"/>
          <p:nvPr/>
        </p:nvSpPr>
        <p:spPr>
          <a:xfrm>
            <a:off x="1028700" y="3516926"/>
            <a:ext cx="7056707" cy="1584983"/>
          </a:xfrm>
          <a:prstGeom prst="rect">
            <a:avLst/>
          </a:prstGeom>
        </p:spPr>
        <p:txBody>
          <a:bodyPr lIns="0" tIns="0" rIns="0" bIns="0" rtlCol="0" anchor="t">
            <a:spAutoFit/>
          </a:bodyPr>
          <a:lstStyle/>
          <a:p>
            <a:pPr algn="l">
              <a:lnSpc>
                <a:spcPts val="12979"/>
              </a:lnSpc>
              <a:spcBef>
                <a:spcPct val="0"/>
              </a:spcBef>
            </a:pPr>
            <a:r>
              <a:rPr lang="en-US" sz="9270" b="1">
                <a:solidFill>
                  <a:srgbClr val="282828"/>
                </a:solidFill>
                <a:latin typeface="프리텐다드 Bold"/>
                <a:ea typeface="프리텐다드 Bold"/>
                <a:cs typeface="프리텐다드 Bold"/>
                <a:sym typeface="프리텐다드 Bold"/>
              </a:rPr>
              <a:t>기대 효과</a:t>
            </a:r>
          </a:p>
        </p:txBody>
      </p:sp>
      <p:sp>
        <p:nvSpPr>
          <p:cNvPr id="8" name="TextBox 8"/>
          <p:cNvSpPr txBox="1"/>
          <p:nvPr/>
        </p:nvSpPr>
        <p:spPr>
          <a:xfrm>
            <a:off x="1028700" y="1848967"/>
            <a:ext cx="3836759" cy="356036"/>
          </a:xfrm>
          <a:prstGeom prst="rect">
            <a:avLst/>
          </a:prstGeom>
        </p:spPr>
        <p:txBody>
          <a:bodyPr lIns="0" tIns="0" rIns="0" bIns="0" rtlCol="0" anchor="t">
            <a:spAutoFit/>
          </a:bodyPr>
          <a:lstStyle/>
          <a:p>
            <a:pPr algn="l">
              <a:lnSpc>
                <a:spcPts val="2950"/>
              </a:lnSpc>
              <a:spcBef>
                <a:spcPct val="0"/>
              </a:spcBef>
            </a:pPr>
            <a:r>
              <a:rPr lang="en-US" sz="2107" spc="210">
                <a:solidFill>
                  <a:srgbClr val="282828"/>
                </a:solidFill>
                <a:latin typeface="프리텐다드"/>
                <a:ea typeface="프리텐다드"/>
                <a:cs typeface="프리텐다드"/>
                <a:sym typeface="프리텐다드"/>
              </a:rPr>
              <a:t>SECTION</a:t>
            </a:r>
          </a:p>
        </p:txBody>
      </p:sp>
      <p:sp>
        <p:nvSpPr>
          <p:cNvPr id="9" name="TextBox 9"/>
          <p:cNvSpPr txBox="1"/>
          <p:nvPr/>
        </p:nvSpPr>
        <p:spPr>
          <a:xfrm>
            <a:off x="1028700" y="5244784"/>
            <a:ext cx="6505897" cy="308739"/>
          </a:xfrm>
          <a:prstGeom prst="rect">
            <a:avLst/>
          </a:prstGeom>
        </p:spPr>
        <p:txBody>
          <a:bodyPr lIns="0" tIns="0" rIns="0" bIns="0" rtlCol="0" anchor="t">
            <a:spAutoFit/>
          </a:bodyPr>
          <a:lstStyle/>
          <a:p>
            <a:pPr marL="0" lvl="0" indent="0" algn="just">
              <a:lnSpc>
                <a:spcPts val="2640"/>
              </a:lnSpc>
              <a:spcBef>
                <a:spcPct val="0"/>
              </a:spcBef>
            </a:pPr>
            <a:r>
              <a:rPr lang="en-US" sz="1886" spc="335">
                <a:solidFill>
                  <a:srgbClr val="282828"/>
                </a:solidFill>
                <a:latin typeface="프리텐다드"/>
                <a:ea typeface="프리텐다드"/>
                <a:cs typeface="프리텐다드"/>
                <a:sym typeface="프리텐다드"/>
              </a:rPr>
              <a:t>EXPECTED OUTCOMES</a:t>
            </a:r>
          </a:p>
        </p:txBody>
      </p:sp>
      <p:sp>
        <p:nvSpPr>
          <p:cNvPr id="40" name="Section pages"/>
          <p:cNvSpPr txBox="1"/>
          <p:nvPr/>
        </p:nvSpPr>
        <p:spPr>
          <a:xfrm>
            <a:off x="1485900" y="7874000"/>
            <a:ext cx="15240000" cy="1524000"/>
          </a:xfrm>
          <a:prstGeom prst="rect">
            <a:avLst/>
          </a:prstGeom>
          <a:noFill/>
        </p:spPr>
        <p:txBody>
          <a:bodyPr wrap="square" lIns="0" tIns="0" rIns="0" bIns="0" anchor="ctr">
            <a:noAutofit/>
          </a:bodyPr>
          <a:lstStyle/>
          <a:p>
            <a:pPr marL="0" indent="0">
              <a:lnSpc>
                <a:spcPts val="3000"/>
              </a:lnSpc>
              <a:buNone/>
            </a:pPr>
            <a:r>
              <a:rPr lang="ko-KR" sz="1800" b="1" spc="200" dirty="0">
                <a:solidFill>
                  <a:srgbClr val="FFFFFF"/>
                </a:solidFill>
                <a:latin typeface="프리텐다드 Semi-Bold"/>
                <a:ea typeface="프리텐다드 Semi-Bold"/>
                <a:cs typeface="프리텐다드 Semi-Bold"/>
                <a:sym typeface="프리텐다드 Semi-Bold"/>
              </a:rPr>
              <a:t>IN THIS SECTION</a:t>
            </a:r>
          </a:p>
          <a:p>
            <a:pPr marL="0" indent="0">
              <a:lnSpc>
                <a:spcPts val="3600"/>
              </a:lnSpc>
              <a:spcBef>
                <a:spcPts val="600"/>
              </a:spcBef>
              <a:buNone/>
            </a:pPr>
            <a:r>
              <a:rPr lang="ko-KR" sz="2400" dirty="0">
                <a:solidFill>
                  <a:srgbClr val="FFFFFF"/>
                </a:solidFill>
                <a:latin typeface="프리텐다드"/>
                <a:ea typeface="프리텐다드"/>
                <a:cs typeface="프리텐다드"/>
                <a:sym typeface="프리텐다드"/>
              </a:rPr>
              <a:t>환자 · 의료진 · 병원·보안 관점의 기대 효과</a:t>
            </a:r>
          </a:p>
        </p:txBody>
      </p:sp>
    </p:spTree>
    <p:extLst>
      <p:ext uri="{BB962C8B-B14F-4D97-AF65-F5344CB8AC3E}">
        <p14:creationId xmlns:p14="http://schemas.microsoft.com/office/powerpoint/2010/main" val="25241743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62858" y="-107527"/>
            <a:ext cx="18613717" cy="2953200"/>
            <a:chOff x="0" y="0"/>
            <a:chExt cx="4902378" cy="777797"/>
          </a:xfrm>
        </p:grpSpPr>
        <p:sp>
          <p:nvSpPr>
            <p:cNvPr id="3" name="Freeform 3"/>
            <p:cNvSpPr/>
            <p:nvPr/>
          </p:nvSpPr>
          <p:spPr>
            <a:xfrm>
              <a:off x="0" y="0"/>
              <a:ext cx="4902378" cy="777797"/>
            </a:xfrm>
            <a:custGeom>
              <a:avLst/>
              <a:gdLst/>
              <a:ahLst/>
              <a:cxnLst/>
              <a:rect l="l" t="t" r="r" b="b"/>
              <a:pathLst>
                <a:path w="4902378" h="777797">
                  <a:moveTo>
                    <a:pt x="0" y="0"/>
                  </a:moveTo>
                  <a:lnTo>
                    <a:pt x="4902378" y="0"/>
                  </a:lnTo>
                  <a:lnTo>
                    <a:pt x="4902378" y="777797"/>
                  </a:lnTo>
                  <a:lnTo>
                    <a:pt x="0" y="777797"/>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4902378" cy="825422"/>
            </a:xfrm>
            <a:prstGeom prst="rect">
              <a:avLst/>
            </a:prstGeom>
          </p:spPr>
          <p:txBody>
            <a:bodyPr lIns="50800" tIns="50800" rIns="50800" bIns="50800" rtlCol="0" anchor="ctr"/>
            <a:lstStyle/>
            <a:p>
              <a:pPr algn="ctr">
                <a:lnSpc>
                  <a:spcPts val="3156"/>
                </a:lnSpc>
              </a:pPr>
              <a:endParaRPr/>
            </a:p>
          </p:txBody>
        </p:sp>
      </p:grpSp>
      <p:grpSp>
        <p:nvGrpSpPr>
          <p:cNvPr id="5" name="Group 5"/>
          <p:cNvGrpSpPr/>
          <p:nvPr/>
        </p:nvGrpSpPr>
        <p:grpSpPr>
          <a:xfrm>
            <a:off x="1028700" y="1028700"/>
            <a:ext cx="132273" cy="1204431"/>
            <a:chOff x="0" y="0"/>
            <a:chExt cx="40474" cy="368545"/>
          </a:xfrm>
        </p:grpSpPr>
        <p:sp>
          <p:nvSpPr>
            <p:cNvPr id="6" name="Freeform 6"/>
            <p:cNvSpPr/>
            <p:nvPr/>
          </p:nvSpPr>
          <p:spPr>
            <a:xfrm>
              <a:off x="0" y="0"/>
              <a:ext cx="40474" cy="368545"/>
            </a:xfrm>
            <a:custGeom>
              <a:avLst/>
              <a:gdLst/>
              <a:ahLst/>
              <a:cxnLst/>
              <a:rect l="l" t="t" r="r" b="b"/>
              <a:pathLst>
                <a:path w="40474" h="368545">
                  <a:moveTo>
                    <a:pt x="0" y="0"/>
                  </a:moveTo>
                  <a:lnTo>
                    <a:pt x="40474" y="0"/>
                  </a:lnTo>
                  <a:lnTo>
                    <a:pt x="40474" y="368545"/>
                  </a:lnTo>
                  <a:lnTo>
                    <a:pt x="0" y="368545"/>
                  </a:lnTo>
                  <a:close/>
                </a:path>
              </a:pathLst>
            </a:custGeom>
            <a:solidFill>
              <a:srgbClr val="2A59C5"/>
            </a:solidFill>
          </p:spPr>
          <p:txBody>
            <a:bodyPr/>
            <a:lstStyle/>
            <a:p>
              <a:endParaRPr lang="ko-KR" altLang="en-US"/>
            </a:p>
          </p:txBody>
        </p:sp>
        <p:sp>
          <p:nvSpPr>
            <p:cNvPr id="7" name="TextBox 7"/>
            <p:cNvSpPr txBox="1"/>
            <p:nvPr/>
          </p:nvSpPr>
          <p:spPr>
            <a:xfrm>
              <a:off x="0" y="-38100"/>
              <a:ext cx="40474" cy="406645"/>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421481" y="990600"/>
            <a:ext cx="3894213" cy="261354"/>
          </a:xfrm>
          <a:prstGeom prst="rect">
            <a:avLst/>
          </a:prstGeom>
        </p:spPr>
        <p:txBody>
          <a:bodyPr lIns="0" tIns="0" rIns="0" bIns="0" rtlCol="0" anchor="t">
            <a:spAutoFit/>
          </a:bodyPr>
          <a:lstStyle/>
          <a:p>
            <a:pPr algn="l">
              <a:lnSpc>
                <a:spcPts val="2239"/>
              </a:lnSpc>
              <a:spcBef>
                <a:spcPct val="0"/>
              </a:spcBef>
            </a:pPr>
            <a:r>
              <a:rPr lang="en-US" sz="1599" spc="199">
                <a:solidFill>
                  <a:srgbClr val="2A59C5"/>
                </a:solidFill>
                <a:latin typeface="프리텐다드"/>
                <a:ea typeface="프리텐다드"/>
                <a:cs typeface="프리텐다드"/>
                <a:sym typeface="프리텐다드"/>
              </a:rPr>
              <a:t>EXPECTED OUTCOMES</a:t>
            </a:r>
          </a:p>
        </p:txBody>
      </p:sp>
      <p:sp>
        <p:nvSpPr>
          <p:cNvPr id="10" name="TextBox 10"/>
          <p:cNvSpPr txBox="1"/>
          <p:nvPr/>
        </p:nvSpPr>
        <p:spPr>
          <a:xfrm>
            <a:off x="1421481" y="1253961"/>
            <a:ext cx="12377320" cy="979170"/>
          </a:xfrm>
          <a:prstGeom prst="rect">
            <a:avLst/>
          </a:prstGeom>
        </p:spPr>
        <p:txBody>
          <a:bodyPr lIns="0" tIns="0" rIns="0" bIns="0" rtlCol="0" anchor="t">
            <a:spAutoFit/>
          </a:bodyPr>
          <a:lstStyle/>
          <a:p>
            <a:pPr algn="l">
              <a:lnSpc>
                <a:spcPts val="7979"/>
              </a:lnSpc>
              <a:spcBef>
                <a:spcPct val="0"/>
              </a:spcBef>
            </a:pPr>
            <a:r>
              <a:rPr lang="en-US" sz="5699" b="1">
                <a:solidFill>
                  <a:srgbClr val="282828"/>
                </a:solidFill>
                <a:latin typeface="프리텐다드 Bold"/>
                <a:ea typeface="프리텐다드 Bold"/>
                <a:cs typeface="프리텐다드 Bold"/>
                <a:sym typeface="프리텐다드 Bold"/>
              </a:rPr>
              <a:t>기대 효과</a:t>
            </a:r>
          </a:p>
        </p:txBody>
      </p:sp>
      <p:sp>
        <p:nvSpPr>
          <p:cNvPr id="40" name="Metric panel">
            <a:extLst>
              <a:ext uri="{C183D7F6-B498-43B3-948B-1728B52AA6E4}">
                <adec:decorative xmlns:adec="http://schemas.microsoft.com/office/drawing/2017/decorative" val="1"/>
              </a:ext>
            </a:extLst>
          </p:cNvPr>
          <p:cNvSpPr/>
          <p:nvPr/>
        </p:nvSpPr>
        <p:spPr>
          <a:xfrm>
            <a:off x="1028700" y="3175000"/>
            <a:ext cx="5080000" cy="5384800"/>
          </a:xfrm>
          <a:prstGeom prst="rect">
            <a:avLst/>
          </a:prstGeom>
          <a:noFill/>
          <a:ln w="9525">
            <a:solidFill>
              <a:srgbClr val="737373"/>
            </a:solidFill>
          </a:ln>
        </p:spPr>
        <p:txBody>
          <a:bodyPr wrap="square" lIns="0" tIns="0" rIns="0" bIns="0" rtlCol="0" anchor="t">
            <a:noAutofit/>
          </a:bodyPr>
          <a:lstStyle/>
          <a:p>
            <a:endParaRPr lang="ko-KR"/>
          </a:p>
        </p:txBody>
      </p:sp>
      <p:sp>
        <p:nvSpPr>
          <p:cNvPr id="41" name="Metric heading"/>
          <p:cNvSpPr txBox="1"/>
          <p:nvPr/>
        </p:nvSpPr>
        <p:spPr>
          <a:xfrm>
            <a:off x="1333500" y="3378200"/>
            <a:ext cx="4470400" cy="508000"/>
          </a:xfrm>
          <a:prstGeom prst="rect">
            <a:avLst/>
          </a:prstGeom>
          <a:noFill/>
          <a:ln>
            <a:noFill/>
          </a:ln>
        </p:spPr>
        <p:txBody>
          <a:bodyPr wrap="square" lIns="0" tIns="0" rIns="0" bIns="0" rtlCol="0" anchor="ctr">
            <a:noAutofit/>
          </a:bodyPr>
          <a:lstStyle/>
          <a:p>
            <a:pPr marL="0" indent="0" algn="l">
              <a:lnSpc>
                <a:spcPts val="3000"/>
              </a:lnSpc>
              <a:spcBef>
                <a:spcPts val="0"/>
              </a:spcBef>
              <a:buNone/>
            </a:pPr>
            <a:r>
              <a:rPr lang="ko-KR" sz="2200" b="1" dirty="0">
                <a:solidFill>
                  <a:srgbClr val="282828"/>
                </a:solidFill>
                <a:latin typeface="프리텐다드 Bold"/>
                <a:ea typeface="프리텐다드 Bold"/>
                <a:cs typeface="프리텐다드 Bold"/>
                <a:sym typeface="프리텐다드 Bold"/>
              </a:rPr>
              <a:t>MediQ가 줄이려는 지표</a:t>
            </a:r>
          </a:p>
        </p:txBody>
      </p:sp>
      <p:sp>
        <p:nvSpPr>
          <p:cNvPr id="42" name="Metric"/>
          <p:cNvSpPr txBox="1"/>
          <p:nvPr/>
        </p:nvSpPr>
        <p:spPr>
          <a:xfrm>
            <a:off x="1333500" y="3962400"/>
            <a:ext cx="4470400" cy="1320800"/>
          </a:xfrm>
          <a:prstGeom prst="rect">
            <a:avLst/>
          </a:prstGeom>
          <a:noFill/>
          <a:ln>
            <a:noFill/>
          </a:ln>
        </p:spPr>
        <p:txBody>
          <a:bodyPr wrap="square" lIns="0" tIns="0" rIns="0" bIns="0" rtlCol="0" anchor="ctr">
            <a:noAutofit/>
          </a:bodyPr>
          <a:lstStyle/>
          <a:p>
            <a:pPr marL="0" indent="0" algn="l">
              <a:lnSpc>
                <a:spcPts val="5000"/>
              </a:lnSpc>
              <a:spcBef>
                <a:spcPts val="0"/>
              </a:spcBef>
              <a:buNone/>
            </a:pPr>
            <a:r>
              <a:rPr lang="ko-KR" sz="4400" b="1" dirty="0">
                <a:solidFill>
                  <a:srgbClr val="2A59C5"/>
                </a:solidFill>
                <a:latin typeface="프리텐다드 Bold"/>
                <a:ea typeface="프리텐다드 Bold"/>
                <a:cs typeface="프리텐다드 Bold"/>
                <a:sym typeface="프리텐다드 Bold"/>
              </a:rPr>
              <a:t>26.8%</a:t>
            </a:r>
          </a:p>
          <a:p>
            <a:pPr marL="0" indent="0" algn="l">
              <a:lnSpc>
                <a:spcPts val="2800"/>
              </a:lnSpc>
              <a:spcBef>
                <a:spcPts val="2"/>
              </a:spcBef>
              <a:buNone/>
            </a:pPr>
            <a:r>
              <a:rPr lang="ko-KR" sz="2000" b="1" dirty="0">
                <a:solidFill>
                  <a:srgbClr val="282828"/>
                </a:solidFill>
                <a:latin typeface="프리텐다드 Semi-Bold"/>
                <a:ea typeface="프리텐다드 Semi-Bold"/>
                <a:cs typeface="프리텐다드 Semi-Bold"/>
                <a:sym typeface="프리텐다드 Semi-Bold"/>
              </a:rPr>
              <a:t>CT 재촬영률</a:t>
            </a:r>
          </a:p>
        </p:txBody>
      </p:sp>
      <p:sp>
        <p:nvSpPr>
          <p:cNvPr id="43" name="Metric divider">
            <a:extLst>
              <a:ext uri="{C183D7F6-B498-43B3-948B-1728B52AA6E4}">
                <adec:decorative xmlns:adec="http://schemas.microsoft.com/office/drawing/2017/decorative" val="1"/>
              </a:ext>
            </a:extLst>
          </p:cNvPr>
          <p:cNvSpPr/>
          <p:nvPr/>
        </p:nvSpPr>
        <p:spPr>
          <a:xfrm>
            <a:off x="1333500" y="5372100"/>
            <a:ext cx="4470400" cy="12700"/>
          </a:xfrm>
          <a:prstGeom prst="rect">
            <a:avLst/>
          </a:prstGeom>
          <a:solidFill>
            <a:srgbClr val="D0D0D0"/>
          </a:solidFill>
          <a:ln>
            <a:noFill/>
          </a:ln>
        </p:spPr>
        <p:txBody>
          <a:bodyPr wrap="square" lIns="0" tIns="0" rIns="0" bIns="0" rtlCol="0" anchor="t">
            <a:noAutofit/>
          </a:bodyPr>
          <a:lstStyle/>
          <a:p>
            <a:endParaRPr lang="ko-KR"/>
          </a:p>
        </p:txBody>
      </p:sp>
      <p:sp>
        <p:nvSpPr>
          <p:cNvPr id="44" name="Metric"/>
          <p:cNvSpPr txBox="1"/>
          <p:nvPr/>
        </p:nvSpPr>
        <p:spPr>
          <a:xfrm>
            <a:off x="1333500" y="5461000"/>
            <a:ext cx="4470400" cy="1320800"/>
          </a:xfrm>
          <a:prstGeom prst="rect">
            <a:avLst/>
          </a:prstGeom>
          <a:noFill/>
          <a:ln>
            <a:noFill/>
          </a:ln>
        </p:spPr>
        <p:txBody>
          <a:bodyPr wrap="square" lIns="0" tIns="0" rIns="0" bIns="0" rtlCol="0" anchor="ctr">
            <a:noAutofit/>
          </a:bodyPr>
          <a:lstStyle/>
          <a:p>
            <a:pPr marL="0" indent="0" algn="l">
              <a:lnSpc>
                <a:spcPts val="5000"/>
              </a:lnSpc>
              <a:spcBef>
                <a:spcPts val="0"/>
              </a:spcBef>
              <a:buNone/>
            </a:pPr>
            <a:r>
              <a:rPr lang="ko-KR" sz="4400" b="1" dirty="0">
                <a:solidFill>
                  <a:srgbClr val="2A59C5"/>
                </a:solidFill>
                <a:latin typeface="프리텐다드 Bold"/>
                <a:ea typeface="프리텐다드 Bold"/>
                <a:cs typeface="프리텐다드 Bold"/>
                <a:sym typeface="프리텐다드 Bold"/>
              </a:rPr>
              <a:t>13.8%</a:t>
            </a:r>
          </a:p>
          <a:p>
            <a:pPr marL="0" indent="0" algn="l">
              <a:lnSpc>
                <a:spcPts val="2800"/>
              </a:lnSpc>
              <a:spcBef>
                <a:spcPts val="2"/>
              </a:spcBef>
              <a:buNone/>
            </a:pPr>
            <a:r>
              <a:rPr lang="ko-KR" sz="2000" b="1" dirty="0">
                <a:solidFill>
                  <a:srgbClr val="282828"/>
                </a:solidFill>
                <a:latin typeface="프리텐다드 Semi-Bold"/>
                <a:ea typeface="프리텐다드 Semi-Bold"/>
                <a:cs typeface="프리텐다드 Semi-Bold"/>
                <a:sym typeface="프리텐다드 Semi-Bold"/>
              </a:rPr>
              <a:t>MRI 재촬영률</a:t>
            </a:r>
          </a:p>
        </p:txBody>
      </p:sp>
      <p:sp>
        <p:nvSpPr>
          <p:cNvPr id="45" name="Metric divider">
            <a:extLst>
              <a:ext uri="{C183D7F6-B498-43B3-948B-1728B52AA6E4}">
                <adec:decorative xmlns:adec="http://schemas.microsoft.com/office/drawing/2017/decorative" val="1"/>
              </a:ext>
            </a:extLst>
          </p:cNvPr>
          <p:cNvSpPr/>
          <p:nvPr/>
        </p:nvSpPr>
        <p:spPr>
          <a:xfrm>
            <a:off x="1333500" y="6870700"/>
            <a:ext cx="4470400" cy="12700"/>
          </a:xfrm>
          <a:prstGeom prst="rect">
            <a:avLst/>
          </a:prstGeom>
          <a:solidFill>
            <a:srgbClr val="D0D0D0"/>
          </a:solidFill>
          <a:ln>
            <a:noFill/>
          </a:ln>
        </p:spPr>
        <p:txBody>
          <a:bodyPr wrap="square" lIns="0" tIns="0" rIns="0" bIns="0" rtlCol="0" anchor="t">
            <a:noAutofit/>
          </a:bodyPr>
          <a:lstStyle/>
          <a:p>
            <a:endParaRPr lang="ko-KR"/>
          </a:p>
        </p:txBody>
      </p:sp>
      <p:sp>
        <p:nvSpPr>
          <p:cNvPr id="46" name="Metric"/>
          <p:cNvSpPr txBox="1"/>
          <p:nvPr/>
        </p:nvSpPr>
        <p:spPr>
          <a:xfrm>
            <a:off x="1333500" y="6959600"/>
            <a:ext cx="4470400" cy="1320800"/>
          </a:xfrm>
          <a:prstGeom prst="rect">
            <a:avLst/>
          </a:prstGeom>
          <a:noFill/>
          <a:ln>
            <a:noFill/>
          </a:ln>
        </p:spPr>
        <p:txBody>
          <a:bodyPr wrap="square" lIns="0" tIns="0" rIns="0" bIns="0" rtlCol="0" anchor="ctr">
            <a:noAutofit/>
          </a:bodyPr>
          <a:lstStyle/>
          <a:p>
            <a:pPr marL="0" indent="0" algn="l">
              <a:lnSpc>
                <a:spcPts val="5000"/>
              </a:lnSpc>
              <a:spcBef>
                <a:spcPts val="0"/>
              </a:spcBef>
              <a:buNone/>
            </a:pPr>
            <a:r>
              <a:rPr lang="ko-KR" sz="4400" b="1" dirty="0">
                <a:solidFill>
                  <a:srgbClr val="2A59C5"/>
                </a:solidFill>
                <a:latin typeface="프리텐다드 Bold"/>
                <a:ea typeface="프리텐다드 Bold"/>
                <a:cs typeface="프리텐다드 Bold"/>
                <a:sym typeface="프리텐다드 Bold"/>
              </a:rPr>
              <a:t>650억 원</a:t>
            </a:r>
          </a:p>
          <a:p>
            <a:pPr marL="0" indent="0" algn="l">
              <a:lnSpc>
                <a:spcPts val="2800"/>
              </a:lnSpc>
              <a:spcBef>
                <a:spcPts val="2"/>
              </a:spcBef>
              <a:buNone/>
            </a:pPr>
            <a:r>
              <a:rPr lang="ko-KR" sz="2000" b="1" dirty="0">
                <a:solidFill>
                  <a:srgbClr val="282828"/>
                </a:solidFill>
                <a:latin typeface="프리텐다드 Semi-Bold"/>
                <a:ea typeface="프리텐다드 Semi-Bold"/>
                <a:cs typeface="프리텐다드 Semi-Bold"/>
                <a:sym typeface="프리텐다드 Semi-Bold"/>
              </a:rPr>
              <a:t>중복촬영 관련 급여비</a:t>
            </a:r>
          </a:p>
        </p:txBody>
      </p:sp>
      <p:sp>
        <p:nvSpPr>
          <p:cNvPr id="47" name="Effect card">
            <a:extLst>
              <a:ext uri="{C183D7F6-B498-43B3-948B-1728B52AA6E4}">
                <adec:decorative xmlns:adec="http://schemas.microsoft.com/office/drawing/2017/decorative" val="1"/>
              </a:ext>
            </a:extLst>
          </p:cNvPr>
          <p:cNvSpPr/>
          <p:nvPr/>
        </p:nvSpPr>
        <p:spPr>
          <a:xfrm>
            <a:off x="6489700" y="3175000"/>
            <a:ext cx="10769600" cy="1676400"/>
          </a:xfrm>
          <a:prstGeom prst="rect">
            <a:avLst/>
          </a:prstGeom>
          <a:noFill/>
          <a:ln w="9525">
            <a:solidFill>
              <a:srgbClr val="737373"/>
            </a:solidFill>
          </a:ln>
        </p:spPr>
        <p:txBody>
          <a:bodyPr wrap="square" lIns="0" tIns="0" rIns="0" bIns="0" rtlCol="0" anchor="t">
            <a:noAutofit/>
          </a:bodyPr>
          <a:lstStyle/>
          <a:p>
            <a:endParaRPr lang="ko-KR"/>
          </a:p>
        </p:txBody>
      </p:sp>
      <p:sp>
        <p:nvSpPr>
          <p:cNvPr id="48" name="Effect bar">
            <a:extLst>
              <a:ext uri="{C183D7F6-B498-43B3-948B-1728B52AA6E4}">
                <adec:decorative xmlns:adec="http://schemas.microsoft.com/office/drawing/2017/decorative" val="1"/>
              </a:ext>
            </a:extLst>
          </p:cNvPr>
          <p:cNvSpPr/>
          <p:nvPr/>
        </p:nvSpPr>
        <p:spPr>
          <a:xfrm>
            <a:off x="6794500" y="3683000"/>
            <a:ext cx="63500" cy="660400"/>
          </a:xfrm>
          <a:prstGeom prst="rect">
            <a:avLst/>
          </a:prstGeom>
          <a:solidFill>
            <a:srgbClr val="2A59C5"/>
          </a:solidFill>
          <a:ln>
            <a:noFill/>
          </a:ln>
        </p:spPr>
        <p:txBody>
          <a:bodyPr wrap="square" lIns="0" tIns="0" rIns="0" bIns="0" rtlCol="0" anchor="t">
            <a:noAutofit/>
          </a:bodyPr>
          <a:lstStyle/>
          <a:p>
            <a:endParaRPr lang="ko-KR"/>
          </a:p>
        </p:txBody>
      </p:sp>
      <p:sp>
        <p:nvSpPr>
          <p:cNvPr id="49" name="Effect label"/>
          <p:cNvSpPr txBox="1"/>
          <p:nvPr/>
        </p:nvSpPr>
        <p:spPr>
          <a:xfrm>
            <a:off x="7023100" y="3175000"/>
            <a:ext cx="2540000" cy="1676400"/>
          </a:xfrm>
          <a:prstGeom prst="rect">
            <a:avLst/>
          </a:prstGeom>
          <a:noFill/>
          <a:ln>
            <a:noFill/>
          </a:ln>
        </p:spPr>
        <p:txBody>
          <a:bodyPr wrap="square" lIns="0" tIns="0" rIns="0" bIns="0" rtlCol="0" anchor="ctr">
            <a:noAutofit/>
          </a:bodyPr>
          <a:lstStyle/>
          <a:p>
            <a:pPr marL="0" indent="0" algn="l">
              <a:lnSpc>
                <a:spcPts val="3400"/>
              </a:lnSpc>
              <a:spcBef>
                <a:spcPts val="0"/>
              </a:spcBef>
              <a:buNone/>
            </a:pPr>
            <a:r>
              <a:rPr lang="ko-KR" sz="2600" b="1" dirty="0">
                <a:solidFill>
                  <a:srgbClr val="2A59C5"/>
                </a:solidFill>
                <a:latin typeface="프리텐다드 Bold"/>
                <a:ea typeface="프리텐다드 Bold"/>
                <a:cs typeface="프리텐다드 Bold"/>
                <a:sym typeface="프리텐다드 Bold"/>
              </a:rPr>
              <a:t>환자</a:t>
            </a:r>
          </a:p>
        </p:txBody>
      </p:sp>
      <p:sp>
        <p:nvSpPr>
          <p:cNvPr id="50" name="Effect text"/>
          <p:cNvSpPr txBox="1"/>
          <p:nvPr/>
        </p:nvSpPr>
        <p:spPr>
          <a:xfrm>
            <a:off x="9690100" y="3175000"/>
            <a:ext cx="7315200" cy="1676400"/>
          </a:xfrm>
          <a:prstGeom prst="rect">
            <a:avLst/>
          </a:prstGeom>
          <a:noFill/>
          <a:ln>
            <a:noFill/>
          </a:ln>
        </p:spPr>
        <p:txBody>
          <a:bodyPr wrap="square" lIns="0" tIns="0" rIns="0" bIns="0" rtlCol="0" anchor="ctr">
            <a:noAutofit/>
          </a:bodyPr>
          <a:lstStyle/>
          <a:p>
            <a:pPr marL="285750" indent="-285750">
              <a:lnSpc>
                <a:spcPts val="3200"/>
              </a:lnSpc>
              <a:spcBef>
                <a:spcPts val="0"/>
              </a:spcBef>
              <a:buClr>
                <a:srgbClr val="2A59C5"/>
              </a:buClr>
              <a:buFont typeface="Arial"/>
              <a:buChar char="•"/>
            </a:pPr>
            <a:r>
              <a:rPr lang="ko-KR" sz="2400" dirty="0">
                <a:solidFill>
                  <a:srgbClr val="282828"/>
                </a:solidFill>
                <a:latin typeface="프리텐다드"/>
                <a:ea typeface="프리텐다드"/>
                <a:cs typeface="프리텐다드"/>
                <a:sym typeface="프리텐다드"/>
              </a:rPr>
              <a:t>CD 발급·직접 이동 없이 영상 공유</a:t>
            </a:r>
          </a:p>
          <a:p>
            <a:pPr marL="285750" indent="-285750">
              <a:lnSpc>
                <a:spcPts val="3200"/>
              </a:lnSpc>
              <a:spcBef>
                <a:spcPts val="6"/>
              </a:spcBef>
              <a:buClr>
                <a:srgbClr val="2A59C5"/>
              </a:buClr>
              <a:buFont typeface="Arial"/>
              <a:buChar char="•"/>
            </a:pPr>
            <a:r>
              <a:rPr lang="ko-KR" sz="2400" dirty="0">
                <a:solidFill>
                  <a:srgbClr val="282828"/>
                </a:solidFill>
                <a:latin typeface="프리텐다드"/>
                <a:ea typeface="프리텐다드"/>
                <a:cs typeface="프리텐다드"/>
                <a:sym typeface="프리텐다드"/>
              </a:rPr>
              <a:t>재촬영 비용과 대기 시간 감소</a:t>
            </a:r>
          </a:p>
        </p:txBody>
      </p:sp>
      <p:sp>
        <p:nvSpPr>
          <p:cNvPr id="51" name="Effect card">
            <a:extLst>
              <a:ext uri="{C183D7F6-B498-43B3-948B-1728B52AA6E4}">
                <adec:decorative xmlns:adec="http://schemas.microsoft.com/office/drawing/2017/decorative" val="1"/>
              </a:ext>
            </a:extLst>
          </p:cNvPr>
          <p:cNvSpPr/>
          <p:nvPr/>
        </p:nvSpPr>
        <p:spPr>
          <a:xfrm>
            <a:off x="6489700" y="5029200"/>
            <a:ext cx="10769600" cy="1676400"/>
          </a:xfrm>
          <a:prstGeom prst="rect">
            <a:avLst/>
          </a:prstGeom>
          <a:noFill/>
          <a:ln w="9525">
            <a:solidFill>
              <a:srgbClr val="737373"/>
            </a:solidFill>
          </a:ln>
        </p:spPr>
        <p:txBody>
          <a:bodyPr wrap="square" lIns="0" tIns="0" rIns="0" bIns="0" rtlCol="0" anchor="t">
            <a:noAutofit/>
          </a:bodyPr>
          <a:lstStyle/>
          <a:p>
            <a:endParaRPr lang="ko-KR"/>
          </a:p>
        </p:txBody>
      </p:sp>
      <p:sp>
        <p:nvSpPr>
          <p:cNvPr id="52" name="Effect bar">
            <a:extLst>
              <a:ext uri="{C183D7F6-B498-43B3-948B-1728B52AA6E4}">
                <adec:decorative xmlns:adec="http://schemas.microsoft.com/office/drawing/2017/decorative" val="1"/>
              </a:ext>
            </a:extLst>
          </p:cNvPr>
          <p:cNvSpPr/>
          <p:nvPr/>
        </p:nvSpPr>
        <p:spPr>
          <a:xfrm>
            <a:off x="6794500" y="5537200"/>
            <a:ext cx="63500" cy="660400"/>
          </a:xfrm>
          <a:prstGeom prst="rect">
            <a:avLst/>
          </a:prstGeom>
          <a:solidFill>
            <a:srgbClr val="2A59C5"/>
          </a:solidFill>
          <a:ln>
            <a:noFill/>
          </a:ln>
        </p:spPr>
        <p:txBody>
          <a:bodyPr wrap="square" lIns="0" tIns="0" rIns="0" bIns="0" rtlCol="0" anchor="t">
            <a:noAutofit/>
          </a:bodyPr>
          <a:lstStyle/>
          <a:p>
            <a:endParaRPr lang="ko-KR"/>
          </a:p>
        </p:txBody>
      </p:sp>
      <p:sp>
        <p:nvSpPr>
          <p:cNvPr id="53" name="Effect label"/>
          <p:cNvSpPr txBox="1"/>
          <p:nvPr/>
        </p:nvSpPr>
        <p:spPr>
          <a:xfrm>
            <a:off x="7023100" y="5029200"/>
            <a:ext cx="2540000" cy="1676400"/>
          </a:xfrm>
          <a:prstGeom prst="rect">
            <a:avLst/>
          </a:prstGeom>
          <a:noFill/>
          <a:ln>
            <a:noFill/>
          </a:ln>
        </p:spPr>
        <p:txBody>
          <a:bodyPr wrap="square" lIns="0" tIns="0" rIns="0" bIns="0" rtlCol="0" anchor="ctr">
            <a:noAutofit/>
          </a:bodyPr>
          <a:lstStyle/>
          <a:p>
            <a:pPr marL="0" indent="0" algn="l">
              <a:lnSpc>
                <a:spcPts val="3400"/>
              </a:lnSpc>
              <a:spcBef>
                <a:spcPts val="0"/>
              </a:spcBef>
              <a:buNone/>
            </a:pPr>
            <a:r>
              <a:rPr lang="ko-KR" sz="2600" b="1" dirty="0">
                <a:solidFill>
                  <a:srgbClr val="2A59C5"/>
                </a:solidFill>
                <a:latin typeface="프리텐다드 Bold"/>
                <a:ea typeface="프리텐다드 Bold"/>
                <a:cs typeface="프리텐다드 Bold"/>
                <a:sym typeface="프리텐다드 Bold"/>
              </a:rPr>
              <a:t>의료진</a:t>
            </a:r>
          </a:p>
        </p:txBody>
      </p:sp>
      <p:sp>
        <p:nvSpPr>
          <p:cNvPr id="54" name="Effect text"/>
          <p:cNvSpPr txBox="1"/>
          <p:nvPr/>
        </p:nvSpPr>
        <p:spPr>
          <a:xfrm>
            <a:off x="9690100" y="5029200"/>
            <a:ext cx="7315200" cy="1676400"/>
          </a:xfrm>
          <a:prstGeom prst="rect">
            <a:avLst/>
          </a:prstGeom>
          <a:noFill/>
          <a:ln>
            <a:noFill/>
          </a:ln>
        </p:spPr>
        <p:txBody>
          <a:bodyPr wrap="square" lIns="0" tIns="0" rIns="0" bIns="0" rtlCol="0" anchor="ctr">
            <a:noAutofit/>
          </a:bodyPr>
          <a:lstStyle/>
          <a:p>
            <a:pPr marL="285750" indent="-285750">
              <a:lnSpc>
                <a:spcPts val="3200"/>
              </a:lnSpc>
              <a:spcBef>
                <a:spcPts val="0"/>
              </a:spcBef>
              <a:buClr>
                <a:srgbClr val="2A59C5"/>
              </a:buClr>
              <a:buFont typeface="Arial"/>
              <a:buChar char="•"/>
            </a:pPr>
            <a:r>
              <a:rPr lang="ko-KR" sz="2400" dirty="0">
                <a:solidFill>
                  <a:srgbClr val="282828"/>
                </a:solidFill>
                <a:latin typeface="프리텐다드"/>
                <a:ea typeface="프리텐다드"/>
                <a:cs typeface="프리텐다드"/>
                <a:sym typeface="프리텐다드"/>
              </a:rPr>
              <a:t>이전 검사 이력을 바로 확인</a:t>
            </a:r>
          </a:p>
          <a:p>
            <a:pPr marL="285750" indent="-285750">
              <a:lnSpc>
                <a:spcPts val="3200"/>
              </a:lnSpc>
              <a:spcBef>
                <a:spcPts val="6"/>
              </a:spcBef>
              <a:buClr>
                <a:srgbClr val="2A59C5"/>
              </a:buClr>
              <a:buFont typeface="Arial"/>
              <a:buChar char="•"/>
            </a:pPr>
            <a:r>
              <a:rPr lang="ko-KR" sz="2400" dirty="0">
                <a:solidFill>
                  <a:srgbClr val="282828"/>
                </a:solidFill>
                <a:latin typeface="프리텐다드"/>
                <a:ea typeface="프리텐다드"/>
                <a:cs typeface="프리텐다드"/>
                <a:sym typeface="프리텐다드"/>
              </a:rPr>
              <a:t>진료 연속성과 판단 속도 향상</a:t>
            </a:r>
          </a:p>
        </p:txBody>
      </p:sp>
      <p:sp>
        <p:nvSpPr>
          <p:cNvPr id="55" name="Effect card">
            <a:extLst>
              <a:ext uri="{C183D7F6-B498-43B3-948B-1728B52AA6E4}">
                <adec:decorative xmlns:adec="http://schemas.microsoft.com/office/drawing/2017/decorative" val="1"/>
              </a:ext>
            </a:extLst>
          </p:cNvPr>
          <p:cNvSpPr/>
          <p:nvPr/>
        </p:nvSpPr>
        <p:spPr>
          <a:xfrm>
            <a:off x="6489700" y="6883400"/>
            <a:ext cx="10769600" cy="1676400"/>
          </a:xfrm>
          <a:prstGeom prst="rect">
            <a:avLst/>
          </a:prstGeom>
          <a:noFill/>
          <a:ln w="9525">
            <a:solidFill>
              <a:srgbClr val="737373"/>
            </a:solidFill>
          </a:ln>
        </p:spPr>
        <p:txBody>
          <a:bodyPr wrap="square" lIns="0" tIns="0" rIns="0" bIns="0" rtlCol="0" anchor="t">
            <a:noAutofit/>
          </a:bodyPr>
          <a:lstStyle/>
          <a:p>
            <a:endParaRPr lang="ko-KR"/>
          </a:p>
        </p:txBody>
      </p:sp>
      <p:sp>
        <p:nvSpPr>
          <p:cNvPr id="56" name="Effect bar">
            <a:extLst>
              <a:ext uri="{C183D7F6-B498-43B3-948B-1728B52AA6E4}">
                <adec:decorative xmlns:adec="http://schemas.microsoft.com/office/drawing/2017/decorative" val="1"/>
              </a:ext>
            </a:extLst>
          </p:cNvPr>
          <p:cNvSpPr/>
          <p:nvPr/>
        </p:nvSpPr>
        <p:spPr>
          <a:xfrm>
            <a:off x="6794500" y="7391400"/>
            <a:ext cx="63500" cy="660400"/>
          </a:xfrm>
          <a:prstGeom prst="rect">
            <a:avLst/>
          </a:prstGeom>
          <a:solidFill>
            <a:srgbClr val="2A59C5"/>
          </a:solidFill>
          <a:ln>
            <a:noFill/>
          </a:ln>
        </p:spPr>
        <p:txBody>
          <a:bodyPr wrap="square" lIns="0" tIns="0" rIns="0" bIns="0" rtlCol="0" anchor="t">
            <a:noAutofit/>
          </a:bodyPr>
          <a:lstStyle/>
          <a:p>
            <a:endParaRPr lang="ko-KR"/>
          </a:p>
        </p:txBody>
      </p:sp>
      <p:sp>
        <p:nvSpPr>
          <p:cNvPr id="57" name="Effect label"/>
          <p:cNvSpPr txBox="1"/>
          <p:nvPr/>
        </p:nvSpPr>
        <p:spPr>
          <a:xfrm>
            <a:off x="7023100" y="6883400"/>
            <a:ext cx="2540000" cy="1676400"/>
          </a:xfrm>
          <a:prstGeom prst="rect">
            <a:avLst/>
          </a:prstGeom>
          <a:noFill/>
          <a:ln>
            <a:noFill/>
          </a:ln>
        </p:spPr>
        <p:txBody>
          <a:bodyPr wrap="square" lIns="0" tIns="0" rIns="0" bIns="0" rtlCol="0" anchor="ctr">
            <a:noAutofit/>
          </a:bodyPr>
          <a:lstStyle/>
          <a:p>
            <a:pPr marL="0" indent="0" algn="l">
              <a:lnSpc>
                <a:spcPts val="3400"/>
              </a:lnSpc>
              <a:spcBef>
                <a:spcPts val="0"/>
              </a:spcBef>
              <a:buNone/>
            </a:pPr>
            <a:r>
              <a:rPr lang="ko-KR" sz="2600" b="1" dirty="0">
                <a:solidFill>
                  <a:srgbClr val="2A59C5"/>
                </a:solidFill>
                <a:latin typeface="프리텐다드 Bold"/>
                <a:ea typeface="프리텐다드 Bold"/>
                <a:cs typeface="프리텐다드 Bold"/>
                <a:sym typeface="프리텐다드 Bold"/>
              </a:rPr>
              <a:t>병원·보안</a:t>
            </a:r>
          </a:p>
        </p:txBody>
      </p:sp>
      <p:sp>
        <p:nvSpPr>
          <p:cNvPr id="58" name="Effect text"/>
          <p:cNvSpPr txBox="1"/>
          <p:nvPr/>
        </p:nvSpPr>
        <p:spPr>
          <a:xfrm>
            <a:off x="9690100" y="6883400"/>
            <a:ext cx="7315200" cy="1676400"/>
          </a:xfrm>
          <a:prstGeom prst="rect">
            <a:avLst/>
          </a:prstGeom>
          <a:noFill/>
          <a:ln>
            <a:noFill/>
          </a:ln>
        </p:spPr>
        <p:txBody>
          <a:bodyPr wrap="square" lIns="0" tIns="0" rIns="0" bIns="0" rtlCol="0" anchor="ctr">
            <a:noAutofit/>
          </a:bodyPr>
          <a:lstStyle/>
          <a:p>
            <a:pPr marL="285750" indent="-285750">
              <a:lnSpc>
                <a:spcPts val="3200"/>
              </a:lnSpc>
              <a:spcBef>
                <a:spcPts val="0"/>
              </a:spcBef>
              <a:buClr>
                <a:srgbClr val="2A59C5"/>
              </a:buClr>
              <a:buFont typeface="Arial"/>
              <a:buChar char="•"/>
            </a:pPr>
            <a:r>
              <a:rPr lang="ko-KR" sz="2400" dirty="0">
                <a:solidFill>
                  <a:srgbClr val="282828"/>
                </a:solidFill>
                <a:latin typeface="프리텐다드"/>
                <a:ea typeface="프리텐다드"/>
                <a:cs typeface="프리텐다드"/>
                <a:sym typeface="프리텐다드"/>
              </a:rPr>
              <a:t>동의 범위 안의 접근만 허용</a:t>
            </a:r>
          </a:p>
          <a:p>
            <a:pPr marL="285750" indent="-285750">
              <a:lnSpc>
                <a:spcPts val="3200"/>
              </a:lnSpc>
              <a:spcBef>
                <a:spcPts val="6"/>
              </a:spcBef>
              <a:buClr>
                <a:srgbClr val="2A59C5"/>
              </a:buClr>
              <a:buFont typeface="Arial"/>
              <a:buChar char="•"/>
            </a:pPr>
            <a:r>
              <a:rPr lang="ko-KR" sz="2400" dirty="0">
                <a:solidFill>
                  <a:srgbClr val="282828"/>
                </a:solidFill>
                <a:latin typeface="프리텐다드"/>
                <a:ea typeface="프리텐다드"/>
                <a:cs typeface="프리텐다드"/>
                <a:sym typeface="프리텐다드"/>
              </a:rPr>
              <a:t>감사로그로 접근 이력 추적</a:t>
            </a:r>
          </a:p>
        </p:txBody>
      </p:sp>
      <p:sp>
        <p:nvSpPr>
          <p:cNvPr id="59" name="Banner"/>
          <p:cNvSpPr/>
          <p:nvPr/>
        </p:nvSpPr>
        <p:spPr>
          <a:xfrm>
            <a:off x="1028700" y="8763000"/>
            <a:ext cx="16230600" cy="660400"/>
          </a:xfrm>
          <a:prstGeom prst="rect">
            <a:avLst/>
          </a:prstGeom>
          <a:solidFill>
            <a:srgbClr val="E9E9E9"/>
          </a:solidFill>
          <a:ln w="9525">
            <a:solidFill>
              <a:srgbClr val="737373"/>
            </a:solidFill>
          </a:ln>
        </p:spPr>
        <p:txBody>
          <a:bodyPr wrap="square" lIns="177800" tIns="0" rIns="177800" bIns="0" rtlCol="0" anchor="ctr">
            <a:noAutofit/>
          </a:bodyPr>
          <a:lstStyle/>
          <a:p>
            <a:pPr marL="0" indent="0" algn="ctr">
              <a:lnSpc>
                <a:spcPts val="3000"/>
              </a:lnSpc>
              <a:spcBef>
                <a:spcPts val="0"/>
              </a:spcBef>
              <a:buNone/>
            </a:pPr>
            <a:r>
              <a:rPr lang="ko-KR" sz="2200" b="1" dirty="0">
                <a:solidFill>
                  <a:srgbClr val="282828"/>
                </a:solidFill>
                <a:latin typeface="프리텐다드 Bold"/>
                <a:ea typeface="프리텐다드 Bold"/>
                <a:cs typeface="프리텐다드 Bold"/>
                <a:sym typeface="프리텐다드 Bold"/>
              </a:rPr>
              <a:t>환자 동의 기반 영상 공유로 불필요한 재촬영을 줄이고, 추적 가능한 의료영상 연계 환경을 만든다</a:t>
            </a:r>
          </a:p>
        </p:txBody>
      </p:sp>
      <p:sp>
        <p:nvSpPr>
          <p:cNvPr id="60" name="Source"/>
          <p:cNvSpPr txBox="1"/>
          <p:nvPr/>
        </p:nvSpPr>
        <p:spPr>
          <a:xfrm>
            <a:off x="1028700" y="9652000"/>
            <a:ext cx="16230600" cy="330200"/>
          </a:xfrm>
          <a:prstGeom prst="rect">
            <a:avLst/>
          </a:prstGeom>
          <a:noFill/>
          <a:ln>
            <a:noFill/>
          </a:ln>
        </p:spPr>
        <p:txBody>
          <a:bodyPr wrap="square" lIns="177800" tIns="0" rIns="177800" bIns="0" rtlCol="0" anchor="t">
            <a:noAutofit/>
          </a:bodyPr>
          <a:lstStyle/>
          <a:p>
            <a:pPr marL="0" indent="0" algn="l">
              <a:lnSpc>
                <a:spcPts val="2000"/>
              </a:lnSpc>
              <a:spcBef>
                <a:spcPts val="0"/>
              </a:spcBef>
              <a:buNone/>
            </a:pPr>
            <a:r>
              <a:rPr lang="ko-KR" sz="1600" dirty="0">
                <a:solidFill>
                  <a:srgbClr val="595959"/>
                </a:solidFill>
                <a:latin typeface="프리텐다드"/>
                <a:ea typeface="프리텐다드"/>
                <a:cs typeface="프리텐다드"/>
                <a:sym typeface="프리텐다드"/>
              </a:rPr>
              <a:t>지표: 2025년, 촬영 후 30일 이내 기준(6번 슬라이드). 절감 규모는 도입 후 측정 필요.</a:t>
            </a:r>
          </a:p>
        </p:txBody>
      </p:sp>
    </p:spTree>
    <p:extLst>
      <p:ext uri="{BB962C8B-B14F-4D97-AF65-F5344CB8AC3E}">
        <p14:creationId xmlns:p14="http://schemas.microsoft.com/office/powerpoint/2010/main" val="29152276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15278433" y="-189268"/>
            <a:ext cx="3268199" cy="7739024"/>
            <a:chOff x="0" y="0"/>
            <a:chExt cx="860760" cy="2038262"/>
          </a:xfrm>
        </p:grpSpPr>
        <p:sp>
          <p:nvSpPr>
            <p:cNvPr id="3" name="Freeform 3"/>
            <p:cNvSpPr/>
            <p:nvPr/>
          </p:nvSpPr>
          <p:spPr>
            <a:xfrm>
              <a:off x="0" y="0"/>
              <a:ext cx="860760" cy="2038262"/>
            </a:xfrm>
            <a:custGeom>
              <a:avLst/>
              <a:gdLst/>
              <a:ahLst/>
              <a:cxnLst/>
              <a:rect l="l" t="t" r="r" b="b"/>
              <a:pathLst>
                <a:path w="860760" h="2038262">
                  <a:moveTo>
                    <a:pt x="0" y="0"/>
                  </a:moveTo>
                  <a:lnTo>
                    <a:pt x="860760" y="0"/>
                  </a:lnTo>
                  <a:lnTo>
                    <a:pt x="860760" y="2038262"/>
                  </a:lnTo>
                  <a:lnTo>
                    <a:pt x="0" y="2038262"/>
                  </a:lnTo>
                  <a:close/>
                </a:path>
              </a:pathLst>
            </a:custGeom>
            <a:solidFill>
              <a:srgbClr val="E9E9E9"/>
            </a:solidFill>
            <a:ln cap="sq">
              <a:noFill/>
              <a:prstDash val="solid"/>
              <a:miter/>
            </a:ln>
          </p:spPr>
          <p:txBody>
            <a:bodyPr/>
            <a:lstStyle/>
            <a:p>
              <a:endParaRPr lang="ko-KR" altLang="en-US"/>
            </a:p>
          </p:txBody>
        </p:sp>
        <p:sp>
          <p:nvSpPr>
            <p:cNvPr id="4" name="TextBox 4"/>
            <p:cNvSpPr txBox="1"/>
            <p:nvPr/>
          </p:nvSpPr>
          <p:spPr>
            <a:xfrm>
              <a:off x="0" y="-47625"/>
              <a:ext cx="860760" cy="2085887"/>
            </a:xfrm>
            <a:prstGeom prst="rect">
              <a:avLst/>
            </a:prstGeom>
          </p:spPr>
          <p:txBody>
            <a:bodyPr lIns="50800" tIns="50800" rIns="50800" bIns="50800" rtlCol="0" anchor="ctr"/>
            <a:lstStyle/>
            <a:p>
              <a:pPr algn="ctr">
                <a:lnSpc>
                  <a:spcPts val="3156"/>
                </a:lnSpc>
              </a:pPr>
              <a:endParaRPr/>
            </a:p>
          </p:txBody>
        </p:sp>
      </p:grpSp>
      <p:sp>
        <p:nvSpPr>
          <p:cNvPr id="5" name="Freeform 5">
            <a:extLst>
              <a:ext uri="{C183D7F6-B498-43B3-948B-1728B52AA6E4}">
                <adec:decorative xmlns:adec="http://schemas.microsoft.com/office/drawing/2017/decorative" val="1"/>
              </a:ext>
            </a:extLst>
          </p:cNvPr>
          <p:cNvSpPr/>
          <p:nvPr/>
        </p:nvSpPr>
        <p:spPr>
          <a:xfrm>
            <a:off x="0" y="7075598"/>
            <a:ext cx="18288000" cy="5818426"/>
          </a:xfrm>
          <a:custGeom>
            <a:avLst/>
            <a:gdLst/>
            <a:ahLst/>
            <a:cxnLst/>
            <a:rect l="l" t="t" r="r" b="b"/>
            <a:pathLst>
              <a:path w="18288000" h="5818426">
                <a:moveTo>
                  <a:pt x="0" y="0"/>
                </a:moveTo>
                <a:lnTo>
                  <a:pt x="18288000" y="0"/>
                </a:lnTo>
                <a:lnTo>
                  <a:pt x="18288000" y="5818426"/>
                </a:lnTo>
                <a:lnTo>
                  <a:pt x="0" y="5818426"/>
                </a:lnTo>
                <a:lnTo>
                  <a:pt x="0" y="0"/>
                </a:lnTo>
                <a:close/>
              </a:path>
            </a:pathLst>
          </a:custGeom>
          <a:blipFill>
            <a:blip r:embed="rId2"/>
            <a:stretch>
              <a:fillRect b="-4705"/>
            </a:stretch>
          </a:blipFill>
        </p:spPr>
        <p:txBody>
          <a:bodyPr/>
          <a:lstStyle/>
          <a:p>
            <a:endParaRPr lang="ko-KR" altLang="en-US"/>
          </a:p>
        </p:txBody>
      </p:sp>
      <p:sp>
        <p:nvSpPr>
          <p:cNvPr id="6" name="TextBox 6"/>
          <p:cNvSpPr txBox="1"/>
          <p:nvPr/>
        </p:nvSpPr>
        <p:spPr>
          <a:xfrm>
            <a:off x="1028700" y="2214108"/>
            <a:ext cx="8441160" cy="1584983"/>
          </a:xfrm>
          <a:prstGeom prst="rect">
            <a:avLst/>
          </a:prstGeom>
        </p:spPr>
        <p:txBody>
          <a:bodyPr lIns="0" tIns="0" rIns="0" bIns="0" rtlCol="0" anchor="t">
            <a:spAutoFit/>
          </a:bodyPr>
          <a:lstStyle/>
          <a:p>
            <a:pPr algn="l">
              <a:lnSpc>
                <a:spcPts val="12979"/>
              </a:lnSpc>
              <a:spcBef>
                <a:spcPct val="0"/>
              </a:spcBef>
            </a:pPr>
            <a:r>
              <a:rPr lang="en-US" sz="9270" b="1">
                <a:solidFill>
                  <a:srgbClr val="2A59C5"/>
                </a:solidFill>
                <a:latin typeface="프리텐다드 Bold"/>
                <a:ea typeface="프리텐다드 Bold"/>
                <a:cs typeface="프리텐다드 Bold"/>
                <a:sym typeface="프리텐다드 Bold"/>
              </a:rPr>
              <a:t>Thank You</a:t>
            </a:r>
          </a:p>
        </p:txBody>
      </p:sp>
      <p:sp>
        <p:nvSpPr>
          <p:cNvPr id="7" name="TextBox 7"/>
          <p:cNvSpPr txBox="1"/>
          <p:nvPr/>
        </p:nvSpPr>
        <p:spPr>
          <a:xfrm>
            <a:off x="1028700" y="3516926"/>
            <a:ext cx="7056707" cy="1584983"/>
          </a:xfrm>
          <a:prstGeom prst="rect">
            <a:avLst/>
          </a:prstGeom>
        </p:spPr>
        <p:txBody>
          <a:bodyPr lIns="0" tIns="0" rIns="0" bIns="0" rtlCol="0" anchor="t">
            <a:spAutoFit/>
          </a:bodyPr>
          <a:lstStyle/>
          <a:p>
            <a:pPr algn="l">
              <a:lnSpc>
                <a:spcPts val="12979"/>
              </a:lnSpc>
              <a:spcBef>
                <a:spcPct val="0"/>
              </a:spcBef>
            </a:pPr>
            <a:r>
              <a:rPr lang="en-US" sz="9270" b="1">
                <a:solidFill>
                  <a:srgbClr val="282828"/>
                </a:solidFill>
                <a:latin typeface="프리텐다드 Bold"/>
                <a:ea typeface="프리텐다드 Bold"/>
                <a:cs typeface="프리텐다드 Bold"/>
                <a:sym typeface="프리텐다드 Bold"/>
              </a:rPr>
              <a:t>감사합니다!</a:t>
            </a:r>
          </a:p>
        </p:txBody>
      </p:sp>
      <p:sp>
        <p:nvSpPr>
          <p:cNvPr id="8" name="TextBox 8"/>
          <p:cNvSpPr txBox="1"/>
          <p:nvPr/>
        </p:nvSpPr>
        <p:spPr>
          <a:xfrm>
            <a:off x="1028700" y="1848967"/>
            <a:ext cx="3836759" cy="356036"/>
          </a:xfrm>
          <a:prstGeom prst="rect">
            <a:avLst/>
          </a:prstGeom>
        </p:spPr>
        <p:txBody>
          <a:bodyPr lIns="0" tIns="0" rIns="0" bIns="0" rtlCol="0" anchor="t">
            <a:spAutoFit/>
          </a:bodyPr>
          <a:lstStyle/>
          <a:p>
            <a:pPr algn="l">
              <a:lnSpc>
                <a:spcPts val="2950"/>
              </a:lnSpc>
              <a:spcBef>
                <a:spcPct val="0"/>
              </a:spcBef>
            </a:pPr>
            <a:r>
              <a:rPr lang="en-US" sz="2107" spc="210">
                <a:solidFill>
                  <a:srgbClr val="282828"/>
                </a:solidFill>
                <a:latin typeface="프리텐다드"/>
                <a:ea typeface="프리텐다드"/>
                <a:cs typeface="프리텐다드"/>
                <a:sym typeface="프리텐다드"/>
              </a:rPr>
              <a:t>BUSINESS PROPOSAL</a:t>
            </a:r>
          </a:p>
        </p:txBody>
      </p:sp>
      <p:sp>
        <p:nvSpPr>
          <p:cNvPr id="9" name="TextBox 9"/>
          <p:cNvSpPr txBox="1"/>
          <p:nvPr/>
        </p:nvSpPr>
        <p:spPr>
          <a:xfrm>
            <a:off x="1028700" y="5244784"/>
            <a:ext cx="6505897" cy="333093"/>
          </a:xfrm>
          <a:prstGeom prst="rect">
            <a:avLst/>
          </a:prstGeom>
        </p:spPr>
        <p:txBody>
          <a:bodyPr lIns="0" tIns="0" rIns="0" bIns="0" rtlCol="0" anchor="t">
            <a:spAutoFit/>
          </a:bodyPr>
          <a:lstStyle/>
          <a:p>
            <a:pPr marL="0" lvl="0" indent="0" algn="just">
              <a:lnSpc>
                <a:spcPts val="2640"/>
              </a:lnSpc>
              <a:spcBef>
                <a:spcPct val="0"/>
              </a:spcBef>
            </a:pPr>
            <a:r>
              <a:rPr lang="en-US" sz="1886" spc="335">
                <a:solidFill>
                  <a:srgbClr val="282828"/>
                </a:solidFill>
                <a:latin typeface="프리텐다드"/>
                <a:ea typeface="프리텐다드"/>
                <a:cs typeface="프리텐다드"/>
                <a:sym typeface="프리텐다드"/>
              </a:rPr>
              <a:t>고객의 편리함을 위한 전략적 솔루션을 제안합니다</a:t>
            </a:r>
          </a:p>
        </p:txBody>
      </p:sp>
    </p:spTree>
    <p:extLst>
      <p:ext uri="{BB962C8B-B14F-4D97-AF65-F5344CB8AC3E}">
        <p14:creationId xmlns:p14="http://schemas.microsoft.com/office/powerpoint/2010/main" val="4159744921"/>
      </p:ext>
    </p:extLst>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219075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2000" y="476250"/>
            <a:ext cx="76200" cy="1238250"/>
          </a:xfrm>
          <a:prstGeom prst="rect">
            <a:avLst/>
          </a:prstGeom>
          <a:solidFill>
            <a:srgbClr val="2F6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49" y="419100"/>
            <a:ext cx="13335000" cy="323850"/>
          </a:xfrm>
          <a:prstGeom prst="rect">
            <a:avLst/>
          </a:prstGeom>
          <a:noFill/>
        </p:spPr>
        <p:txBody>
          <a:bodyPr wrap="square">
            <a:spAutoFit/>
          </a:bodyPr>
          <a:lstStyle/>
          <a:p>
            <a:pPr>
              <a:defRPr sz="1500" b="1">
                <a:solidFill>
                  <a:srgbClr val="2F68B5"/>
                </a:solidFill>
                <a:latin typeface="프리텐다드"/>
              </a:defRPr>
            </a:pPr>
            <a:r>
              <a:t>04  |  SYSTEM DESIGN</a:t>
            </a:r>
          </a:p>
        </p:txBody>
      </p:sp>
      <p:sp>
        <p:nvSpPr>
          <p:cNvPr id="6" name="TextBox 5"/>
          <p:cNvSpPr txBox="1"/>
          <p:nvPr/>
        </p:nvSpPr>
        <p:spPr>
          <a:xfrm>
            <a:off x="1047749" y="762000"/>
            <a:ext cx="13335000" cy="571500"/>
          </a:xfrm>
          <a:prstGeom prst="rect">
            <a:avLst/>
          </a:prstGeom>
          <a:noFill/>
        </p:spPr>
        <p:txBody>
          <a:bodyPr wrap="square">
            <a:spAutoFit/>
          </a:bodyPr>
          <a:lstStyle/>
          <a:p>
            <a:pPr>
              <a:defRPr sz="2700" b="1">
                <a:solidFill>
                  <a:srgbClr val="0B2342"/>
                </a:solidFill>
                <a:latin typeface="프리텐다드"/>
              </a:defRPr>
            </a:pPr>
            <a:r>
              <a:t>실시간 인터랙티브 시연 &amp; 라이브 서버 접속</a:t>
            </a:r>
          </a:p>
        </p:txBody>
      </p:sp>
      <p:sp>
        <p:nvSpPr>
          <p:cNvPr id="7" name="TextBox 6"/>
          <p:cNvSpPr txBox="1"/>
          <p:nvPr/>
        </p:nvSpPr>
        <p:spPr>
          <a:xfrm>
            <a:off x="1047749" y="1381125"/>
            <a:ext cx="15716250" cy="381000"/>
          </a:xfrm>
          <a:prstGeom prst="rect">
            <a:avLst/>
          </a:prstGeom>
          <a:noFill/>
        </p:spPr>
        <p:txBody>
          <a:bodyPr wrap="square">
            <a:spAutoFit/>
          </a:bodyPr>
          <a:lstStyle/>
          <a:p>
            <a:pPr>
              <a:defRPr sz="1350">
                <a:solidFill>
                  <a:srgbClr val="53657B"/>
                </a:solidFill>
                <a:latin typeface="프리텐다드"/>
              </a:defRPr>
            </a:pPr>
            <a:r>
              <a:t>동일 네트워크(Wi-Fi / 사내망) 실시간 접속 환경  |  QR 코드 원터치 모바일 스캔 및 브라우저 즉시 체험</a:t>
            </a:r>
          </a:p>
        </p:txBody>
      </p:sp>
      <p:sp>
        <p:nvSpPr>
          <p:cNvPr id="8" name="Rounded Rectangle 7"/>
          <p:cNvSpPr/>
          <p:nvPr/>
        </p:nvSpPr>
        <p:spPr>
          <a:xfrm>
            <a:off x="14001750" y="619125"/>
            <a:ext cx="3524250" cy="457200"/>
          </a:xfrm>
          <a:prstGeom prst="roundRect">
            <a:avLst/>
          </a:prstGeom>
          <a:solidFill>
            <a:srgbClr val="E7F4F1"/>
          </a:solidFill>
          <a:ln w="19050">
            <a:solidFill>
              <a:srgbClr val="168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25" b="1">
                <a:solidFill>
                  <a:srgbClr val="168B82"/>
                </a:solidFill>
                <a:latin typeface="프리텐다드"/>
              </a:defRPr>
            </a:pPr>
            <a:r>
              <a:t>🟢 LIVE ACTIVE (PORT 3098)</a:t>
            </a:r>
          </a:p>
        </p:txBody>
      </p:sp>
      <p:sp>
        <p:nvSpPr>
          <p:cNvPr id="9" name="Rounded Rectangle 8"/>
          <p:cNvSpPr/>
          <p:nvPr/>
        </p:nvSpPr>
        <p:spPr>
          <a:xfrm>
            <a:off x="762000" y="2428875"/>
            <a:ext cx="7239000" cy="7239000"/>
          </a:xfrm>
          <a:prstGeom prst="roundRect">
            <a:avLst/>
          </a:prstGeom>
          <a:solidFill>
            <a:srgbClr val="FFFFFF"/>
          </a:solidFill>
          <a:ln w="1524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43000" y="2714625"/>
            <a:ext cx="6477000" cy="476250"/>
          </a:xfrm>
          <a:prstGeom prst="roundRect">
            <a:avLst/>
          </a:prstGeom>
          <a:solidFill>
            <a:srgbClr val="F3F6FA"/>
          </a:solidFill>
          <a:ln w="12700">
            <a:solidFill>
              <a:srgbClr val="4D8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25" b="1">
                <a:solidFill>
                  <a:srgbClr val="17263A"/>
                </a:solidFill>
                <a:latin typeface="프리텐다드"/>
              </a:defRPr>
            </a:pPr>
            <a:r>
              <a:t>사내망 / 동일 Wi-Fi 접속 대역: 10.10.70.x  (0.0.0.0 Listen)</a:t>
            </a:r>
          </a:p>
        </p:txBody>
      </p:sp>
      <p:sp>
        <p:nvSpPr>
          <p:cNvPr id="11" name="Rounded Rectangle 10"/>
          <p:cNvSpPr/>
          <p:nvPr/>
        </p:nvSpPr>
        <p:spPr>
          <a:xfrm>
            <a:off x="2333625" y="3429000"/>
            <a:ext cx="4095750" cy="4095750"/>
          </a:xfrm>
          <a:prstGeom prst="roundRect">
            <a:avLst/>
          </a:prstGeom>
          <a:solidFill>
            <a:srgbClr val="E9F1FC"/>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ediq_live_qr.png"/>
          <p:cNvPicPr>
            <a:picLocks noChangeAspect="1"/>
          </p:cNvPicPr>
          <p:nvPr/>
        </p:nvPicPr>
        <p:blipFill>
          <a:blip r:embed="rId2"/>
          <a:stretch>
            <a:fillRect/>
          </a:stretch>
        </p:blipFill>
        <p:spPr>
          <a:xfrm>
            <a:off x="2524125" y="3619500"/>
            <a:ext cx="3714750" cy="3714750"/>
          </a:xfrm>
          <a:prstGeom prst="rect">
            <a:avLst/>
          </a:prstGeom>
        </p:spPr>
      </p:pic>
      <p:sp>
        <p:nvSpPr>
          <p:cNvPr id="13" name="TextBox 12"/>
          <p:cNvSpPr txBox="1"/>
          <p:nvPr/>
        </p:nvSpPr>
        <p:spPr>
          <a:xfrm>
            <a:off x="1143000" y="7667624"/>
            <a:ext cx="6477000" cy="333375"/>
          </a:xfrm>
          <a:prstGeom prst="rect">
            <a:avLst/>
          </a:prstGeom>
          <a:noFill/>
        </p:spPr>
        <p:txBody>
          <a:bodyPr wrap="none">
            <a:spAutoFit/>
          </a:bodyPr>
          <a:lstStyle/>
          <a:p>
            <a:pPr algn="ctr">
              <a:defRPr sz="1350" b="1">
                <a:solidFill>
                  <a:srgbClr val="17263A"/>
                </a:solidFill>
                <a:latin typeface="프리텐다드"/>
              </a:defRPr>
            </a:pPr>
            <a:r>
              <a:t>📱 스마트폰 기본 카메라로 QR 코드를 스캔하세요</a:t>
            </a:r>
          </a:p>
        </p:txBody>
      </p:sp>
      <p:sp>
        <p:nvSpPr>
          <p:cNvPr id="14" name="Rounded Rectangle 13">
            <a:hlinkClick r:id="rId3"/>
          </p:cNvPr>
          <p:cNvSpPr/>
          <p:nvPr/>
        </p:nvSpPr>
        <p:spPr>
          <a:xfrm>
            <a:off x="1143000" y="8096249"/>
            <a:ext cx="6477000" cy="742950"/>
          </a:xfrm>
          <a:prstGeom prst="roundRect">
            <a:avLst/>
          </a:prstGeom>
          <a:solidFill>
            <a:srgbClr val="E9F1FC"/>
          </a:solidFill>
          <a:ln w="25400">
            <a:solidFill>
              <a:srgbClr val="2F68B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75" b="1">
                <a:solidFill>
                  <a:srgbClr val="2F68B5"/>
                </a:solidFill>
                <a:latin typeface="프리텐다드"/>
              </a:defRPr>
            </a:pPr>
            <a:r>
              <a:t>http://10.10.70.151:3098</a:t>
            </a:r>
          </a:p>
        </p:txBody>
      </p:sp>
      <p:sp>
        <p:nvSpPr>
          <p:cNvPr id="15" name="TextBox 14"/>
          <p:cNvSpPr txBox="1"/>
          <p:nvPr/>
        </p:nvSpPr>
        <p:spPr>
          <a:xfrm>
            <a:off x="1143000" y="8972550"/>
            <a:ext cx="6477000" cy="285750"/>
          </a:xfrm>
          <a:prstGeom prst="rect">
            <a:avLst/>
          </a:prstGeom>
          <a:noFill/>
        </p:spPr>
        <p:txBody>
          <a:bodyPr wrap="none">
            <a:spAutoFit/>
          </a:bodyPr>
          <a:lstStyle/>
          <a:p>
            <a:pPr algn="ctr">
              <a:defRPr sz="1050">
                <a:solidFill>
                  <a:srgbClr val="7B8A9B"/>
                </a:solidFill>
                <a:latin typeface="프리텐다드"/>
              </a:defRPr>
            </a:pPr>
            <a:r>
              <a:t>* 발표 PC 직접 접속: http://localhost:3098/architecture-motion.html</a:t>
            </a:r>
          </a:p>
        </p:txBody>
      </p:sp>
      <p:sp>
        <p:nvSpPr>
          <p:cNvPr id="16" name="Rounded Rectangle 15"/>
          <p:cNvSpPr/>
          <p:nvPr/>
        </p:nvSpPr>
        <p:spPr>
          <a:xfrm>
            <a:off x="8286750" y="2428875"/>
            <a:ext cx="9239250" cy="3476625"/>
          </a:xfrm>
          <a:prstGeom prst="roundRect">
            <a:avLst/>
          </a:prstGeom>
          <a:solidFill>
            <a:srgbClr val="E9F1FC"/>
          </a:solidFill>
          <a:ln w="1524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20125" y="2714625"/>
            <a:ext cx="3619500" cy="342900"/>
          </a:xfrm>
          <a:prstGeom prst="roundRect">
            <a:avLst/>
          </a:prstGeom>
          <a:solidFill>
            <a:srgbClr val="2F6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75" b="1">
                <a:solidFill>
                  <a:srgbClr val="FFFFFF"/>
                </a:solidFill>
                <a:latin typeface="프리텐다드"/>
              </a:defRPr>
            </a:pPr>
            <a:r>
              <a:t>FEATURE 01 · 실시간 아키텍처 시뮬레이터</a:t>
            </a:r>
          </a:p>
        </p:txBody>
      </p:sp>
      <p:sp>
        <p:nvSpPr>
          <p:cNvPr id="18" name="TextBox 17"/>
          <p:cNvSpPr txBox="1"/>
          <p:nvPr/>
        </p:nvSpPr>
        <p:spPr>
          <a:xfrm>
            <a:off x="12382500" y="2733675"/>
            <a:ext cx="4857750" cy="304800"/>
          </a:xfrm>
          <a:prstGeom prst="rect">
            <a:avLst/>
          </a:prstGeom>
          <a:noFill/>
        </p:spPr>
        <p:txBody>
          <a:bodyPr wrap="none">
            <a:spAutoFit/>
          </a:bodyPr>
          <a:lstStyle/>
          <a:p>
            <a:pPr algn="r">
              <a:defRPr sz="1050" b="1">
                <a:solidFill>
                  <a:srgbClr val="4D86CF"/>
                </a:solidFill>
                <a:latin typeface="프리텐다드"/>
              </a:defRPr>
            </a:pPr>
            <a:r>
              <a:t>/architecture-motion.html</a:t>
            </a:r>
          </a:p>
        </p:txBody>
      </p:sp>
      <p:sp>
        <p:nvSpPr>
          <p:cNvPr id="19" name="TextBox 18"/>
          <p:cNvSpPr txBox="1"/>
          <p:nvPr/>
        </p:nvSpPr>
        <p:spPr>
          <a:xfrm>
            <a:off x="8620125" y="3143250"/>
            <a:ext cx="8572500" cy="428625"/>
          </a:xfrm>
          <a:prstGeom prst="rect">
            <a:avLst/>
          </a:prstGeom>
          <a:noFill/>
        </p:spPr>
        <p:txBody>
          <a:bodyPr wrap="none">
            <a:spAutoFit/>
          </a:bodyPr>
          <a:lstStyle/>
          <a:p>
            <a:pPr>
              <a:defRPr sz="1650" b="1">
                <a:solidFill>
                  <a:srgbClr val="0B2342"/>
                </a:solidFill>
                <a:latin typeface="프리텐다드"/>
              </a:defRPr>
            </a:pPr>
            <a:r>
              <a:t>8단계 데이터 흐름 &amp; 통제 원칙 동적 시각화</a:t>
            </a:r>
          </a:p>
        </p:txBody>
      </p:sp>
      <p:sp>
        <p:nvSpPr>
          <p:cNvPr id="20" name="TextBox 19"/>
          <p:cNvSpPr txBox="1"/>
          <p:nvPr/>
        </p:nvSpPr>
        <p:spPr>
          <a:xfrm>
            <a:off x="8620125" y="3619500"/>
            <a:ext cx="8572500" cy="2047875"/>
          </a:xfrm>
          <a:prstGeom prst="rect">
            <a:avLst/>
          </a:prstGeom>
          <a:noFill/>
        </p:spPr>
        <p:txBody>
          <a:bodyPr wrap="square">
            <a:spAutoFit/>
          </a:bodyPr>
          <a:lstStyle/>
          <a:p>
            <a:pPr>
              <a:spcAft>
                <a:spcPts val="900"/>
              </a:spcAft>
            </a:pPr>
            <a:r>
              <a:rPr sz="1200" b="1">
                <a:solidFill>
                  <a:srgbClr val="2F68B5"/>
                </a:solidFill>
                <a:latin typeface="프리텐다드"/>
              </a:rPr>
              <a:t>✔  11단계 ABAC 인가 검증</a:t>
            </a:r>
            <a:r>
              <a:rPr sz="1125">
                <a:solidFill>
                  <a:srgbClr val="17263A"/>
                </a:solidFill>
                <a:latin typeface="프리텐다드"/>
              </a:rPr>
              <a:t> : 동의 유효성·의료진 소속·Study UID 전수 검증 및 Fail-Closed 즉시 차단</a:t>
            </a:r>
          </a:p>
          <a:p>
            <a:pPr>
              <a:spcAft>
                <a:spcPts val="900"/>
              </a:spcAft>
            </a:pPr>
            <a:r>
              <a:rPr sz="1200" b="1">
                <a:solidFill>
                  <a:srgbClr val="2F68B5"/>
                </a:solidFill>
                <a:latin typeface="프리텐다드"/>
              </a:rPr>
              <a:t>✔  Zero Cloud Storage Invariant</a:t>
            </a:r>
            <a:r>
              <a:rPr sz="1125">
                <a:solidFill>
                  <a:srgbClr val="17263A"/>
                </a:solidFill>
                <a:latin typeface="프리텐다드"/>
              </a:rPr>
              <a:t> : 클라우드 중앙 무저장 원칙 및 WireGuard 사설망 직통 WADO-RS</a:t>
            </a:r>
          </a:p>
          <a:p>
            <a:pPr>
              <a:spcAft>
                <a:spcPts val="900"/>
              </a:spcAft>
            </a:pPr>
            <a:r>
              <a:rPr sz="1200" b="1">
                <a:solidFill>
                  <a:srgbClr val="2F68B5"/>
                </a:solidFill>
                <a:latin typeface="프리텐다드"/>
              </a:rPr>
              <a:t>✔  인터랙티브 카메라 줌·팬</a:t>
            </a:r>
            <a:r>
              <a:rPr sz="1125">
                <a:solidFill>
                  <a:srgbClr val="17263A"/>
                </a:solidFill>
                <a:latin typeface="프리텐다드"/>
              </a:rPr>
              <a:t> : 8개 시스템 컴포넌트 실시간 포커스, 꼬리 잔상 코멧 파티클 및 1080p 녹화</a:t>
            </a:r>
          </a:p>
        </p:txBody>
      </p:sp>
      <p:sp>
        <p:nvSpPr>
          <p:cNvPr id="21" name="Rounded Rectangle 20"/>
          <p:cNvSpPr/>
          <p:nvPr/>
        </p:nvSpPr>
        <p:spPr>
          <a:xfrm>
            <a:off x="8286750" y="6191250"/>
            <a:ext cx="9239250" cy="3476625"/>
          </a:xfrm>
          <a:prstGeom prst="roundRect">
            <a:avLst/>
          </a:prstGeom>
          <a:solidFill>
            <a:srgbClr val="E7F4F1"/>
          </a:solidFill>
          <a:ln w="1524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620125" y="6477000"/>
            <a:ext cx="3429000" cy="342900"/>
          </a:xfrm>
          <a:prstGeom prst="roundRect">
            <a:avLst/>
          </a:prstGeom>
          <a:solidFill>
            <a:srgbClr val="16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75" b="1">
                <a:solidFill>
                  <a:srgbClr val="FFFFFF"/>
                </a:solidFill>
                <a:latin typeface="프리텐다드"/>
              </a:defRPr>
            </a:pPr>
            <a:r>
              <a:t>FEATURE 02 · 3대 역할 전 주기 시연</a:t>
            </a:r>
          </a:p>
        </p:txBody>
      </p:sp>
      <p:sp>
        <p:nvSpPr>
          <p:cNvPr id="23" name="TextBox 22"/>
          <p:cNvSpPr txBox="1"/>
          <p:nvPr/>
        </p:nvSpPr>
        <p:spPr>
          <a:xfrm>
            <a:off x="12382500" y="6496050"/>
            <a:ext cx="4857750" cy="304800"/>
          </a:xfrm>
          <a:prstGeom prst="rect">
            <a:avLst/>
          </a:prstGeom>
          <a:noFill/>
        </p:spPr>
        <p:txBody>
          <a:bodyPr wrap="none">
            <a:spAutoFit/>
          </a:bodyPr>
          <a:lstStyle/>
          <a:p>
            <a:pPr algn="r">
              <a:defRPr sz="1050" b="1">
                <a:solidFill>
                  <a:srgbClr val="168B82"/>
                </a:solidFill>
                <a:latin typeface="프리텐다드"/>
              </a:defRPr>
            </a:pPr>
            <a:r>
              <a:t>/demo-showcase.html</a:t>
            </a:r>
          </a:p>
        </p:txBody>
      </p:sp>
      <p:sp>
        <p:nvSpPr>
          <p:cNvPr id="24" name="TextBox 23"/>
          <p:cNvSpPr txBox="1"/>
          <p:nvPr/>
        </p:nvSpPr>
        <p:spPr>
          <a:xfrm>
            <a:off x="8620125" y="6905625"/>
            <a:ext cx="8572500" cy="428625"/>
          </a:xfrm>
          <a:prstGeom prst="rect">
            <a:avLst/>
          </a:prstGeom>
          <a:noFill/>
        </p:spPr>
        <p:txBody>
          <a:bodyPr wrap="none">
            <a:spAutoFit/>
          </a:bodyPr>
          <a:lstStyle/>
          <a:p>
            <a:pPr>
              <a:defRPr sz="1650" b="1">
                <a:solidFill>
                  <a:srgbClr val="0B2342"/>
                </a:solidFill>
                <a:latin typeface="프리텐다드"/>
              </a:defRPr>
            </a:pPr>
            <a:r>
              <a:t>환자 · 의료진 · 보안관리자 엔드투엔드 시연</a:t>
            </a:r>
          </a:p>
        </p:txBody>
      </p:sp>
      <p:sp>
        <p:nvSpPr>
          <p:cNvPr id="25" name="TextBox 24"/>
          <p:cNvSpPr txBox="1"/>
          <p:nvPr/>
        </p:nvSpPr>
        <p:spPr>
          <a:xfrm>
            <a:off x="8620125" y="7381874"/>
            <a:ext cx="8572500" cy="2047875"/>
          </a:xfrm>
          <a:prstGeom prst="rect">
            <a:avLst/>
          </a:prstGeom>
          <a:noFill/>
        </p:spPr>
        <p:txBody>
          <a:bodyPr wrap="square">
            <a:spAutoFit/>
          </a:bodyPr>
          <a:lstStyle/>
          <a:p>
            <a:pPr>
              <a:spcAft>
                <a:spcPts val="900"/>
              </a:spcAft>
            </a:pPr>
            <a:r>
              <a:rPr sz="1200" b="1">
                <a:solidFill>
                  <a:srgbClr val="168B82"/>
                </a:solidFill>
                <a:latin typeface="프리텐다드"/>
              </a:rPr>
              <a:t>👤  환자 포털</a:t>
            </a:r>
            <a:r>
              <a:rPr sz="1125">
                <a:solidFill>
                  <a:srgbClr val="17263A"/>
                </a:solidFill>
                <a:latin typeface="프리텐다드"/>
              </a:rPr>
              <a:t> : Entra ID 본인인증 ➔ 복부 CT 700장 선택 ➔ VIEW_ONLY 동의 ➔ QR 티켓 발급</a:t>
            </a:r>
          </a:p>
          <a:p>
            <a:pPr>
              <a:spcAft>
                <a:spcPts val="900"/>
              </a:spcAft>
            </a:pPr>
            <a:r>
              <a:rPr sz="1200" b="1">
                <a:solidFill>
                  <a:srgbClr val="168B82"/>
                </a:solidFill>
                <a:latin typeface="프리텐다드"/>
              </a:rPr>
              <a:t>🩺  의료진 뷰어</a:t>
            </a:r>
            <a:r>
              <a:rPr sz="1125">
                <a:solidFill>
                  <a:srgbClr val="17263A"/>
                </a:solidFill>
                <a:latin typeface="프리텐다드"/>
              </a:rPr>
              <a:t> : QR 스캔 접수 ➔ 5분 단기 토큰 발급 ➔ 로컬 PACS 직통 700장 CT 무지연 스트리밍</a:t>
            </a:r>
          </a:p>
          <a:p>
            <a:pPr>
              <a:spcAft>
                <a:spcPts val="900"/>
              </a:spcAft>
            </a:pPr>
            <a:r>
              <a:rPr sz="1200" b="1">
                <a:solidFill>
                  <a:srgbClr val="168B82"/>
                </a:solidFill>
                <a:latin typeface="프리텐다드"/>
              </a:rPr>
              <a:t>🛡️  보안관리자</a:t>
            </a:r>
            <a:r>
              <a:rPr sz="1125">
                <a:solidFill>
                  <a:srgbClr val="17263A"/>
                </a:solidFill>
                <a:latin typeface="프리텐다드"/>
              </a:rPr>
              <a:t> : 전 주기 SHA-256 해시 체인 불변 감사로그 &amp; 대량 반출 실시간 차단 모니터링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E2044E0-D91A-4071-A577-C30A4021C1BE}">
  <we:reference id="11d7cf85-ae5a-43b8-bc58-1e1a151cce24" version="1.0.0.1" store="EXCatalog" storeType="EXCatalog"/>
  <we:alternateReferences>
    <we:reference id="WA200010725" version="1.0.0.1" store="ko-KR" storeType="OMEX"/>
  </we:alternateReferences>
  <we:properties>
    <we:property name="claude.fileId" value="&quot;4180ae06-7957-4c48-90e2-8406c063423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228</TotalTime>
  <Words>3873</Words>
  <Application>Microsoft Office PowerPoint</Application>
  <PresentationFormat>사용자 지정</PresentationFormat>
  <Paragraphs>621</Paragraphs>
  <Slides>39</Slides>
  <Notes>5</Notes>
  <HiddenSlides>0</HiddenSlides>
  <MMClips>1</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39</vt:i4>
      </vt:variant>
    </vt:vector>
  </HeadingPairs>
  <TitlesOfParts>
    <vt:vector size="48" baseType="lpstr">
      <vt:lpstr>프리텐다드 Bold</vt:lpstr>
      <vt:lpstr>Calibri</vt:lpstr>
      <vt:lpstr>프리텐다드 Semi-Bold</vt:lpstr>
      <vt:lpstr>프리텐다드</vt:lpstr>
      <vt:lpstr>프리텐다드 Light</vt:lpstr>
      <vt:lpstr>Arial</vt:lpstr>
      <vt:lpstr>맑은 고딕</vt:lpstr>
      <vt:lpstr>프리텐다드 Medium</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파란색 회색 깔끔한 비즈니스 제안서 프레젠테이션</dc:title>
  <cp:lastModifiedBy>yimc06</cp:lastModifiedBy>
  <cp:revision>11</cp:revision>
  <dcterms:created xsi:type="dcterms:W3CDTF">2006-08-16T00:00:00Z</dcterms:created>
  <dcterms:modified xsi:type="dcterms:W3CDTF">2026-10-15T03:09:12Z</dcterms:modified>
  <dc:identifier>DAHX5B1Joi4</dc:identifier>
</cp:coreProperties>
</file>